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1"/>
  </p:sldMasterIdLst>
  <p:notesMasterIdLst>
    <p:notesMasterId r:id="rId36"/>
  </p:notesMasterIdLst>
  <p:sldIdLst>
    <p:sldId id="256" r:id="rId2"/>
    <p:sldId id="378" r:id="rId3"/>
    <p:sldId id="258" r:id="rId4"/>
    <p:sldId id="383" r:id="rId5"/>
    <p:sldId id="333" r:id="rId6"/>
    <p:sldId id="263" r:id="rId7"/>
    <p:sldId id="384" r:id="rId8"/>
    <p:sldId id="265" r:id="rId9"/>
    <p:sldId id="390" r:id="rId10"/>
    <p:sldId id="307" r:id="rId11"/>
    <p:sldId id="361" r:id="rId12"/>
    <p:sldId id="407" r:id="rId13"/>
    <p:sldId id="337" r:id="rId14"/>
    <p:sldId id="368" r:id="rId15"/>
    <p:sldId id="366" r:id="rId16"/>
    <p:sldId id="386" r:id="rId17"/>
    <p:sldId id="387" r:id="rId18"/>
    <p:sldId id="388" r:id="rId19"/>
    <p:sldId id="385" r:id="rId20"/>
    <p:sldId id="369" r:id="rId21"/>
    <p:sldId id="391" r:id="rId22"/>
    <p:sldId id="370" r:id="rId23"/>
    <p:sldId id="406" r:id="rId24"/>
    <p:sldId id="345" r:id="rId25"/>
    <p:sldId id="348" r:id="rId26"/>
    <p:sldId id="315" r:id="rId27"/>
    <p:sldId id="405" r:id="rId28"/>
    <p:sldId id="350" r:id="rId29"/>
    <p:sldId id="363" r:id="rId30"/>
    <p:sldId id="364" r:id="rId31"/>
    <p:sldId id="402" r:id="rId32"/>
    <p:sldId id="403" r:id="rId33"/>
    <p:sldId id="290" r:id="rId34"/>
    <p:sldId id="329"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6EE"/>
    <a:srgbClr val="FEF1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884"/>
    <p:restoredTop sz="93162"/>
  </p:normalViewPr>
  <p:slideViewPr>
    <p:cSldViewPr snapToGrid="0" snapToObjects="1">
      <p:cViewPr varScale="1">
        <p:scale>
          <a:sx n="109" d="100"/>
          <a:sy n="109" d="100"/>
        </p:scale>
        <p:origin x="240" y="19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AE4590-D35A-8142-86AA-90D125960F78}" type="datetimeFigureOut">
              <a:rPr lang="fr-FR" smtClean="0"/>
              <a:t>17/04/2026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7486C1-5F9D-AA45-B7ED-A387EFD3B1ED}" type="slidenum">
              <a:rPr lang="fr-FR" smtClean="0"/>
              <a:t>‹#›</a:t>
            </a:fld>
            <a:endParaRPr lang="fr-FR"/>
          </a:p>
        </p:txBody>
      </p:sp>
    </p:spTree>
    <p:extLst>
      <p:ext uri="{BB962C8B-B14F-4D97-AF65-F5344CB8AC3E}">
        <p14:creationId xmlns:p14="http://schemas.microsoft.com/office/powerpoint/2010/main" val="362582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7486C1-5F9D-AA45-B7ED-A387EFD3B1ED}" type="slidenum">
              <a:rPr lang="fr-FR" smtClean="0"/>
              <a:t>8</a:t>
            </a:fld>
            <a:endParaRPr lang="fr-FR"/>
          </a:p>
        </p:txBody>
      </p:sp>
    </p:spTree>
    <p:extLst>
      <p:ext uri="{BB962C8B-B14F-4D97-AF65-F5344CB8AC3E}">
        <p14:creationId xmlns:p14="http://schemas.microsoft.com/office/powerpoint/2010/main" val="509525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EF5B4-BB35-EDD2-BF46-A3763C8C9C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73826A-F72A-192B-014A-35AA159439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DEFE80-93C3-6F6B-311F-0D4654A4BD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1A83F9-1943-98A7-7FD3-96315797EDB0}"/>
              </a:ext>
            </a:extLst>
          </p:cNvPr>
          <p:cNvSpPr>
            <a:spLocks noGrp="1"/>
          </p:cNvSpPr>
          <p:nvPr>
            <p:ph type="sldNum" sz="quarter" idx="5"/>
          </p:nvPr>
        </p:nvSpPr>
        <p:spPr/>
        <p:txBody>
          <a:bodyPr/>
          <a:lstStyle/>
          <a:p>
            <a:fld id="{0D7486C1-5F9D-AA45-B7ED-A387EFD3B1ED}" type="slidenum">
              <a:rPr lang="fr-FR" smtClean="0"/>
              <a:t>9</a:t>
            </a:fld>
            <a:endParaRPr lang="fr-FR"/>
          </a:p>
        </p:txBody>
      </p:sp>
    </p:spTree>
    <p:extLst>
      <p:ext uri="{BB962C8B-B14F-4D97-AF65-F5344CB8AC3E}">
        <p14:creationId xmlns:p14="http://schemas.microsoft.com/office/powerpoint/2010/main" val="4063601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0D7486C1-5F9D-AA45-B7ED-A387EFD3B1ED}" type="slidenum">
              <a:rPr lang="fr-FR" smtClean="0"/>
              <a:t>21</a:t>
            </a:fld>
            <a:endParaRPr lang="fr-FR"/>
          </a:p>
        </p:txBody>
      </p:sp>
    </p:spTree>
    <p:extLst>
      <p:ext uri="{BB962C8B-B14F-4D97-AF65-F5344CB8AC3E}">
        <p14:creationId xmlns:p14="http://schemas.microsoft.com/office/powerpoint/2010/main" val="5926900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7486C1-5F9D-AA45-B7ED-A387EFD3B1ED}" type="slidenum">
              <a:rPr lang="fr-FR" smtClean="0"/>
              <a:t>28</a:t>
            </a:fld>
            <a:endParaRPr lang="fr-FR"/>
          </a:p>
        </p:txBody>
      </p:sp>
    </p:spTree>
    <p:extLst>
      <p:ext uri="{BB962C8B-B14F-4D97-AF65-F5344CB8AC3E}">
        <p14:creationId xmlns:p14="http://schemas.microsoft.com/office/powerpoint/2010/main" val="2790620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92275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87501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40417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47543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4/17/26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83017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4/17/26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26620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4/17/26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75886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01110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220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5595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31463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4/17/26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59564783"/>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3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4.jp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71437"/>
            <a:ext cx="9144000" cy="2387600"/>
          </a:xfrm>
        </p:spPr>
        <p:txBody>
          <a:bodyPr/>
          <a:lstStyle/>
          <a:p>
            <a:r>
              <a:rPr lang="fr-FR" dirty="0">
                <a:solidFill>
                  <a:schemeClr val="bg2">
                    <a:lumMod val="50000"/>
                  </a:schemeClr>
                </a:solidFill>
                <a:latin typeface="Perpetua" panose="02020502060401020303" pitchFamily="18" charset="77"/>
              </a:rPr>
              <a:t>GUILHERME &amp; TIAGO’S</a:t>
            </a:r>
            <a:br>
              <a:rPr lang="fr-FR" dirty="0">
                <a:solidFill>
                  <a:schemeClr val="bg2">
                    <a:lumMod val="50000"/>
                  </a:schemeClr>
                </a:solidFill>
                <a:latin typeface="Perpetua" panose="02020502060401020303" pitchFamily="18" charset="77"/>
              </a:rPr>
            </a:br>
            <a:r>
              <a:rPr lang="fr-FR" dirty="0">
                <a:solidFill>
                  <a:schemeClr val="bg2">
                    <a:lumMod val="50000"/>
                  </a:schemeClr>
                </a:solidFill>
                <a:latin typeface="Perpetua" panose="02020502060401020303" pitchFamily="18" charset="77"/>
              </a:rPr>
              <a:t>WEDDING</a:t>
            </a:r>
          </a:p>
        </p:txBody>
      </p:sp>
      <p:sp>
        <p:nvSpPr>
          <p:cNvPr id="3" name="Sous-titre 2"/>
          <p:cNvSpPr>
            <a:spLocks noGrp="1"/>
          </p:cNvSpPr>
          <p:nvPr>
            <p:ph type="subTitle" idx="1"/>
          </p:nvPr>
        </p:nvSpPr>
        <p:spPr>
          <a:xfrm>
            <a:off x="478138" y="3429000"/>
            <a:ext cx="10807323" cy="3419474"/>
          </a:xfrm>
        </p:spPr>
        <p:txBody>
          <a:bodyPr>
            <a:normAutofit/>
          </a:bodyPr>
          <a:lstStyle/>
          <a:p>
            <a:r>
              <a:rPr lang="fr-FR" dirty="0">
                <a:solidFill>
                  <a:schemeClr val="bg2">
                    <a:lumMod val="50000"/>
                  </a:schemeClr>
                </a:solidFill>
                <a:latin typeface="Perpetua" panose="02020502060401020303" pitchFamily="18" charset="77"/>
                <a:ea typeface="Perpetua" charset="0"/>
                <a:cs typeface="Perpetua" charset="0"/>
              </a:rPr>
              <a:t>JUNE 6TH, 2026</a:t>
            </a:r>
          </a:p>
          <a:p>
            <a:r>
              <a:rPr lang="fr-FR" dirty="0">
                <a:solidFill>
                  <a:schemeClr val="bg2">
                    <a:lumMod val="50000"/>
                  </a:schemeClr>
                </a:solidFill>
                <a:latin typeface="Perpetua" panose="02020502060401020303" pitchFamily="18" charset="77"/>
                <a:ea typeface="Perpetua" charset="0"/>
                <a:cs typeface="Perpetua" charset="0"/>
              </a:rPr>
              <a:t>100 GUESTS</a:t>
            </a:r>
          </a:p>
          <a:p>
            <a:r>
              <a:rPr lang="fr-FR" dirty="0">
                <a:solidFill>
                  <a:schemeClr val="bg2">
                    <a:lumMod val="50000"/>
                  </a:schemeClr>
                </a:solidFill>
                <a:latin typeface="Perpetua" panose="02020502060401020303" pitchFamily="18" charset="77"/>
                <a:ea typeface="Perpetua" charset="0"/>
                <a:cs typeface="Perpetua" charset="0"/>
              </a:rPr>
              <a:t>YACHTS DE PARIS, PARIS</a:t>
            </a:r>
          </a:p>
          <a:p>
            <a:endParaRPr lang="fr-FR" sz="1200" dirty="0">
              <a:solidFill>
                <a:schemeClr val="bg2">
                  <a:lumMod val="50000"/>
                </a:schemeClr>
              </a:solidFill>
              <a:latin typeface="Perpetua" panose="02020502060401020303" pitchFamily="18" charset="77"/>
            </a:endParaRPr>
          </a:p>
          <a:p>
            <a:r>
              <a:rPr lang="fr-FR" sz="2800" dirty="0">
                <a:solidFill>
                  <a:schemeClr val="bg2">
                    <a:lumMod val="50000"/>
                  </a:schemeClr>
                </a:solidFill>
                <a:latin typeface="Perpetua" panose="02020502060401020303" pitchFamily="18" charset="77"/>
              </a:rPr>
              <a:t>WEDDING MOOD BOARD</a:t>
            </a:r>
          </a:p>
          <a:p>
            <a:endParaRPr lang="fr-FR" dirty="0"/>
          </a:p>
        </p:txBody>
      </p:sp>
    </p:spTree>
    <p:extLst>
      <p:ext uri="{BB962C8B-B14F-4D97-AF65-F5344CB8AC3E}">
        <p14:creationId xmlns:p14="http://schemas.microsoft.com/office/powerpoint/2010/main" val="1238801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825F492-105E-E0D9-6CCE-2D71240C594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5BE95AB-5C88-4B29-CD3D-306C617B3063}"/>
              </a:ext>
            </a:extLst>
          </p:cNvPr>
          <p:cNvSpPr>
            <a:spLocks noGrp="1"/>
          </p:cNvSpPr>
          <p:nvPr>
            <p:ph type="ctrTitle"/>
          </p:nvPr>
        </p:nvSpPr>
        <p:spPr>
          <a:xfrm>
            <a:off x="1523999" y="-228355"/>
            <a:ext cx="9144000" cy="1482725"/>
          </a:xfrm>
        </p:spPr>
        <p:txBody>
          <a:bodyPr/>
          <a:lstStyle/>
          <a:p>
            <a:r>
              <a:rPr lang="fr-FR" dirty="0">
                <a:solidFill>
                  <a:schemeClr val="bg2">
                    <a:lumMod val="50000"/>
                  </a:schemeClr>
                </a:solidFill>
                <a:latin typeface="Perpetua" panose="02020502060401020303" pitchFamily="18" charset="77"/>
              </a:rPr>
              <a:t>COLOR PALETTE</a:t>
            </a:r>
          </a:p>
        </p:txBody>
      </p:sp>
      <p:sp>
        <p:nvSpPr>
          <p:cNvPr id="3" name="Sous-titre 2">
            <a:extLst>
              <a:ext uri="{FF2B5EF4-FFF2-40B4-BE49-F238E27FC236}">
                <a16:creationId xmlns:a16="http://schemas.microsoft.com/office/drawing/2014/main" id="{DF1D652F-6489-69DF-0620-175C6914946E}"/>
              </a:ext>
            </a:extLst>
          </p:cNvPr>
          <p:cNvSpPr>
            <a:spLocks noGrp="1"/>
          </p:cNvSpPr>
          <p:nvPr>
            <p:ph type="subTitle" idx="1"/>
          </p:nvPr>
        </p:nvSpPr>
        <p:spPr>
          <a:xfrm>
            <a:off x="366608" y="2602523"/>
            <a:ext cx="11458783" cy="3083536"/>
          </a:xfrm>
        </p:spPr>
        <p:txBody>
          <a:bodyPr>
            <a:normAutofit/>
          </a:bodyPr>
          <a:lstStyle/>
          <a:p>
            <a:endParaRPr lang="fr-FR" sz="2000" dirty="0">
              <a:solidFill>
                <a:schemeClr val="bg2">
                  <a:lumMod val="50000"/>
                </a:schemeClr>
              </a:solidFill>
              <a:latin typeface="Perpetua" panose="02020502060401020303" pitchFamily="18" charset="77"/>
              <a:ea typeface="Perpetua" charset="0"/>
              <a:cs typeface="Perpetua" charset="0"/>
            </a:endParaRPr>
          </a:p>
          <a:p>
            <a:r>
              <a:rPr lang="fr-FR" sz="2000" u="sng" dirty="0">
                <a:solidFill>
                  <a:schemeClr val="bg2">
                    <a:lumMod val="50000"/>
                  </a:schemeClr>
                </a:solidFill>
                <a:latin typeface="Perpetua" panose="02020502060401020303" pitchFamily="18" charset="77"/>
                <a:ea typeface="Perpetua" charset="0"/>
                <a:cs typeface="Perpetua" charset="0"/>
              </a:rPr>
              <a:t>JUNE 6TH, 2026: </a:t>
            </a:r>
          </a:p>
          <a:p>
            <a:r>
              <a:rPr lang="fr-FR" sz="1700" b="1" dirty="0">
                <a:solidFill>
                  <a:schemeClr val="bg2">
                    <a:lumMod val="50000"/>
                  </a:schemeClr>
                </a:solidFill>
                <a:latin typeface="Perpetua" panose="02020502060401020303" pitchFamily="18" charset="77"/>
                <a:ea typeface="Perpetua" charset="0"/>
                <a:cs typeface="Perpetua" charset="0"/>
              </a:rPr>
              <a:t>CEREMONY: </a:t>
            </a:r>
            <a:r>
              <a:rPr lang="fr-FR" sz="1800" dirty="0">
                <a:solidFill>
                  <a:schemeClr val="bg2">
                    <a:lumMod val="50000"/>
                  </a:schemeClr>
                </a:solidFill>
                <a:latin typeface="Perpetua" panose="02020502060401020303" pitchFamily="18" charset="77"/>
                <a:ea typeface="Perpetua" charset="0"/>
                <a:cs typeface="Perpetua" charset="0"/>
              </a:rPr>
              <a:t>WARM WHITE/YELLOW </a:t>
            </a:r>
          </a:p>
          <a:p>
            <a:r>
              <a:rPr lang="fr-FR" sz="1800" b="1" dirty="0">
                <a:solidFill>
                  <a:schemeClr val="bg2">
                    <a:lumMod val="50000"/>
                  </a:schemeClr>
                </a:solidFill>
                <a:latin typeface="Perpetua" panose="02020502060401020303" pitchFamily="18" charset="77"/>
                <a:ea typeface="Perpetua" charset="0"/>
                <a:cs typeface="Perpetua" charset="0"/>
              </a:rPr>
              <a:t>BOUQUET: </a:t>
            </a:r>
            <a:r>
              <a:rPr lang="fr-FR" sz="1800" dirty="0">
                <a:solidFill>
                  <a:schemeClr val="bg2">
                    <a:lumMod val="50000"/>
                  </a:schemeClr>
                </a:solidFill>
                <a:latin typeface="Perpetua" panose="02020502060401020303" pitchFamily="18" charset="77"/>
                <a:ea typeface="Perpetua" charset="0"/>
                <a:cs typeface="Perpetua" charset="0"/>
              </a:rPr>
              <a:t>WARM WHITE/YELLOW </a:t>
            </a:r>
          </a:p>
          <a:p>
            <a:r>
              <a:rPr lang="fr-FR" sz="1800" b="1" dirty="0">
                <a:solidFill>
                  <a:schemeClr val="bg2">
                    <a:lumMod val="50000"/>
                  </a:schemeClr>
                </a:solidFill>
                <a:latin typeface="Perpetua" panose="02020502060401020303" pitchFamily="18" charset="77"/>
                <a:ea typeface="Perpetua" charset="0"/>
                <a:cs typeface="Perpetua" charset="0"/>
              </a:rPr>
              <a:t>COCKTAIL &amp; </a:t>
            </a:r>
            <a:r>
              <a:rPr lang="fr-FR" sz="1700" b="1" dirty="0">
                <a:solidFill>
                  <a:schemeClr val="bg2">
                    <a:lumMod val="50000"/>
                  </a:schemeClr>
                </a:solidFill>
                <a:latin typeface="Perpetua" panose="02020502060401020303" pitchFamily="18" charset="77"/>
                <a:ea typeface="Perpetua" charset="0"/>
                <a:cs typeface="Perpetua" charset="0"/>
              </a:rPr>
              <a:t>RECEPTION/DINNER: </a:t>
            </a:r>
            <a:r>
              <a:rPr lang="fr-FR" sz="1800" dirty="0">
                <a:solidFill>
                  <a:schemeClr val="bg2">
                    <a:lumMod val="50000"/>
                  </a:schemeClr>
                </a:solidFill>
                <a:latin typeface="Perpetua" panose="02020502060401020303" pitchFamily="18" charset="77"/>
                <a:ea typeface="Perpetua" charset="0"/>
                <a:cs typeface="Perpetua" charset="0"/>
              </a:rPr>
              <a:t>WARM WHITE/YELLOW </a:t>
            </a:r>
          </a:p>
          <a:p>
            <a:r>
              <a:rPr lang="fr-FR" sz="1800" b="1" dirty="0">
                <a:solidFill>
                  <a:schemeClr val="bg2">
                    <a:lumMod val="50000"/>
                  </a:schemeClr>
                </a:solidFill>
                <a:latin typeface="Perpetua" panose="02020502060401020303" pitchFamily="18" charset="77"/>
                <a:ea typeface="Perpetua" charset="0"/>
                <a:cs typeface="Perpetua" charset="0"/>
              </a:rPr>
              <a:t>WELCOME PARTY: </a:t>
            </a:r>
            <a:r>
              <a:rPr lang="fr-FR" sz="1800" dirty="0">
                <a:solidFill>
                  <a:schemeClr val="bg2">
                    <a:lumMod val="50000"/>
                  </a:schemeClr>
                </a:solidFill>
                <a:latin typeface="Perpetua" panose="02020502060401020303" pitchFamily="18" charset="77"/>
                <a:ea typeface="Perpetua" charset="0"/>
                <a:cs typeface="Perpetua" charset="0"/>
              </a:rPr>
              <a:t>WARM WHITE/YELLOW</a:t>
            </a:r>
          </a:p>
        </p:txBody>
      </p:sp>
    </p:spTree>
    <p:extLst>
      <p:ext uri="{BB962C8B-B14F-4D97-AF65-F5344CB8AC3E}">
        <p14:creationId xmlns:p14="http://schemas.microsoft.com/office/powerpoint/2010/main" val="703309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621816" y="961947"/>
            <a:ext cx="3686174" cy="1322888"/>
          </a:xfrm>
        </p:spPr>
        <p:txBody>
          <a:bodyPr>
            <a:normAutofit/>
          </a:bodyPr>
          <a:lstStyle/>
          <a:p>
            <a:r>
              <a:rPr lang="fr-FR" sz="3200" dirty="0">
                <a:solidFill>
                  <a:schemeClr val="bg2">
                    <a:lumMod val="50000"/>
                  </a:schemeClr>
                </a:solidFill>
                <a:latin typeface="Perpetua" panose="02020502060401020303" pitchFamily="18" charset="77"/>
              </a:rPr>
              <a:t>CEREMONY DECOR </a:t>
            </a:r>
            <a:br>
              <a:rPr lang="fr-FR" sz="2400" i="1" dirty="0">
                <a:latin typeface="Perpetua" panose="02020502060401020303" pitchFamily="18" charset="77"/>
              </a:rPr>
            </a:br>
            <a:br>
              <a:rPr lang="fr-FR" sz="2400" dirty="0">
                <a:latin typeface="Perpetua" panose="02020502060401020303" pitchFamily="18" charset="77"/>
              </a:rPr>
            </a:br>
            <a:endParaRPr lang="fr-FR" sz="2400" b="1" i="1" dirty="0">
              <a:latin typeface="Perpetua" panose="02020502060401020303" pitchFamily="18" charset="77"/>
            </a:endParaRPr>
          </a:p>
        </p:txBody>
      </p:sp>
      <p:sp>
        <p:nvSpPr>
          <p:cNvPr id="10" name="Content Placeholder 9">
            <a:extLst>
              <a:ext uri="{FF2B5EF4-FFF2-40B4-BE49-F238E27FC236}">
                <a16:creationId xmlns:a16="http://schemas.microsoft.com/office/drawing/2014/main" id="{54886570-2773-479B-B710-D0ADE12BEB19}"/>
              </a:ext>
            </a:extLst>
          </p:cNvPr>
          <p:cNvSpPr>
            <a:spLocks noGrp="1"/>
          </p:cNvSpPr>
          <p:nvPr>
            <p:ph idx="1"/>
          </p:nvPr>
        </p:nvSpPr>
        <p:spPr>
          <a:xfrm>
            <a:off x="209382" y="3246782"/>
            <a:ext cx="4609198" cy="1175730"/>
          </a:xfrm>
        </p:spPr>
        <p:txBody>
          <a:bodyPr>
            <a:normAutofit/>
          </a:bodyPr>
          <a:lstStyle/>
          <a:p>
            <a:pPr marL="0" indent="0" algn="ctr">
              <a:buNone/>
            </a:pPr>
            <a:r>
              <a:rPr lang="en-US" sz="3000" dirty="0">
                <a:solidFill>
                  <a:schemeClr val="bg2">
                    <a:lumMod val="50000"/>
                  </a:schemeClr>
                </a:solidFill>
                <a:latin typeface="Perpetua" panose="02020502060401020303" pitchFamily="18" charset="77"/>
              </a:rPr>
              <a:t>The ceremony will take place at Yachts de Paris, Paris.</a:t>
            </a:r>
          </a:p>
          <a:p>
            <a:pPr>
              <a:buNone/>
            </a:pPr>
            <a:endParaRPr lang="en-US" sz="2000" dirty="0">
              <a:solidFill>
                <a:schemeClr val="bg2">
                  <a:lumMod val="50000"/>
                </a:schemeClr>
              </a:solidFill>
              <a:latin typeface="Perpetua" panose="02020502060401020303" pitchFamily="18" charset="77"/>
            </a:endParaRPr>
          </a:p>
          <a:p>
            <a:pPr>
              <a:buNone/>
            </a:pPr>
            <a:endParaRPr lang="en-US" sz="1800" dirty="0">
              <a:solidFill>
                <a:schemeClr val="bg2">
                  <a:lumMod val="50000"/>
                </a:schemeClr>
              </a:solidFill>
              <a:latin typeface="Perpetua" panose="02020502060401020303" pitchFamily="18" charset="77"/>
            </a:endParaRPr>
          </a:p>
          <a:p>
            <a:pPr>
              <a:buNone/>
            </a:pPr>
            <a:endParaRPr lang="en-US" sz="1800" dirty="0">
              <a:solidFill>
                <a:schemeClr val="bg2">
                  <a:lumMod val="50000"/>
                </a:schemeClr>
              </a:solidFill>
              <a:latin typeface="Perpetua" panose="02020502060401020303" pitchFamily="18" charset="77"/>
            </a:endParaRPr>
          </a:p>
        </p:txBody>
      </p:sp>
      <p:pic>
        <p:nvPicPr>
          <p:cNvPr id="14" name="Picture 13">
            <a:extLst>
              <a:ext uri="{FF2B5EF4-FFF2-40B4-BE49-F238E27FC236}">
                <a16:creationId xmlns:a16="http://schemas.microsoft.com/office/drawing/2014/main" id="{45997538-E5BA-94E1-392D-8B302028F323}"/>
              </a:ext>
            </a:extLst>
          </p:cNvPr>
          <p:cNvPicPr>
            <a:picLocks noChangeAspect="1"/>
          </p:cNvPicPr>
          <p:nvPr/>
        </p:nvPicPr>
        <p:blipFill>
          <a:blip r:embed="rId2"/>
          <a:srcRect/>
          <a:stretch/>
        </p:blipFill>
        <p:spPr>
          <a:xfrm>
            <a:off x="5278924" y="1338383"/>
            <a:ext cx="6041212" cy="4181233"/>
          </a:xfrm>
          <a:prstGeom prst="rect">
            <a:avLst/>
          </a:prstGeom>
        </p:spPr>
      </p:pic>
    </p:spTree>
    <p:extLst>
      <p:ext uri="{BB962C8B-B14F-4D97-AF65-F5344CB8AC3E}">
        <p14:creationId xmlns:p14="http://schemas.microsoft.com/office/powerpoint/2010/main" val="1741831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3C54D27-C850-ECF9-8290-038F57B8606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5C3DF00-291C-59D9-3D2F-AA74A39B32C2}"/>
              </a:ext>
            </a:extLst>
          </p:cNvPr>
          <p:cNvSpPr>
            <a:spLocks noGrp="1"/>
          </p:cNvSpPr>
          <p:nvPr>
            <p:ph type="title"/>
          </p:nvPr>
        </p:nvSpPr>
        <p:spPr>
          <a:xfrm>
            <a:off x="518559" y="269580"/>
            <a:ext cx="6183456" cy="1322888"/>
          </a:xfrm>
        </p:spPr>
        <p:txBody>
          <a:bodyPr>
            <a:normAutofit/>
          </a:bodyPr>
          <a:lstStyle/>
          <a:p>
            <a:pPr algn="ctr"/>
            <a:r>
              <a:rPr lang="fr-FR" sz="4000" dirty="0">
                <a:solidFill>
                  <a:schemeClr val="bg2">
                    <a:lumMod val="50000"/>
                  </a:schemeClr>
                </a:solidFill>
                <a:latin typeface="Perpetua" panose="02020502060401020303" pitchFamily="18" charset="77"/>
              </a:rPr>
              <a:t>ALTAR DECOR</a:t>
            </a:r>
            <a:endParaRPr lang="fr-FR" sz="4000" b="1" i="1" dirty="0">
              <a:latin typeface="Perpetua" panose="02020502060401020303" pitchFamily="18" charset="77"/>
            </a:endParaRPr>
          </a:p>
        </p:txBody>
      </p:sp>
      <p:sp>
        <p:nvSpPr>
          <p:cNvPr id="10" name="Content Placeholder 9">
            <a:extLst>
              <a:ext uri="{FF2B5EF4-FFF2-40B4-BE49-F238E27FC236}">
                <a16:creationId xmlns:a16="http://schemas.microsoft.com/office/drawing/2014/main" id="{43B354DD-EFF8-EEE9-1D20-2EDAA6E36630}"/>
              </a:ext>
            </a:extLst>
          </p:cNvPr>
          <p:cNvSpPr>
            <a:spLocks noGrp="1"/>
          </p:cNvSpPr>
          <p:nvPr>
            <p:ph idx="1"/>
          </p:nvPr>
        </p:nvSpPr>
        <p:spPr>
          <a:xfrm>
            <a:off x="1244774" y="1592468"/>
            <a:ext cx="4731026" cy="3838194"/>
          </a:xfrm>
        </p:spPr>
        <p:txBody>
          <a:bodyPr>
            <a:normAutofit/>
          </a:bodyPr>
          <a:lstStyle/>
          <a:p>
            <a:pPr marL="0" indent="0">
              <a:buNone/>
            </a:pPr>
            <a:br>
              <a:rPr lang="en-US" sz="4000" dirty="0">
                <a:solidFill>
                  <a:schemeClr val="bg2">
                    <a:lumMod val="50000"/>
                  </a:schemeClr>
                </a:solidFill>
                <a:latin typeface="Perpetua" panose="02020502060401020303" pitchFamily="18" charset="77"/>
              </a:rPr>
            </a:br>
            <a:endParaRPr lang="en-US" dirty="0">
              <a:solidFill>
                <a:schemeClr val="bg2">
                  <a:lumMod val="50000"/>
                </a:schemeClr>
              </a:solidFill>
              <a:latin typeface="Perpetua" panose="02020502060401020303" pitchFamily="18" charset="77"/>
            </a:endParaRPr>
          </a:p>
          <a:p>
            <a:r>
              <a:rPr lang="en-US" sz="2200" dirty="0">
                <a:solidFill>
                  <a:schemeClr val="bg2">
                    <a:lumMod val="50000"/>
                  </a:schemeClr>
                </a:solidFill>
                <a:latin typeface="Perpetua" panose="02020502060401020303" pitchFamily="18" charset="77"/>
              </a:rPr>
              <a:t>A modern and romantic ceremony altar featuring a sleek circular white structure softly accented with an organic floral installation across the top. Designed with airy greenery and delicate blooms in a loose, natural composition, the altar feels elegant, understated, and beautifully intentional</a:t>
            </a:r>
          </a:p>
        </p:txBody>
      </p:sp>
      <p:pic>
        <p:nvPicPr>
          <p:cNvPr id="12" name="Picture 11">
            <a:extLst>
              <a:ext uri="{FF2B5EF4-FFF2-40B4-BE49-F238E27FC236}">
                <a16:creationId xmlns:a16="http://schemas.microsoft.com/office/drawing/2014/main" id="{892A865E-3242-FACC-E73E-412114DB5E8E}"/>
              </a:ext>
            </a:extLst>
          </p:cNvPr>
          <p:cNvPicPr>
            <a:picLocks noChangeAspect="1"/>
          </p:cNvPicPr>
          <p:nvPr/>
        </p:nvPicPr>
        <p:blipFill>
          <a:blip r:embed="rId2"/>
          <a:srcRect l="6316" r="6316"/>
          <a:stretch/>
        </p:blipFill>
        <p:spPr>
          <a:xfrm>
            <a:off x="7509161" y="390235"/>
            <a:ext cx="3556001" cy="6077529"/>
          </a:xfrm>
          <a:prstGeom prst="rect">
            <a:avLst/>
          </a:prstGeom>
        </p:spPr>
      </p:pic>
    </p:spTree>
    <p:extLst>
      <p:ext uri="{BB962C8B-B14F-4D97-AF65-F5344CB8AC3E}">
        <p14:creationId xmlns:p14="http://schemas.microsoft.com/office/powerpoint/2010/main" val="4000810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01DD16F-012C-D030-F5A2-B0602319371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103B704-9544-AB3A-54B7-F3D055C28341}"/>
              </a:ext>
            </a:extLst>
          </p:cNvPr>
          <p:cNvSpPr>
            <a:spLocks noGrp="1"/>
          </p:cNvSpPr>
          <p:nvPr>
            <p:ph type="title"/>
          </p:nvPr>
        </p:nvSpPr>
        <p:spPr>
          <a:xfrm>
            <a:off x="0" y="902701"/>
            <a:ext cx="6400807" cy="1351472"/>
          </a:xfrm>
        </p:spPr>
        <p:txBody>
          <a:bodyPr>
            <a:noAutofit/>
          </a:bodyPr>
          <a:lstStyle/>
          <a:p>
            <a:pPr algn="ctr"/>
            <a:r>
              <a:rPr lang="fr-FR" sz="4000" dirty="0">
                <a:solidFill>
                  <a:schemeClr val="bg2">
                    <a:lumMod val="50000"/>
                  </a:schemeClr>
                </a:solidFill>
                <a:latin typeface="Perpetua" panose="02020502060401020303" pitchFamily="18" charset="77"/>
              </a:rPr>
              <a:t>AISLE DECOR</a:t>
            </a:r>
            <a:br>
              <a:rPr lang="fr-FR" sz="4000" dirty="0">
                <a:solidFill>
                  <a:schemeClr val="bg2">
                    <a:lumMod val="50000"/>
                  </a:schemeClr>
                </a:solidFill>
                <a:latin typeface="Perpetua" panose="02020502060401020303" pitchFamily="18" charset="77"/>
              </a:rPr>
            </a:br>
            <a:br>
              <a:rPr lang="fr-FR" sz="4000" dirty="0">
                <a:solidFill>
                  <a:schemeClr val="bg2">
                    <a:lumMod val="50000"/>
                  </a:schemeClr>
                </a:solidFill>
                <a:latin typeface="Perpetua" panose="02020502060401020303" pitchFamily="18" charset="77"/>
              </a:rPr>
            </a:br>
            <a:br>
              <a:rPr lang="fr-FR" sz="3600" dirty="0">
                <a:solidFill>
                  <a:schemeClr val="tx1">
                    <a:lumMod val="85000"/>
                    <a:lumOff val="15000"/>
                  </a:schemeClr>
                </a:solidFill>
                <a:latin typeface="Perpetua" panose="02020502060401020303" pitchFamily="18" charset="77"/>
              </a:rPr>
            </a:br>
            <a:br>
              <a:rPr lang="fr-FR" sz="3600" dirty="0">
                <a:solidFill>
                  <a:schemeClr val="tx1">
                    <a:lumMod val="85000"/>
                    <a:lumOff val="15000"/>
                  </a:schemeClr>
                </a:solidFill>
                <a:latin typeface="Perpetua" panose="02020502060401020303" pitchFamily="18" charset="77"/>
              </a:rPr>
            </a:br>
            <a:endParaRPr lang="fr-FR" sz="3600" b="1" i="1" dirty="0">
              <a:solidFill>
                <a:schemeClr val="tx1">
                  <a:lumMod val="85000"/>
                  <a:lumOff val="15000"/>
                </a:schemeClr>
              </a:solidFill>
              <a:latin typeface="Perpetua" panose="02020502060401020303" pitchFamily="18" charset="77"/>
            </a:endParaRPr>
          </a:p>
        </p:txBody>
      </p:sp>
      <p:sp>
        <p:nvSpPr>
          <p:cNvPr id="10" name="Content Placeholder 9">
            <a:extLst>
              <a:ext uri="{FF2B5EF4-FFF2-40B4-BE49-F238E27FC236}">
                <a16:creationId xmlns:a16="http://schemas.microsoft.com/office/drawing/2014/main" id="{F84B8BCC-C1C7-50E5-692F-FB9876FB63BA}"/>
              </a:ext>
            </a:extLst>
          </p:cNvPr>
          <p:cNvSpPr>
            <a:spLocks noGrp="1"/>
          </p:cNvSpPr>
          <p:nvPr>
            <p:ph idx="1"/>
          </p:nvPr>
        </p:nvSpPr>
        <p:spPr>
          <a:xfrm>
            <a:off x="537717" y="1305812"/>
            <a:ext cx="5667904" cy="1772266"/>
          </a:xfrm>
        </p:spPr>
        <p:txBody>
          <a:bodyPr>
            <a:noAutofit/>
          </a:bodyPr>
          <a:lstStyle/>
          <a:p>
            <a:r>
              <a:rPr lang="en-US" sz="2200" dirty="0">
                <a:solidFill>
                  <a:schemeClr val="bg2">
                    <a:lumMod val="50000"/>
                  </a:schemeClr>
                </a:solidFill>
                <a:latin typeface="Perpetua" panose="02020502060401020303" pitchFamily="18" charset="77"/>
              </a:rPr>
              <a:t>The floral arrangements are designed in statement blue and white ceramic vases, bringing a refined yet distinctive decorative touch to the ceremony design. Each arrangement features an abundant composition of vibrant yellow blooms styled in a naturally airy and vertical shape, creating a fresh, elegant, and visually striking presence</a:t>
            </a:r>
          </a:p>
        </p:txBody>
      </p:sp>
      <p:pic>
        <p:nvPicPr>
          <p:cNvPr id="5" name="Picture 4">
            <a:extLst>
              <a:ext uri="{FF2B5EF4-FFF2-40B4-BE49-F238E27FC236}">
                <a16:creationId xmlns:a16="http://schemas.microsoft.com/office/drawing/2014/main" id="{3CCF60D9-B043-F103-7A9E-AC0CA5A23721}"/>
              </a:ext>
            </a:extLst>
          </p:cNvPr>
          <p:cNvPicPr>
            <a:picLocks noChangeAspect="1"/>
          </p:cNvPicPr>
          <p:nvPr/>
        </p:nvPicPr>
        <p:blipFill>
          <a:blip r:embed="rId2"/>
          <a:srcRect t="47502"/>
          <a:stretch>
            <a:fillRect/>
          </a:stretch>
        </p:blipFill>
        <p:spPr>
          <a:xfrm>
            <a:off x="6572072" y="186763"/>
            <a:ext cx="4110811" cy="3242236"/>
          </a:xfrm>
          <a:prstGeom prst="rect">
            <a:avLst/>
          </a:prstGeom>
        </p:spPr>
      </p:pic>
      <p:pic>
        <p:nvPicPr>
          <p:cNvPr id="4" name="Picture 3">
            <a:extLst>
              <a:ext uri="{FF2B5EF4-FFF2-40B4-BE49-F238E27FC236}">
                <a16:creationId xmlns:a16="http://schemas.microsoft.com/office/drawing/2014/main" id="{1AC5CA20-D78E-F956-C60C-14F38EC347BB}"/>
              </a:ext>
            </a:extLst>
          </p:cNvPr>
          <p:cNvPicPr>
            <a:picLocks noChangeAspect="1"/>
          </p:cNvPicPr>
          <p:nvPr/>
        </p:nvPicPr>
        <p:blipFill>
          <a:blip r:embed="rId3"/>
          <a:srcRect l="22222" t="45656" r="21465"/>
          <a:stretch>
            <a:fillRect/>
          </a:stretch>
        </p:blipFill>
        <p:spPr>
          <a:xfrm>
            <a:off x="8839200" y="2944364"/>
            <a:ext cx="3089564" cy="3726873"/>
          </a:xfrm>
          <a:prstGeom prst="rect">
            <a:avLst/>
          </a:prstGeom>
        </p:spPr>
      </p:pic>
      <p:sp>
        <p:nvSpPr>
          <p:cNvPr id="6" name="TextBox 5">
            <a:extLst>
              <a:ext uri="{FF2B5EF4-FFF2-40B4-BE49-F238E27FC236}">
                <a16:creationId xmlns:a16="http://schemas.microsoft.com/office/drawing/2014/main" id="{D61C68C5-6FC5-BE1F-076F-38311EA84C6F}"/>
              </a:ext>
            </a:extLst>
          </p:cNvPr>
          <p:cNvSpPr txBox="1"/>
          <p:nvPr/>
        </p:nvSpPr>
        <p:spPr>
          <a:xfrm>
            <a:off x="537718" y="3779923"/>
            <a:ext cx="5667903" cy="2462213"/>
          </a:xfrm>
          <a:prstGeom prst="rect">
            <a:avLst/>
          </a:prstGeom>
          <a:noFill/>
        </p:spPr>
        <p:txBody>
          <a:bodyPr wrap="square" rtlCol="0">
            <a:spAutoFit/>
          </a:bodyPr>
          <a:lstStyle/>
          <a:p>
            <a:pPr marL="285750" indent="-285750">
              <a:buFont typeface="Arial" panose="020B0604020202020204" pitchFamily="34" charset="0"/>
              <a:buChar char="•"/>
            </a:pPr>
            <a:r>
              <a:rPr lang="en-US" sz="2200" dirty="0">
                <a:solidFill>
                  <a:schemeClr val="bg2">
                    <a:lumMod val="50000"/>
                  </a:schemeClr>
                </a:solidFill>
                <a:latin typeface="Perpetua" panose="02020502060401020303" pitchFamily="18" charset="77"/>
              </a:rPr>
              <a:t>Placed two on each side of the altar and mirrored again at the aisle entrance, these arrangements would beautifully frame the ceremony space while adding height, symmetry, and a bold yet sophisticated floral moment. The overall effect feels elevated, fresh, fashion-forward, and effortlessly luxurious</a:t>
            </a:r>
            <a:endParaRPr lang="en-AE" sz="2200" dirty="0">
              <a:solidFill>
                <a:schemeClr val="bg2">
                  <a:lumMod val="50000"/>
                </a:schemeClr>
              </a:solidFill>
              <a:latin typeface="Perpetua" panose="02020502060401020303" pitchFamily="18" charset="77"/>
            </a:endParaRPr>
          </a:p>
        </p:txBody>
      </p:sp>
    </p:spTree>
    <p:extLst>
      <p:ext uri="{BB962C8B-B14F-4D97-AF65-F5344CB8AC3E}">
        <p14:creationId xmlns:p14="http://schemas.microsoft.com/office/powerpoint/2010/main" val="4070648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5070125" y="794668"/>
            <a:ext cx="6850849" cy="1415270"/>
          </a:xfrm>
        </p:spPr>
        <p:txBody>
          <a:bodyPr vert="horz" lIns="91440" tIns="45720" rIns="91440" bIns="45720" rtlCol="0" anchor="t">
            <a:normAutofit/>
          </a:bodyPr>
          <a:lstStyle/>
          <a:p>
            <a:pPr algn="ctr"/>
            <a:r>
              <a:rPr lang="en-US" sz="4000" kern="1200" dirty="0">
                <a:solidFill>
                  <a:schemeClr val="bg2">
                    <a:lumMod val="50000"/>
                  </a:schemeClr>
                </a:solidFill>
                <a:latin typeface="Perpetua" panose="02020502060401020303" pitchFamily="18" charset="77"/>
              </a:rPr>
              <a:t>BOUTONNIERE</a:t>
            </a:r>
          </a:p>
        </p:txBody>
      </p:sp>
      <p:sp>
        <p:nvSpPr>
          <p:cNvPr id="3" name="TextBox 2">
            <a:extLst>
              <a:ext uri="{FF2B5EF4-FFF2-40B4-BE49-F238E27FC236}">
                <a16:creationId xmlns:a16="http://schemas.microsoft.com/office/drawing/2014/main" id="{3243C24F-25DE-DC61-81B8-AD9ECD5F253A}"/>
              </a:ext>
            </a:extLst>
          </p:cNvPr>
          <p:cNvSpPr txBox="1"/>
          <p:nvPr/>
        </p:nvSpPr>
        <p:spPr>
          <a:xfrm>
            <a:off x="5300793" y="2388651"/>
            <a:ext cx="6389511" cy="2462213"/>
          </a:xfrm>
          <a:prstGeom prst="rect">
            <a:avLst/>
          </a:prstGeom>
          <a:noFill/>
        </p:spPr>
        <p:txBody>
          <a:bodyPr wrap="square" rtlCol="0">
            <a:spAutoFit/>
          </a:bodyPr>
          <a:lstStyle/>
          <a:p>
            <a:pPr marL="342900" indent="-342900">
              <a:buFont typeface="Arial" panose="020B0604020202020204" pitchFamily="34" charset="0"/>
              <a:buChar char="•"/>
            </a:pPr>
            <a:r>
              <a:rPr lang="en-US" sz="2200" dirty="0">
                <a:solidFill>
                  <a:schemeClr val="bg2">
                    <a:lumMod val="50000"/>
                  </a:schemeClr>
                </a:solidFill>
                <a:latin typeface="Perpetua" panose="02020502060401020303" pitchFamily="18" charset="77"/>
              </a:rPr>
              <a:t>A fresh and cheerful boutonniere featuring vibrant yellow blooms accented with delicate textural details and subtle greenery for a refined yet playful finish. Wrapped with a natural stem binding, it brings a polished and intentional touch to the groom’s look while adding a soft pop of color. The overall aesthetic feels elegant, modern, and perfectly suited for a bright, joyful wedding palette</a:t>
            </a:r>
            <a:endParaRPr lang="en-AE" sz="2200" b="1" dirty="0">
              <a:solidFill>
                <a:schemeClr val="bg2">
                  <a:lumMod val="50000"/>
                </a:schemeClr>
              </a:solidFill>
              <a:latin typeface="Perpetua" panose="02020502060401020303" pitchFamily="18" charset="77"/>
            </a:endParaRPr>
          </a:p>
        </p:txBody>
      </p:sp>
      <p:pic>
        <p:nvPicPr>
          <p:cNvPr id="10" name="Picture 9">
            <a:extLst>
              <a:ext uri="{FF2B5EF4-FFF2-40B4-BE49-F238E27FC236}">
                <a16:creationId xmlns:a16="http://schemas.microsoft.com/office/drawing/2014/main" id="{68E4192A-978D-9B41-B997-0FBE38CD222F}"/>
              </a:ext>
            </a:extLst>
          </p:cNvPr>
          <p:cNvPicPr>
            <a:picLocks noChangeAspect="1"/>
          </p:cNvPicPr>
          <p:nvPr/>
        </p:nvPicPr>
        <p:blipFill>
          <a:blip r:embed="rId2"/>
          <a:srcRect l="24756" t="30002" r="25114" b="33750"/>
          <a:stretch>
            <a:fillRect/>
          </a:stretch>
        </p:blipFill>
        <p:spPr>
          <a:xfrm>
            <a:off x="501694" y="1027939"/>
            <a:ext cx="4427444" cy="4802121"/>
          </a:xfrm>
          <a:prstGeom prst="rect">
            <a:avLst/>
          </a:prstGeom>
        </p:spPr>
      </p:pic>
    </p:spTree>
    <p:extLst>
      <p:ext uri="{BB962C8B-B14F-4D97-AF65-F5344CB8AC3E}">
        <p14:creationId xmlns:p14="http://schemas.microsoft.com/office/powerpoint/2010/main" val="2066328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3D33531-BE49-C16F-9FB4-CED3F666A63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C70CB63-C2CD-429B-ABEF-10D18E793525}"/>
              </a:ext>
            </a:extLst>
          </p:cNvPr>
          <p:cNvSpPr>
            <a:spLocks noGrp="1"/>
          </p:cNvSpPr>
          <p:nvPr>
            <p:ph type="title"/>
          </p:nvPr>
        </p:nvSpPr>
        <p:spPr>
          <a:xfrm>
            <a:off x="917121" y="1352926"/>
            <a:ext cx="9920985" cy="1415270"/>
          </a:xfrm>
        </p:spPr>
        <p:txBody>
          <a:bodyPr vert="horz" lIns="91440" tIns="45720" rIns="91440" bIns="45720" rtlCol="0" anchor="t">
            <a:normAutofit/>
          </a:bodyPr>
          <a:lstStyle/>
          <a:p>
            <a:pPr algn="ctr"/>
            <a:r>
              <a:rPr lang="en-US" sz="4000" dirty="0">
                <a:solidFill>
                  <a:schemeClr val="bg2">
                    <a:lumMod val="50000"/>
                  </a:schemeClr>
                </a:solidFill>
                <a:latin typeface="Perpetua" panose="02020502060401020303" pitchFamily="18" charset="77"/>
              </a:rPr>
              <a:t>MAID OF HONOR &amp; </a:t>
            </a:r>
            <a:br>
              <a:rPr lang="en-US" sz="4000" dirty="0">
                <a:solidFill>
                  <a:schemeClr val="bg2">
                    <a:lumMod val="50000"/>
                  </a:schemeClr>
                </a:solidFill>
                <a:latin typeface="Perpetua" panose="02020502060401020303" pitchFamily="18" charset="77"/>
              </a:rPr>
            </a:br>
            <a:r>
              <a:rPr lang="en-US" sz="4000" dirty="0">
                <a:solidFill>
                  <a:schemeClr val="bg2">
                    <a:lumMod val="50000"/>
                  </a:schemeClr>
                </a:solidFill>
                <a:latin typeface="Perpetua" panose="02020502060401020303" pitchFamily="18" charset="77"/>
              </a:rPr>
              <a:t>FLOWER GIRLS BOUQUETS </a:t>
            </a:r>
            <a:endParaRPr lang="en-US" sz="4000" kern="1200" dirty="0">
              <a:solidFill>
                <a:schemeClr val="bg2">
                  <a:lumMod val="50000"/>
                </a:schemeClr>
              </a:solidFill>
              <a:latin typeface="Perpetua" panose="02020502060401020303" pitchFamily="18" charset="77"/>
            </a:endParaRPr>
          </a:p>
        </p:txBody>
      </p:sp>
      <p:sp>
        <p:nvSpPr>
          <p:cNvPr id="18" name="Content Placeholder 17">
            <a:extLst>
              <a:ext uri="{FF2B5EF4-FFF2-40B4-BE49-F238E27FC236}">
                <a16:creationId xmlns:a16="http://schemas.microsoft.com/office/drawing/2014/main" id="{5F183A1A-F78D-CAED-AF70-3E3B2898BCB5}"/>
              </a:ext>
            </a:extLst>
          </p:cNvPr>
          <p:cNvSpPr>
            <a:spLocks noGrp="1"/>
          </p:cNvSpPr>
          <p:nvPr>
            <p:ph idx="1"/>
          </p:nvPr>
        </p:nvSpPr>
        <p:spPr>
          <a:xfrm>
            <a:off x="1353894" y="2577345"/>
            <a:ext cx="8885453" cy="4977433"/>
          </a:xfrm>
        </p:spPr>
        <p:txBody>
          <a:bodyPr>
            <a:normAutofit/>
          </a:bodyPr>
          <a:lstStyle/>
          <a:p>
            <a:pPr marL="0" indent="0" algn="ctr">
              <a:buNone/>
            </a:pPr>
            <a:endParaRPr lang="en-US" sz="2000" dirty="0">
              <a:latin typeface="Perpetua" panose="02020502060401020303" pitchFamily="18" charset="77"/>
            </a:endParaRPr>
          </a:p>
          <a:p>
            <a:pPr marL="0" indent="0">
              <a:buNone/>
            </a:pPr>
            <a:endParaRPr lang="en-US" sz="2000" dirty="0">
              <a:solidFill>
                <a:schemeClr val="bg2">
                  <a:lumMod val="50000"/>
                </a:schemeClr>
              </a:solidFill>
              <a:latin typeface="Perpetua" panose="02020502060401020303" pitchFamily="18" charset="77"/>
            </a:endParaRPr>
          </a:p>
          <a:p>
            <a:pPr marL="0" indent="0" algn="ctr">
              <a:buNone/>
            </a:pPr>
            <a:r>
              <a:rPr lang="en-US" sz="2400" dirty="0">
                <a:solidFill>
                  <a:schemeClr val="bg2">
                    <a:lumMod val="50000"/>
                  </a:schemeClr>
                </a:solidFill>
                <a:latin typeface="Perpetua" panose="02020502060401020303" pitchFamily="18" charset="77"/>
              </a:rPr>
              <a:t>Should this be required, please inform us and include a reference image for guidance</a:t>
            </a:r>
            <a:endParaRPr lang="en-US" sz="2000" i="0" dirty="0">
              <a:solidFill>
                <a:schemeClr val="bg2">
                  <a:lumMod val="50000"/>
                </a:schemeClr>
              </a:solidFill>
              <a:effectLst/>
              <a:latin typeface="Perpetua" panose="02020502060401020303" pitchFamily="18" charset="77"/>
            </a:endParaRPr>
          </a:p>
        </p:txBody>
      </p:sp>
      <p:sp>
        <p:nvSpPr>
          <p:cNvPr id="8" name="Rectangle 7">
            <a:extLst>
              <a:ext uri="{FF2B5EF4-FFF2-40B4-BE49-F238E27FC236}">
                <a16:creationId xmlns:a16="http://schemas.microsoft.com/office/drawing/2014/main" id="{65664496-77F5-111E-3F80-E05C47F34518}"/>
              </a:ext>
            </a:extLst>
          </p:cNvPr>
          <p:cNvSpPr/>
          <p:nvPr/>
        </p:nvSpPr>
        <p:spPr>
          <a:xfrm>
            <a:off x="10131071" y="166348"/>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804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119407" y="247826"/>
            <a:ext cx="4274607" cy="777054"/>
          </a:xfrm>
        </p:spPr>
        <p:txBody>
          <a:bodyPr anchor="b">
            <a:normAutofit/>
          </a:bodyPr>
          <a:lstStyle/>
          <a:p>
            <a:pPr algn="ctr"/>
            <a:r>
              <a:rPr lang="fr-FR" dirty="0">
                <a:solidFill>
                  <a:schemeClr val="bg2">
                    <a:lumMod val="50000"/>
                  </a:schemeClr>
                </a:solidFill>
                <a:latin typeface="Perpetua" panose="02020502060401020303" pitchFamily="18" charset="77"/>
              </a:rPr>
              <a:t>COCKTAIL </a:t>
            </a:r>
          </a:p>
        </p:txBody>
      </p:sp>
      <p:sp>
        <p:nvSpPr>
          <p:cNvPr id="14" name="Content Placeholder 13">
            <a:extLst>
              <a:ext uri="{FF2B5EF4-FFF2-40B4-BE49-F238E27FC236}">
                <a16:creationId xmlns:a16="http://schemas.microsoft.com/office/drawing/2014/main" id="{7847E9E7-126E-46AC-AAD2-75FD20301F86}"/>
              </a:ext>
            </a:extLst>
          </p:cNvPr>
          <p:cNvSpPr>
            <a:spLocks noGrp="1"/>
          </p:cNvSpPr>
          <p:nvPr>
            <p:ph idx="1"/>
          </p:nvPr>
        </p:nvSpPr>
        <p:spPr>
          <a:xfrm>
            <a:off x="417424" y="1622288"/>
            <a:ext cx="5678576" cy="1962085"/>
          </a:xfrm>
        </p:spPr>
        <p:txBody>
          <a:bodyPr anchor="t">
            <a:noAutofit/>
          </a:bodyPr>
          <a:lstStyle/>
          <a:p>
            <a:r>
              <a:rPr lang="en-US" sz="2200" dirty="0">
                <a:solidFill>
                  <a:schemeClr val="bg2">
                    <a:lumMod val="50000"/>
                  </a:schemeClr>
                </a:solidFill>
                <a:latin typeface="Perpetua" panose="02020502060401020303" pitchFamily="18" charset="77"/>
              </a:rPr>
              <a:t>Statement blue and white ceramic vases filled with vibrant yellow blooms create a fresh, elevated, and visually striking centerpiece for the lounge tables, adding a refined and distinctive luxury touch to the overall design</a:t>
            </a:r>
          </a:p>
        </p:txBody>
      </p:sp>
      <p:pic>
        <p:nvPicPr>
          <p:cNvPr id="6" name="Picture 5">
            <a:extLst>
              <a:ext uri="{FF2B5EF4-FFF2-40B4-BE49-F238E27FC236}">
                <a16:creationId xmlns:a16="http://schemas.microsoft.com/office/drawing/2014/main" id="{148177AA-1910-0A6C-CF4E-3AE5056684DE}"/>
              </a:ext>
            </a:extLst>
          </p:cNvPr>
          <p:cNvPicPr>
            <a:picLocks noChangeAspect="1"/>
          </p:cNvPicPr>
          <p:nvPr/>
        </p:nvPicPr>
        <p:blipFill>
          <a:blip r:embed="rId3"/>
          <a:srcRect/>
          <a:stretch/>
        </p:blipFill>
        <p:spPr>
          <a:xfrm>
            <a:off x="6686764" y="424377"/>
            <a:ext cx="4807397" cy="6009246"/>
          </a:xfrm>
          <a:prstGeom prst="rect">
            <a:avLst/>
          </a:prstGeom>
        </p:spPr>
      </p:pic>
      <p:sp>
        <p:nvSpPr>
          <p:cNvPr id="5" name="TextBox 4">
            <a:extLst>
              <a:ext uri="{FF2B5EF4-FFF2-40B4-BE49-F238E27FC236}">
                <a16:creationId xmlns:a16="http://schemas.microsoft.com/office/drawing/2014/main" id="{E7561B38-99EA-2083-AF35-2AE30F39508D}"/>
              </a:ext>
            </a:extLst>
          </p:cNvPr>
          <p:cNvSpPr txBox="1"/>
          <p:nvPr/>
        </p:nvSpPr>
        <p:spPr>
          <a:xfrm>
            <a:off x="417424" y="3688173"/>
            <a:ext cx="5678577" cy="2123658"/>
          </a:xfrm>
          <a:prstGeom prst="rect">
            <a:avLst/>
          </a:prstGeom>
          <a:noFill/>
        </p:spPr>
        <p:txBody>
          <a:bodyPr wrap="square" rtlCol="0">
            <a:spAutoFit/>
          </a:bodyPr>
          <a:lstStyle/>
          <a:p>
            <a:pPr marL="342900" indent="-342900">
              <a:buFont typeface="Arial" panose="020B0604020202020204" pitchFamily="34" charset="0"/>
              <a:buChar char="•"/>
            </a:pPr>
            <a:r>
              <a:rPr lang="en-US" sz="2200" dirty="0">
                <a:solidFill>
                  <a:schemeClr val="bg2">
                    <a:lumMod val="50000"/>
                  </a:schemeClr>
                </a:solidFill>
                <a:latin typeface="Perpetua" panose="02020502060401020303" pitchFamily="18" charset="77"/>
              </a:rPr>
              <a:t>The vases and floral arrangements make a strong decorative statement, featuring striking blue and white patterned ceramic vessels filled with abundant yellow and white blooms in a tall, airy composition that brings height, freshness, and a bold yet elegant visual impact to the overall design</a:t>
            </a:r>
            <a:endParaRPr lang="en-AE" sz="2200" dirty="0">
              <a:solidFill>
                <a:schemeClr val="bg2">
                  <a:lumMod val="50000"/>
                </a:schemeClr>
              </a:solidFill>
              <a:latin typeface="Perpetua" panose="02020502060401020303" pitchFamily="18" charset="77"/>
            </a:endParaRPr>
          </a:p>
        </p:txBody>
      </p:sp>
    </p:spTree>
    <p:extLst>
      <p:ext uri="{BB962C8B-B14F-4D97-AF65-F5344CB8AC3E}">
        <p14:creationId xmlns:p14="http://schemas.microsoft.com/office/powerpoint/2010/main" val="1429147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EFC99BE-0FD5-BEB2-C8DA-17F3DE46F18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70859B7-0973-4AA3-3302-E3F52C8AFD96}"/>
              </a:ext>
            </a:extLst>
          </p:cNvPr>
          <p:cNvSpPr>
            <a:spLocks noGrp="1"/>
          </p:cNvSpPr>
          <p:nvPr>
            <p:ph type="title"/>
          </p:nvPr>
        </p:nvSpPr>
        <p:spPr>
          <a:xfrm>
            <a:off x="995921" y="434602"/>
            <a:ext cx="5426499" cy="777054"/>
          </a:xfrm>
        </p:spPr>
        <p:txBody>
          <a:bodyPr anchor="b">
            <a:normAutofit/>
          </a:bodyPr>
          <a:lstStyle/>
          <a:p>
            <a:pPr algn="ctr"/>
            <a:r>
              <a:rPr lang="fr-FR" dirty="0">
                <a:solidFill>
                  <a:schemeClr val="bg2">
                    <a:lumMod val="50000"/>
                  </a:schemeClr>
                </a:solidFill>
                <a:latin typeface="Perpetua" panose="02020502060401020303" pitchFamily="18" charset="77"/>
              </a:rPr>
              <a:t>COCKTAIL – PART 2 </a:t>
            </a:r>
          </a:p>
        </p:txBody>
      </p:sp>
      <p:sp>
        <p:nvSpPr>
          <p:cNvPr id="14" name="Content Placeholder 13">
            <a:extLst>
              <a:ext uri="{FF2B5EF4-FFF2-40B4-BE49-F238E27FC236}">
                <a16:creationId xmlns:a16="http://schemas.microsoft.com/office/drawing/2014/main" id="{5D2BD02C-F471-0920-6576-58A027B8E49D}"/>
              </a:ext>
            </a:extLst>
          </p:cNvPr>
          <p:cNvSpPr>
            <a:spLocks noGrp="1"/>
          </p:cNvSpPr>
          <p:nvPr>
            <p:ph idx="1"/>
          </p:nvPr>
        </p:nvSpPr>
        <p:spPr>
          <a:xfrm>
            <a:off x="713823" y="2389047"/>
            <a:ext cx="5990693" cy="2429003"/>
          </a:xfrm>
        </p:spPr>
        <p:txBody>
          <a:bodyPr anchor="t">
            <a:noAutofit/>
          </a:bodyPr>
          <a:lstStyle/>
          <a:p>
            <a:r>
              <a:rPr lang="en-US" sz="2200" dirty="0">
                <a:solidFill>
                  <a:schemeClr val="bg2">
                    <a:lumMod val="50000"/>
                  </a:schemeClr>
                </a:solidFill>
                <a:latin typeface="Perpetua" panose="02020502060401020303" pitchFamily="18" charset="77"/>
              </a:rPr>
              <a:t>A refined and thoughtfully styled guest book table featuring a clean, elegant setup with the guest book, pens, instant camera, and candle beautifully arranged for an elevated yet interactive experience. The floral arrangement, designed in statement blue and white ceramic vases and filled with vibrant yellow blooms, would bring a fresh, polished, and distinctive decorative touch to the table</a:t>
            </a:r>
          </a:p>
        </p:txBody>
      </p:sp>
      <p:pic>
        <p:nvPicPr>
          <p:cNvPr id="8" name="Picture 7">
            <a:extLst>
              <a:ext uri="{FF2B5EF4-FFF2-40B4-BE49-F238E27FC236}">
                <a16:creationId xmlns:a16="http://schemas.microsoft.com/office/drawing/2014/main" id="{B9E67FAE-5699-A010-DA85-936F5C447731}"/>
              </a:ext>
            </a:extLst>
          </p:cNvPr>
          <p:cNvPicPr>
            <a:picLocks noChangeAspect="1"/>
          </p:cNvPicPr>
          <p:nvPr/>
        </p:nvPicPr>
        <p:blipFill>
          <a:blip r:embed="rId3"/>
          <a:srcRect/>
          <a:stretch/>
        </p:blipFill>
        <p:spPr>
          <a:xfrm>
            <a:off x="7085092" y="679518"/>
            <a:ext cx="4734375" cy="5583475"/>
          </a:xfrm>
          <a:prstGeom prst="rect">
            <a:avLst/>
          </a:prstGeom>
        </p:spPr>
      </p:pic>
    </p:spTree>
    <p:extLst>
      <p:ext uri="{BB962C8B-B14F-4D97-AF65-F5344CB8AC3E}">
        <p14:creationId xmlns:p14="http://schemas.microsoft.com/office/powerpoint/2010/main" val="1126405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2FA18-925E-890A-530B-26C9D3F8D9A2}"/>
              </a:ext>
            </a:extLst>
          </p:cNvPr>
          <p:cNvSpPr>
            <a:spLocks noGrp="1"/>
          </p:cNvSpPr>
          <p:nvPr>
            <p:ph type="title"/>
          </p:nvPr>
        </p:nvSpPr>
        <p:spPr>
          <a:xfrm>
            <a:off x="296896" y="174678"/>
            <a:ext cx="6201440" cy="786247"/>
          </a:xfrm>
        </p:spPr>
        <p:txBody>
          <a:bodyPr vert="horz" lIns="91440" tIns="45720" rIns="91440" bIns="45720" rtlCol="0" anchor="b">
            <a:noAutofit/>
          </a:bodyPr>
          <a:lstStyle/>
          <a:p>
            <a:pPr algn="ctr"/>
            <a:r>
              <a:rPr lang="en-US" sz="4000" dirty="0">
                <a:solidFill>
                  <a:schemeClr val="bg2">
                    <a:lumMod val="50000"/>
                  </a:schemeClr>
                </a:solidFill>
                <a:latin typeface="Perpetua" panose="02020502060401020303" pitchFamily="18" charset="77"/>
              </a:rPr>
              <a:t>BARS RENTAL &amp; DECOR</a:t>
            </a:r>
          </a:p>
        </p:txBody>
      </p:sp>
      <p:sp>
        <p:nvSpPr>
          <p:cNvPr id="6" name="TextBox 5">
            <a:extLst>
              <a:ext uri="{FF2B5EF4-FFF2-40B4-BE49-F238E27FC236}">
                <a16:creationId xmlns:a16="http://schemas.microsoft.com/office/drawing/2014/main" id="{CEE297F3-E010-D773-C6C2-DAD7F14B25E8}"/>
              </a:ext>
            </a:extLst>
          </p:cNvPr>
          <p:cNvSpPr txBox="1"/>
          <p:nvPr/>
        </p:nvSpPr>
        <p:spPr>
          <a:xfrm>
            <a:off x="296896" y="1459607"/>
            <a:ext cx="6384320" cy="5223715"/>
          </a:xfrm>
          <a:prstGeom prst="rect">
            <a:avLst/>
          </a:prstGeom>
        </p:spPr>
        <p:txBody>
          <a:bodyPr vert="horz" lIns="91440" tIns="45720" rIns="91440" bIns="45720" rtlCol="0">
            <a:normAutofit fontScale="25000" lnSpcReduction="20000"/>
          </a:bodyPr>
          <a:lstStyle/>
          <a:p>
            <a:pPr marL="457200" indent="-457200">
              <a:buFont typeface="Arial" panose="020B0604020202020204" pitchFamily="34" charset="0"/>
              <a:buChar char="•"/>
            </a:pPr>
            <a:r>
              <a:rPr lang="en-US" sz="8800" dirty="0">
                <a:solidFill>
                  <a:schemeClr val="bg2">
                    <a:lumMod val="50000"/>
                  </a:schemeClr>
                </a:solidFill>
                <a:latin typeface="Perpetua" panose="02020502060401020303" pitchFamily="18" charset="77"/>
              </a:rPr>
              <a:t>The wedding bar features a sleek, contemporary structure with a clean-lined frame and a reflective, mirrored façade that subtly captures the surrounding landscape and candlelight</a:t>
            </a:r>
          </a:p>
          <a:p>
            <a:endParaRPr lang="en-US" sz="8800" dirty="0">
              <a:solidFill>
                <a:schemeClr val="bg2">
                  <a:lumMod val="50000"/>
                </a:schemeClr>
              </a:solidFill>
              <a:latin typeface="Perpetua" panose="02020502060401020303" pitchFamily="18" charset="77"/>
            </a:endParaRPr>
          </a:p>
          <a:p>
            <a:pPr marL="457200" indent="-457200">
              <a:buFont typeface="Arial" panose="020B0604020202020204" pitchFamily="34" charset="0"/>
              <a:buChar char="•"/>
            </a:pPr>
            <a:r>
              <a:rPr lang="en-US" sz="8800" dirty="0">
                <a:solidFill>
                  <a:schemeClr val="bg2">
                    <a:lumMod val="50000"/>
                  </a:schemeClr>
                </a:solidFill>
                <a:latin typeface="Perpetua" panose="02020502060401020303" pitchFamily="18" charset="77"/>
              </a:rPr>
              <a:t>The décor is defined by a striking installation of suspended disco balls in varying sizes, creating a bold yet sophisticated visual statement. Paired with soft globe lighting, the reflective surfaces catch and diffuse the ambient glow, adding movement, sparkle, and dimension to the space</a:t>
            </a:r>
          </a:p>
          <a:p>
            <a:endParaRPr lang="en-US" sz="8800" dirty="0">
              <a:solidFill>
                <a:schemeClr val="bg2">
                  <a:lumMod val="50000"/>
                </a:schemeClr>
              </a:solidFill>
              <a:latin typeface="Perpetua" panose="02020502060401020303" pitchFamily="18" charset="77"/>
            </a:endParaRPr>
          </a:p>
          <a:p>
            <a:endParaRPr lang="en-US" sz="8800" dirty="0">
              <a:solidFill>
                <a:schemeClr val="bg2">
                  <a:lumMod val="50000"/>
                </a:schemeClr>
              </a:solidFill>
              <a:latin typeface="Perpetua" panose="02020502060401020303" pitchFamily="18" charset="77"/>
            </a:endParaRPr>
          </a:p>
          <a:p>
            <a:endParaRPr lang="en-US" sz="8800" dirty="0">
              <a:solidFill>
                <a:schemeClr val="bg2">
                  <a:lumMod val="50000"/>
                </a:schemeClr>
              </a:solidFill>
              <a:latin typeface="Perpetua" panose="02020502060401020303" pitchFamily="18" charset="77"/>
            </a:endParaRPr>
          </a:p>
          <a:p>
            <a:endParaRPr lang="en-US" sz="8800" dirty="0">
              <a:solidFill>
                <a:schemeClr val="bg2">
                  <a:lumMod val="50000"/>
                </a:schemeClr>
              </a:solidFill>
              <a:latin typeface="Perpetua" panose="02020502060401020303" pitchFamily="18" charset="77"/>
            </a:endParaRPr>
          </a:p>
          <a:p>
            <a:r>
              <a:rPr lang="en-US" sz="8800" dirty="0">
                <a:solidFill>
                  <a:schemeClr val="bg2">
                    <a:lumMod val="50000"/>
                  </a:schemeClr>
                </a:solidFill>
                <a:latin typeface="Perpetua" panose="02020502060401020303" pitchFamily="18" charset="77"/>
              </a:rPr>
              <a:t>The décor will echo the reference imagery, styled in harmony with the color </a:t>
            </a:r>
            <a:r>
              <a:rPr lang="en-US" sz="8800" dirty="0">
                <a:solidFill>
                  <a:srgbClr val="FFC000"/>
                </a:solidFill>
                <a:latin typeface="Perpetua" panose="02020502060401020303" pitchFamily="18" charset="77"/>
              </a:rPr>
              <a:t>palette detailed on slide #2</a:t>
            </a:r>
          </a:p>
          <a:p>
            <a:endParaRPr lang="en-US" sz="3400" dirty="0">
              <a:solidFill>
                <a:schemeClr val="accent6"/>
              </a:solidFill>
              <a:latin typeface="Perpetua" panose="02020502060401020303" pitchFamily="18" charset="77"/>
            </a:endParaRPr>
          </a:p>
          <a:p>
            <a:endParaRPr lang="en-US" dirty="0">
              <a:highlight>
                <a:srgbClr val="FFFF00"/>
              </a:highlight>
            </a:endParaRPr>
          </a:p>
        </p:txBody>
      </p:sp>
      <p:pic>
        <p:nvPicPr>
          <p:cNvPr id="8" name="Picture 7">
            <a:extLst>
              <a:ext uri="{FF2B5EF4-FFF2-40B4-BE49-F238E27FC236}">
                <a16:creationId xmlns:a16="http://schemas.microsoft.com/office/drawing/2014/main" id="{32FDB5E7-775E-3878-E497-5D543239D464}"/>
              </a:ext>
            </a:extLst>
          </p:cNvPr>
          <p:cNvPicPr>
            <a:picLocks noChangeAspect="1"/>
          </p:cNvPicPr>
          <p:nvPr/>
        </p:nvPicPr>
        <p:blipFill>
          <a:blip r:embed="rId2"/>
          <a:srcRect/>
          <a:stretch/>
        </p:blipFill>
        <p:spPr>
          <a:xfrm>
            <a:off x="7305964" y="255331"/>
            <a:ext cx="4208519" cy="6312778"/>
          </a:xfrm>
          <a:prstGeom prst="rect">
            <a:avLst/>
          </a:prstGeom>
        </p:spPr>
      </p:pic>
    </p:spTree>
    <p:extLst>
      <p:ext uri="{BB962C8B-B14F-4D97-AF65-F5344CB8AC3E}">
        <p14:creationId xmlns:p14="http://schemas.microsoft.com/office/powerpoint/2010/main" val="3576223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3192364" y="2860721"/>
            <a:ext cx="5807271" cy="1136558"/>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5400" dirty="0">
                <a:solidFill>
                  <a:schemeClr val="bg2">
                    <a:lumMod val="50000"/>
                  </a:schemeClr>
                </a:solidFill>
                <a:latin typeface="Perpetua" panose="02020502060401020303" pitchFamily="18" charset="77"/>
                <a:ea typeface="+mj-ea"/>
                <a:cs typeface="+mj-cs"/>
              </a:rPr>
              <a:t>BOAT DECOR</a:t>
            </a:r>
            <a:endParaRPr lang="en-US" sz="5400" i="1" dirty="0">
              <a:solidFill>
                <a:schemeClr val="bg2">
                  <a:lumMod val="50000"/>
                </a:schemeClr>
              </a:solidFill>
              <a:highlight>
                <a:srgbClr val="FFFF00"/>
              </a:highlight>
              <a:latin typeface="Perpetua" panose="02020502060401020303" pitchFamily="18" charset="77"/>
              <a:ea typeface="+mj-ea"/>
              <a:cs typeface="+mj-cs"/>
            </a:endParaRPr>
          </a:p>
        </p:txBody>
      </p:sp>
    </p:spTree>
    <p:extLst>
      <p:ext uri="{BB962C8B-B14F-4D97-AF65-F5344CB8AC3E}">
        <p14:creationId xmlns:p14="http://schemas.microsoft.com/office/powerpoint/2010/main" val="1444573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3053744-2146-97DA-4AD3-5A55080E047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3EBB555-6EC5-24EC-74D2-11AF71928A22}"/>
              </a:ext>
            </a:extLst>
          </p:cNvPr>
          <p:cNvPicPr>
            <a:picLocks noChangeAspect="1"/>
          </p:cNvPicPr>
          <p:nvPr/>
        </p:nvPicPr>
        <p:blipFill>
          <a:blip r:embed="rId2"/>
          <a:srcRect t="19102" b="1"/>
          <a:stretch>
            <a:fillRect/>
          </a:stretch>
        </p:blipFill>
        <p:spPr>
          <a:xfrm>
            <a:off x="6564375" y="411289"/>
            <a:ext cx="5019373" cy="6035421"/>
          </a:xfrm>
          <a:prstGeom prst="rect">
            <a:avLst/>
          </a:prstGeom>
        </p:spPr>
      </p:pic>
      <p:sp>
        <p:nvSpPr>
          <p:cNvPr id="5" name="TextBox 4">
            <a:extLst>
              <a:ext uri="{FF2B5EF4-FFF2-40B4-BE49-F238E27FC236}">
                <a16:creationId xmlns:a16="http://schemas.microsoft.com/office/drawing/2014/main" id="{6DD62DAF-5EDB-96D8-4962-0B19957B20E8}"/>
              </a:ext>
            </a:extLst>
          </p:cNvPr>
          <p:cNvSpPr txBox="1"/>
          <p:nvPr/>
        </p:nvSpPr>
        <p:spPr>
          <a:xfrm>
            <a:off x="288729" y="2091957"/>
            <a:ext cx="5807271" cy="2462213"/>
          </a:xfrm>
          <a:prstGeom prst="rect">
            <a:avLst/>
          </a:prstGeom>
          <a:noFill/>
        </p:spPr>
        <p:txBody>
          <a:bodyPr wrap="square" rtlCol="0">
            <a:spAutoFit/>
          </a:bodyPr>
          <a:lstStyle/>
          <a:p>
            <a:pPr marL="342900" indent="-342900">
              <a:buFont typeface="Arial" panose="020B0604020202020204" pitchFamily="34" charset="0"/>
              <a:buChar char="•"/>
            </a:pPr>
            <a:r>
              <a:rPr lang="en-US" sz="2200" dirty="0">
                <a:solidFill>
                  <a:schemeClr val="bg2">
                    <a:lumMod val="50000"/>
                  </a:schemeClr>
                </a:solidFill>
                <a:latin typeface="Perpetua" panose="02020502060401020303" pitchFamily="18" charset="77"/>
              </a:rPr>
              <a:t>The floral arrangements on the boat feature a lush and romantic composition of soft white and light-yellow blooms, styled abundantly along the back of the boat for an effortlessly elegant effect. The design feels fresh, airy, and refined, adding a graceful floral touch that enhances the overall luxurious and cinematic feel of the moment</a:t>
            </a:r>
            <a:endParaRPr lang="en-AE" sz="2200" dirty="0">
              <a:solidFill>
                <a:schemeClr val="bg2">
                  <a:lumMod val="50000"/>
                </a:schemeClr>
              </a:solidFill>
              <a:latin typeface="Perpetua" panose="02020502060401020303" pitchFamily="18" charset="77"/>
            </a:endParaRPr>
          </a:p>
        </p:txBody>
      </p:sp>
    </p:spTree>
    <p:extLst>
      <p:ext uri="{BB962C8B-B14F-4D97-AF65-F5344CB8AC3E}">
        <p14:creationId xmlns:p14="http://schemas.microsoft.com/office/powerpoint/2010/main" val="2685716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880820" y="3101394"/>
            <a:ext cx="10430360" cy="1772093"/>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300" dirty="0">
                <a:solidFill>
                  <a:schemeClr val="bg2">
                    <a:lumMod val="50000"/>
                  </a:schemeClr>
                </a:solidFill>
                <a:latin typeface="Perpetua" panose="02020502060401020303" pitchFamily="18" charset="77"/>
                <a:ea typeface="+mj-ea"/>
                <a:cs typeface="+mj-cs"/>
              </a:rPr>
              <a:t>SIGNS</a:t>
            </a:r>
          </a:p>
          <a:p>
            <a:pPr algn="ctr" defTabSz="914400">
              <a:lnSpc>
                <a:spcPct val="90000"/>
              </a:lnSpc>
              <a:spcBef>
                <a:spcPct val="0"/>
              </a:spcBef>
              <a:spcAft>
                <a:spcPts val="600"/>
              </a:spcAft>
            </a:pPr>
            <a:endParaRPr lang="en-US" sz="39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300" dirty="0">
              <a:solidFill>
                <a:schemeClr val="bg2">
                  <a:lumMod val="50000"/>
                </a:schemeClr>
              </a:solidFill>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528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D67F88A-43EC-97AE-5876-EF4C9222A42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4649F76-675B-243D-FFBE-BDED9DD6FF27}"/>
              </a:ext>
            </a:extLst>
          </p:cNvPr>
          <p:cNvSpPr txBox="1"/>
          <p:nvPr/>
        </p:nvSpPr>
        <p:spPr>
          <a:xfrm>
            <a:off x="634889" y="0"/>
            <a:ext cx="5251316" cy="180730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Welcome Sign &amp; Décor </a:t>
            </a:r>
            <a:endParaRPr lang="en-US" sz="44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sp>
        <p:nvSpPr>
          <p:cNvPr id="14" name="TextBox 13">
            <a:extLst>
              <a:ext uri="{FF2B5EF4-FFF2-40B4-BE49-F238E27FC236}">
                <a16:creationId xmlns:a16="http://schemas.microsoft.com/office/drawing/2014/main" id="{7CEFE24F-026B-31E1-2D62-A79AE5350BBE}"/>
              </a:ext>
            </a:extLst>
          </p:cNvPr>
          <p:cNvSpPr txBox="1"/>
          <p:nvPr/>
        </p:nvSpPr>
        <p:spPr>
          <a:xfrm>
            <a:off x="634889" y="1724850"/>
            <a:ext cx="5461111" cy="4308872"/>
          </a:xfrm>
          <a:prstGeom prst="rect">
            <a:avLst/>
          </a:prstGeom>
          <a:noFill/>
        </p:spPr>
        <p:txBody>
          <a:bodyPr wrap="square" rtlCol="0">
            <a:spAutoFit/>
          </a:bodyPr>
          <a:lstStyle/>
          <a:p>
            <a:pPr marL="342900" indent="-342900" fontAlgn="base">
              <a:buFont typeface="Arial" panose="020B0604020202020204" pitchFamily="34" charset="0"/>
              <a:buChar char="•"/>
            </a:pPr>
            <a:r>
              <a:rPr lang="en-US" sz="2200" dirty="0">
                <a:solidFill>
                  <a:schemeClr val="bg2">
                    <a:lumMod val="50000"/>
                  </a:schemeClr>
                </a:solidFill>
                <a:latin typeface="Perpetua" panose="02020502060401020303" pitchFamily="18" charset="77"/>
              </a:rPr>
              <a:t>The wedding welcome sign features a clean and contemporary freestanding design with a soft ivory finish and an understated, elegant layout. The typography is minimal and refined, creating a timeless first impression that feels polished, modern, and effortlessly sophisticated</a:t>
            </a:r>
          </a:p>
          <a:p>
            <a:pPr marL="342900" indent="-342900" fontAlgn="base">
              <a:buFont typeface="Arial" panose="020B0604020202020204" pitchFamily="34" charset="0"/>
              <a:buChar char="•"/>
            </a:pPr>
            <a:endParaRPr lang="en-US" sz="2200" dirty="0">
              <a:solidFill>
                <a:schemeClr val="bg2">
                  <a:lumMod val="50000"/>
                </a:schemeClr>
              </a:solidFill>
              <a:latin typeface="Perpetua" panose="02020502060401020303" pitchFamily="18" charset="77"/>
            </a:endParaRPr>
          </a:p>
          <a:p>
            <a:pPr marL="342900" indent="-342900" fontAlgn="base">
              <a:buFont typeface="Arial" panose="020B0604020202020204" pitchFamily="34" charset="0"/>
              <a:buChar char="•"/>
            </a:pPr>
            <a:r>
              <a:rPr lang="en-US" sz="2200" dirty="0">
                <a:solidFill>
                  <a:schemeClr val="bg2">
                    <a:lumMod val="50000"/>
                  </a:schemeClr>
                </a:solidFill>
                <a:latin typeface="Perpetua" panose="02020502060401020303" pitchFamily="18" charset="77"/>
              </a:rPr>
              <a:t>Styled with yellow floral arrangements displayed in tall ceramic vases for a delicate yet impactful effect, accompanied by candles in varying sizes to create a warm, refined, and beautifully layered presentation</a:t>
            </a:r>
          </a:p>
        </p:txBody>
      </p:sp>
      <p:pic>
        <p:nvPicPr>
          <p:cNvPr id="7" name="Picture 6">
            <a:extLst>
              <a:ext uri="{FF2B5EF4-FFF2-40B4-BE49-F238E27FC236}">
                <a16:creationId xmlns:a16="http://schemas.microsoft.com/office/drawing/2014/main" id="{F53FD14D-8517-01F0-11CF-A697DCAC159C}"/>
              </a:ext>
            </a:extLst>
          </p:cNvPr>
          <p:cNvPicPr>
            <a:picLocks noChangeAspect="1"/>
          </p:cNvPicPr>
          <p:nvPr/>
        </p:nvPicPr>
        <p:blipFill>
          <a:blip r:embed="rId2"/>
          <a:srcRect/>
          <a:stretch/>
        </p:blipFill>
        <p:spPr>
          <a:xfrm>
            <a:off x="7119294" y="291405"/>
            <a:ext cx="4183460" cy="6275190"/>
          </a:xfrm>
          <a:prstGeom prst="rect">
            <a:avLst/>
          </a:prstGeom>
        </p:spPr>
      </p:pic>
    </p:spTree>
    <p:extLst>
      <p:ext uri="{BB962C8B-B14F-4D97-AF65-F5344CB8AC3E}">
        <p14:creationId xmlns:p14="http://schemas.microsoft.com/office/powerpoint/2010/main" val="1002002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477332" y="-199445"/>
            <a:ext cx="6374572" cy="6062072"/>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800" dirty="0">
                <a:solidFill>
                  <a:schemeClr val="bg2">
                    <a:lumMod val="50000"/>
                  </a:schemeClr>
                </a:solidFill>
                <a:latin typeface="Perpetua" panose="02020502060401020303" pitchFamily="18" charset="77"/>
                <a:ea typeface="+mj-ea"/>
                <a:cs typeface="+mj-cs"/>
              </a:rPr>
              <a:t>Seating Chart</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3100" dirty="0">
              <a:solidFill>
                <a:schemeClr val="bg2">
                  <a:lumMod val="50000"/>
                </a:schemeClr>
              </a:solidFill>
              <a:latin typeface="Perpetua" panose="02020502060401020303" pitchFamily="18" charset="77"/>
              <a:ea typeface="+mj-ea"/>
              <a:cs typeface="+mj-cs"/>
            </a:endParaRPr>
          </a:p>
          <a:p>
            <a:pPr marL="457200" indent="-457200">
              <a:buFont typeface="Arial" panose="020B0604020202020204" pitchFamily="34" charset="0"/>
              <a:buChar char="•"/>
            </a:pPr>
            <a:r>
              <a:rPr lang="en-US" sz="2200" dirty="0">
                <a:solidFill>
                  <a:schemeClr val="bg2">
                    <a:lumMod val="50000"/>
                  </a:schemeClr>
                </a:solidFill>
                <a:latin typeface="Perpetua" panose="02020502060401020303" pitchFamily="18" charset="77"/>
              </a:rPr>
              <a:t>This wedding seating chart features a modern and architectural design with softly curved panels in warm neutral tones, creating a clean and elevated visual statement. The layout is thoughtfully structured with refined typography, pairing a delicate script with a minimalist serif font for a timeless and sophisticated look</a:t>
            </a:r>
          </a:p>
          <a:p>
            <a:pPr defTabSz="914400">
              <a:lnSpc>
                <a:spcPct val="90000"/>
              </a:lnSpc>
              <a:spcBef>
                <a:spcPct val="0"/>
              </a:spcBef>
              <a:spcAft>
                <a:spcPts val="600"/>
              </a:spcAft>
            </a:pPr>
            <a:r>
              <a:rPr lang="en-US" sz="3400" dirty="0">
                <a:latin typeface="+mj-lt"/>
                <a:ea typeface="+mj-ea"/>
                <a:cs typeface="+mj-cs"/>
              </a:rPr>
              <a:t> </a:t>
            </a:r>
          </a:p>
        </p:txBody>
      </p:sp>
      <p:pic>
        <p:nvPicPr>
          <p:cNvPr id="16" name="Picture 15">
            <a:extLst>
              <a:ext uri="{FF2B5EF4-FFF2-40B4-BE49-F238E27FC236}">
                <a16:creationId xmlns:a16="http://schemas.microsoft.com/office/drawing/2014/main" id="{B5E9A1CD-8BA4-83C5-944E-020157EB4A3F}"/>
              </a:ext>
            </a:extLst>
          </p:cNvPr>
          <p:cNvPicPr>
            <a:picLocks noChangeAspect="1"/>
          </p:cNvPicPr>
          <p:nvPr/>
        </p:nvPicPr>
        <p:blipFill>
          <a:blip r:embed="rId2"/>
          <a:srcRect/>
          <a:stretch/>
        </p:blipFill>
        <p:spPr>
          <a:xfrm>
            <a:off x="7322247" y="397963"/>
            <a:ext cx="4041382" cy="6062073"/>
          </a:xfrm>
          <a:prstGeom prst="rect">
            <a:avLst/>
          </a:prstGeom>
        </p:spPr>
      </p:pic>
    </p:spTree>
    <p:extLst>
      <p:ext uri="{BB962C8B-B14F-4D97-AF65-F5344CB8AC3E}">
        <p14:creationId xmlns:p14="http://schemas.microsoft.com/office/powerpoint/2010/main" val="3534622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49F8F6B-B294-ABC9-9842-A2EC89BD711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58828DE-0A81-97F9-162E-A4A83B82B235}"/>
              </a:ext>
            </a:extLst>
          </p:cNvPr>
          <p:cNvSpPr txBox="1"/>
          <p:nvPr/>
        </p:nvSpPr>
        <p:spPr>
          <a:xfrm>
            <a:off x="922929" y="268355"/>
            <a:ext cx="4453743" cy="6321287"/>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Place Cards</a:t>
            </a:r>
          </a:p>
          <a:p>
            <a:pPr algn="ctr" defTabSz="914400">
              <a:lnSpc>
                <a:spcPct val="90000"/>
              </a:lnSpc>
              <a:spcBef>
                <a:spcPct val="0"/>
              </a:spcBef>
              <a:spcAft>
                <a:spcPts val="600"/>
              </a:spcAft>
            </a:pPr>
            <a:r>
              <a:rPr lang="en-US" sz="3600" i="1" dirty="0">
                <a:solidFill>
                  <a:srgbClr val="FFC000"/>
                </a:solidFill>
                <a:latin typeface="Perpetua" panose="02020502060401020303" pitchFamily="18" charset="77"/>
                <a:ea typeface="+mj-ea"/>
                <a:cs typeface="+mj-cs"/>
              </a:rPr>
              <a:t>Audrey’s Note: </a:t>
            </a:r>
          </a:p>
          <a:p>
            <a:pPr algn="ctr" defTabSz="914400">
              <a:lnSpc>
                <a:spcPct val="90000"/>
              </a:lnSpc>
              <a:spcBef>
                <a:spcPct val="0"/>
              </a:spcBef>
              <a:spcAft>
                <a:spcPts val="600"/>
              </a:spcAft>
            </a:pPr>
            <a:endParaRPr lang="en-US" sz="4400" i="1"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r>
              <a:rPr lang="en-US" sz="2200" dirty="0">
                <a:solidFill>
                  <a:schemeClr val="bg2">
                    <a:lumMod val="50000"/>
                  </a:schemeClr>
                </a:solidFill>
                <a:latin typeface="Perpetua" panose="02020502060401020303" pitchFamily="18" charset="77"/>
              </a:rPr>
              <a:t>Please note that place cards are required by the catering staff regardless of round or rectangular tables. For weddings with more than 100 guests, place cards must be placed on each table with assigned seating, showing each guest’s full name, table number, and a meal icon/allergy note to guide the staff.</a:t>
            </a:r>
            <a:endParaRPr lang="en-US" sz="22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pic>
        <p:nvPicPr>
          <p:cNvPr id="3" name="Picture 2">
            <a:extLst>
              <a:ext uri="{FF2B5EF4-FFF2-40B4-BE49-F238E27FC236}">
                <a16:creationId xmlns:a16="http://schemas.microsoft.com/office/drawing/2014/main" id="{80BD6E25-2C67-B0A9-5AC2-44EC7EF84917}"/>
              </a:ext>
            </a:extLst>
          </p:cNvPr>
          <p:cNvPicPr>
            <a:picLocks noChangeAspect="1"/>
          </p:cNvPicPr>
          <p:nvPr/>
        </p:nvPicPr>
        <p:blipFill>
          <a:blip r:embed="rId2"/>
          <a:srcRect/>
          <a:stretch/>
        </p:blipFill>
        <p:spPr>
          <a:xfrm>
            <a:off x="6096000" y="613340"/>
            <a:ext cx="5631316" cy="5631316"/>
          </a:xfrm>
          <a:prstGeom prst="rect">
            <a:avLst/>
          </a:prstGeom>
        </p:spPr>
      </p:pic>
    </p:spTree>
    <p:extLst>
      <p:ext uri="{BB962C8B-B14F-4D97-AF65-F5344CB8AC3E}">
        <p14:creationId xmlns:p14="http://schemas.microsoft.com/office/powerpoint/2010/main" val="3617417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37C5453-EF1A-B806-4E83-A4778DCE2ED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FD6A3D0-071B-27FE-1A63-2E2F52A1C602}"/>
              </a:ext>
            </a:extLst>
          </p:cNvPr>
          <p:cNvSpPr txBox="1"/>
          <p:nvPr/>
        </p:nvSpPr>
        <p:spPr>
          <a:xfrm>
            <a:off x="437341" y="-329184"/>
            <a:ext cx="6136239" cy="563641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Table numbers</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marL="342900" indent="-342900">
              <a:buFont typeface="Arial" panose="020B0604020202020204" pitchFamily="34" charset="0"/>
              <a:buChar char="•"/>
            </a:pPr>
            <a:r>
              <a:rPr lang="en-US" sz="2200" dirty="0">
                <a:solidFill>
                  <a:schemeClr val="bg2">
                    <a:lumMod val="50000"/>
                  </a:schemeClr>
                </a:solidFill>
                <a:latin typeface="Perpetua" panose="02020502060401020303" pitchFamily="18" charset="77"/>
              </a:rPr>
              <a:t>This wedding table number features an elegant oval design with soft ivory and light-yellow stripes, paired with refined typography for a timeless and elevated look. Displayed on a polished stand, it adds a chic and beautifully curated touch to the overall tablescape</a:t>
            </a:r>
          </a:p>
        </p:txBody>
      </p:sp>
      <p:pic>
        <p:nvPicPr>
          <p:cNvPr id="4" name="Picture 3">
            <a:extLst>
              <a:ext uri="{FF2B5EF4-FFF2-40B4-BE49-F238E27FC236}">
                <a16:creationId xmlns:a16="http://schemas.microsoft.com/office/drawing/2014/main" id="{40D030C9-5843-CFC5-A305-20C724FD7C4E}"/>
              </a:ext>
            </a:extLst>
          </p:cNvPr>
          <p:cNvPicPr>
            <a:picLocks noChangeAspect="1"/>
          </p:cNvPicPr>
          <p:nvPr/>
        </p:nvPicPr>
        <p:blipFill>
          <a:blip r:embed="rId2"/>
          <a:srcRect/>
          <a:stretch/>
        </p:blipFill>
        <p:spPr>
          <a:xfrm>
            <a:off x="7453613" y="362712"/>
            <a:ext cx="4301046" cy="6132576"/>
          </a:xfrm>
          <a:prstGeom prst="rect">
            <a:avLst/>
          </a:prstGeom>
        </p:spPr>
      </p:pic>
    </p:spTree>
    <p:extLst>
      <p:ext uri="{BB962C8B-B14F-4D97-AF65-F5344CB8AC3E}">
        <p14:creationId xmlns:p14="http://schemas.microsoft.com/office/powerpoint/2010/main" val="4279134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D819984-0BCB-B705-8381-EF87FBA47F9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4B3B833-1225-75CC-5980-D6B4AEB7ADE2}"/>
              </a:ext>
            </a:extLst>
          </p:cNvPr>
          <p:cNvSpPr txBox="1"/>
          <p:nvPr/>
        </p:nvSpPr>
        <p:spPr>
          <a:xfrm>
            <a:off x="279900" y="206476"/>
            <a:ext cx="5416911" cy="6240505"/>
          </a:xfrm>
          <a:prstGeom prst="rect">
            <a:avLst/>
          </a:prstGeom>
        </p:spPr>
        <p:txBody>
          <a:bodyPr vert="horz" lIns="91440" tIns="45720" rIns="91440" bIns="45720" rtlCol="0" anchor="ctr">
            <a:normAutofit fontScale="85000" lnSpcReduction="10000"/>
          </a:bodyPr>
          <a:lstStyle/>
          <a:p>
            <a:pPr algn="ctr" defTabSz="914400">
              <a:lnSpc>
                <a:spcPct val="90000"/>
              </a:lnSpc>
              <a:spcBef>
                <a:spcPct val="0"/>
              </a:spcBef>
              <a:spcAft>
                <a:spcPts val="600"/>
              </a:spcAft>
            </a:pPr>
            <a:r>
              <a:rPr lang="en-US" sz="5700" dirty="0">
                <a:solidFill>
                  <a:schemeClr val="bg2">
                    <a:lumMod val="50000"/>
                  </a:schemeClr>
                </a:solidFill>
                <a:latin typeface="Perpetua" panose="02020502060401020303" pitchFamily="18" charset="77"/>
                <a:ea typeface="+mj-ea"/>
                <a:cs typeface="+mj-cs"/>
              </a:rPr>
              <a:t>Menus</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2600" dirty="0">
              <a:solidFill>
                <a:schemeClr val="bg2">
                  <a:lumMod val="50000"/>
                </a:schemeClr>
              </a:solidFill>
              <a:latin typeface="Perpetua" panose="02020502060401020303" pitchFamily="18" charset="77"/>
              <a:ea typeface="+mj-ea"/>
              <a:cs typeface="+mj-cs"/>
            </a:endParaRPr>
          </a:p>
          <a:p>
            <a:pPr marL="342900" indent="-342900" algn="ctr" fontAlgn="base">
              <a:buFont typeface="Arial" panose="020B0604020202020204" pitchFamily="34" charset="0"/>
              <a:buChar char="•"/>
            </a:pPr>
            <a:r>
              <a:rPr lang="en-US" sz="2600" dirty="0">
                <a:solidFill>
                  <a:schemeClr val="bg2">
                    <a:lumMod val="50000"/>
                  </a:schemeClr>
                </a:solidFill>
                <a:latin typeface="Perpetua" panose="02020502060401020303" pitchFamily="18" charset="77"/>
              </a:rPr>
              <a:t>This wedding menu features a clean and refined design with soft, minimal typography on crisp white paper. It is paired with a delicate light-yellow napkin and a matching name card tied with a chiffon ribbon, creating a fresh, elegant, and thoughtfully coordinated place setting</a:t>
            </a:r>
          </a:p>
          <a:p>
            <a:pPr algn="ctr" fontAlgn="base"/>
            <a:endParaRPr lang="en-US" sz="2600" dirty="0">
              <a:solidFill>
                <a:schemeClr val="bg2">
                  <a:lumMod val="50000"/>
                </a:schemeClr>
              </a:solidFill>
              <a:latin typeface="Perpetua" panose="02020502060401020303" pitchFamily="18" charset="77"/>
            </a:endParaRPr>
          </a:p>
          <a:p>
            <a:pPr algn="ctr" fontAlgn="base"/>
            <a:r>
              <a:rPr lang="en-US" sz="2600" dirty="0">
                <a:solidFill>
                  <a:srgbClr val="FFC000"/>
                </a:solidFill>
                <a:latin typeface="Perpetua" panose="02020502060401020303" pitchFamily="18" charset="77"/>
              </a:rPr>
              <a:t>Audrey’s note: To ensure visual consistency across the menus, place cards, and table numbers, the same font and color palette will be applied throughout. I would also recommend opting for a lace ribbon rather than satin to better complement the table numbers. Final details to be confirmed with Kiara.</a:t>
            </a:r>
          </a:p>
        </p:txBody>
      </p:sp>
      <p:pic>
        <p:nvPicPr>
          <p:cNvPr id="3" name="Picture 2">
            <a:extLst>
              <a:ext uri="{FF2B5EF4-FFF2-40B4-BE49-F238E27FC236}">
                <a16:creationId xmlns:a16="http://schemas.microsoft.com/office/drawing/2014/main" id="{3576634B-03A1-B7AD-3AD9-CE62143D01D6}"/>
              </a:ext>
            </a:extLst>
          </p:cNvPr>
          <p:cNvPicPr>
            <a:picLocks noChangeAspect="1"/>
          </p:cNvPicPr>
          <p:nvPr/>
        </p:nvPicPr>
        <p:blipFill>
          <a:blip r:embed="rId2"/>
          <a:srcRect/>
          <a:stretch/>
        </p:blipFill>
        <p:spPr>
          <a:xfrm>
            <a:off x="7388897" y="499311"/>
            <a:ext cx="3906251" cy="5859377"/>
          </a:xfrm>
          <a:prstGeom prst="rect">
            <a:avLst/>
          </a:prstGeom>
        </p:spPr>
      </p:pic>
    </p:spTree>
    <p:extLst>
      <p:ext uri="{BB962C8B-B14F-4D97-AF65-F5344CB8AC3E}">
        <p14:creationId xmlns:p14="http://schemas.microsoft.com/office/powerpoint/2010/main" val="2829549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6CAF78E-16A2-5A6B-CAA3-7D9B508FD07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E1D080B-C004-9F13-2CC3-E7237812A99E}"/>
              </a:ext>
            </a:extLst>
          </p:cNvPr>
          <p:cNvSpPr txBox="1"/>
          <p:nvPr/>
        </p:nvSpPr>
        <p:spPr>
          <a:xfrm>
            <a:off x="880820" y="1292692"/>
            <a:ext cx="10430360" cy="837560"/>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300" dirty="0">
                <a:solidFill>
                  <a:schemeClr val="bg2">
                    <a:lumMod val="50000"/>
                  </a:schemeClr>
                </a:solidFill>
                <a:latin typeface="Perpetua" panose="02020502060401020303" pitchFamily="18" charset="77"/>
                <a:ea typeface="+mj-ea"/>
                <a:cs typeface="+mj-cs"/>
              </a:rPr>
              <a:t>RECEPTION DÉCOR</a:t>
            </a:r>
            <a:endParaRPr lang="en-US" sz="39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300" dirty="0">
              <a:solidFill>
                <a:schemeClr val="bg2">
                  <a:lumMod val="50000"/>
                </a:schemeClr>
              </a:solidFill>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D99914F7-B682-FF91-5514-2539C1F87929}"/>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6E03C0D-48ED-9810-E231-A3EE4C05D784}"/>
              </a:ext>
            </a:extLst>
          </p:cNvPr>
          <p:cNvSpPr txBox="1"/>
          <p:nvPr/>
        </p:nvSpPr>
        <p:spPr>
          <a:xfrm>
            <a:off x="1225900" y="3637503"/>
            <a:ext cx="9897626" cy="707886"/>
          </a:xfrm>
          <a:prstGeom prst="rect">
            <a:avLst/>
          </a:prstGeom>
          <a:noFill/>
        </p:spPr>
        <p:txBody>
          <a:bodyPr wrap="square" rtlCol="0">
            <a:spAutoFit/>
          </a:bodyPr>
          <a:lstStyle/>
          <a:p>
            <a:pPr algn="ctr"/>
            <a:r>
              <a:rPr lang="en-US" sz="2200" dirty="0">
                <a:solidFill>
                  <a:schemeClr val="bg2">
                    <a:lumMod val="50000"/>
                  </a:schemeClr>
                </a:solidFill>
                <a:latin typeface="Perpetua" panose="02020502060401020303" pitchFamily="18" charset="77"/>
              </a:rPr>
              <a:t>The ceremony will take place at  Yachts de Paris, Paris.</a:t>
            </a:r>
          </a:p>
          <a:p>
            <a:endParaRPr lang="en-AE" dirty="0"/>
          </a:p>
        </p:txBody>
      </p:sp>
    </p:spTree>
    <p:extLst>
      <p:ext uri="{BB962C8B-B14F-4D97-AF65-F5344CB8AC3E}">
        <p14:creationId xmlns:p14="http://schemas.microsoft.com/office/powerpoint/2010/main" val="3820833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98DA3D0-DAC1-0238-2798-DE89CCB6AE2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D1026BB-C18C-CD0F-F230-ECC747518228}"/>
              </a:ext>
            </a:extLst>
          </p:cNvPr>
          <p:cNvSpPr txBox="1"/>
          <p:nvPr/>
        </p:nvSpPr>
        <p:spPr>
          <a:xfrm>
            <a:off x="445189" y="-109728"/>
            <a:ext cx="6004379" cy="6857999"/>
          </a:xfrm>
          <a:prstGeom prst="rect">
            <a:avLst/>
          </a:prstGeom>
        </p:spPr>
        <p:txBody>
          <a:bodyPr vert="horz" lIns="91440" tIns="45720" rIns="91440" bIns="45720" rtlCol="0" anchor="t">
            <a:normAutofit fontScale="77500" lnSpcReduction="20000"/>
          </a:bodyPr>
          <a:lstStyle/>
          <a:p>
            <a:pPr algn="ctr" defTabSz="914400">
              <a:lnSpc>
                <a:spcPct val="90000"/>
              </a:lnSpc>
              <a:spcBef>
                <a:spcPct val="0"/>
              </a:spcBef>
              <a:spcAft>
                <a:spcPts val="600"/>
              </a:spcAft>
            </a:pPr>
            <a:endParaRPr lang="en-US" sz="52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r>
              <a:rPr lang="en-US" sz="5200" dirty="0">
                <a:solidFill>
                  <a:schemeClr val="bg2">
                    <a:lumMod val="50000"/>
                  </a:schemeClr>
                </a:solidFill>
                <a:latin typeface="Perpetua" panose="02020502060401020303" pitchFamily="18" charset="77"/>
                <a:ea typeface="+mj-ea"/>
                <a:cs typeface="+mj-cs"/>
              </a:rPr>
              <a:t>Groom &amp; Groom </a:t>
            </a:r>
            <a:r>
              <a:rPr lang="en-US" sz="5200" dirty="0">
                <a:solidFill>
                  <a:schemeClr val="bg2">
                    <a:lumMod val="50000"/>
                  </a:schemeClr>
                </a:solidFill>
                <a:latin typeface="Perpetua" panose="02020502060401020303" pitchFamily="18" charset="77"/>
              </a:rPr>
              <a:t>–</a:t>
            </a:r>
            <a:r>
              <a:rPr lang="en-US" sz="5200" dirty="0">
                <a:solidFill>
                  <a:schemeClr val="bg2">
                    <a:lumMod val="50000"/>
                  </a:schemeClr>
                </a:solidFill>
                <a:latin typeface="Perpetua" panose="02020502060401020303" pitchFamily="18" charset="77"/>
                <a:ea typeface="+mj-ea"/>
                <a:cs typeface="+mj-cs"/>
              </a:rPr>
              <a:t> </a:t>
            </a:r>
            <a:r>
              <a:rPr lang="en-US" sz="5200" dirty="0">
                <a:solidFill>
                  <a:schemeClr val="accent2"/>
                </a:solidFill>
                <a:latin typeface="Perpetua" panose="02020502060401020303" pitchFamily="18" charset="77"/>
                <a:ea typeface="+mj-ea"/>
                <a:cs typeface="+mj-cs"/>
              </a:rPr>
              <a:t>Table For 2</a:t>
            </a:r>
          </a:p>
          <a:p>
            <a:pPr algn="ctr" defTabSz="914400">
              <a:lnSpc>
                <a:spcPct val="90000"/>
              </a:lnSpc>
              <a:spcBef>
                <a:spcPct val="0"/>
              </a:spcBef>
              <a:spcAft>
                <a:spcPts val="600"/>
              </a:spcAft>
            </a:pPr>
            <a:endParaRPr lang="en-US" sz="3900"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endParaRPr lang="en-US" sz="2800" dirty="0">
              <a:solidFill>
                <a:schemeClr val="bg2">
                  <a:lumMod val="50000"/>
                </a:schemeClr>
              </a:solidFill>
              <a:latin typeface="Perpetua" panose="02020502060401020303" pitchFamily="18" charset="77"/>
            </a:endParaRPr>
          </a:p>
          <a:p>
            <a:pPr marL="457200" indent="-457200" defTabSz="914400">
              <a:lnSpc>
                <a:spcPct val="90000"/>
              </a:lnSpc>
              <a:spcBef>
                <a:spcPct val="0"/>
              </a:spcBef>
              <a:spcAft>
                <a:spcPts val="600"/>
              </a:spcAft>
              <a:buFont typeface="Arial" panose="020B0604020202020204" pitchFamily="34" charset="0"/>
              <a:buChar char="•"/>
            </a:pPr>
            <a:r>
              <a:rPr lang="en-US" sz="2800" dirty="0">
                <a:solidFill>
                  <a:schemeClr val="bg2">
                    <a:lumMod val="50000"/>
                  </a:schemeClr>
                </a:solidFill>
                <a:latin typeface="Perpetua" panose="02020502060401020303" pitchFamily="18" charset="77"/>
              </a:rPr>
              <a:t>The groom and groom table features a modern and editorial-inspired design with soft ivory and champagne-toned draping layered throughout for a sculptural and elevated effect</a:t>
            </a:r>
          </a:p>
          <a:p>
            <a:pPr defTabSz="914400">
              <a:lnSpc>
                <a:spcPct val="90000"/>
              </a:lnSpc>
              <a:spcBef>
                <a:spcPct val="0"/>
              </a:spcBef>
              <a:spcAft>
                <a:spcPts val="600"/>
              </a:spcAft>
            </a:pPr>
            <a:endParaRPr lang="en-US" sz="2800" dirty="0">
              <a:solidFill>
                <a:schemeClr val="bg2">
                  <a:lumMod val="50000"/>
                </a:schemeClr>
              </a:solidFill>
              <a:latin typeface="Perpetua" panose="02020502060401020303" pitchFamily="18" charset="77"/>
            </a:endParaRPr>
          </a:p>
          <a:p>
            <a:pPr marL="457200" indent="-457200" defTabSz="914400">
              <a:lnSpc>
                <a:spcPct val="90000"/>
              </a:lnSpc>
              <a:spcBef>
                <a:spcPct val="0"/>
              </a:spcBef>
              <a:spcAft>
                <a:spcPts val="600"/>
              </a:spcAft>
              <a:buFont typeface="Arial" panose="020B0604020202020204" pitchFamily="34" charset="0"/>
              <a:buChar char="•"/>
            </a:pPr>
            <a:r>
              <a:rPr lang="en-US" sz="2800" dirty="0">
                <a:solidFill>
                  <a:schemeClr val="bg2">
                    <a:lumMod val="50000"/>
                  </a:schemeClr>
                </a:solidFill>
                <a:latin typeface="Perpetua" panose="02020502060401020303" pitchFamily="18" charset="77"/>
              </a:rPr>
              <a:t>The floral arrangements are kept minimal yet impactful, featuring bright yellow and soft white blooms styled in a clean, airy way throughout the table and surrounding décor</a:t>
            </a:r>
          </a:p>
          <a:p>
            <a:pPr marL="457200" indent="-457200" defTabSz="914400">
              <a:lnSpc>
                <a:spcPct val="90000"/>
              </a:lnSpc>
              <a:spcBef>
                <a:spcPct val="0"/>
              </a:spcBef>
              <a:spcAft>
                <a:spcPts val="600"/>
              </a:spcAft>
              <a:buFont typeface="Arial" panose="020B0604020202020204" pitchFamily="34" charset="0"/>
              <a:buChar char="•"/>
            </a:pPr>
            <a:endParaRPr lang="en-US" sz="2800" dirty="0">
              <a:solidFill>
                <a:schemeClr val="bg2">
                  <a:lumMod val="50000"/>
                </a:schemeClr>
              </a:solidFill>
              <a:latin typeface="Perpetua" panose="02020502060401020303" pitchFamily="18" charset="77"/>
            </a:endParaRPr>
          </a:p>
          <a:p>
            <a:pPr marL="457200" indent="-457200" defTabSz="914400">
              <a:lnSpc>
                <a:spcPct val="90000"/>
              </a:lnSpc>
              <a:spcBef>
                <a:spcPct val="0"/>
              </a:spcBef>
              <a:spcAft>
                <a:spcPts val="600"/>
              </a:spcAft>
              <a:buFont typeface="Arial" panose="020B0604020202020204" pitchFamily="34" charset="0"/>
              <a:buChar char="•"/>
            </a:pPr>
            <a:r>
              <a:rPr lang="en-US" sz="2800" dirty="0">
                <a:solidFill>
                  <a:schemeClr val="bg2">
                    <a:lumMod val="50000"/>
                  </a:schemeClr>
                </a:solidFill>
                <a:latin typeface="Perpetua" panose="02020502060401020303" pitchFamily="18" charset="77"/>
              </a:rPr>
              <a:t>The vases feature a sleek, oversized ceramic design in a crisp white finish, adding a bold and sculptural decorative element to the overall styling</a:t>
            </a:r>
          </a:p>
          <a:p>
            <a:pPr defTabSz="914400">
              <a:lnSpc>
                <a:spcPct val="90000"/>
              </a:lnSpc>
              <a:spcBef>
                <a:spcPct val="0"/>
              </a:spcBef>
              <a:spcAft>
                <a:spcPts val="600"/>
              </a:spcAft>
            </a:pPr>
            <a:endParaRPr lang="en-US" sz="2800" dirty="0">
              <a:solidFill>
                <a:schemeClr val="bg2">
                  <a:lumMod val="50000"/>
                </a:schemeClr>
              </a:solidFill>
              <a:latin typeface="Perpetua" panose="02020502060401020303" pitchFamily="18" charset="77"/>
            </a:endParaRPr>
          </a:p>
          <a:p>
            <a:pPr defTabSz="914400">
              <a:lnSpc>
                <a:spcPct val="90000"/>
              </a:lnSpc>
              <a:spcBef>
                <a:spcPct val="0"/>
              </a:spcBef>
              <a:spcAft>
                <a:spcPts val="600"/>
              </a:spcAft>
            </a:pPr>
            <a:r>
              <a:rPr lang="en-US" sz="2800" dirty="0">
                <a:solidFill>
                  <a:schemeClr val="bg2">
                    <a:lumMod val="50000"/>
                  </a:schemeClr>
                </a:solidFill>
                <a:latin typeface="Perpetua" panose="02020502060401020303" pitchFamily="18" charset="77"/>
              </a:rPr>
              <a:t>Every detail is thoughtfully curated to harmonize seamlessly with the color </a:t>
            </a:r>
            <a:r>
              <a:rPr lang="en-US" sz="2800" dirty="0">
                <a:solidFill>
                  <a:srgbClr val="FFC000"/>
                </a:solidFill>
                <a:latin typeface="Perpetua" panose="02020502060401020303" pitchFamily="18" charset="77"/>
              </a:rPr>
              <a:t>palette detailed on slide #2</a:t>
            </a:r>
            <a:r>
              <a:rPr lang="en-US" sz="2800" dirty="0">
                <a:solidFill>
                  <a:schemeClr val="bg2">
                    <a:lumMod val="50000"/>
                  </a:schemeClr>
                </a:solidFill>
                <a:latin typeface="Perpetua" panose="02020502060401020303" pitchFamily="18" charset="77"/>
              </a:rPr>
              <a:t>, resulting in a warm, refined, and unforgettable focal point</a:t>
            </a:r>
            <a:endParaRPr lang="en-US" sz="2600" dirty="0">
              <a:solidFill>
                <a:schemeClr val="bg2">
                  <a:lumMod val="50000"/>
                </a:schemeClr>
              </a:solidFill>
              <a:latin typeface="Perpetua" panose="02020502060401020303" pitchFamily="18" charset="77"/>
              <a:sym typeface="Wingdings" pitchFamily="2" charset="2"/>
            </a:endParaRPr>
          </a:p>
        </p:txBody>
      </p:sp>
      <p:sp>
        <p:nvSpPr>
          <p:cNvPr id="23" name="Content Placeholder 12">
            <a:extLst>
              <a:ext uri="{FF2B5EF4-FFF2-40B4-BE49-F238E27FC236}">
                <a16:creationId xmlns:a16="http://schemas.microsoft.com/office/drawing/2014/main" id="{E5695596-7817-DE6D-82CA-C3D8A3928D04}"/>
              </a:ext>
            </a:extLst>
          </p:cNvPr>
          <p:cNvSpPr>
            <a:spLocks noGrp="1"/>
          </p:cNvSpPr>
          <p:nvPr>
            <p:ph idx="1"/>
          </p:nvPr>
        </p:nvSpPr>
        <p:spPr>
          <a:xfrm>
            <a:off x="9164538" y="7434541"/>
            <a:ext cx="5518645" cy="4415589"/>
          </a:xfrm>
        </p:spPr>
        <p:txBody>
          <a:bodyPr vert="horz" lIns="91440" tIns="45720" rIns="91440" bIns="45720" rtlCol="0">
            <a:noAutofit/>
          </a:bodyPr>
          <a:lstStyle/>
          <a:p>
            <a:pPr marL="0" indent="0" algn="l">
              <a:buNone/>
            </a:pPr>
            <a:endParaRPr lang="en-US" sz="2000" dirty="0">
              <a:solidFill>
                <a:schemeClr val="bg2">
                  <a:lumMod val="50000"/>
                </a:schemeClr>
              </a:solidFill>
              <a:latin typeface="Perpetua" panose="02020502060401020303" pitchFamily="18" charset="77"/>
            </a:endParaRPr>
          </a:p>
          <a:p>
            <a:pPr marL="0" indent="0" algn="l">
              <a:buNone/>
            </a:pPr>
            <a:endParaRPr lang="en-US" sz="2000" dirty="0">
              <a:solidFill>
                <a:schemeClr val="bg2">
                  <a:lumMod val="50000"/>
                </a:schemeClr>
              </a:solidFill>
              <a:latin typeface="Perpetua" panose="02020502060401020303" pitchFamily="18" charset="77"/>
            </a:endParaRPr>
          </a:p>
        </p:txBody>
      </p:sp>
      <p:pic>
        <p:nvPicPr>
          <p:cNvPr id="3" name="Picture 2">
            <a:extLst>
              <a:ext uri="{FF2B5EF4-FFF2-40B4-BE49-F238E27FC236}">
                <a16:creationId xmlns:a16="http://schemas.microsoft.com/office/drawing/2014/main" id="{31D427C5-218F-2EA4-A21C-FAE2F1CB1247}"/>
              </a:ext>
            </a:extLst>
          </p:cNvPr>
          <p:cNvPicPr>
            <a:picLocks noChangeAspect="1"/>
          </p:cNvPicPr>
          <p:nvPr/>
        </p:nvPicPr>
        <p:blipFill>
          <a:blip r:embed="rId2"/>
          <a:stretch>
            <a:fillRect/>
          </a:stretch>
        </p:blipFill>
        <p:spPr>
          <a:xfrm>
            <a:off x="6727380" y="465548"/>
            <a:ext cx="5293932" cy="5926902"/>
          </a:xfrm>
          <a:prstGeom prst="rect">
            <a:avLst/>
          </a:prstGeom>
        </p:spPr>
      </p:pic>
    </p:spTree>
    <p:extLst>
      <p:ext uri="{BB962C8B-B14F-4D97-AF65-F5344CB8AC3E}">
        <p14:creationId xmlns:p14="http://schemas.microsoft.com/office/powerpoint/2010/main" val="36105781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7041749-C801-3AB0-625E-5947C995F70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462F60B-E57F-F239-A1FD-1449A06A11B7}"/>
              </a:ext>
            </a:extLst>
          </p:cNvPr>
          <p:cNvSpPr txBox="1"/>
          <p:nvPr/>
        </p:nvSpPr>
        <p:spPr>
          <a:xfrm>
            <a:off x="436594" y="267855"/>
            <a:ext cx="6147086" cy="6590145"/>
          </a:xfrm>
          <a:prstGeom prst="rect">
            <a:avLst/>
          </a:prstGeom>
        </p:spPr>
        <p:txBody>
          <a:bodyPr vert="horz" lIns="91440" tIns="45720" rIns="91440" bIns="45720" rtlCol="0">
            <a:normAutofit/>
          </a:bodyPr>
          <a:lstStyle/>
          <a:p>
            <a:pPr defTabSz="914400">
              <a:lnSpc>
                <a:spcPct val="90000"/>
              </a:lnSpc>
              <a:spcBef>
                <a:spcPct val="0"/>
              </a:spcBef>
              <a:spcAft>
                <a:spcPts val="600"/>
              </a:spcAft>
            </a:pPr>
            <a:r>
              <a:rPr lang="en-US" sz="3500" dirty="0">
                <a:solidFill>
                  <a:schemeClr val="bg2">
                    <a:lumMod val="50000"/>
                  </a:schemeClr>
                </a:solidFill>
                <a:latin typeface="Perpetua" panose="02020502060401020303" pitchFamily="18" charset="77"/>
              </a:rPr>
              <a:t>Rectangular Tables – </a:t>
            </a:r>
            <a:r>
              <a:rPr lang="en-US" sz="3500" dirty="0">
                <a:solidFill>
                  <a:schemeClr val="bg2">
                    <a:lumMod val="50000"/>
                  </a:schemeClr>
                </a:solidFill>
                <a:highlight>
                  <a:srgbClr val="FFFF00"/>
                </a:highlight>
                <a:latin typeface="Perpetua" panose="02020502060401020303" pitchFamily="18" charset="77"/>
              </a:rPr>
              <a:t>OPTION 1</a:t>
            </a:r>
          </a:p>
          <a:p>
            <a:pPr defTabSz="914400">
              <a:lnSpc>
                <a:spcPct val="90000"/>
              </a:lnSpc>
              <a:spcBef>
                <a:spcPct val="0"/>
              </a:spcBef>
              <a:spcAft>
                <a:spcPts val="600"/>
              </a:spcAft>
            </a:pPr>
            <a:endParaRPr lang="en-US" sz="2400" dirty="0">
              <a:solidFill>
                <a:srgbClr val="FFC000"/>
              </a:solidFill>
              <a:highlight>
                <a:srgbClr val="FFFF00"/>
              </a:highlight>
              <a:latin typeface="Perpetua" panose="02020502060401020303" pitchFamily="18" charset="77"/>
            </a:endParaRPr>
          </a:p>
          <a:p>
            <a:pPr defTabSz="914400">
              <a:lnSpc>
                <a:spcPct val="90000"/>
              </a:lnSpc>
              <a:spcBef>
                <a:spcPct val="0"/>
              </a:spcBef>
              <a:spcAft>
                <a:spcPts val="600"/>
              </a:spcAft>
            </a:pPr>
            <a:endParaRPr lang="en-US" sz="2400" dirty="0">
              <a:solidFill>
                <a:srgbClr val="FFC000"/>
              </a:solidFill>
              <a:highlight>
                <a:srgbClr val="FFFF00"/>
              </a:highlight>
              <a:latin typeface="Perpetua" panose="02020502060401020303" pitchFamily="18" charset="77"/>
            </a:endParaRPr>
          </a:p>
          <a:p>
            <a:pPr defTabSz="914400">
              <a:lnSpc>
                <a:spcPct val="90000"/>
              </a:lnSpc>
              <a:spcBef>
                <a:spcPct val="0"/>
              </a:spcBef>
              <a:spcAft>
                <a:spcPts val="600"/>
              </a:spcAft>
            </a:pPr>
            <a:endParaRPr lang="en-US" sz="2400" dirty="0">
              <a:solidFill>
                <a:srgbClr val="FFC000"/>
              </a:solidFill>
              <a:highlight>
                <a:srgbClr val="FFFF00"/>
              </a:highlight>
              <a:latin typeface="Perpetua" panose="02020502060401020303" pitchFamily="18" charset="77"/>
            </a:endParaRPr>
          </a:p>
          <a:p>
            <a:pPr algn="ctr" defTabSz="914400">
              <a:lnSpc>
                <a:spcPct val="90000"/>
              </a:lnSpc>
              <a:spcBef>
                <a:spcPct val="0"/>
              </a:spcBef>
              <a:spcAft>
                <a:spcPts val="600"/>
              </a:spcAft>
            </a:pPr>
            <a:endParaRPr lang="en-US" sz="2400" dirty="0">
              <a:solidFill>
                <a:srgbClr val="FFC000"/>
              </a:solidFill>
              <a:highlight>
                <a:srgbClr val="FFFF00"/>
              </a:highlight>
              <a:latin typeface="Perpetua" panose="02020502060401020303" pitchFamily="18" charset="77"/>
            </a:endParaRPr>
          </a:p>
          <a:p>
            <a:pPr marL="457200" indent="-228600" defTabSz="914400">
              <a:lnSpc>
                <a:spcPct val="90000"/>
              </a:lnSpc>
              <a:buFont typeface="Arial" panose="020B0604020202020204" pitchFamily="34" charset="0"/>
              <a:buChar char="•"/>
            </a:pPr>
            <a:r>
              <a:rPr lang="en-US" sz="2200" dirty="0">
                <a:solidFill>
                  <a:schemeClr val="bg2">
                    <a:lumMod val="50000"/>
                  </a:schemeClr>
                </a:solidFill>
                <a:latin typeface="Perpetua" panose="02020502060401020303" pitchFamily="18" charset="77"/>
              </a:rPr>
              <a:t>This wedding reception table features a clean and elegant long-table design styled with a soft, refined tablescape and a fresh, airy floral runner. Delicate yellow blooms arranged in bud vases create a light and playful yet sophisticated look, while taper candles and scattered votives add warmth and a romantic glow throughout the table</a:t>
            </a:r>
          </a:p>
          <a:p>
            <a:pPr marL="228600" defTabSz="914400">
              <a:lnSpc>
                <a:spcPct val="90000"/>
              </a:lnSpc>
            </a:pPr>
            <a:endParaRPr lang="en-US" sz="2200" dirty="0">
              <a:solidFill>
                <a:schemeClr val="bg2">
                  <a:lumMod val="50000"/>
                </a:schemeClr>
              </a:solidFill>
              <a:latin typeface="Perpetua" panose="02020502060401020303" pitchFamily="18" charset="77"/>
            </a:endParaRPr>
          </a:p>
          <a:p>
            <a:pPr marL="228600" defTabSz="914400">
              <a:lnSpc>
                <a:spcPct val="90000"/>
              </a:lnSpc>
            </a:pPr>
            <a:endParaRPr lang="en-US" sz="2200" dirty="0">
              <a:solidFill>
                <a:schemeClr val="bg2">
                  <a:lumMod val="50000"/>
                </a:schemeClr>
              </a:solidFill>
              <a:latin typeface="Perpetua" panose="02020502060401020303" pitchFamily="18" charset="77"/>
            </a:endParaRPr>
          </a:p>
          <a:p>
            <a:pPr marL="228600" defTabSz="914400">
              <a:lnSpc>
                <a:spcPct val="90000"/>
              </a:lnSpc>
            </a:pPr>
            <a:endParaRPr lang="en-US" sz="2200" dirty="0">
              <a:solidFill>
                <a:schemeClr val="bg2">
                  <a:lumMod val="50000"/>
                </a:schemeClr>
              </a:solidFill>
              <a:latin typeface="Perpetua" panose="02020502060401020303" pitchFamily="18" charset="77"/>
            </a:endParaRPr>
          </a:p>
          <a:p>
            <a:pPr marL="228600" defTabSz="914400">
              <a:lnSpc>
                <a:spcPct val="90000"/>
              </a:lnSpc>
            </a:pPr>
            <a:endParaRPr lang="en-US" sz="2200" dirty="0">
              <a:solidFill>
                <a:schemeClr val="bg2">
                  <a:lumMod val="50000"/>
                </a:schemeClr>
              </a:solidFill>
              <a:latin typeface="Perpetua" panose="02020502060401020303" pitchFamily="18" charset="77"/>
            </a:endParaRPr>
          </a:p>
          <a:p>
            <a:pPr defTabSz="914400">
              <a:lnSpc>
                <a:spcPct val="90000"/>
              </a:lnSpc>
            </a:pPr>
            <a:r>
              <a:rPr lang="en-US" sz="2400" dirty="0">
                <a:solidFill>
                  <a:schemeClr val="bg2">
                    <a:lumMod val="50000"/>
                  </a:schemeClr>
                </a:solidFill>
                <a:latin typeface="Perpetua" panose="02020502060401020303" pitchFamily="18" charset="77"/>
              </a:rPr>
              <a:t>The overall décor will reflect and harmonize with the color </a:t>
            </a:r>
            <a:r>
              <a:rPr lang="en-US" sz="2400" dirty="0">
                <a:solidFill>
                  <a:srgbClr val="FFC000"/>
                </a:solidFill>
                <a:latin typeface="Perpetua" panose="02020502060401020303" pitchFamily="18" charset="77"/>
              </a:rPr>
              <a:t>palette detailed on slide #2</a:t>
            </a:r>
          </a:p>
          <a:p>
            <a:pPr indent="-228600" defTabSz="914400">
              <a:lnSpc>
                <a:spcPct val="90000"/>
              </a:lnSpc>
              <a:spcBef>
                <a:spcPct val="0"/>
              </a:spcBef>
              <a:spcAft>
                <a:spcPts val="600"/>
              </a:spcAft>
              <a:buFont typeface="Arial" panose="020B0604020202020204" pitchFamily="34" charset="0"/>
              <a:buChar char="•"/>
            </a:pPr>
            <a:endParaRPr lang="en-US" sz="1400" dirty="0">
              <a:sym typeface="Wingdings" pitchFamily="2" charset="2"/>
            </a:endParaRPr>
          </a:p>
        </p:txBody>
      </p:sp>
      <p:sp>
        <p:nvSpPr>
          <p:cNvPr id="23" name="Content Placeholder 12">
            <a:extLst>
              <a:ext uri="{FF2B5EF4-FFF2-40B4-BE49-F238E27FC236}">
                <a16:creationId xmlns:a16="http://schemas.microsoft.com/office/drawing/2014/main" id="{8921120B-FE16-E0D1-4AA6-A7EC408A5649}"/>
              </a:ext>
            </a:extLst>
          </p:cNvPr>
          <p:cNvSpPr>
            <a:spLocks noGrp="1"/>
          </p:cNvSpPr>
          <p:nvPr>
            <p:ph idx="1"/>
          </p:nvPr>
        </p:nvSpPr>
        <p:spPr>
          <a:xfrm>
            <a:off x="9164538" y="7434541"/>
            <a:ext cx="5518645" cy="4415589"/>
          </a:xfrm>
        </p:spPr>
        <p:txBody>
          <a:bodyPr vert="horz" lIns="91440" tIns="45720" rIns="91440" bIns="45720" rtlCol="0">
            <a:noAutofit/>
          </a:bodyPr>
          <a:lstStyle/>
          <a:p>
            <a:pPr marL="0" indent="0" algn="l">
              <a:buNone/>
            </a:pPr>
            <a:endParaRPr lang="en-US" sz="2000" dirty="0">
              <a:solidFill>
                <a:schemeClr val="bg2">
                  <a:lumMod val="50000"/>
                </a:schemeClr>
              </a:solidFill>
              <a:latin typeface="Perpetua" panose="02020502060401020303" pitchFamily="18" charset="77"/>
            </a:endParaRPr>
          </a:p>
          <a:p>
            <a:pPr marL="0" indent="0" algn="l">
              <a:buNone/>
            </a:pPr>
            <a:endParaRPr lang="en-US" sz="2000" dirty="0">
              <a:solidFill>
                <a:schemeClr val="bg2">
                  <a:lumMod val="50000"/>
                </a:schemeClr>
              </a:solidFill>
              <a:latin typeface="Perpetua" panose="02020502060401020303" pitchFamily="18" charset="77"/>
            </a:endParaRPr>
          </a:p>
        </p:txBody>
      </p:sp>
      <p:pic>
        <p:nvPicPr>
          <p:cNvPr id="4" name="Picture 3">
            <a:extLst>
              <a:ext uri="{FF2B5EF4-FFF2-40B4-BE49-F238E27FC236}">
                <a16:creationId xmlns:a16="http://schemas.microsoft.com/office/drawing/2014/main" id="{429C3F72-4DBE-435A-D7B4-5FF9D5109C32}"/>
              </a:ext>
            </a:extLst>
          </p:cNvPr>
          <p:cNvPicPr>
            <a:picLocks noChangeAspect="1"/>
          </p:cNvPicPr>
          <p:nvPr/>
        </p:nvPicPr>
        <p:blipFill>
          <a:blip r:embed="rId3"/>
          <a:stretch>
            <a:fillRect/>
          </a:stretch>
        </p:blipFill>
        <p:spPr>
          <a:xfrm>
            <a:off x="7014661" y="207106"/>
            <a:ext cx="4299753" cy="6443788"/>
          </a:xfrm>
          <a:prstGeom prst="rect">
            <a:avLst/>
          </a:prstGeom>
        </p:spPr>
      </p:pic>
    </p:spTree>
    <p:extLst>
      <p:ext uri="{BB962C8B-B14F-4D97-AF65-F5344CB8AC3E}">
        <p14:creationId xmlns:p14="http://schemas.microsoft.com/office/powerpoint/2010/main" val="2151590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0" y="204683"/>
            <a:ext cx="7300018" cy="1397505"/>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3900" dirty="0">
                <a:solidFill>
                  <a:schemeClr val="bg2">
                    <a:lumMod val="50000"/>
                  </a:schemeClr>
                </a:solidFill>
                <a:latin typeface="Perpetua" panose="02020502060401020303" pitchFamily="18" charset="77"/>
                <a:ea typeface="+mj-ea"/>
                <a:cs typeface="+mj-cs"/>
              </a:rPr>
              <a:t>Round Tables – </a:t>
            </a:r>
            <a:r>
              <a:rPr lang="en-US" sz="3900" dirty="0">
                <a:solidFill>
                  <a:schemeClr val="bg2">
                    <a:lumMod val="50000"/>
                  </a:schemeClr>
                </a:solidFill>
                <a:highlight>
                  <a:srgbClr val="FFFF00"/>
                </a:highlight>
                <a:latin typeface="Perpetua" panose="02020502060401020303" pitchFamily="18" charset="77"/>
                <a:ea typeface="+mj-ea"/>
                <a:cs typeface="+mj-cs"/>
              </a:rPr>
              <a:t>Option 2</a:t>
            </a:r>
            <a:endParaRPr lang="en-US" sz="3900" i="1" dirty="0">
              <a:solidFill>
                <a:schemeClr val="bg2">
                  <a:lumMod val="50000"/>
                </a:schemeClr>
              </a:solidFill>
              <a:highlight>
                <a:srgbClr val="FFFF00"/>
              </a:highlight>
              <a:latin typeface="Perpetua" panose="02020502060401020303" pitchFamily="18" charset="77"/>
              <a:ea typeface="+mj-ea"/>
              <a:cs typeface="+mj-cs"/>
            </a:endParaRPr>
          </a:p>
        </p:txBody>
      </p:sp>
      <p:sp>
        <p:nvSpPr>
          <p:cNvPr id="23" name="Content Placeholder 12">
            <a:extLst>
              <a:ext uri="{FF2B5EF4-FFF2-40B4-BE49-F238E27FC236}">
                <a16:creationId xmlns:a16="http://schemas.microsoft.com/office/drawing/2014/main" id="{8DA31A9E-CDA1-4831-8EA8-D8D912D3B933}"/>
              </a:ext>
            </a:extLst>
          </p:cNvPr>
          <p:cNvSpPr>
            <a:spLocks noGrp="1"/>
          </p:cNvSpPr>
          <p:nvPr>
            <p:ph idx="1"/>
          </p:nvPr>
        </p:nvSpPr>
        <p:spPr>
          <a:xfrm>
            <a:off x="745206" y="2129035"/>
            <a:ext cx="5350793" cy="3978476"/>
          </a:xfrm>
        </p:spPr>
        <p:txBody>
          <a:bodyPr vert="horz" lIns="91440" tIns="45720" rIns="91440" bIns="45720" rtlCol="0">
            <a:noAutofit/>
          </a:bodyPr>
          <a:lstStyle/>
          <a:p>
            <a:pPr algn="ctr"/>
            <a:r>
              <a:rPr lang="en-US" sz="2200" dirty="0">
                <a:solidFill>
                  <a:schemeClr val="bg2">
                    <a:lumMod val="50000"/>
                  </a:schemeClr>
                </a:solidFill>
                <a:latin typeface="Perpetua" panose="02020502060401020303" pitchFamily="18" charset="77"/>
              </a:rPr>
              <a:t>This wedding reception table features an elegant and refined round design with a bright, polished, and beautifully balanced overall look. At the center, a fresh floral arrangement in soft white and yellow tones brings lightness, softness, and a subtle touch of color to the design. The overall aesthetic feels chic, coastal, and effortlessly luxurious</a:t>
            </a:r>
          </a:p>
        </p:txBody>
      </p:sp>
      <p:pic>
        <p:nvPicPr>
          <p:cNvPr id="4" name="Picture 3">
            <a:extLst>
              <a:ext uri="{FF2B5EF4-FFF2-40B4-BE49-F238E27FC236}">
                <a16:creationId xmlns:a16="http://schemas.microsoft.com/office/drawing/2014/main" id="{BA257427-4C71-4B05-0579-C603DB05E2A3}"/>
              </a:ext>
            </a:extLst>
          </p:cNvPr>
          <p:cNvPicPr>
            <a:picLocks noChangeAspect="1"/>
          </p:cNvPicPr>
          <p:nvPr/>
        </p:nvPicPr>
        <p:blipFill>
          <a:blip r:embed="rId2"/>
          <a:srcRect t="28089" b="7854"/>
          <a:stretch>
            <a:fillRect/>
          </a:stretch>
        </p:blipFill>
        <p:spPr>
          <a:xfrm>
            <a:off x="6594227" y="1112520"/>
            <a:ext cx="5260123" cy="4632960"/>
          </a:xfrm>
          <a:prstGeom prst="rect">
            <a:avLst/>
          </a:prstGeom>
        </p:spPr>
      </p:pic>
    </p:spTree>
    <p:extLst>
      <p:ext uri="{BB962C8B-B14F-4D97-AF65-F5344CB8AC3E}">
        <p14:creationId xmlns:p14="http://schemas.microsoft.com/office/powerpoint/2010/main" val="938962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195D720-EE67-D76B-2287-37A626E979C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85BF754-109E-3920-8969-4A390B3BE70A}"/>
              </a:ext>
            </a:extLst>
          </p:cNvPr>
          <p:cNvSpPr txBox="1"/>
          <p:nvPr/>
        </p:nvSpPr>
        <p:spPr>
          <a:xfrm>
            <a:off x="2176346" y="2521042"/>
            <a:ext cx="7839307" cy="2474047"/>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5400" dirty="0">
                <a:solidFill>
                  <a:schemeClr val="bg2">
                    <a:lumMod val="50000"/>
                  </a:schemeClr>
                </a:solidFill>
                <a:latin typeface="Perpetua" panose="02020502060401020303" pitchFamily="18" charset="77"/>
                <a:ea typeface="+mj-ea"/>
                <a:cs typeface="+mj-cs"/>
              </a:rPr>
              <a:t>RENTALS</a:t>
            </a:r>
            <a:endParaRPr lang="en-US" sz="5400" i="1" dirty="0">
              <a:solidFill>
                <a:schemeClr val="bg2">
                  <a:lumMod val="50000"/>
                </a:schemeClr>
              </a:solidFill>
              <a:highlight>
                <a:srgbClr val="FFFF00"/>
              </a:highlight>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8109C207-95E8-A890-F351-CD531DAE5B38}"/>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65491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88626" y="327611"/>
            <a:ext cx="4966776" cy="733545"/>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3900" dirty="0">
                <a:solidFill>
                  <a:schemeClr val="bg2">
                    <a:lumMod val="50000"/>
                  </a:schemeClr>
                </a:solidFill>
                <a:latin typeface="Perpetua" panose="02020502060401020303" pitchFamily="18" charset="77"/>
                <a:ea typeface="+mj-ea"/>
                <a:cs typeface="+mj-cs"/>
              </a:rPr>
              <a:t>TABLEWARE</a:t>
            </a:r>
          </a:p>
          <a:p>
            <a:pPr defTabSz="914400">
              <a:lnSpc>
                <a:spcPct val="90000"/>
              </a:lnSpc>
              <a:spcBef>
                <a:spcPct val="0"/>
              </a:spcBef>
              <a:spcAft>
                <a:spcPts val="600"/>
              </a:spcAft>
            </a:pPr>
            <a:endParaRPr lang="en-US" sz="3900"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sym typeface="Wingdings" pitchFamily="2" charset="2"/>
            </a:endParaRP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sym typeface="Wingdings" pitchFamily="2" charset="2"/>
            </a:endParaRP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sym typeface="Wingdings" pitchFamily="2" charset="2"/>
            </a:endParaRPr>
          </a:p>
        </p:txBody>
      </p:sp>
      <p:sp>
        <p:nvSpPr>
          <p:cNvPr id="23" name="Content Placeholder 12">
            <a:extLst>
              <a:ext uri="{FF2B5EF4-FFF2-40B4-BE49-F238E27FC236}">
                <a16:creationId xmlns:a16="http://schemas.microsoft.com/office/drawing/2014/main" id="{8DA31A9E-CDA1-4831-8EA8-D8D912D3B933}"/>
              </a:ext>
            </a:extLst>
          </p:cNvPr>
          <p:cNvSpPr>
            <a:spLocks noGrp="1"/>
          </p:cNvSpPr>
          <p:nvPr>
            <p:ph idx="1"/>
          </p:nvPr>
        </p:nvSpPr>
        <p:spPr>
          <a:xfrm>
            <a:off x="9164538" y="7434541"/>
            <a:ext cx="5518645" cy="4415589"/>
          </a:xfrm>
        </p:spPr>
        <p:txBody>
          <a:bodyPr vert="horz" lIns="91440" tIns="45720" rIns="91440" bIns="45720" rtlCol="0">
            <a:noAutofit/>
          </a:bodyPr>
          <a:lstStyle/>
          <a:p>
            <a:pPr marL="0" indent="0" algn="l">
              <a:buNone/>
            </a:pPr>
            <a:endParaRPr lang="en-US" sz="2000" dirty="0">
              <a:solidFill>
                <a:schemeClr val="bg2">
                  <a:lumMod val="50000"/>
                </a:schemeClr>
              </a:solidFill>
              <a:latin typeface="Perpetua" panose="02020502060401020303" pitchFamily="18" charset="77"/>
            </a:endParaRPr>
          </a:p>
          <a:p>
            <a:pPr marL="0" indent="0" algn="l">
              <a:buNone/>
            </a:pPr>
            <a:endParaRPr lang="en-US" sz="2000" dirty="0">
              <a:solidFill>
                <a:schemeClr val="bg2">
                  <a:lumMod val="50000"/>
                </a:schemeClr>
              </a:solidFill>
              <a:latin typeface="Perpetua" panose="02020502060401020303" pitchFamily="18" charset="77"/>
            </a:endParaRPr>
          </a:p>
        </p:txBody>
      </p:sp>
      <p:sp>
        <p:nvSpPr>
          <p:cNvPr id="14" name="TextBox 13">
            <a:extLst>
              <a:ext uri="{FF2B5EF4-FFF2-40B4-BE49-F238E27FC236}">
                <a16:creationId xmlns:a16="http://schemas.microsoft.com/office/drawing/2014/main" id="{C4E91E1E-1CFE-DC5B-40A8-D186EB235688}"/>
              </a:ext>
            </a:extLst>
          </p:cNvPr>
          <p:cNvSpPr txBox="1"/>
          <p:nvPr/>
        </p:nvSpPr>
        <p:spPr>
          <a:xfrm>
            <a:off x="450939" y="1842417"/>
            <a:ext cx="4427210" cy="3477875"/>
          </a:xfrm>
          <a:prstGeom prst="rect">
            <a:avLst/>
          </a:prstGeom>
          <a:noFill/>
        </p:spPr>
        <p:txBody>
          <a:bodyPr wrap="square" rtlCol="0">
            <a:spAutoFit/>
          </a:bodyPr>
          <a:lstStyle/>
          <a:p>
            <a:pPr marL="342900" indent="-342900">
              <a:buFont typeface="Arial" panose="020B0604020202020204" pitchFamily="34" charset="0"/>
              <a:buChar char="•"/>
            </a:pPr>
            <a:r>
              <a:rPr lang="en-US" sz="2200" dirty="0">
                <a:solidFill>
                  <a:schemeClr val="bg2">
                    <a:lumMod val="50000"/>
                  </a:schemeClr>
                </a:solidFill>
                <a:latin typeface="Perpetua" panose="02020502060401020303" pitchFamily="18" charset="77"/>
              </a:rPr>
              <a:t>Transparent charger plates will be selected based on rental availability and chosen to reflect the bride’s reference image as closely as possible. Vintage silver flatware will complement the overall table setting, paired with delicate crystal glassware and soft light yellow napkins to create a refined, elegant, and harmonious tablescape</a:t>
            </a:r>
          </a:p>
        </p:txBody>
      </p:sp>
      <p:pic>
        <p:nvPicPr>
          <p:cNvPr id="4" name="Picture 3">
            <a:extLst>
              <a:ext uri="{FF2B5EF4-FFF2-40B4-BE49-F238E27FC236}">
                <a16:creationId xmlns:a16="http://schemas.microsoft.com/office/drawing/2014/main" id="{1F717EDC-FAE1-807F-874F-911718EFE16D}"/>
              </a:ext>
            </a:extLst>
          </p:cNvPr>
          <p:cNvPicPr>
            <a:picLocks noChangeAspect="1"/>
          </p:cNvPicPr>
          <p:nvPr/>
        </p:nvPicPr>
        <p:blipFill>
          <a:blip r:embed="rId2"/>
          <a:srcRect t="13413" r="29353" b="11361"/>
          <a:stretch>
            <a:fillRect/>
          </a:stretch>
        </p:blipFill>
        <p:spPr>
          <a:xfrm>
            <a:off x="9297147" y="3153664"/>
            <a:ext cx="2574994" cy="3515866"/>
          </a:xfrm>
          <a:prstGeom prst="rect">
            <a:avLst/>
          </a:prstGeom>
        </p:spPr>
      </p:pic>
      <p:pic>
        <p:nvPicPr>
          <p:cNvPr id="2" name="Picture 1">
            <a:extLst>
              <a:ext uri="{FF2B5EF4-FFF2-40B4-BE49-F238E27FC236}">
                <a16:creationId xmlns:a16="http://schemas.microsoft.com/office/drawing/2014/main" id="{73D1E901-C049-B6D9-A53C-EF923C39EDCE}"/>
              </a:ext>
            </a:extLst>
          </p:cNvPr>
          <p:cNvPicPr>
            <a:picLocks noChangeAspect="1"/>
          </p:cNvPicPr>
          <p:nvPr/>
        </p:nvPicPr>
        <p:blipFill>
          <a:blip r:embed="rId3"/>
          <a:srcRect l="8889" t="29157" r="10556" b="26481"/>
          <a:stretch>
            <a:fillRect/>
          </a:stretch>
        </p:blipFill>
        <p:spPr>
          <a:xfrm>
            <a:off x="5124787" y="111390"/>
            <a:ext cx="3683000" cy="3042274"/>
          </a:xfrm>
          <a:prstGeom prst="rect">
            <a:avLst/>
          </a:prstGeom>
        </p:spPr>
      </p:pic>
      <p:pic>
        <p:nvPicPr>
          <p:cNvPr id="3" name="Picture 2" descr="A silverware set with a knife and fork&#10;&#10;AI-generated content may be incorrect.">
            <a:extLst>
              <a:ext uri="{FF2B5EF4-FFF2-40B4-BE49-F238E27FC236}">
                <a16:creationId xmlns:a16="http://schemas.microsoft.com/office/drawing/2014/main" id="{9AD5A359-2679-CD06-73AA-BD19DA1724D3}"/>
              </a:ext>
            </a:extLst>
          </p:cNvPr>
          <p:cNvPicPr>
            <a:picLocks noChangeAspect="1"/>
          </p:cNvPicPr>
          <p:nvPr/>
        </p:nvPicPr>
        <p:blipFill>
          <a:blip r:embed="rId4"/>
          <a:stretch>
            <a:fillRect/>
          </a:stretch>
        </p:blipFill>
        <p:spPr>
          <a:xfrm>
            <a:off x="5607691" y="3429000"/>
            <a:ext cx="2717192" cy="3042274"/>
          </a:xfrm>
          <a:prstGeom prst="rect">
            <a:avLst/>
          </a:prstGeom>
        </p:spPr>
      </p:pic>
      <p:pic>
        <p:nvPicPr>
          <p:cNvPr id="6" name="Picture 5" descr="Two glasses on a table&#10;&#10;AI-generated content may be incorrect.">
            <a:extLst>
              <a:ext uri="{FF2B5EF4-FFF2-40B4-BE49-F238E27FC236}">
                <a16:creationId xmlns:a16="http://schemas.microsoft.com/office/drawing/2014/main" id="{EF878E56-04D0-CE89-0CDD-832F72C3C494}"/>
              </a:ext>
            </a:extLst>
          </p:cNvPr>
          <p:cNvPicPr>
            <a:picLocks noChangeAspect="1"/>
          </p:cNvPicPr>
          <p:nvPr/>
        </p:nvPicPr>
        <p:blipFill>
          <a:blip r:embed="rId5"/>
          <a:stretch>
            <a:fillRect/>
          </a:stretch>
        </p:blipFill>
        <p:spPr>
          <a:xfrm>
            <a:off x="9054425" y="111390"/>
            <a:ext cx="3060439" cy="2906928"/>
          </a:xfrm>
          <a:prstGeom prst="rect">
            <a:avLst/>
          </a:prstGeom>
        </p:spPr>
      </p:pic>
    </p:spTree>
    <p:extLst>
      <p:ext uri="{BB962C8B-B14F-4D97-AF65-F5344CB8AC3E}">
        <p14:creationId xmlns:p14="http://schemas.microsoft.com/office/powerpoint/2010/main" val="30321189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776409" y="500651"/>
            <a:ext cx="5670172" cy="1269155"/>
          </a:xfrm>
          <a:prstGeom prst="rect">
            <a:avLst/>
          </a:prstGeom>
        </p:spPr>
        <p:txBody>
          <a:bodyPr vert="horz" lIns="91440" tIns="45720" rIns="91440" bIns="45720" rtlCol="0" anchor="t">
            <a:normAutofit lnSpcReduction="10000"/>
          </a:bodyPr>
          <a:lstStyle/>
          <a:p>
            <a:pPr algn="ctr" defTabSz="914400">
              <a:lnSpc>
                <a:spcPct val="90000"/>
              </a:lnSpc>
              <a:spcBef>
                <a:spcPct val="0"/>
              </a:spcBef>
              <a:spcAft>
                <a:spcPts val="600"/>
              </a:spcAft>
            </a:pPr>
            <a:r>
              <a:rPr lang="en-US" sz="3900" dirty="0">
                <a:solidFill>
                  <a:schemeClr val="bg2">
                    <a:lumMod val="50000"/>
                  </a:schemeClr>
                </a:solidFill>
                <a:latin typeface="Perpetua" panose="02020502060401020303" pitchFamily="18" charset="77"/>
                <a:ea typeface="+mj-ea"/>
                <a:cs typeface="+mj-cs"/>
              </a:rPr>
              <a:t>CHAIRS FOR </a:t>
            </a:r>
          </a:p>
          <a:p>
            <a:pPr algn="ctr" defTabSz="914400">
              <a:lnSpc>
                <a:spcPct val="90000"/>
              </a:lnSpc>
              <a:spcBef>
                <a:spcPct val="0"/>
              </a:spcBef>
              <a:spcAft>
                <a:spcPts val="600"/>
              </a:spcAft>
            </a:pPr>
            <a:r>
              <a:rPr lang="en-US" sz="3900" dirty="0">
                <a:solidFill>
                  <a:schemeClr val="bg2">
                    <a:lumMod val="50000"/>
                  </a:schemeClr>
                </a:solidFill>
                <a:latin typeface="Perpetua" panose="02020502060401020303" pitchFamily="18" charset="77"/>
                <a:ea typeface="+mj-ea"/>
                <a:cs typeface="+mj-cs"/>
              </a:rPr>
              <a:t>RECEPTION</a:t>
            </a:r>
            <a:endParaRPr lang="en-US" sz="2400" dirty="0">
              <a:solidFill>
                <a:schemeClr val="bg2">
                  <a:lumMod val="50000"/>
                </a:schemeClr>
              </a:solidFill>
              <a:latin typeface="Perpetua" panose="02020502060401020303" pitchFamily="18" charset="77"/>
              <a:ea typeface="+mj-ea"/>
              <a:cs typeface="+mj-cs"/>
              <a:sym typeface="Wingdings" pitchFamily="2" charset="2"/>
            </a:endParaRP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sym typeface="Wingdings" pitchFamily="2" charset="2"/>
            </a:endParaRP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sym typeface="Wingdings" pitchFamily="2" charset="2"/>
            </a:endParaRPr>
          </a:p>
        </p:txBody>
      </p:sp>
      <p:sp>
        <p:nvSpPr>
          <p:cNvPr id="23" name="Content Placeholder 12">
            <a:extLst>
              <a:ext uri="{FF2B5EF4-FFF2-40B4-BE49-F238E27FC236}">
                <a16:creationId xmlns:a16="http://schemas.microsoft.com/office/drawing/2014/main" id="{8DA31A9E-CDA1-4831-8EA8-D8D912D3B933}"/>
              </a:ext>
            </a:extLst>
          </p:cNvPr>
          <p:cNvSpPr>
            <a:spLocks noGrp="1"/>
          </p:cNvSpPr>
          <p:nvPr>
            <p:ph idx="1"/>
          </p:nvPr>
        </p:nvSpPr>
        <p:spPr>
          <a:xfrm>
            <a:off x="9164538" y="7434541"/>
            <a:ext cx="5518645" cy="4415589"/>
          </a:xfrm>
        </p:spPr>
        <p:txBody>
          <a:bodyPr vert="horz" lIns="91440" tIns="45720" rIns="91440" bIns="45720" rtlCol="0">
            <a:noAutofit/>
          </a:bodyPr>
          <a:lstStyle/>
          <a:p>
            <a:pPr marL="0" indent="0" algn="l">
              <a:buNone/>
            </a:pPr>
            <a:endParaRPr lang="en-US" sz="2000" dirty="0">
              <a:solidFill>
                <a:schemeClr val="bg2">
                  <a:lumMod val="50000"/>
                </a:schemeClr>
              </a:solidFill>
              <a:latin typeface="Perpetua" panose="02020502060401020303" pitchFamily="18" charset="77"/>
            </a:endParaRPr>
          </a:p>
          <a:p>
            <a:pPr marL="0" indent="0" algn="l">
              <a:buNone/>
            </a:pPr>
            <a:endParaRPr lang="en-US" sz="2000" dirty="0">
              <a:solidFill>
                <a:schemeClr val="bg2">
                  <a:lumMod val="50000"/>
                </a:schemeClr>
              </a:solidFill>
              <a:latin typeface="Perpetua" panose="02020502060401020303" pitchFamily="18" charset="77"/>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101001"/>
            <a:ext cx="825670" cy="799301"/>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032B2AD-A513-AF8F-E573-D1F3DD149786}"/>
              </a:ext>
            </a:extLst>
          </p:cNvPr>
          <p:cNvSpPr txBox="1"/>
          <p:nvPr/>
        </p:nvSpPr>
        <p:spPr>
          <a:xfrm>
            <a:off x="1914146" y="3040025"/>
            <a:ext cx="3394698" cy="430887"/>
          </a:xfrm>
          <a:prstGeom prst="rect">
            <a:avLst/>
          </a:prstGeom>
          <a:noFill/>
        </p:spPr>
        <p:txBody>
          <a:bodyPr wrap="square" rtlCol="0">
            <a:spAutoFit/>
          </a:bodyPr>
          <a:lstStyle/>
          <a:p>
            <a:r>
              <a:rPr lang="en-US" sz="2200" dirty="0">
                <a:solidFill>
                  <a:schemeClr val="bg2">
                    <a:lumMod val="50000"/>
                  </a:schemeClr>
                </a:solidFill>
                <a:latin typeface="Perpetua" panose="02020502060401020303" pitchFamily="18" charset="77"/>
              </a:rPr>
              <a:t>WOODEN - Louis Chairs</a:t>
            </a:r>
          </a:p>
        </p:txBody>
      </p:sp>
      <p:pic>
        <p:nvPicPr>
          <p:cNvPr id="10" name="Picture 9">
            <a:extLst>
              <a:ext uri="{FF2B5EF4-FFF2-40B4-BE49-F238E27FC236}">
                <a16:creationId xmlns:a16="http://schemas.microsoft.com/office/drawing/2014/main" id="{A6A73C5B-08D6-D520-81A4-E1BFACBBAB8E}"/>
              </a:ext>
            </a:extLst>
          </p:cNvPr>
          <p:cNvPicPr>
            <a:picLocks noChangeAspect="1"/>
          </p:cNvPicPr>
          <p:nvPr/>
        </p:nvPicPr>
        <p:blipFill>
          <a:blip r:embed="rId2"/>
          <a:stretch>
            <a:fillRect/>
          </a:stretch>
        </p:blipFill>
        <p:spPr>
          <a:xfrm>
            <a:off x="7712117" y="688790"/>
            <a:ext cx="3496898" cy="5564245"/>
          </a:xfrm>
          <a:prstGeom prst="rect">
            <a:avLst/>
          </a:prstGeom>
        </p:spPr>
      </p:pic>
    </p:spTree>
    <p:extLst>
      <p:ext uri="{BB962C8B-B14F-4D97-AF65-F5344CB8AC3E}">
        <p14:creationId xmlns:p14="http://schemas.microsoft.com/office/powerpoint/2010/main" val="3686488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D035E-5966-ACBC-1783-900155DF7A40}"/>
              </a:ext>
            </a:extLst>
          </p:cNvPr>
          <p:cNvSpPr>
            <a:spLocks noGrp="1"/>
          </p:cNvSpPr>
          <p:nvPr>
            <p:ph type="title"/>
          </p:nvPr>
        </p:nvSpPr>
        <p:spPr>
          <a:xfrm>
            <a:off x="825312" y="242397"/>
            <a:ext cx="5194578" cy="1325563"/>
          </a:xfrm>
        </p:spPr>
        <p:txBody>
          <a:bodyPr/>
          <a:lstStyle/>
          <a:p>
            <a:pPr algn="ctr"/>
            <a:r>
              <a:rPr lang="en-US" dirty="0">
                <a:solidFill>
                  <a:schemeClr val="bg2">
                    <a:lumMod val="50000"/>
                  </a:schemeClr>
                </a:solidFill>
                <a:latin typeface="Perpetua" panose="02020502060401020303" pitchFamily="18" charset="77"/>
              </a:rPr>
              <a:t>CAKE TABLE </a:t>
            </a:r>
          </a:p>
        </p:txBody>
      </p:sp>
      <p:sp>
        <p:nvSpPr>
          <p:cNvPr id="8" name="TextBox 7">
            <a:extLst>
              <a:ext uri="{FF2B5EF4-FFF2-40B4-BE49-F238E27FC236}">
                <a16:creationId xmlns:a16="http://schemas.microsoft.com/office/drawing/2014/main" id="{00BA0D7C-2976-B139-E634-692625262AAD}"/>
              </a:ext>
            </a:extLst>
          </p:cNvPr>
          <p:cNvSpPr txBox="1"/>
          <p:nvPr/>
        </p:nvSpPr>
        <p:spPr>
          <a:xfrm>
            <a:off x="383442" y="2536448"/>
            <a:ext cx="6078318" cy="1785104"/>
          </a:xfrm>
          <a:prstGeom prst="rect">
            <a:avLst/>
          </a:prstGeom>
          <a:noFill/>
        </p:spPr>
        <p:txBody>
          <a:bodyPr wrap="square" rtlCol="0">
            <a:spAutoFit/>
          </a:bodyPr>
          <a:lstStyle/>
          <a:p>
            <a:pPr marL="342900" indent="-342900" algn="ctr">
              <a:buFont typeface="Arial" panose="020B0604020202020204" pitchFamily="34" charset="0"/>
              <a:buChar char="•"/>
            </a:pPr>
            <a:r>
              <a:rPr lang="en-US" sz="2200" dirty="0">
                <a:solidFill>
                  <a:schemeClr val="bg2">
                    <a:lumMod val="50000"/>
                  </a:schemeClr>
                </a:solidFill>
                <a:latin typeface="Perpetua" panose="02020502060401020303" pitchFamily="18" charset="77"/>
              </a:rPr>
              <a:t>This wedding cake table features a clean and minimalist round design in a natural light wood finish, bringing a soft, organic, and elevated feel to the overall setup. Its sculptural pedestal base adds subtle architectural interest while keeping the look refined and modern</a:t>
            </a:r>
          </a:p>
        </p:txBody>
      </p:sp>
      <p:pic>
        <p:nvPicPr>
          <p:cNvPr id="4" name="Picture 3">
            <a:extLst>
              <a:ext uri="{FF2B5EF4-FFF2-40B4-BE49-F238E27FC236}">
                <a16:creationId xmlns:a16="http://schemas.microsoft.com/office/drawing/2014/main" id="{11686D57-09B8-E710-69D7-22E9C4CBDEC6}"/>
              </a:ext>
            </a:extLst>
          </p:cNvPr>
          <p:cNvPicPr>
            <a:picLocks noChangeAspect="1"/>
          </p:cNvPicPr>
          <p:nvPr/>
        </p:nvPicPr>
        <p:blipFill>
          <a:blip r:embed="rId2"/>
          <a:srcRect/>
          <a:stretch/>
        </p:blipFill>
        <p:spPr>
          <a:xfrm>
            <a:off x="6856353" y="399305"/>
            <a:ext cx="4847513" cy="6059390"/>
          </a:xfrm>
          <a:prstGeom prst="rect">
            <a:avLst/>
          </a:prstGeom>
        </p:spPr>
      </p:pic>
    </p:spTree>
    <p:extLst>
      <p:ext uri="{BB962C8B-B14F-4D97-AF65-F5344CB8AC3E}">
        <p14:creationId xmlns:p14="http://schemas.microsoft.com/office/powerpoint/2010/main" val="10535094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0085CCD-22A1-246E-37F8-2478F50297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6CB7B1-254F-3B86-6C29-1A4D579AE6FC}"/>
              </a:ext>
            </a:extLst>
          </p:cNvPr>
          <p:cNvSpPr>
            <a:spLocks noGrp="1"/>
          </p:cNvSpPr>
          <p:nvPr>
            <p:ph type="title"/>
          </p:nvPr>
        </p:nvSpPr>
        <p:spPr>
          <a:xfrm>
            <a:off x="3445702" y="154550"/>
            <a:ext cx="5194578" cy="1325563"/>
          </a:xfrm>
        </p:spPr>
        <p:txBody>
          <a:bodyPr/>
          <a:lstStyle/>
          <a:p>
            <a:pPr algn="ctr"/>
            <a:r>
              <a:rPr lang="en-US" dirty="0">
                <a:solidFill>
                  <a:schemeClr val="bg2">
                    <a:lumMod val="50000"/>
                  </a:schemeClr>
                </a:solidFill>
                <a:latin typeface="Perpetua" panose="02020502060401020303" pitchFamily="18" charset="77"/>
              </a:rPr>
              <a:t>DANCEFLOOR</a:t>
            </a:r>
          </a:p>
        </p:txBody>
      </p:sp>
      <p:sp>
        <p:nvSpPr>
          <p:cNvPr id="8" name="TextBox 7">
            <a:extLst>
              <a:ext uri="{FF2B5EF4-FFF2-40B4-BE49-F238E27FC236}">
                <a16:creationId xmlns:a16="http://schemas.microsoft.com/office/drawing/2014/main" id="{54963694-6CD3-50C0-1716-D27FE425C759}"/>
              </a:ext>
            </a:extLst>
          </p:cNvPr>
          <p:cNvSpPr txBox="1"/>
          <p:nvPr/>
        </p:nvSpPr>
        <p:spPr>
          <a:xfrm>
            <a:off x="437321" y="1188158"/>
            <a:ext cx="11211339" cy="1200329"/>
          </a:xfrm>
          <a:prstGeom prst="rect">
            <a:avLst/>
          </a:prstGeom>
          <a:noFill/>
        </p:spPr>
        <p:txBody>
          <a:bodyPr wrap="square" rtlCol="0">
            <a:spAutoFit/>
          </a:bodyPr>
          <a:lstStyle/>
          <a:p>
            <a:pPr marL="342900" indent="-342900" algn="ctr">
              <a:buFont typeface="Arial" panose="020B0604020202020204" pitchFamily="34" charset="0"/>
              <a:buChar char="•"/>
            </a:pPr>
            <a:r>
              <a:rPr lang="en-US" sz="2400" dirty="0">
                <a:solidFill>
                  <a:schemeClr val="bg2">
                    <a:lumMod val="50000"/>
                  </a:schemeClr>
                </a:solidFill>
                <a:latin typeface="Perpetua" panose="02020502060401020303" pitchFamily="18" charset="77"/>
              </a:rPr>
              <a:t>The dance floor provided by the Shangri-La will be glossy white and wrapped with gold foil, exactly as shown in the reference image, featuring a similar logo with the initials G &amp; T and the date 6.06.2026.</a:t>
            </a:r>
          </a:p>
        </p:txBody>
      </p:sp>
      <p:pic>
        <p:nvPicPr>
          <p:cNvPr id="5" name="Picture 4" descr="A wedding reception with a large table and chairs&#10;&#10;AI-generated content may be incorrect.">
            <a:extLst>
              <a:ext uri="{FF2B5EF4-FFF2-40B4-BE49-F238E27FC236}">
                <a16:creationId xmlns:a16="http://schemas.microsoft.com/office/drawing/2014/main" id="{5E0F8B4A-3F91-97EC-F5D5-9CBF699A2990}"/>
              </a:ext>
            </a:extLst>
          </p:cNvPr>
          <p:cNvPicPr>
            <a:picLocks noChangeAspect="1"/>
          </p:cNvPicPr>
          <p:nvPr/>
        </p:nvPicPr>
        <p:blipFill>
          <a:blip r:embed="rId2"/>
          <a:stretch>
            <a:fillRect/>
          </a:stretch>
        </p:blipFill>
        <p:spPr>
          <a:xfrm>
            <a:off x="2379870" y="2543071"/>
            <a:ext cx="7772400" cy="4160379"/>
          </a:xfrm>
          <a:prstGeom prst="rect">
            <a:avLst/>
          </a:prstGeom>
        </p:spPr>
      </p:pic>
    </p:spTree>
    <p:extLst>
      <p:ext uri="{BB962C8B-B14F-4D97-AF65-F5344CB8AC3E}">
        <p14:creationId xmlns:p14="http://schemas.microsoft.com/office/powerpoint/2010/main" val="4980045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976290" y="222152"/>
            <a:ext cx="8236368" cy="707172"/>
          </a:xfrm>
        </p:spPr>
        <p:txBody>
          <a:bodyPr vert="horz" lIns="91440" tIns="45720" rIns="91440" bIns="45720" rtlCol="0" anchor="ctr">
            <a:normAutofit fontScale="90000"/>
          </a:bodyPr>
          <a:lstStyle/>
          <a:p>
            <a:pPr algn="ctr"/>
            <a:r>
              <a:rPr lang="en-US" sz="3100" dirty="0">
                <a:solidFill>
                  <a:schemeClr val="bg2">
                    <a:lumMod val="50000"/>
                  </a:schemeClr>
                </a:solidFill>
                <a:latin typeface="Perpetua" panose="02020502060401020303" pitchFamily="18" charset="77"/>
              </a:rPr>
              <a:t>UP LITHING</a:t>
            </a:r>
            <a:br>
              <a:rPr lang="en-US" sz="2400" kern="1200" dirty="0">
                <a:solidFill>
                  <a:schemeClr val="bg2">
                    <a:lumMod val="50000"/>
                  </a:schemeClr>
                </a:solidFill>
                <a:latin typeface="Perpetua" panose="02020502060401020303" pitchFamily="18" charset="77"/>
              </a:rPr>
            </a:br>
            <a:endParaRPr lang="en-US" sz="2400" kern="1200" dirty="0">
              <a:solidFill>
                <a:schemeClr val="bg2">
                  <a:lumMod val="50000"/>
                </a:schemeClr>
              </a:solidFill>
              <a:latin typeface="Perpetua" panose="02020502060401020303" pitchFamily="18" charset="77"/>
            </a:endParaRPr>
          </a:p>
        </p:txBody>
      </p:sp>
      <p:pic>
        <p:nvPicPr>
          <p:cNvPr id="5" name="Picture 4" descr="A room with tables and chairs&#10;&#10;Description automatically generated">
            <a:extLst>
              <a:ext uri="{FF2B5EF4-FFF2-40B4-BE49-F238E27FC236}">
                <a16:creationId xmlns:a16="http://schemas.microsoft.com/office/drawing/2014/main" id="{3FDF27F5-3EE5-6566-CBCC-8CD661A37A91}"/>
              </a:ext>
            </a:extLst>
          </p:cNvPr>
          <p:cNvPicPr>
            <a:picLocks noChangeAspect="1"/>
          </p:cNvPicPr>
          <p:nvPr/>
        </p:nvPicPr>
        <p:blipFill>
          <a:blip r:embed="rId3"/>
          <a:stretch>
            <a:fillRect/>
          </a:stretch>
        </p:blipFill>
        <p:spPr>
          <a:xfrm>
            <a:off x="175398" y="2347783"/>
            <a:ext cx="4001186" cy="4417347"/>
          </a:xfrm>
          <a:prstGeom prst="rect">
            <a:avLst/>
          </a:prstGeom>
        </p:spPr>
      </p:pic>
      <p:pic>
        <p:nvPicPr>
          <p:cNvPr id="8" name="Picture 7" descr="A room with tables and chairs&#10;&#10;Description automatically generated">
            <a:extLst>
              <a:ext uri="{FF2B5EF4-FFF2-40B4-BE49-F238E27FC236}">
                <a16:creationId xmlns:a16="http://schemas.microsoft.com/office/drawing/2014/main" id="{1059039F-3AAB-9322-24E8-EFAA74642592}"/>
              </a:ext>
            </a:extLst>
          </p:cNvPr>
          <p:cNvPicPr>
            <a:picLocks noChangeAspect="1"/>
          </p:cNvPicPr>
          <p:nvPr/>
        </p:nvPicPr>
        <p:blipFill>
          <a:blip r:embed="rId4"/>
          <a:stretch>
            <a:fillRect/>
          </a:stretch>
        </p:blipFill>
        <p:spPr>
          <a:xfrm>
            <a:off x="4270860" y="2347784"/>
            <a:ext cx="3647229" cy="4417347"/>
          </a:xfrm>
          <a:prstGeom prst="rect">
            <a:avLst/>
          </a:prstGeom>
        </p:spPr>
      </p:pic>
      <p:pic>
        <p:nvPicPr>
          <p:cNvPr id="11" name="Picture 10" descr="A room with tables and chairs and chandeliers&#10;&#10;Description automatically generated">
            <a:extLst>
              <a:ext uri="{FF2B5EF4-FFF2-40B4-BE49-F238E27FC236}">
                <a16:creationId xmlns:a16="http://schemas.microsoft.com/office/drawing/2014/main" id="{097B2804-FC64-B84B-63AF-03C9D019D845}"/>
              </a:ext>
            </a:extLst>
          </p:cNvPr>
          <p:cNvPicPr>
            <a:picLocks noChangeAspect="1"/>
          </p:cNvPicPr>
          <p:nvPr/>
        </p:nvPicPr>
        <p:blipFill>
          <a:blip r:embed="rId5"/>
          <a:stretch>
            <a:fillRect/>
          </a:stretch>
        </p:blipFill>
        <p:spPr>
          <a:xfrm>
            <a:off x="8012365" y="2347782"/>
            <a:ext cx="3880956" cy="4417348"/>
          </a:xfrm>
          <a:prstGeom prst="rect">
            <a:avLst/>
          </a:prstGeom>
        </p:spPr>
      </p:pic>
      <p:sp>
        <p:nvSpPr>
          <p:cNvPr id="12" name="TextBox 11">
            <a:extLst>
              <a:ext uri="{FF2B5EF4-FFF2-40B4-BE49-F238E27FC236}">
                <a16:creationId xmlns:a16="http://schemas.microsoft.com/office/drawing/2014/main" id="{C2C98D09-40D2-B9B2-95E6-7A89724F0D53}"/>
              </a:ext>
            </a:extLst>
          </p:cNvPr>
          <p:cNvSpPr txBox="1"/>
          <p:nvPr/>
        </p:nvSpPr>
        <p:spPr>
          <a:xfrm>
            <a:off x="469557" y="999381"/>
            <a:ext cx="11423764" cy="1015663"/>
          </a:xfrm>
          <a:prstGeom prst="rect">
            <a:avLst/>
          </a:prstGeom>
          <a:noFill/>
        </p:spPr>
        <p:txBody>
          <a:bodyPr wrap="square" rtlCol="0">
            <a:spAutoFit/>
          </a:bodyPr>
          <a:lstStyle/>
          <a:p>
            <a:pPr algn="ctr"/>
            <a:r>
              <a:rPr lang="en-US" sz="2000" dirty="0">
                <a:solidFill>
                  <a:srgbClr val="FFC000"/>
                </a:solidFill>
                <a:latin typeface="Perpetua" panose="02020502060401020303" pitchFamily="18" charset="77"/>
              </a:rPr>
              <a:t>Audrey’s Note: </a:t>
            </a:r>
            <a:r>
              <a:rPr lang="en-US" sz="2000" dirty="0">
                <a:solidFill>
                  <a:schemeClr val="bg2">
                    <a:lumMod val="50000"/>
                  </a:schemeClr>
                </a:solidFill>
                <a:latin typeface="Perpetua" panose="02020502060401020303" pitchFamily="18" charset="77"/>
              </a:rPr>
              <a:t>I highly recommend considering uplighting for your décor. It has a remarkable ability to enhance the overall ambiance by highlighting key elements and adding warmth to the space. Uplighting can truly transform your event, creating a captivating and inviting atmosphere that your guests will love.</a:t>
            </a:r>
          </a:p>
        </p:txBody>
      </p:sp>
    </p:spTree>
    <p:extLst>
      <p:ext uri="{BB962C8B-B14F-4D97-AF65-F5344CB8AC3E}">
        <p14:creationId xmlns:p14="http://schemas.microsoft.com/office/powerpoint/2010/main" val="24284544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2176346" y="2774863"/>
            <a:ext cx="7839307" cy="2474047"/>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5400" dirty="0">
                <a:solidFill>
                  <a:schemeClr val="bg2">
                    <a:lumMod val="50000"/>
                  </a:schemeClr>
                </a:solidFill>
                <a:latin typeface="Perpetua" panose="02020502060401020303" pitchFamily="18" charset="77"/>
                <a:ea typeface="+mj-ea"/>
                <a:cs typeface="+mj-cs"/>
              </a:rPr>
              <a:t>FLOOR PLANS</a:t>
            </a:r>
            <a:endParaRPr lang="en-US" sz="5400" i="1" dirty="0">
              <a:solidFill>
                <a:schemeClr val="bg2">
                  <a:lumMod val="50000"/>
                </a:schemeClr>
              </a:solidFill>
              <a:highlight>
                <a:srgbClr val="FFFF00"/>
              </a:highlight>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85422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212658" y="627994"/>
            <a:ext cx="11763633" cy="1070212"/>
          </a:xfrm>
        </p:spPr>
        <p:txBody>
          <a:bodyPr vert="horz" lIns="91440" tIns="45720" rIns="91440" bIns="45720" rtlCol="0" anchor="ctr">
            <a:normAutofit fontScale="90000"/>
          </a:bodyPr>
          <a:lstStyle/>
          <a:p>
            <a:pPr algn="ctr"/>
            <a:r>
              <a:rPr lang="en-US" sz="3100" kern="1200" dirty="0">
                <a:solidFill>
                  <a:schemeClr val="bg2">
                    <a:lumMod val="50000"/>
                  </a:schemeClr>
                </a:solidFill>
                <a:latin typeface="Perpetua" panose="02020502060401020303" pitchFamily="18" charset="77"/>
              </a:rPr>
              <a:t>RECEPTION/DINNER </a:t>
            </a:r>
            <a:r>
              <a:rPr lang="en-US" sz="3100" dirty="0">
                <a:solidFill>
                  <a:schemeClr val="bg2">
                    <a:lumMod val="50000"/>
                  </a:schemeClr>
                </a:solidFill>
                <a:latin typeface="Perpetua" panose="02020502060401020303" pitchFamily="18" charset="77"/>
              </a:rPr>
              <a:t>SEATING</a:t>
            </a:r>
            <a:r>
              <a:rPr lang="en-US" sz="3100" kern="1200" dirty="0">
                <a:solidFill>
                  <a:schemeClr val="bg2">
                    <a:lumMod val="50000"/>
                  </a:schemeClr>
                </a:solidFill>
                <a:latin typeface="Perpetua" panose="02020502060401020303" pitchFamily="18" charset="77"/>
              </a:rPr>
              <a:t> PLAN </a:t>
            </a:r>
            <a:br>
              <a:rPr lang="en-US" sz="2200" kern="1200" dirty="0">
                <a:solidFill>
                  <a:schemeClr val="bg2">
                    <a:lumMod val="50000"/>
                  </a:schemeClr>
                </a:solidFill>
                <a:latin typeface="Perpetua" panose="02020502060401020303" pitchFamily="18" charset="77"/>
              </a:rPr>
            </a:br>
            <a:br>
              <a:rPr lang="en-US" sz="2200" kern="1200" dirty="0">
                <a:solidFill>
                  <a:schemeClr val="bg2">
                    <a:lumMod val="50000"/>
                  </a:schemeClr>
                </a:solidFill>
                <a:latin typeface="Perpetua" panose="02020502060401020303" pitchFamily="18" charset="77"/>
              </a:rPr>
            </a:br>
            <a:endParaRPr lang="en-US" sz="2400" kern="1200" dirty="0">
              <a:solidFill>
                <a:schemeClr val="bg2">
                  <a:lumMod val="50000"/>
                </a:schemeClr>
              </a:solidFill>
              <a:latin typeface="Perpetua" panose="02020502060401020303" pitchFamily="18" charset="77"/>
            </a:endParaRPr>
          </a:p>
        </p:txBody>
      </p:sp>
      <p:sp>
        <p:nvSpPr>
          <p:cNvPr id="3" name="TextBox 2">
            <a:extLst>
              <a:ext uri="{FF2B5EF4-FFF2-40B4-BE49-F238E27FC236}">
                <a16:creationId xmlns:a16="http://schemas.microsoft.com/office/drawing/2014/main" id="{51969A44-C599-31EC-B25E-CC741AD59839}"/>
              </a:ext>
            </a:extLst>
          </p:cNvPr>
          <p:cNvSpPr txBox="1"/>
          <p:nvPr/>
        </p:nvSpPr>
        <p:spPr>
          <a:xfrm>
            <a:off x="1394458" y="2450592"/>
            <a:ext cx="9400032" cy="769441"/>
          </a:xfrm>
          <a:prstGeom prst="rect">
            <a:avLst/>
          </a:prstGeom>
          <a:noFill/>
        </p:spPr>
        <p:txBody>
          <a:bodyPr wrap="square" rtlCol="0">
            <a:spAutoFit/>
          </a:bodyPr>
          <a:lstStyle/>
          <a:p>
            <a:pPr algn="ctr"/>
            <a:r>
              <a:rPr lang="en-US" sz="2200" dirty="0">
                <a:solidFill>
                  <a:schemeClr val="bg2">
                    <a:lumMod val="50000"/>
                  </a:schemeClr>
                </a:solidFill>
                <a:latin typeface="Perpetua" panose="02020502060401020303" pitchFamily="18" charset="77"/>
              </a:rPr>
              <a:t>The finalized floor plan will be shared upon confirmation of the final guest list and type of tables.</a:t>
            </a:r>
            <a:endParaRPr lang="en-AE" sz="2200" dirty="0"/>
          </a:p>
        </p:txBody>
      </p:sp>
    </p:spTree>
    <p:extLst>
      <p:ext uri="{BB962C8B-B14F-4D97-AF65-F5344CB8AC3E}">
        <p14:creationId xmlns:p14="http://schemas.microsoft.com/office/powerpoint/2010/main" val="37161175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E1984-34ED-0810-9808-DBBA287C50A2}"/>
              </a:ext>
            </a:extLst>
          </p:cNvPr>
          <p:cNvSpPr>
            <a:spLocks noGrp="1"/>
          </p:cNvSpPr>
          <p:nvPr>
            <p:ph type="title"/>
          </p:nvPr>
        </p:nvSpPr>
        <p:spPr>
          <a:xfrm>
            <a:off x="2636436" y="480928"/>
            <a:ext cx="6919127" cy="1042107"/>
          </a:xfrm>
        </p:spPr>
        <p:txBody>
          <a:bodyPr>
            <a:normAutofit/>
          </a:bodyPr>
          <a:lstStyle/>
          <a:p>
            <a:pPr algn="ctr"/>
            <a:r>
              <a:rPr lang="en-AE" sz="5400" dirty="0">
                <a:solidFill>
                  <a:schemeClr val="bg2">
                    <a:lumMod val="50000"/>
                  </a:schemeClr>
                </a:solidFill>
                <a:latin typeface="Perpetua" panose="02020502060401020303" pitchFamily="18" charset="77"/>
              </a:rPr>
              <a:t>WELCOME DINNER</a:t>
            </a:r>
          </a:p>
        </p:txBody>
      </p:sp>
      <p:sp>
        <p:nvSpPr>
          <p:cNvPr id="3" name="TextBox 2">
            <a:extLst>
              <a:ext uri="{FF2B5EF4-FFF2-40B4-BE49-F238E27FC236}">
                <a16:creationId xmlns:a16="http://schemas.microsoft.com/office/drawing/2014/main" id="{C44E02E3-36D3-1DDC-F6A1-FBB163BC7CE4}"/>
              </a:ext>
            </a:extLst>
          </p:cNvPr>
          <p:cNvSpPr txBox="1"/>
          <p:nvPr/>
        </p:nvSpPr>
        <p:spPr>
          <a:xfrm>
            <a:off x="3329771" y="2782669"/>
            <a:ext cx="5532455" cy="1292662"/>
          </a:xfrm>
          <a:prstGeom prst="rect">
            <a:avLst/>
          </a:prstGeom>
          <a:noFill/>
        </p:spPr>
        <p:txBody>
          <a:bodyPr wrap="square" rtlCol="0">
            <a:spAutoFit/>
          </a:bodyPr>
          <a:lstStyle/>
          <a:p>
            <a:pPr algn="ctr"/>
            <a:r>
              <a:rPr lang="en-US" sz="3000" dirty="0">
                <a:solidFill>
                  <a:schemeClr val="bg2">
                    <a:lumMod val="50000"/>
                  </a:schemeClr>
                </a:solidFill>
                <a:latin typeface="Perpetua" panose="02020502060401020303" pitchFamily="18" charset="77"/>
              </a:rPr>
              <a:t>The welcome dinner will take place at TBD.</a:t>
            </a:r>
          </a:p>
          <a:p>
            <a:endParaRPr lang="en-AE" dirty="0"/>
          </a:p>
        </p:txBody>
      </p:sp>
    </p:spTree>
    <p:extLst>
      <p:ext uri="{BB962C8B-B14F-4D97-AF65-F5344CB8AC3E}">
        <p14:creationId xmlns:p14="http://schemas.microsoft.com/office/powerpoint/2010/main" val="6038308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E970FA1-78E2-51E2-894B-E5F092FB9264}"/>
              </a:ext>
            </a:extLst>
          </p:cNvPr>
          <p:cNvPicPr>
            <a:picLocks noGrp="1" noChangeAspect="1"/>
          </p:cNvPicPr>
          <p:nvPr>
            <p:ph idx="1"/>
          </p:nvPr>
        </p:nvPicPr>
        <p:blipFill>
          <a:blip r:embed="rId2"/>
          <a:srcRect/>
          <a:stretch/>
        </p:blipFill>
        <p:spPr>
          <a:xfrm>
            <a:off x="7055804" y="206176"/>
            <a:ext cx="4297098" cy="6445647"/>
          </a:xfrm>
        </p:spPr>
      </p:pic>
      <p:sp>
        <p:nvSpPr>
          <p:cNvPr id="5" name="TextBox 4">
            <a:extLst>
              <a:ext uri="{FF2B5EF4-FFF2-40B4-BE49-F238E27FC236}">
                <a16:creationId xmlns:a16="http://schemas.microsoft.com/office/drawing/2014/main" id="{43932DF9-7A2B-D494-CA2E-32699C27B454}"/>
              </a:ext>
            </a:extLst>
          </p:cNvPr>
          <p:cNvSpPr txBox="1"/>
          <p:nvPr/>
        </p:nvSpPr>
        <p:spPr>
          <a:xfrm>
            <a:off x="1019968" y="2459503"/>
            <a:ext cx="5076032" cy="2462213"/>
          </a:xfrm>
          <a:prstGeom prst="rect">
            <a:avLst/>
          </a:prstGeom>
          <a:noFill/>
        </p:spPr>
        <p:txBody>
          <a:bodyPr wrap="square" rtlCol="0">
            <a:spAutoFit/>
          </a:bodyPr>
          <a:lstStyle/>
          <a:p>
            <a:pPr marL="285750" indent="-285750">
              <a:buFont typeface="Arial" panose="020B0604020202020204" pitchFamily="34" charset="0"/>
              <a:buChar char="•"/>
            </a:pPr>
            <a:r>
              <a:rPr lang="en-US" sz="2200" dirty="0">
                <a:solidFill>
                  <a:schemeClr val="bg2">
                    <a:lumMod val="50000"/>
                  </a:schemeClr>
                </a:solidFill>
                <a:latin typeface="Perpetua" panose="02020502060401020303" pitchFamily="18" charset="77"/>
              </a:rPr>
              <a:t>This centerpiece features a fresh and elevated floral composition designed in a soft ivory pedestal bowl for a refined yet effortless look. The arrangement blends soft white and vibrant yellow blooms in an airy, garden-inspired shape, creating movement, lightness, and a cheerful touch of color</a:t>
            </a:r>
            <a:endParaRPr lang="en-AE" sz="2200" dirty="0">
              <a:solidFill>
                <a:schemeClr val="bg2">
                  <a:lumMod val="50000"/>
                </a:schemeClr>
              </a:solidFill>
              <a:latin typeface="Perpetua" panose="02020502060401020303" pitchFamily="18" charset="77"/>
            </a:endParaRPr>
          </a:p>
        </p:txBody>
      </p:sp>
    </p:spTree>
    <p:extLst>
      <p:ext uri="{BB962C8B-B14F-4D97-AF65-F5344CB8AC3E}">
        <p14:creationId xmlns:p14="http://schemas.microsoft.com/office/powerpoint/2010/main" val="15459373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36B29B1-0BBE-4C0C-8087-A9B0079F290D}"/>
              </a:ext>
            </a:extLst>
          </p:cNvPr>
          <p:cNvSpPr txBox="1"/>
          <p:nvPr/>
        </p:nvSpPr>
        <p:spPr>
          <a:xfrm>
            <a:off x="687805" y="1349957"/>
            <a:ext cx="10816390" cy="4576125"/>
          </a:xfrm>
          <a:prstGeom prst="rect">
            <a:avLst/>
          </a:prstGeom>
          <a:noFill/>
        </p:spPr>
        <p:txBody>
          <a:bodyPr wrap="square">
            <a:spAutoFit/>
          </a:bodyPr>
          <a:lstStyle/>
          <a:p>
            <a:pPr marL="1596390" marR="513715" indent="-979805" algn="ctr">
              <a:lnSpc>
                <a:spcPct val="98000"/>
              </a:lnSpc>
              <a:spcBef>
                <a:spcPts val="480"/>
              </a:spcBef>
              <a:spcAft>
                <a:spcPts val="0"/>
              </a:spcAft>
            </a:pPr>
            <a:r>
              <a:rPr lang="en-US" sz="4000" dirty="0">
                <a:solidFill>
                  <a:schemeClr val="bg2">
                    <a:lumMod val="50000"/>
                  </a:schemeClr>
                </a:solidFill>
                <a:effectLst/>
                <a:latin typeface="Perpetua" panose="02020502060401020303" pitchFamily="18" charset="77"/>
                <a:ea typeface="Noto Sans"/>
                <a:cs typeface="Noto Sans"/>
              </a:rPr>
              <a:t>We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can’</a:t>
            </a:r>
            <a:r>
              <a:rPr lang="en-US" sz="4000" dirty="0">
                <a:solidFill>
                  <a:schemeClr val="bg2">
                    <a:lumMod val="50000"/>
                  </a:schemeClr>
                </a:solidFill>
                <a:effectLst/>
                <a:latin typeface="Perpetua" panose="02020502060401020303" pitchFamily="18" charset="77"/>
                <a:ea typeface="Noto Sans"/>
                <a:cs typeface="Noto Sans"/>
              </a:rPr>
              <a:t>t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wai</a:t>
            </a:r>
            <a:r>
              <a:rPr lang="en-US" sz="4000" dirty="0">
                <a:solidFill>
                  <a:schemeClr val="bg2">
                    <a:lumMod val="50000"/>
                  </a:schemeClr>
                </a:solidFill>
                <a:effectLst/>
                <a:latin typeface="Perpetua" panose="02020502060401020303" pitchFamily="18" charset="77"/>
                <a:ea typeface="Noto Sans"/>
                <a:cs typeface="Noto Sans"/>
              </a:rPr>
              <a:t>t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t</a:t>
            </a:r>
            <a:r>
              <a:rPr lang="en-US" sz="4000" dirty="0">
                <a:solidFill>
                  <a:schemeClr val="bg2">
                    <a:lumMod val="50000"/>
                  </a:schemeClr>
                </a:solidFill>
                <a:effectLst/>
                <a:latin typeface="Perpetua" panose="02020502060401020303" pitchFamily="18" charset="77"/>
                <a:ea typeface="Noto Sans"/>
                <a:cs typeface="Noto Sans"/>
              </a:rPr>
              <a:t>o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brin</a:t>
            </a:r>
            <a:r>
              <a:rPr lang="en-US" sz="4000" dirty="0">
                <a:solidFill>
                  <a:schemeClr val="bg2">
                    <a:lumMod val="50000"/>
                  </a:schemeClr>
                </a:solidFill>
                <a:effectLst/>
                <a:latin typeface="Perpetua" panose="02020502060401020303" pitchFamily="18" charset="77"/>
                <a:ea typeface="Noto Sans"/>
                <a:cs typeface="Noto Sans"/>
              </a:rPr>
              <a:t>g </a:t>
            </a:r>
            <a:r>
              <a:rPr lang="en-US" sz="4000" spc="-5" dirty="0">
                <a:solidFill>
                  <a:schemeClr val="bg2">
                    <a:lumMod val="50000"/>
                  </a:schemeClr>
                </a:solidFill>
                <a:effectLst/>
                <a:latin typeface="Perpetua" panose="02020502060401020303" pitchFamily="18" charset="77"/>
                <a:ea typeface="Noto Sans"/>
                <a:cs typeface="Noto Sans"/>
              </a:rPr>
              <a:t>you</a:t>
            </a:r>
            <a:r>
              <a:rPr lang="en-US" sz="4000" dirty="0">
                <a:solidFill>
                  <a:schemeClr val="bg2">
                    <a:lumMod val="50000"/>
                  </a:schemeClr>
                </a:solidFill>
                <a:effectLst/>
                <a:latin typeface="Perpetua" panose="02020502060401020303" pitchFamily="18" charset="77"/>
                <a:ea typeface="Noto Sans"/>
                <a:cs typeface="Noto Sans"/>
              </a:rPr>
              <a:t>r </a:t>
            </a:r>
            <a:r>
              <a:rPr lang="en-US" sz="4000" spc="-5" dirty="0">
                <a:solidFill>
                  <a:schemeClr val="bg2">
                    <a:lumMod val="50000"/>
                  </a:schemeClr>
                </a:solidFill>
                <a:effectLst/>
                <a:latin typeface="Perpetua" panose="02020502060401020303" pitchFamily="18" charset="77"/>
                <a:ea typeface="Noto Sans"/>
                <a:cs typeface="Noto Sans"/>
              </a:rPr>
              <a:t>visio</a:t>
            </a:r>
            <a:r>
              <a:rPr lang="en-US" sz="4000" dirty="0">
                <a:solidFill>
                  <a:schemeClr val="bg2">
                    <a:lumMod val="50000"/>
                  </a:schemeClr>
                </a:solidFill>
                <a:effectLst/>
                <a:latin typeface="Perpetua" panose="02020502060401020303" pitchFamily="18" charset="77"/>
                <a:ea typeface="Noto Sans"/>
                <a:cs typeface="Noto Sans"/>
              </a:rPr>
              <a:t>n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t</a:t>
            </a:r>
            <a:r>
              <a:rPr lang="en-US" sz="4000" dirty="0">
                <a:solidFill>
                  <a:schemeClr val="bg2">
                    <a:lumMod val="50000"/>
                  </a:schemeClr>
                </a:solidFill>
                <a:effectLst/>
                <a:latin typeface="Perpetua" panose="02020502060401020303" pitchFamily="18" charset="77"/>
                <a:ea typeface="Noto Sans"/>
                <a:cs typeface="Noto Sans"/>
              </a:rPr>
              <a:t>o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life</a:t>
            </a:r>
            <a:r>
              <a:rPr lang="en-US" sz="4000" dirty="0">
                <a:solidFill>
                  <a:schemeClr val="bg2">
                    <a:lumMod val="50000"/>
                  </a:schemeClr>
                </a:solidFill>
                <a:effectLst/>
                <a:latin typeface="Perpetua" panose="02020502060401020303" pitchFamily="18" charset="77"/>
                <a:ea typeface="Noto Sans"/>
                <a:cs typeface="Noto Sans"/>
              </a:rPr>
              <a:t>!</a:t>
            </a:r>
          </a:p>
          <a:p>
            <a:pPr marL="0" marR="0">
              <a:spcBef>
                <a:spcPts val="0"/>
              </a:spcBef>
              <a:spcAft>
                <a:spcPts val="0"/>
              </a:spcAft>
            </a:pPr>
            <a:r>
              <a:rPr lang="en-US" sz="1600" b="0" dirty="0">
                <a:solidFill>
                  <a:schemeClr val="bg2">
                    <a:lumMod val="50000"/>
                  </a:schemeClr>
                </a:solidFill>
                <a:effectLst/>
                <a:latin typeface="Perpetua" panose="02020502060401020303" pitchFamily="18" charset="77"/>
                <a:ea typeface="Noto Sans"/>
                <a:cs typeface="Noto Sans"/>
              </a:rPr>
              <a:t> </a:t>
            </a:r>
            <a:endParaRPr lang="en-US" sz="1600" b="1" dirty="0">
              <a:solidFill>
                <a:schemeClr val="bg2">
                  <a:lumMod val="50000"/>
                </a:schemeClr>
              </a:solidFill>
              <a:effectLst/>
              <a:latin typeface="Perpetua" panose="02020502060401020303" pitchFamily="18" charset="77"/>
              <a:ea typeface="Noto Sans"/>
              <a:cs typeface="Noto Sans"/>
            </a:endParaRPr>
          </a:p>
          <a:p>
            <a:pPr marL="0" marR="0">
              <a:spcBef>
                <a:spcPts val="0"/>
              </a:spcBef>
              <a:spcAft>
                <a:spcPts val="0"/>
              </a:spcAft>
            </a:pPr>
            <a:r>
              <a:rPr lang="en-US" sz="1600" b="0" dirty="0">
                <a:solidFill>
                  <a:schemeClr val="bg2">
                    <a:lumMod val="50000"/>
                  </a:schemeClr>
                </a:solidFill>
                <a:effectLst/>
                <a:latin typeface="Perpetua" panose="02020502060401020303" pitchFamily="18" charset="77"/>
                <a:ea typeface="Noto Sans"/>
                <a:cs typeface="Noto Sans"/>
              </a:rPr>
              <a:t> </a:t>
            </a:r>
            <a:endParaRPr lang="en-US" sz="1600" b="1" dirty="0">
              <a:solidFill>
                <a:schemeClr val="bg2">
                  <a:lumMod val="50000"/>
                </a:schemeClr>
              </a:solidFill>
              <a:effectLst/>
              <a:latin typeface="Perpetua" panose="02020502060401020303" pitchFamily="18" charset="77"/>
              <a:ea typeface="Noto Sans"/>
              <a:cs typeface="Noto Sans"/>
            </a:endParaRPr>
          </a:p>
          <a:p>
            <a:pPr marL="0" marR="0" algn="ctr">
              <a:spcBef>
                <a:spcPts val="40"/>
              </a:spcBef>
              <a:spcAft>
                <a:spcPts val="0"/>
              </a:spcAft>
            </a:pPr>
            <a:r>
              <a:rPr lang="en-US" sz="1600" b="0" dirty="0">
                <a:solidFill>
                  <a:schemeClr val="bg2">
                    <a:lumMod val="50000"/>
                  </a:schemeClr>
                </a:solidFill>
                <a:effectLst/>
                <a:latin typeface="Perpetua" panose="02020502060401020303" pitchFamily="18" charset="77"/>
                <a:ea typeface="Noto Sans"/>
                <a:cs typeface="Noto Sans"/>
              </a:rPr>
              <a:t> </a:t>
            </a:r>
            <a:endParaRPr lang="en-US" sz="1600" b="1" dirty="0">
              <a:solidFill>
                <a:schemeClr val="bg2">
                  <a:lumMod val="50000"/>
                </a:schemeClr>
              </a:solidFill>
              <a:effectLst/>
              <a:latin typeface="Perpetua" panose="02020502060401020303" pitchFamily="18" charset="77"/>
              <a:ea typeface="Noto Sans"/>
              <a:cs typeface="Noto Sans"/>
            </a:endParaRPr>
          </a:p>
          <a:p>
            <a:pPr marL="845185" marR="681355" algn="ctr">
              <a:lnSpc>
                <a:spcPct val="102000"/>
              </a:lnSpc>
              <a:spcBef>
                <a:spcPts val="525"/>
              </a:spcBef>
              <a:spcAft>
                <a:spcPts val="0"/>
              </a:spcAft>
            </a:pPr>
            <a:r>
              <a:rPr lang="en-US" sz="2400" dirty="0">
                <a:solidFill>
                  <a:schemeClr val="bg2">
                    <a:lumMod val="50000"/>
                  </a:schemeClr>
                </a:solidFill>
                <a:effectLst/>
                <a:latin typeface="Perpetua" panose="02020502060401020303" pitchFamily="18" charset="77"/>
                <a:ea typeface="Noto Sans"/>
                <a:cs typeface="Noto Sans"/>
              </a:rPr>
              <a:t>The concepts (written and images) in this proposal are symbolic of the design inspiration we intend to bring to life for your event. Due to the characteristics of perishable items (flowers), there can be situations that may emerge that are completely out of our control. </a:t>
            </a:r>
            <a:endParaRPr lang="en-US" sz="2400" dirty="0">
              <a:solidFill>
                <a:schemeClr val="bg2">
                  <a:lumMod val="50000"/>
                </a:schemeClr>
              </a:solidFill>
              <a:latin typeface="Perpetua" panose="02020502060401020303" pitchFamily="18" charset="77"/>
              <a:ea typeface="Noto Sans"/>
              <a:cs typeface="Noto Sans"/>
            </a:endParaRPr>
          </a:p>
          <a:p>
            <a:pPr marL="845185" marR="681355" algn="ctr">
              <a:lnSpc>
                <a:spcPct val="102000"/>
              </a:lnSpc>
              <a:spcBef>
                <a:spcPts val="525"/>
              </a:spcBef>
              <a:spcAft>
                <a:spcPts val="0"/>
              </a:spcAft>
            </a:pPr>
            <a:endParaRPr lang="en-US" sz="2400" dirty="0">
              <a:solidFill>
                <a:schemeClr val="bg2">
                  <a:lumMod val="50000"/>
                </a:schemeClr>
              </a:solidFill>
              <a:effectLst/>
              <a:latin typeface="Perpetua" panose="02020502060401020303" pitchFamily="18" charset="77"/>
              <a:ea typeface="Noto Sans"/>
              <a:cs typeface="Noto Sans"/>
            </a:endParaRPr>
          </a:p>
          <a:p>
            <a:pPr marL="839470" marR="675005" indent="-635" algn="ctr">
              <a:lnSpc>
                <a:spcPct val="102000"/>
              </a:lnSpc>
              <a:spcBef>
                <a:spcPts val="5"/>
              </a:spcBef>
              <a:spcAft>
                <a:spcPts val="0"/>
              </a:spcAft>
            </a:pPr>
            <a:r>
              <a:rPr lang="en-US" sz="2400" dirty="0">
                <a:solidFill>
                  <a:schemeClr val="bg2">
                    <a:lumMod val="50000"/>
                  </a:schemeClr>
                </a:solidFill>
                <a:effectLst/>
                <a:latin typeface="Perpetua" panose="02020502060401020303" pitchFamily="18" charset="77"/>
                <a:ea typeface="Noto Sans"/>
                <a:cs typeface="Noto Sans"/>
              </a:rPr>
              <a:t>To protect the integrity of our creativity, we kindly ask that you do not share the details of this proposal with other vendors bidding for your event. This was made just for </a:t>
            </a:r>
            <a:r>
              <a:rPr lang="en-US" sz="2400" i="1" dirty="0">
                <a:solidFill>
                  <a:schemeClr val="bg2">
                    <a:lumMod val="50000"/>
                  </a:schemeClr>
                </a:solidFill>
                <a:effectLst/>
                <a:latin typeface="Perpetua" panose="02020502060401020303" pitchFamily="18" charset="77"/>
                <a:ea typeface="Noto Sans"/>
                <a:cs typeface="Noto Sans"/>
              </a:rPr>
              <a:t>you</a:t>
            </a:r>
            <a:r>
              <a:rPr lang="en-US" sz="2400" dirty="0">
                <a:solidFill>
                  <a:schemeClr val="bg2">
                    <a:lumMod val="50000"/>
                  </a:schemeClr>
                </a:solidFill>
                <a:effectLst/>
                <a:latin typeface="Perpetua" panose="02020502060401020303" pitchFamily="18" charset="77"/>
                <a:ea typeface="Noto Sans"/>
                <a:cs typeface="Noto Sans"/>
              </a:rPr>
              <a:t>. However, please feel free to share this with your family.</a:t>
            </a:r>
          </a:p>
        </p:txBody>
      </p:sp>
    </p:spTree>
    <p:extLst>
      <p:ext uri="{BB962C8B-B14F-4D97-AF65-F5344CB8AC3E}">
        <p14:creationId xmlns:p14="http://schemas.microsoft.com/office/powerpoint/2010/main" val="40082704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36B29B1-0BBE-4C0C-8087-A9B0079F290D}"/>
              </a:ext>
            </a:extLst>
          </p:cNvPr>
          <p:cNvSpPr txBox="1"/>
          <p:nvPr/>
        </p:nvSpPr>
        <p:spPr>
          <a:xfrm>
            <a:off x="195532" y="89994"/>
            <a:ext cx="12218610" cy="6432402"/>
          </a:xfrm>
          <a:prstGeom prst="rect">
            <a:avLst/>
          </a:prstGeom>
          <a:noFill/>
        </p:spPr>
        <p:txBody>
          <a:bodyPr wrap="square">
            <a:spAutoFit/>
          </a:bodyPr>
          <a:lstStyle/>
          <a:p>
            <a:pPr marL="1596390" marR="513715" indent="-979805" algn="ctr">
              <a:lnSpc>
                <a:spcPct val="98000"/>
              </a:lnSpc>
              <a:spcBef>
                <a:spcPts val="480"/>
              </a:spcBef>
              <a:spcAft>
                <a:spcPts val="0"/>
              </a:spcAft>
            </a:pPr>
            <a:r>
              <a:rPr lang="en-US" sz="2400" dirty="0">
                <a:solidFill>
                  <a:schemeClr val="bg2">
                    <a:lumMod val="50000"/>
                  </a:schemeClr>
                </a:solidFill>
                <a:latin typeface="Perpetua" panose="02020502060401020303" pitchFamily="18" charset="77"/>
                <a:ea typeface="Noto Sans"/>
                <a:cs typeface="Noto Sans"/>
              </a:rPr>
              <a:t>NOTES FOR PLANNER AND FLORIST  TEAM ONLY </a:t>
            </a:r>
            <a:r>
              <a:rPr lang="en-US" sz="2400" b="1" dirty="0">
                <a:solidFill>
                  <a:schemeClr val="accent5">
                    <a:lumMod val="60000"/>
                    <a:lumOff val="40000"/>
                  </a:schemeClr>
                </a:solidFill>
                <a:latin typeface="Perpetua" panose="02020502060401020303" pitchFamily="18" charset="77"/>
                <a:ea typeface="Noto Sans"/>
                <a:cs typeface="Noto Sans"/>
              </a:rPr>
              <a:t>(FRENCH):</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Décor de la </a:t>
            </a:r>
            <a:r>
              <a:rPr lang="en-US" dirty="0" err="1">
                <a:solidFill>
                  <a:schemeClr val="bg2">
                    <a:lumMod val="50000"/>
                  </a:schemeClr>
                </a:solidFill>
                <a:latin typeface="Perpetua" panose="02020502060401020303" pitchFamily="18" charset="77"/>
                <a:ea typeface="Noto Sans"/>
                <a:cs typeface="Noto Sans"/>
              </a:rPr>
              <a:t>ceremonie</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Bouquet de </a:t>
            </a:r>
            <a:r>
              <a:rPr lang="en-US" dirty="0" err="1">
                <a:solidFill>
                  <a:schemeClr val="bg2">
                    <a:lumMod val="50000"/>
                  </a:schemeClr>
                </a:solidFill>
                <a:latin typeface="Perpetua" panose="02020502060401020303" pitchFamily="18" charset="77"/>
                <a:ea typeface="Noto Sans"/>
                <a:cs typeface="Noto Sans"/>
              </a:rPr>
              <a:t>mariée</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Boutonnière du </a:t>
            </a:r>
            <a:r>
              <a:rPr lang="en-US" dirty="0" err="1">
                <a:solidFill>
                  <a:schemeClr val="bg2">
                    <a:lumMod val="50000"/>
                  </a:schemeClr>
                </a:solidFill>
                <a:latin typeface="Perpetua" panose="02020502060401020303" pitchFamily="18" charset="77"/>
                <a:ea typeface="Noto Sans"/>
                <a:cs typeface="Noto Sans"/>
              </a:rPr>
              <a:t>marié</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Boutonnière pour le Best man – </a:t>
            </a:r>
            <a:r>
              <a:rPr lang="en-US" dirty="0" err="1">
                <a:solidFill>
                  <a:schemeClr val="bg2">
                    <a:lumMod val="50000"/>
                  </a:schemeClr>
                </a:solidFill>
                <a:latin typeface="Perpetua" panose="02020502060401020303" pitchFamily="18" charset="77"/>
                <a:ea typeface="Noto Sans"/>
                <a:cs typeface="Noto Sans"/>
              </a:rPr>
              <a:t>différente</a:t>
            </a:r>
            <a:r>
              <a:rPr lang="en-US" dirty="0">
                <a:solidFill>
                  <a:schemeClr val="bg2">
                    <a:lumMod val="50000"/>
                  </a:schemeClr>
                </a:solidFill>
                <a:latin typeface="Perpetua" panose="02020502060401020303" pitchFamily="18" charset="77"/>
                <a:ea typeface="Noto Sans"/>
                <a:cs typeface="Noto Sans"/>
              </a:rPr>
              <a:t> de </a:t>
            </a:r>
            <a:r>
              <a:rPr lang="en-US" dirty="0" err="1">
                <a:solidFill>
                  <a:schemeClr val="bg2">
                    <a:lumMod val="50000"/>
                  </a:schemeClr>
                </a:solidFill>
                <a:latin typeface="Perpetua" panose="02020502060401020303" pitchFamily="18" charset="77"/>
                <a:ea typeface="Noto Sans"/>
                <a:cs typeface="Noto Sans"/>
              </a:rPr>
              <a:t>celle</a:t>
            </a:r>
            <a:r>
              <a:rPr lang="en-US" dirty="0">
                <a:solidFill>
                  <a:schemeClr val="bg2">
                    <a:lumMod val="50000"/>
                  </a:schemeClr>
                </a:solidFill>
                <a:latin typeface="Perpetua" panose="02020502060401020303" pitchFamily="18" charset="77"/>
                <a:ea typeface="Noto Sans"/>
                <a:cs typeface="Noto Sans"/>
              </a:rPr>
              <a:t> du </a:t>
            </a:r>
            <a:r>
              <a:rPr lang="en-US" dirty="0" err="1">
                <a:solidFill>
                  <a:schemeClr val="bg2">
                    <a:lumMod val="50000"/>
                  </a:schemeClr>
                </a:solidFill>
                <a:latin typeface="Perpetua" panose="02020502060401020303" pitchFamily="18" charset="77"/>
                <a:ea typeface="Noto Sans"/>
                <a:cs typeface="Noto Sans"/>
              </a:rPr>
              <a:t>marié</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mais</a:t>
            </a:r>
            <a:r>
              <a:rPr lang="en-US" dirty="0">
                <a:solidFill>
                  <a:schemeClr val="bg2">
                    <a:lumMod val="50000"/>
                  </a:schemeClr>
                </a:solidFill>
                <a:latin typeface="Perpetua" panose="02020502060401020303" pitchFamily="18" charset="77"/>
                <a:ea typeface="Noto Sans"/>
                <a:cs typeface="Noto Sans"/>
              </a:rPr>
              <a:t> dans le meme style</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Bouquet de demoiselles </a:t>
            </a:r>
            <a:r>
              <a:rPr lang="en-US" dirty="0" err="1">
                <a:solidFill>
                  <a:schemeClr val="bg2">
                    <a:lumMod val="50000"/>
                  </a:schemeClr>
                </a:solidFill>
                <a:latin typeface="Perpetua" panose="02020502060401020303" pitchFamily="18" charset="77"/>
                <a:ea typeface="Noto Sans"/>
                <a:cs typeface="Noto Sans"/>
              </a:rPr>
              <a:t>d'honneur</a:t>
            </a:r>
            <a:r>
              <a:rPr lang="en-US" dirty="0">
                <a:solidFill>
                  <a:schemeClr val="bg2">
                    <a:lumMod val="50000"/>
                  </a:schemeClr>
                </a:solidFill>
                <a:latin typeface="Perpetua" panose="02020502060401020303" pitchFamily="18" charset="77"/>
                <a:ea typeface="Noto Sans"/>
                <a:cs typeface="Noto Sans"/>
              </a:rPr>
              <a:t> – </a:t>
            </a:r>
            <a:r>
              <a:rPr lang="en-US" dirty="0" err="1">
                <a:solidFill>
                  <a:schemeClr val="bg2">
                    <a:lumMod val="50000"/>
                  </a:schemeClr>
                </a:solidFill>
                <a:latin typeface="Perpetua" panose="02020502060401020303" pitchFamily="18" charset="77"/>
                <a:ea typeface="Noto Sans"/>
                <a:cs typeface="Noto Sans"/>
              </a:rPr>
              <a:t>qu’avec</a:t>
            </a:r>
            <a:r>
              <a:rPr lang="en-US" dirty="0">
                <a:solidFill>
                  <a:schemeClr val="bg2">
                    <a:lumMod val="50000"/>
                  </a:schemeClr>
                </a:solidFill>
                <a:latin typeface="Perpetua" panose="02020502060401020303" pitchFamily="18" charset="77"/>
                <a:ea typeface="Noto Sans"/>
                <a:cs typeface="Noto Sans"/>
              </a:rPr>
              <a:t> des roses par </a:t>
            </a:r>
            <a:r>
              <a:rPr lang="en-US" dirty="0" err="1">
                <a:solidFill>
                  <a:schemeClr val="bg2">
                    <a:lumMod val="50000"/>
                  </a:schemeClr>
                </a:solidFill>
                <a:latin typeface="Perpetua" panose="02020502060401020303" pitchFamily="18" charset="77"/>
                <a:ea typeface="Noto Sans"/>
                <a:cs typeface="Noto Sans"/>
              </a:rPr>
              <a:t>d’orchidées</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3 Bouquet de flower girls - </a:t>
            </a:r>
            <a:r>
              <a:rPr lang="en-US" dirty="0" err="1">
                <a:solidFill>
                  <a:schemeClr val="bg2">
                    <a:lumMod val="50000"/>
                  </a:schemeClr>
                </a:solidFill>
                <a:latin typeface="Perpetua" panose="02020502060401020303" pitchFamily="18" charset="77"/>
                <a:ea typeface="Noto Sans"/>
                <a:cs typeface="Noto Sans"/>
              </a:rPr>
              <a:t>qu’avec</a:t>
            </a:r>
            <a:r>
              <a:rPr lang="en-US" dirty="0">
                <a:solidFill>
                  <a:schemeClr val="bg2">
                    <a:lumMod val="50000"/>
                  </a:schemeClr>
                </a:solidFill>
                <a:latin typeface="Perpetua" panose="02020502060401020303" pitchFamily="18" charset="77"/>
                <a:ea typeface="Noto Sans"/>
                <a:cs typeface="Noto Sans"/>
              </a:rPr>
              <a:t> des roses par </a:t>
            </a:r>
            <a:r>
              <a:rPr lang="en-US" dirty="0" err="1">
                <a:solidFill>
                  <a:schemeClr val="bg2">
                    <a:lumMod val="50000"/>
                  </a:schemeClr>
                </a:solidFill>
                <a:latin typeface="Perpetua" panose="02020502060401020303" pitchFamily="18" charset="77"/>
                <a:ea typeface="Noto Sans"/>
                <a:cs typeface="Noto Sans"/>
              </a:rPr>
              <a:t>d’orchidées</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mais</a:t>
            </a:r>
            <a:r>
              <a:rPr lang="en-US" dirty="0">
                <a:solidFill>
                  <a:schemeClr val="bg2">
                    <a:lumMod val="50000"/>
                  </a:schemeClr>
                </a:solidFill>
                <a:latin typeface="Perpetua" panose="02020502060401020303" pitchFamily="18" charset="77"/>
                <a:ea typeface="Noto Sans"/>
                <a:cs typeface="Noto Sans"/>
              </a:rPr>
              <a:t> plus petit que </a:t>
            </a:r>
            <a:r>
              <a:rPr lang="en-US" dirty="0" err="1">
                <a:solidFill>
                  <a:schemeClr val="bg2">
                    <a:lumMod val="50000"/>
                  </a:schemeClr>
                </a:solidFill>
                <a:latin typeface="Perpetua" panose="02020502060401020303" pitchFamily="18" charset="77"/>
                <a:ea typeface="Noto Sans"/>
                <a:cs typeface="Noto Sans"/>
              </a:rPr>
              <a:t>celui</a:t>
            </a:r>
            <a:r>
              <a:rPr lang="en-US" dirty="0">
                <a:solidFill>
                  <a:schemeClr val="bg2">
                    <a:lumMod val="50000"/>
                  </a:schemeClr>
                </a:solidFill>
                <a:latin typeface="Perpetua" panose="02020502060401020303" pitchFamily="18" charset="77"/>
                <a:ea typeface="Noto Sans"/>
                <a:cs typeface="Noto Sans"/>
              </a:rPr>
              <a:t> de la demoiselle </a:t>
            </a:r>
            <a:r>
              <a:rPr lang="en-US" dirty="0" err="1">
                <a:solidFill>
                  <a:schemeClr val="bg2">
                    <a:lumMod val="50000"/>
                  </a:schemeClr>
                </a:solidFill>
                <a:latin typeface="Perpetua" panose="02020502060401020303" pitchFamily="18" charset="77"/>
                <a:ea typeface="Noto Sans"/>
                <a:cs typeface="Noto Sans"/>
              </a:rPr>
              <a:t>d’honneur</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Décor de la </a:t>
            </a:r>
            <a:r>
              <a:rPr lang="en-US" dirty="0" err="1">
                <a:solidFill>
                  <a:schemeClr val="bg2">
                    <a:lumMod val="50000"/>
                  </a:schemeClr>
                </a:solidFill>
                <a:latin typeface="Perpetua" panose="02020502060401020303" pitchFamily="18" charset="77"/>
                <a:ea typeface="Noto Sans"/>
                <a:cs typeface="Noto Sans"/>
              </a:rPr>
              <a:t>Cérémonie</a:t>
            </a:r>
            <a:r>
              <a:rPr lang="en-US" dirty="0">
                <a:solidFill>
                  <a:schemeClr val="bg2">
                    <a:lumMod val="50000"/>
                  </a:schemeClr>
                </a:solidFill>
                <a:latin typeface="Perpetua" panose="02020502060401020303" pitchFamily="18" charset="77"/>
                <a:ea typeface="Noto Sans"/>
                <a:cs typeface="Noto Sans"/>
              </a:rPr>
              <a:t> + décor de </a:t>
            </a:r>
            <a:r>
              <a:rPr lang="en-US" dirty="0" err="1">
                <a:solidFill>
                  <a:schemeClr val="bg2">
                    <a:lumMod val="50000"/>
                  </a:schemeClr>
                </a:solidFill>
                <a:latin typeface="Perpetua" panose="02020502060401020303" pitchFamily="18" charset="77"/>
                <a:ea typeface="Noto Sans"/>
                <a:cs typeface="Noto Sans"/>
              </a:rPr>
              <a:t>l’allee</a:t>
            </a:r>
            <a:r>
              <a:rPr lang="en-US" dirty="0">
                <a:solidFill>
                  <a:schemeClr val="bg2">
                    <a:lumMod val="50000"/>
                  </a:schemeClr>
                </a:solidFill>
                <a:latin typeface="Perpetua" panose="02020502060401020303" pitchFamily="18" charset="77"/>
                <a:ea typeface="Noto Sans"/>
                <a:cs typeface="Noto Sans"/>
              </a:rPr>
              <a:t> a </a:t>
            </a:r>
            <a:r>
              <a:rPr lang="en-US" dirty="0" err="1">
                <a:solidFill>
                  <a:schemeClr val="bg2">
                    <a:lumMod val="50000"/>
                  </a:schemeClr>
                </a:solidFill>
                <a:latin typeface="Perpetua" panose="02020502060401020303" pitchFamily="18" charset="77"/>
                <a:ea typeface="Noto Sans"/>
                <a:cs typeface="Noto Sans"/>
              </a:rPr>
              <a:t>l’Eglise</a:t>
            </a:r>
            <a:r>
              <a:rPr lang="en-US" dirty="0">
                <a:solidFill>
                  <a:schemeClr val="bg2">
                    <a:lumMod val="50000"/>
                  </a:schemeClr>
                </a:solidFill>
                <a:latin typeface="Perpetua" panose="02020502060401020303" pitchFamily="18" charset="77"/>
                <a:ea typeface="Noto Sans"/>
                <a:cs typeface="Noto Sans"/>
              </a:rPr>
              <a:t> – </a:t>
            </a:r>
            <a:r>
              <a:rPr lang="en-US" dirty="0">
                <a:solidFill>
                  <a:schemeClr val="bg2">
                    <a:lumMod val="50000"/>
                  </a:schemeClr>
                </a:solidFill>
                <a:highlight>
                  <a:srgbClr val="FFFF00"/>
                </a:highlight>
                <a:latin typeface="Perpetua" panose="02020502060401020303" pitchFamily="18" charset="77"/>
                <a:ea typeface="Noto Sans"/>
                <a:cs typeface="Noto Sans"/>
              </a:rPr>
              <a:t>Nous </a:t>
            </a:r>
            <a:r>
              <a:rPr lang="en-US" dirty="0" err="1">
                <a:solidFill>
                  <a:schemeClr val="bg2">
                    <a:lumMod val="50000"/>
                  </a:schemeClr>
                </a:solidFill>
                <a:highlight>
                  <a:srgbClr val="FFFF00"/>
                </a:highlight>
                <a:latin typeface="Perpetua" panose="02020502060401020303" pitchFamily="18" charset="77"/>
                <a:ea typeface="Noto Sans"/>
                <a:cs typeface="Noto Sans"/>
              </a:rPr>
              <a:t>n’avons</a:t>
            </a:r>
            <a:r>
              <a:rPr lang="en-US" dirty="0">
                <a:solidFill>
                  <a:schemeClr val="bg2">
                    <a:lumMod val="50000"/>
                  </a:schemeClr>
                </a:solidFill>
                <a:highlight>
                  <a:srgbClr val="FFFF00"/>
                </a:highlight>
                <a:latin typeface="Perpetua" panose="02020502060401020303" pitchFamily="18" charset="77"/>
                <a:ea typeface="Noto Sans"/>
                <a:cs typeface="Noto Sans"/>
              </a:rPr>
              <a:t> que 20min max pour </a:t>
            </a:r>
            <a:r>
              <a:rPr lang="en-US" dirty="0" err="1">
                <a:solidFill>
                  <a:schemeClr val="bg2">
                    <a:lumMod val="50000"/>
                  </a:schemeClr>
                </a:solidFill>
                <a:highlight>
                  <a:srgbClr val="FFFF00"/>
                </a:highlight>
                <a:latin typeface="Perpetua" panose="02020502060401020303" pitchFamily="18" charset="77"/>
                <a:ea typeface="Noto Sans"/>
                <a:cs typeface="Noto Sans"/>
              </a:rPr>
              <a:t>l’installation</a:t>
            </a:r>
            <a:r>
              <a:rPr lang="en-US" dirty="0">
                <a:solidFill>
                  <a:schemeClr val="bg2">
                    <a:lumMod val="50000"/>
                  </a:schemeClr>
                </a:solidFill>
                <a:highlight>
                  <a:srgbClr val="FFFF00"/>
                </a:highlight>
                <a:latin typeface="Perpetua" panose="02020502060401020303" pitchFamily="18" charset="77"/>
                <a:ea typeface="Noto Sans"/>
                <a:cs typeface="Noto Sans"/>
              </a:rPr>
              <a:t> et a </a:t>
            </a:r>
            <a:r>
              <a:rPr lang="en-US" dirty="0" err="1">
                <a:solidFill>
                  <a:schemeClr val="bg2">
                    <a:lumMod val="50000"/>
                  </a:schemeClr>
                </a:solidFill>
                <a:highlight>
                  <a:srgbClr val="FFFF00"/>
                </a:highlight>
                <a:latin typeface="Perpetua" panose="02020502060401020303" pitchFamily="18" charset="77"/>
                <a:ea typeface="Noto Sans"/>
                <a:cs typeface="Noto Sans"/>
              </a:rPr>
              <a:t>peine</a:t>
            </a:r>
            <a:r>
              <a:rPr lang="en-US" dirty="0">
                <a:solidFill>
                  <a:schemeClr val="bg2">
                    <a:lumMod val="50000"/>
                  </a:schemeClr>
                </a:solidFill>
                <a:highlight>
                  <a:srgbClr val="FFFF00"/>
                </a:highlight>
                <a:latin typeface="Perpetua" panose="02020502060401020303" pitchFamily="18" charset="77"/>
                <a:ea typeface="Noto Sans"/>
                <a:cs typeface="Noto Sans"/>
              </a:rPr>
              <a:t> 5-10min </a:t>
            </a:r>
            <a:r>
              <a:rPr lang="en-US" dirty="0" err="1">
                <a:solidFill>
                  <a:schemeClr val="bg2">
                    <a:lumMod val="50000"/>
                  </a:schemeClr>
                </a:solidFill>
                <a:highlight>
                  <a:srgbClr val="FFFF00"/>
                </a:highlight>
                <a:latin typeface="Perpetua" panose="02020502060401020303" pitchFamily="18" charset="77"/>
                <a:ea typeface="Noto Sans"/>
                <a:cs typeface="Noto Sans"/>
              </a:rPr>
              <a:t>apres</a:t>
            </a:r>
            <a:r>
              <a:rPr lang="en-US" dirty="0">
                <a:solidFill>
                  <a:schemeClr val="bg2">
                    <a:lumMod val="50000"/>
                  </a:schemeClr>
                </a:solidFill>
                <a:highlight>
                  <a:srgbClr val="FFFF00"/>
                </a:highlight>
                <a:latin typeface="Perpetua" panose="02020502060401020303" pitchFamily="18" charset="77"/>
                <a:ea typeface="Noto Sans"/>
                <a:cs typeface="Noto Sans"/>
              </a:rPr>
              <a:t> la </a:t>
            </a:r>
            <a:r>
              <a:rPr lang="en-US" dirty="0" err="1">
                <a:solidFill>
                  <a:schemeClr val="bg2">
                    <a:lumMod val="50000"/>
                  </a:schemeClr>
                </a:solidFill>
                <a:highlight>
                  <a:srgbClr val="FFFF00"/>
                </a:highlight>
                <a:latin typeface="Perpetua" panose="02020502060401020303" pitchFamily="18" charset="77"/>
                <a:ea typeface="Noto Sans"/>
                <a:cs typeface="Noto Sans"/>
              </a:rPr>
              <a:t>ceremonie</a:t>
            </a:r>
            <a:r>
              <a:rPr lang="en-US" dirty="0">
                <a:solidFill>
                  <a:schemeClr val="bg2">
                    <a:lumMod val="50000"/>
                  </a:schemeClr>
                </a:solidFill>
                <a:highlight>
                  <a:srgbClr val="FFFF00"/>
                </a:highlight>
                <a:latin typeface="Perpetua" panose="02020502060401020303" pitchFamily="18" charset="77"/>
                <a:ea typeface="Noto Sans"/>
                <a:cs typeface="Noto Sans"/>
              </a:rPr>
              <a:t> </a:t>
            </a:r>
            <a:r>
              <a:rPr lang="en-US" dirty="0" err="1">
                <a:solidFill>
                  <a:schemeClr val="bg2">
                    <a:lumMod val="50000"/>
                  </a:schemeClr>
                </a:solidFill>
                <a:highlight>
                  <a:srgbClr val="FFFF00"/>
                </a:highlight>
                <a:latin typeface="Perpetua" panose="02020502060401020303" pitchFamily="18" charset="77"/>
                <a:ea typeface="Noto Sans"/>
                <a:cs typeface="Noto Sans"/>
              </a:rPr>
              <a:t>avant</a:t>
            </a:r>
            <a:r>
              <a:rPr lang="en-US" dirty="0">
                <a:solidFill>
                  <a:schemeClr val="bg2">
                    <a:lumMod val="50000"/>
                  </a:schemeClr>
                </a:solidFill>
                <a:highlight>
                  <a:srgbClr val="FFFF00"/>
                </a:highlight>
                <a:latin typeface="Perpetua" panose="02020502060401020303" pitchFamily="18" charset="77"/>
                <a:ea typeface="Noto Sans"/>
                <a:cs typeface="Noto Sans"/>
              </a:rPr>
              <a:t> la </a:t>
            </a:r>
            <a:r>
              <a:rPr lang="en-US" dirty="0" err="1">
                <a:solidFill>
                  <a:schemeClr val="bg2">
                    <a:lumMod val="50000"/>
                  </a:schemeClr>
                </a:solidFill>
                <a:highlight>
                  <a:srgbClr val="FFFF00"/>
                </a:highlight>
                <a:latin typeface="Perpetua" panose="02020502060401020303" pitchFamily="18" charset="77"/>
                <a:ea typeface="Noto Sans"/>
                <a:cs typeface="Noto Sans"/>
              </a:rPr>
              <a:t>messe</a:t>
            </a:r>
            <a:r>
              <a:rPr lang="en-US" dirty="0">
                <a:solidFill>
                  <a:schemeClr val="bg2">
                    <a:lumMod val="50000"/>
                  </a:schemeClr>
                </a:solidFill>
                <a:highlight>
                  <a:srgbClr val="FFFF00"/>
                </a:highlight>
                <a:latin typeface="Perpetua" panose="02020502060401020303" pitchFamily="18" charset="77"/>
                <a:ea typeface="Noto Sans"/>
                <a:cs typeface="Noto Sans"/>
              </a:rPr>
              <a:t>…</a:t>
            </a:r>
          </a:p>
          <a:p>
            <a:pPr marL="902335" marR="513715" indent="-285750">
              <a:lnSpc>
                <a:spcPct val="98000"/>
              </a:lnSpc>
              <a:spcBef>
                <a:spcPts val="480"/>
              </a:spcBef>
              <a:spcAft>
                <a:spcPts val="0"/>
              </a:spcAft>
              <a:buFont typeface="Arial" panose="020B0604020202020204" pitchFamily="34" charset="0"/>
              <a:buChar char="•"/>
            </a:pPr>
            <a:r>
              <a:rPr lang="en-US" b="1" dirty="0">
                <a:solidFill>
                  <a:schemeClr val="bg2">
                    <a:lumMod val="50000"/>
                  </a:schemeClr>
                </a:solidFill>
                <a:latin typeface="Perpetua" panose="02020502060401020303" pitchFamily="18" charset="77"/>
                <a:ea typeface="Noto Sans"/>
                <a:cs typeface="Noto Sans"/>
              </a:rPr>
              <a:t>8 </a:t>
            </a:r>
            <a:r>
              <a:rPr lang="en-US" dirty="0">
                <a:solidFill>
                  <a:schemeClr val="bg2">
                    <a:lumMod val="50000"/>
                  </a:schemeClr>
                </a:solidFill>
                <a:latin typeface="Perpetua" panose="02020502060401020303" pitchFamily="18" charset="77"/>
                <a:ea typeface="Noto Sans"/>
                <a:cs typeface="Noto Sans"/>
              </a:rPr>
              <a:t>tables ronde (</a:t>
            </a:r>
            <a:r>
              <a:rPr lang="en-US" dirty="0" err="1">
                <a:solidFill>
                  <a:schemeClr val="bg2">
                    <a:lumMod val="50000"/>
                  </a:schemeClr>
                </a:solidFill>
                <a:latin typeface="Perpetua" panose="02020502060401020303" pitchFamily="18" charset="77"/>
                <a:ea typeface="Noto Sans"/>
                <a:cs typeface="Noto Sans"/>
              </a:rPr>
              <a:t>jusqu'à</a:t>
            </a:r>
            <a:r>
              <a:rPr lang="en-US" dirty="0">
                <a:solidFill>
                  <a:schemeClr val="bg2">
                    <a:lumMod val="50000"/>
                  </a:schemeClr>
                </a:solidFill>
                <a:latin typeface="Perpetua" panose="02020502060401020303" pitchFamily="18" charset="77"/>
                <a:ea typeface="Noto Sans"/>
                <a:cs typeface="Noto Sans"/>
              </a:rPr>
              <a:t> 10 </a:t>
            </a:r>
            <a:r>
              <a:rPr lang="en-US" dirty="0" err="1">
                <a:solidFill>
                  <a:schemeClr val="bg2">
                    <a:lumMod val="50000"/>
                  </a:schemeClr>
                </a:solidFill>
                <a:latin typeface="Perpetua" panose="02020502060401020303" pitchFamily="18" charset="77"/>
                <a:ea typeface="Noto Sans"/>
                <a:cs typeface="Noto Sans"/>
              </a:rPr>
              <a:t>invités</a:t>
            </a:r>
            <a:r>
              <a:rPr lang="en-US" dirty="0">
                <a:solidFill>
                  <a:schemeClr val="bg2">
                    <a:lumMod val="50000"/>
                  </a:schemeClr>
                </a:solidFill>
                <a:latin typeface="Perpetua" panose="02020502060401020303" pitchFamily="18" charset="77"/>
                <a:ea typeface="Noto Sans"/>
                <a:cs typeface="Noto Sans"/>
              </a:rPr>
              <a:t> par table) Nombre final a determiner</a:t>
            </a:r>
          </a:p>
          <a:p>
            <a:pPr marL="902335" marR="513715" indent="-285750">
              <a:lnSpc>
                <a:spcPct val="98000"/>
              </a:lnSpc>
              <a:spcBef>
                <a:spcPts val="480"/>
              </a:spcBef>
              <a:buFont typeface="Arial" panose="020B0604020202020204" pitchFamily="34" charset="0"/>
              <a:buChar char="•"/>
            </a:pPr>
            <a:r>
              <a:rPr lang="en-US" b="1" dirty="0">
                <a:solidFill>
                  <a:schemeClr val="bg2">
                    <a:lumMod val="50000"/>
                  </a:schemeClr>
                </a:solidFill>
                <a:latin typeface="Perpetua" panose="02020502060401020303" pitchFamily="18" charset="77"/>
                <a:ea typeface="Noto Sans"/>
                <a:cs typeface="Noto Sans"/>
              </a:rPr>
              <a:t>2 </a:t>
            </a:r>
            <a:r>
              <a:rPr lang="en-US" dirty="0">
                <a:solidFill>
                  <a:schemeClr val="bg2">
                    <a:lumMod val="50000"/>
                  </a:schemeClr>
                </a:solidFill>
                <a:latin typeface="Perpetua" panose="02020502060401020303" pitchFamily="18" charset="77"/>
                <a:ea typeface="Noto Sans"/>
                <a:cs typeface="Noto Sans"/>
              </a:rPr>
              <a:t>longue tables </a:t>
            </a:r>
            <a:r>
              <a:rPr lang="en-US" dirty="0" err="1">
                <a:solidFill>
                  <a:schemeClr val="bg2">
                    <a:lumMod val="50000"/>
                  </a:schemeClr>
                </a:solidFill>
                <a:latin typeface="Perpetua" panose="02020502060401020303" pitchFamily="18" charset="77"/>
                <a:ea typeface="Noto Sans"/>
                <a:cs typeface="Noto Sans"/>
              </a:rPr>
              <a:t>rectangulaire</a:t>
            </a:r>
            <a:r>
              <a:rPr lang="en-US" dirty="0">
                <a:solidFill>
                  <a:schemeClr val="bg2">
                    <a:lumMod val="50000"/>
                  </a:schemeClr>
                </a:solidFill>
                <a:latin typeface="Perpetua" panose="02020502060401020303" pitchFamily="18" charset="77"/>
                <a:ea typeface="Noto Sans"/>
                <a:cs typeface="Noto Sans"/>
              </a:rPr>
              <a:t> de 28 </a:t>
            </a:r>
            <a:r>
              <a:rPr lang="en-US" dirty="0" err="1">
                <a:solidFill>
                  <a:schemeClr val="bg2">
                    <a:lumMod val="50000"/>
                  </a:schemeClr>
                </a:solidFill>
                <a:latin typeface="Perpetua" panose="02020502060401020303" pitchFamily="18" charset="77"/>
                <a:ea typeface="Noto Sans"/>
                <a:cs typeface="Noto Sans"/>
              </a:rPr>
              <a:t>personnes</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soit</a:t>
            </a:r>
            <a:r>
              <a:rPr lang="en-US" dirty="0">
                <a:solidFill>
                  <a:schemeClr val="bg2">
                    <a:lumMod val="50000"/>
                  </a:schemeClr>
                </a:solidFill>
                <a:latin typeface="Perpetua" panose="02020502060401020303" pitchFamily="18" charset="77"/>
                <a:ea typeface="Noto Sans"/>
                <a:cs typeface="Noto Sans"/>
              </a:rPr>
              <a:t> 14 de </a:t>
            </a:r>
            <a:r>
              <a:rPr lang="en-US" dirty="0" err="1">
                <a:solidFill>
                  <a:schemeClr val="bg2">
                    <a:lumMod val="50000"/>
                  </a:schemeClr>
                </a:solidFill>
                <a:latin typeface="Perpetua" panose="02020502060401020303" pitchFamily="18" charset="77"/>
                <a:ea typeface="Noto Sans"/>
                <a:cs typeface="Noto Sans"/>
              </a:rPr>
              <a:t>chaque</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coté</a:t>
            </a:r>
            <a:r>
              <a:rPr lang="en-US" dirty="0">
                <a:solidFill>
                  <a:schemeClr val="bg2">
                    <a:lumMod val="50000"/>
                  </a:schemeClr>
                </a:solidFill>
                <a:latin typeface="Perpetua" panose="02020502060401020303" pitchFamily="18" charset="77"/>
                <a:ea typeface="Noto Sans"/>
                <a:cs typeface="Noto Sans"/>
              </a:rPr>
              <a:t>)</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6 décor Tables mange </a:t>
            </a:r>
            <a:r>
              <a:rPr lang="en-US" dirty="0" err="1">
                <a:solidFill>
                  <a:schemeClr val="bg2">
                    <a:lumMod val="50000"/>
                  </a:schemeClr>
                </a:solidFill>
                <a:latin typeface="Perpetua" panose="02020502060401020303" pitchFamily="18" charset="77"/>
                <a:ea typeface="Noto Sans"/>
                <a:cs typeface="Noto Sans"/>
              </a:rPr>
              <a:t>debout</a:t>
            </a:r>
            <a:r>
              <a:rPr lang="en-US" dirty="0">
                <a:solidFill>
                  <a:schemeClr val="bg2">
                    <a:lumMod val="50000"/>
                  </a:schemeClr>
                </a:solidFill>
                <a:latin typeface="Perpetua" panose="02020502060401020303" pitchFamily="18" charset="77"/>
                <a:ea typeface="Noto Sans"/>
                <a:cs typeface="Noto Sans"/>
              </a:rPr>
              <a:t> pour </a:t>
            </a:r>
            <a:r>
              <a:rPr lang="en-US" dirty="0" err="1">
                <a:solidFill>
                  <a:schemeClr val="bg2">
                    <a:lumMod val="50000"/>
                  </a:schemeClr>
                </a:solidFill>
                <a:latin typeface="Perpetua" panose="02020502060401020303" pitchFamily="18" charset="77"/>
                <a:ea typeface="Noto Sans"/>
                <a:cs typeface="Noto Sans"/>
              </a:rPr>
              <a:t>l'heure</a:t>
            </a:r>
            <a:r>
              <a:rPr lang="en-US" dirty="0">
                <a:solidFill>
                  <a:schemeClr val="bg2">
                    <a:lumMod val="50000"/>
                  </a:schemeClr>
                </a:solidFill>
                <a:latin typeface="Perpetua" panose="02020502060401020303" pitchFamily="18" charset="77"/>
                <a:ea typeface="Noto Sans"/>
                <a:cs typeface="Noto Sans"/>
              </a:rPr>
              <a:t> du cocktail</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2 Décor de Bars (1 pour le cocktail - 1 pour la </a:t>
            </a:r>
            <a:r>
              <a:rPr lang="en-US" dirty="0" err="1">
                <a:solidFill>
                  <a:schemeClr val="bg2">
                    <a:lumMod val="50000"/>
                  </a:schemeClr>
                </a:solidFill>
                <a:latin typeface="Perpetua" panose="02020502060401020303" pitchFamily="18" charset="77"/>
                <a:ea typeface="Noto Sans"/>
                <a:cs typeface="Noto Sans"/>
              </a:rPr>
              <a:t>réception</a:t>
            </a:r>
            <a:r>
              <a:rPr lang="en-US" dirty="0">
                <a:solidFill>
                  <a:schemeClr val="bg2">
                    <a:lumMod val="50000"/>
                  </a:schemeClr>
                </a:solidFill>
                <a:latin typeface="Perpetua" panose="02020502060401020303" pitchFamily="18" charset="77"/>
                <a:ea typeface="Noto Sans"/>
                <a:cs typeface="Noto Sans"/>
              </a:rPr>
              <a:t>/fête)</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décor pour le welcome sign / </a:t>
            </a:r>
            <a:r>
              <a:rPr lang="en-US" dirty="0" err="1">
                <a:solidFill>
                  <a:schemeClr val="bg2">
                    <a:lumMod val="50000"/>
                  </a:schemeClr>
                </a:solidFill>
                <a:latin typeface="Perpetua" panose="02020502060401020303" pitchFamily="18" charset="77"/>
                <a:ea typeface="Noto Sans"/>
                <a:cs typeface="Noto Sans"/>
              </a:rPr>
              <a:t>panneau</a:t>
            </a:r>
            <a:r>
              <a:rPr lang="en-US" dirty="0">
                <a:solidFill>
                  <a:schemeClr val="bg2">
                    <a:lumMod val="50000"/>
                  </a:schemeClr>
                </a:solidFill>
                <a:latin typeface="Perpetua" panose="02020502060401020303" pitchFamily="18" charset="77"/>
                <a:ea typeface="Noto Sans"/>
                <a:cs typeface="Noto Sans"/>
              </a:rPr>
              <a:t> de </a:t>
            </a:r>
            <a:r>
              <a:rPr lang="en-US" dirty="0" err="1">
                <a:solidFill>
                  <a:schemeClr val="bg2">
                    <a:lumMod val="50000"/>
                  </a:schemeClr>
                </a:solidFill>
                <a:latin typeface="Perpetua" panose="02020502060401020303" pitchFamily="18" charset="77"/>
                <a:ea typeface="Noto Sans"/>
                <a:cs typeface="Noto Sans"/>
              </a:rPr>
              <a:t>bienvenue</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décor pour la Table “Welcome” Table </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Re disposition des fleurs pour la table du Wedding Cake</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décor pour la table buffet de dessert + drape </a:t>
            </a:r>
            <a:r>
              <a:rPr lang="en-US" dirty="0" err="1">
                <a:solidFill>
                  <a:schemeClr val="bg2">
                    <a:lumMod val="50000"/>
                  </a:schemeClr>
                </a:solidFill>
                <a:latin typeface="Perpetua" panose="02020502060401020303" pitchFamily="18" charset="77"/>
                <a:ea typeface="Noto Sans"/>
                <a:cs typeface="Noto Sans"/>
              </a:rPr>
              <a:t>blanc</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comme</a:t>
            </a:r>
            <a:r>
              <a:rPr lang="en-US" dirty="0">
                <a:solidFill>
                  <a:schemeClr val="bg2">
                    <a:lumMod val="50000"/>
                  </a:schemeClr>
                </a:solidFill>
                <a:latin typeface="Perpetua" panose="02020502060401020303" pitchFamily="18" charset="77"/>
                <a:ea typeface="Noto Sans"/>
                <a:cs typeface="Noto Sans"/>
              </a:rPr>
              <a:t> sur la photo</a:t>
            </a:r>
          </a:p>
          <a:p>
            <a:pPr marL="616585" marR="513715">
              <a:lnSpc>
                <a:spcPct val="98000"/>
              </a:lnSpc>
              <a:spcBef>
                <a:spcPts val="480"/>
              </a:spcBef>
              <a:spcAft>
                <a:spcPts val="0"/>
              </a:spcAft>
            </a:pPr>
            <a:r>
              <a:rPr lang="en-US" b="1" dirty="0">
                <a:solidFill>
                  <a:schemeClr val="bg2">
                    <a:lumMod val="50000"/>
                  </a:schemeClr>
                </a:solidFill>
                <a:latin typeface="Perpetua" panose="02020502060401020303" pitchFamily="18" charset="77"/>
                <a:ea typeface="Noto Sans"/>
                <a:cs typeface="Noto Sans"/>
              </a:rPr>
              <a:t>REHEARSAL DINNER </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8 tables – 6-8 petit vase “single flowers” par table – Décor </a:t>
            </a:r>
            <a:r>
              <a:rPr lang="en-US" dirty="0" err="1">
                <a:solidFill>
                  <a:schemeClr val="bg2">
                    <a:lumMod val="50000"/>
                  </a:schemeClr>
                </a:solidFill>
                <a:latin typeface="Perpetua" panose="02020502060401020303" pitchFamily="18" charset="77"/>
                <a:ea typeface="Noto Sans"/>
                <a:cs typeface="Noto Sans"/>
              </a:rPr>
              <a:t>blanc</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differente</a:t>
            </a:r>
            <a:r>
              <a:rPr lang="en-US" dirty="0">
                <a:solidFill>
                  <a:schemeClr val="bg2">
                    <a:lumMod val="50000"/>
                  </a:schemeClr>
                </a:solidFill>
                <a:latin typeface="Perpetua" panose="02020502060401020303" pitchFamily="18" charset="77"/>
                <a:ea typeface="Noto Sans"/>
                <a:cs typeface="Noto Sans"/>
              </a:rPr>
              <a:t> fleurs de </a:t>
            </a:r>
            <a:r>
              <a:rPr lang="en-US" dirty="0" err="1">
                <a:solidFill>
                  <a:schemeClr val="bg2">
                    <a:lumMod val="50000"/>
                  </a:schemeClr>
                </a:solidFill>
                <a:latin typeface="Perpetua" panose="02020502060401020303" pitchFamily="18" charset="77"/>
                <a:ea typeface="Noto Sans"/>
                <a:cs typeface="Noto Sans"/>
              </a:rPr>
              <a:t>saison</a:t>
            </a:r>
            <a:r>
              <a:rPr lang="en-US" dirty="0">
                <a:solidFill>
                  <a:schemeClr val="bg2">
                    <a:lumMod val="50000"/>
                  </a:schemeClr>
                </a:solidFill>
                <a:latin typeface="Perpetua" panose="02020502060401020303" pitchFamily="18" charset="77"/>
                <a:ea typeface="Noto Sans"/>
                <a:cs typeface="Noto Sans"/>
              </a:rPr>
              <a:t> - Comme sur la photo</a:t>
            </a:r>
          </a:p>
        </p:txBody>
      </p:sp>
    </p:spTree>
    <p:extLst>
      <p:ext uri="{BB962C8B-B14F-4D97-AF65-F5344CB8AC3E}">
        <p14:creationId xmlns:p14="http://schemas.microsoft.com/office/powerpoint/2010/main" val="1347272106"/>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19611</TotalTime>
  <Words>1913</Words>
  <Application>Microsoft Macintosh PowerPoint</Application>
  <PresentationFormat>Widescreen</PresentationFormat>
  <Paragraphs>146</Paragraphs>
  <Slides>34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Calibri Light</vt:lpstr>
      <vt:lpstr>Perpetua</vt:lpstr>
      <vt:lpstr>Wingdings</vt:lpstr>
      <vt:lpstr>Office 2013 - 2022 Theme</vt:lpstr>
      <vt:lpstr>GUILHERME &amp; TIAGO’S WEDDING</vt:lpstr>
      <vt:lpstr>COLOR PALETTE</vt:lpstr>
      <vt:lpstr>CEREMONY DECOR   </vt:lpstr>
      <vt:lpstr>ALTAR DECOR</vt:lpstr>
      <vt:lpstr>AISLE DECOR    </vt:lpstr>
      <vt:lpstr>BOUTONNIERE</vt:lpstr>
      <vt:lpstr>MAID OF HONOR &amp;  FLOWER GIRLS BOUQUETS </vt:lpstr>
      <vt:lpstr>COCKTAIL </vt:lpstr>
      <vt:lpstr>COCKTAIL – PART 2 </vt:lpstr>
      <vt:lpstr>BARS RENTAL &amp; DECOR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CAKE TABLE </vt:lpstr>
      <vt:lpstr>DANCEFLOOR</vt:lpstr>
      <vt:lpstr>UP LITHING </vt:lpstr>
      <vt:lpstr>PowerPoint Presentation</vt:lpstr>
      <vt:lpstr>RECEPTION/DINNER SEATING PLAN   </vt:lpstr>
      <vt:lpstr>WELCOME DINNER</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SHERAZ &amp; RONIS WEDDING</dc:title>
  <dc:creator>Sheraaz Aït</dc:creator>
  <cp:lastModifiedBy>Haute Couture Events Wedding and Event planning</cp:lastModifiedBy>
  <cp:revision>113</cp:revision>
  <dcterms:created xsi:type="dcterms:W3CDTF">2020-01-16T20:29:49Z</dcterms:created>
  <dcterms:modified xsi:type="dcterms:W3CDTF">2026-04-17T15:25:26Z</dcterms:modified>
</cp:coreProperties>
</file>