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8" r:id="rId1"/>
  </p:sldMasterIdLst>
  <p:notesMasterIdLst>
    <p:notesMasterId r:id="rId10"/>
  </p:notesMasterIdLst>
  <p:sldIdLst>
    <p:sldId id="256" r:id="rId2"/>
    <p:sldId id="337" r:id="rId3"/>
    <p:sldId id="368" r:id="rId4"/>
    <p:sldId id="366" r:id="rId5"/>
    <p:sldId id="386" r:id="rId6"/>
    <p:sldId id="387" r:id="rId7"/>
    <p:sldId id="388" r:id="rId8"/>
    <p:sldId id="32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1"/>
    <p:restoredTop sz="94706"/>
  </p:normalViewPr>
  <p:slideViewPr>
    <p:cSldViewPr snapToGrid="0">
      <p:cViewPr varScale="1">
        <p:scale>
          <a:sx n="111" d="100"/>
          <a:sy n="111" d="100"/>
        </p:scale>
        <p:origin x="56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09/04/2026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641921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1038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70412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31267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4/9/26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76909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4/9/26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30956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00709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96506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67867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30149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7863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4/9/26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422357245"/>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312385"/>
            <a:ext cx="9144000" cy="2387600"/>
          </a:xfrm>
        </p:spPr>
        <p:txBody>
          <a:bodyPr/>
          <a:lstStyle/>
          <a:p>
            <a:r>
              <a:rPr lang="fr-FR" dirty="0">
                <a:solidFill>
                  <a:schemeClr val="bg2">
                    <a:lumMod val="50000"/>
                  </a:schemeClr>
                </a:solidFill>
                <a:latin typeface="Perpetua" panose="02020502060401020303" pitchFamily="18" charset="77"/>
              </a:rPr>
              <a:t>VERONICA &amp; COLIN</a:t>
            </a:r>
            <a:br>
              <a:rPr lang="fr-FR" dirty="0">
                <a:solidFill>
                  <a:schemeClr val="bg2">
                    <a:lumMod val="50000"/>
                  </a:schemeClr>
                </a:solidFill>
                <a:latin typeface="Perpetua" panose="02020502060401020303" pitchFamily="18" charset="77"/>
              </a:rPr>
            </a:br>
            <a:endParaRPr lang="fr-FR" dirty="0">
              <a:solidFill>
                <a:schemeClr val="bg2">
                  <a:lumMod val="50000"/>
                </a:schemeClr>
              </a:solidFill>
              <a:latin typeface="Perpetua" panose="02020502060401020303" pitchFamily="18" charset="77"/>
            </a:endParaRPr>
          </a:p>
        </p:txBody>
      </p:sp>
      <p:sp>
        <p:nvSpPr>
          <p:cNvPr id="3" name="Sous-titre 2"/>
          <p:cNvSpPr>
            <a:spLocks noGrp="1"/>
          </p:cNvSpPr>
          <p:nvPr>
            <p:ph type="subTitle" idx="1"/>
          </p:nvPr>
        </p:nvSpPr>
        <p:spPr>
          <a:xfrm>
            <a:off x="545871" y="2591329"/>
            <a:ext cx="10807323" cy="1436511"/>
          </a:xfrm>
        </p:spPr>
        <p:txBody>
          <a:bodyPr>
            <a:normAutofit/>
          </a:bodyPr>
          <a:lstStyle/>
          <a:p>
            <a:r>
              <a:rPr lang="fr-FR" dirty="0">
                <a:solidFill>
                  <a:schemeClr val="bg2">
                    <a:lumMod val="50000"/>
                  </a:schemeClr>
                </a:solidFill>
                <a:latin typeface="Perpetua" panose="02020502060401020303" pitchFamily="18" charset="77"/>
                <a:ea typeface="Perpetua" charset="0"/>
                <a:cs typeface="Perpetua" charset="0"/>
              </a:rPr>
              <a:t>MAY 2ND, 2026</a:t>
            </a:r>
          </a:p>
          <a:p>
            <a:r>
              <a:rPr lang="fr-FR" dirty="0">
                <a:solidFill>
                  <a:schemeClr val="bg2">
                    <a:lumMod val="50000"/>
                  </a:schemeClr>
                </a:solidFill>
                <a:latin typeface="Perpetua" panose="02020502060401020303" pitchFamily="18" charset="77"/>
                <a:ea typeface="Perpetua" charset="0"/>
                <a:cs typeface="Perpetua" charset="0"/>
              </a:rPr>
              <a:t>59 GUESTS</a:t>
            </a:r>
          </a:p>
          <a:p>
            <a:r>
              <a:rPr lang="fr-FR" dirty="0">
                <a:solidFill>
                  <a:schemeClr val="bg2">
                    <a:lumMod val="50000"/>
                  </a:schemeClr>
                </a:solidFill>
                <a:latin typeface="Perpetua" panose="02020502060401020303" pitchFamily="18" charset="77"/>
                <a:ea typeface="Perpetua" charset="0"/>
                <a:cs typeface="Perpetua" charset="0"/>
              </a:rPr>
              <a:t>CHÂTEAU D’AVENY</a:t>
            </a:r>
          </a:p>
          <a:p>
            <a:endParaRPr lang="fr-FR" sz="1200" dirty="0">
              <a:solidFill>
                <a:schemeClr val="bg2">
                  <a:lumMod val="50000"/>
                </a:schemeClr>
              </a:solidFill>
              <a:latin typeface="Perpetua" panose="02020502060401020303" pitchFamily="18" charset="77"/>
            </a:endParaRPr>
          </a:p>
          <a:p>
            <a:endParaRPr lang="fr-FR" dirty="0"/>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1233609" y="1995802"/>
            <a:ext cx="10430360" cy="177209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dirty="0">
                <a:solidFill>
                  <a:schemeClr val="bg2">
                    <a:lumMod val="50000"/>
                  </a:schemeClr>
                </a:solidFill>
                <a:latin typeface="Perpetua" panose="02020502060401020303" pitchFamily="18" charset="77"/>
                <a:ea typeface="+mj-ea"/>
                <a:cs typeface="+mj-cs"/>
              </a:rPr>
              <a:t>PAPETERIE</a:t>
            </a:r>
          </a:p>
          <a:p>
            <a:pPr algn="ct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dirty="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528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67F88A-43EC-97AE-5876-EF4C9222A4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4649F76-675B-243D-FFBE-BDED9DD6FF27}"/>
              </a:ext>
            </a:extLst>
          </p:cNvPr>
          <p:cNvSpPr txBox="1"/>
          <p:nvPr/>
        </p:nvSpPr>
        <p:spPr>
          <a:xfrm>
            <a:off x="610936" y="0"/>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Welcome Sign &amp; Décor </a:t>
            </a:r>
            <a:endParaRPr lang="en-US" sz="4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sp>
        <p:nvSpPr>
          <p:cNvPr id="14" name="TextBox 13">
            <a:extLst>
              <a:ext uri="{FF2B5EF4-FFF2-40B4-BE49-F238E27FC236}">
                <a16:creationId xmlns:a16="http://schemas.microsoft.com/office/drawing/2014/main" id="{7CEFE24F-026B-31E1-2D62-A79AE5350BBE}"/>
              </a:ext>
            </a:extLst>
          </p:cNvPr>
          <p:cNvSpPr txBox="1"/>
          <p:nvPr/>
        </p:nvSpPr>
        <p:spPr>
          <a:xfrm>
            <a:off x="506039" y="2541589"/>
            <a:ext cx="5461111" cy="1107996"/>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The white welcome sign, featuring typography and detailing inspired by the reference image, </a:t>
            </a:r>
            <a:r>
              <a:rPr lang="en-US" sz="2200">
                <a:solidFill>
                  <a:schemeClr val="bg2">
                    <a:lumMod val="50000"/>
                  </a:schemeClr>
                </a:solidFill>
                <a:latin typeface="Perpetua" panose="02020502060401020303" pitchFamily="18" charset="77"/>
              </a:rPr>
              <a:t>without flowers.</a:t>
            </a:r>
            <a:endParaRPr lang="en-US" sz="2400" dirty="0">
              <a:solidFill>
                <a:schemeClr val="bg2">
                  <a:lumMod val="50000"/>
                </a:schemeClr>
              </a:solidFill>
              <a:latin typeface="Perpetua" panose="02020502060401020303" pitchFamily="18" charset="77"/>
            </a:endParaRPr>
          </a:p>
        </p:txBody>
      </p:sp>
      <p:pic>
        <p:nvPicPr>
          <p:cNvPr id="7" name="Picture 6">
            <a:extLst>
              <a:ext uri="{FF2B5EF4-FFF2-40B4-BE49-F238E27FC236}">
                <a16:creationId xmlns:a16="http://schemas.microsoft.com/office/drawing/2014/main" id="{F53FD14D-8517-01F0-11CF-A697DCAC159C}"/>
              </a:ext>
            </a:extLst>
          </p:cNvPr>
          <p:cNvPicPr>
            <a:picLocks noChangeAspect="1"/>
          </p:cNvPicPr>
          <p:nvPr/>
        </p:nvPicPr>
        <p:blipFill>
          <a:blip r:embed="rId2"/>
          <a:srcRect t="1090"/>
          <a:stretch>
            <a:fillRect/>
          </a:stretch>
        </p:blipFill>
        <p:spPr>
          <a:xfrm>
            <a:off x="7612566" y="319278"/>
            <a:ext cx="4073395" cy="6219444"/>
          </a:xfrm>
          <a:prstGeom prst="rect">
            <a:avLst/>
          </a:prstGeom>
        </p:spPr>
      </p:pic>
    </p:spTree>
    <p:extLst>
      <p:ext uri="{BB962C8B-B14F-4D97-AF65-F5344CB8AC3E}">
        <p14:creationId xmlns:p14="http://schemas.microsoft.com/office/powerpoint/2010/main" val="1002002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98230" y="397964"/>
            <a:ext cx="4555837" cy="6062072"/>
          </a:xfrm>
          <a:prstGeom prst="rect">
            <a:avLst/>
          </a:prstGeom>
        </p:spPr>
        <p:txBody>
          <a:bodyPr vert="horz" lIns="91440" tIns="45720" rIns="91440" bIns="45720" rtlCol="0" anchor="ctr">
            <a:normAutofit fontScale="92500" lnSpcReduction="10000"/>
          </a:bodyPr>
          <a:lstStyle/>
          <a:p>
            <a:pPr algn="ctr" defTabSz="914400">
              <a:lnSpc>
                <a:spcPct val="90000"/>
              </a:lnSpc>
              <a:spcBef>
                <a:spcPct val="0"/>
              </a:spcBef>
              <a:spcAft>
                <a:spcPts val="600"/>
              </a:spcAft>
            </a:pPr>
            <a:r>
              <a:rPr lang="en-US" sz="4800" dirty="0">
                <a:solidFill>
                  <a:schemeClr val="bg2">
                    <a:lumMod val="50000"/>
                  </a:schemeClr>
                </a:solidFill>
                <a:latin typeface="Perpetua" panose="02020502060401020303" pitchFamily="18" charset="77"/>
                <a:ea typeface="+mj-ea"/>
                <a:cs typeface="+mj-cs"/>
              </a:rPr>
              <a:t>Seating Chart</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3100" dirty="0">
              <a:solidFill>
                <a:schemeClr val="bg2">
                  <a:lumMod val="50000"/>
                </a:schemeClr>
              </a:solidFill>
              <a:latin typeface="Perpetua" panose="02020502060401020303" pitchFamily="18" charset="77"/>
              <a:ea typeface="+mj-ea"/>
              <a:cs typeface="+mj-cs"/>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large rectangular gold-framed mirror will display the seating chart, featuring wax-sealed, gold-stamped cards elegantly presenting each guests’ by alphabetic order.</a:t>
            </a:r>
            <a:br>
              <a:rPr lang="en-US" sz="2400" dirty="0">
                <a:solidFill>
                  <a:schemeClr val="bg2">
                    <a:lumMod val="50000"/>
                  </a:schemeClr>
                </a:solidFill>
                <a:latin typeface="Perpetua" panose="02020502060401020303" pitchFamily="18" charset="77"/>
              </a:rPr>
            </a:br>
            <a:endParaRPr lang="en-US" sz="2400" dirty="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medium-sized floral arrangement will be displayed at the base of the seating chart, with décor echoing the reference imagery and styled in harmony with the color </a:t>
            </a:r>
            <a:r>
              <a:rPr lang="en-US" sz="2400" dirty="0">
                <a:solidFill>
                  <a:srgbClr val="FFC000"/>
                </a:solidFill>
                <a:latin typeface="Perpetua" panose="02020502060401020303" pitchFamily="18" charset="77"/>
              </a:rPr>
              <a:t>palette detailed on slide #2</a:t>
            </a:r>
            <a:endParaRPr lang="en-US" sz="2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16" name="Picture 15">
            <a:extLst>
              <a:ext uri="{FF2B5EF4-FFF2-40B4-BE49-F238E27FC236}">
                <a16:creationId xmlns:a16="http://schemas.microsoft.com/office/drawing/2014/main" id="{B5E9A1CD-8BA4-83C5-944E-020157EB4A3F}"/>
              </a:ext>
            </a:extLst>
          </p:cNvPr>
          <p:cNvPicPr>
            <a:picLocks noChangeAspect="1"/>
          </p:cNvPicPr>
          <p:nvPr/>
        </p:nvPicPr>
        <p:blipFill>
          <a:blip r:embed="rId2"/>
          <a:srcRect/>
          <a:stretch/>
        </p:blipFill>
        <p:spPr>
          <a:xfrm>
            <a:off x="7114214" y="289427"/>
            <a:ext cx="4179556" cy="6279146"/>
          </a:xfrm>
          <a:prstGeom prst="rect">
            <a:avLst/>
          </a:prstGeom>
        </p:spPr>
      </p:pic>
    </p:spTree>
    <p:extLst>
      <p:ext uri="{BB962C8B-B14F-4D97-AF65-F5344CB8AC3E}">
        <p14:creationId xmlns:p14="http://schemas.microsoft.com/office/powerpoint/2010/main" val="3534622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9F8F6B-B294-ABC9-9842-A2EC89BD71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8828DE-0A81-97F9-162E-A4A83B82B235}"/>
              </a:ext>
            </a:extLst>
          </p:cNvPr>
          <p:cNvSpPr txBox="1"/>
          <p:nvPr/>
        </p:nvSpPr>
        <p:spPr>
          <a:xfrm>
            <a:off x="922929" y="268355"/>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a:solidFill>
                  <a:schemeClr val="bg2">
                    <a:lumMod val="50000"/>
                  </a:schemeClr>
                </a:solidFill>
                <a:latin typeface="Perpetua" panose="02020502060401020303" pitchFamily="18" charset="77"/>
                <a:ea typeface="+mj-ea"/>
                <a:cs typeface="+mj-cs"/>
              </a:rPr>
              <a:t>Place Cards</a:t>
            </a:r>
          </a:p>
          <a:p>
            <a:pPr algn="ctr" defTabSz="914400">
              <a:lnSpc>
                <a:spcPct val="90000"/>
              </a:lnSpc>
              <a:spcBef>
                <a:spcPct val="0"/>
              </a:spcBef>
              <a:spcAft>
                <a:spcPts val="600"/>
              </a:spcAft>
            </a:pPr>
            <a:r>
              <a:rPr lang="en-US" sz="3600" i="1">
                <a:solidFill>
                  <a:srgbClr val="FFC000"/>
                </a:solidFill>
                <a:latin typeface="Perpetua" panose="02020502060401020303" pitchFamily="18" charset="77"/>
                <a:ea typeface="+mj-ea"/>
                <a:cs typeface="+mj-cs"/>
              </a:rPr>
              <a:t>Audrey’s Note: </a:t>
            </a:r>
          </a:p>
          <a:p>
            <a:pPr algn="ctr" defTabSz="914400">
              <a:lnSpc>
                <a:spcPct val="90000"/>
              </a:lnSpc>
              <a:spcBef>
                <a:spcPct val="0"/>
              </a:spcBef>
              <a:spcAft>
                <a:spcPts val="600"/>
              </a:spcAft>
            </a:pPr>
            <a:endParaRPr lang="en-US" sz="4400" i="1">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2200">
                <a:solidFill>
                  <a:schemeClr val="bg2">
                    <a:lumMod val="50000"/>
                  </a:schemeClr>
                </a:solidFill>
                <a:latin typeface="Perpetua" panose="02020502060401020303" pitchFamily="18" charset="77"/>
              </a:rPr>
              <a:t>Please note that place cards are required by the catering staff regardless of round or rectangular tables. For weddings with more than 100 guests, place cards must be placed on each table with assigned seating, showing each guest’s full name, table number, and a meal icon/allergy note to guide the staff.</a:t>
            </a:r>
            <a:endParaRPr lang="en-US" sz="2200" i="1">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a:latin typeface="+mj-lt"/>
                <a:ea typeface="+mj-ea"/>
                <a:cs typeface="+mj-cs"/>
              </a:rPr>
              <a:t> </a:t>
            </a:r>
          </a:p>
        </p:txBody>
      </p:sp>
      <p:pic>
        <p:nvPicPr>
          <p:cNvPr id="3" name="Picture 2">
            <a:extLst>
              <a:ext uri="{FF2B5EF4-FFF2-40B4-BE49-F238E27FC236}">
                <a16:creationId xmlns:a16="http://schemas.microsoft.com/office/drawing/2014/main" id="{80BD6E25-2C67-B0A9-5AC2-44EC7EF84917}"/>
              </a:ext>
            </a:extLst>
          </p:cNvPr>
          <p:cNvPicPr>
            <a:picLocks noChangeAspect="1"/>
          </p:cNvPicPr>
          <p:nvPr/>
        </p:nvPicPr>
        <p:blipFill>
          <a:blip r:embed="rId2"/>
          <a:srcRect/>
          <a:stretch/>
        </p:blipFill>
        <p:spPr>
          <a:xfrm>
            <a:off x="6815330" y="461142"/>
            <a:ext cx="4748573" cy="5935716"/>
          </a:xfrm>
          <a:prstGeom prst="rect">
            <a:avLst/>
          </a:prstGeom>
        </p:spPr>
      </p:pic>
    </p:spTree>
    <p:extLst>
      <p:ext uri="{BB962C8B-B14F-4D97-AF65-F5344CB8AC3E}">
        <p14:creationId xmlns:p14="http://schemas.microsoft.com/office/powerpoint/2010/main" val="3617417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7C5453-EF1A-B806-4E83-A4778DCE2ED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FD6A3D0-071B-27FE-1A63-2E2F52A1C602}"/>
              </a:ext>
            </a:extLst>
          </p:cNvPr>
          <p:cNvSpPr txBox="1"/>
          <p:nvPr/>
        </p:nvSpPr>
        <p:spPr>
          <a:xfrm>
            <a:off x="142641" y="-524256"/>
            <a:ext cx="6136239" cy="563641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a:solidFill>
                  <a:schemeClr val="bg2">
                    <a:lumMod val="50000"/>
                  </a:schemeClr>
                </a:solidFill>
                <a:latin typeface="Perpetua" panose="02020502060401020303" pitchFamily="18" charset="77"/>
                <a:ea typeface="+mj-ea"/>
                <a:cs typeface="+mj-cs"/>
              </a:rPr>
              <a:t>Table numbers</a:t>
            </a:r>
          </a:p>
          <a:p>
            <a:pPr algn="ctr" defTabSz="914400">
              <a:lnSpc>
                <a:spcPct val="90000"/>
              </a:lnSpc>
              <a:spcBef>
                <a:spcPct val="0"/>
              </a:spcBef>
              <a:spcAft>
                <a:spcPts val="600"/>
              </a:spcAft>
            </a:pPr>
            <a:endParaRPr lang="en-US" sz="440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a:solidFill>
                <a:schemeClr val="bg2">
                  <a:lumMod val="50000"/>
                </a:schemeClr>
              </a:solidFill>
              <a:latin typeface="Perpetua" panose="02020502060401020303" pitchFamily="18" charset="77"/>
              <a:ea typeface="+mj-ea"/>
              <a:cs typeface="+mj-cs"/>
            </a:endParaRPr>
          </a:p>
          <a:p>
            <a:pPr marL="342900" indent="-342900" algn="ctr" defTabSz="914400">
              <a:lnSpc>
                <a:spcPct val="90000"/>
              </a:lnSpc>
              <a:spcBef>
                <a:spcPct val="0"/>
              </a:spcBef>
              <a:spcAft>
                <a:spcPts val="600"/>
              </a:spcAft>
              <a:buFont typeface="Arial" panose="020B0604020202020204" pitchFamily="34" charset="0"/>
              <a:buChar char="•"/>
            </a:pPr>
            <a:r>
              <a:rPr lang="en-US" sz="2200">
                <a:solidFill>
                  <a:schemeClr val="bg2">
                    <a:lumMod val="50000"/>
                  </a:schemeClr>
                </a:solidFill>
                <a:latin typeface="Perpetua" panose="02020502060401020303" pitchFamily="18" charset="77"/>
              </a:rPr>
              <a:t>A refined rectangular design, printed on white paper and enhanced with warm-white floral motifs and gold script typography, will be elegantly displayed on a gold holder</a:t>
            </a:r>
            <a:endParaRPr lang="en-US" sz="2200">
              <a:solidFill>
                <a:schemeClr val="bg2">
                  <a:lumMod val="50000"/>
                </a:schemeClr>
              </a:solidFill>
              <a:latin typeface="Perpetua" panose="02020502060401020303" pitchFamily="18" charset="77"/>
              <a:ea typeface="+mj-ea"/>
              <a:cs typeface="+mj-cs"/>
            </a:endParaRPr>
          </a:p>
        </p:txBody>
      </p:sp>
      <p:pic>
        <p:nvPicPr>
          <p:cNvPr id="4" name="Picture 3">
            <a:extLst>
              <a:ext uri="{FF2B5EF4-FFF2-40B4-BE49-F238E27FC236}">
                <a16:creationId xmlns:a16="http://schemas.microsoft.com/office/drawing/2014/main" id="{40D030C9-5843-CFC5-A305-20C724FD7C4E}"/>
              </a:ext>
            </a:extLst>
          </p:cNvPr>
          <p:cNvPicPr>
            <a:picLocks noChangeAspect="1"/>
          </p:cNvPicPr>
          <p:nvPr/>
        </p:nvPicPr>
        <p:blipFill>
          <a:blip r:embed="rId2"/>
          <a:srcRect/>
          <a:stretch/>
        </p:blipFill>
        <p:spPr>
          <a:xfrm>
            <a:off x="6939925" y="441751"/>
            <a:ext cx="5008235" cy="5974498"/>
          </a:xfrm>
          <a:prstGeom prst="rect">
            <a:avLst/>
          </a:prstGeom>
        </p:spPr>
      </p:pic>
    </p:spTree>
    <p:extLst>
      <p:ext uri="{BB962C8B-B14F-4D97-AF65-F5344CB8AC3E}">
        <p14:creationId xmlns:p14="http://schemas.microsoft.com/office/powerpoint/2010/main" val="4279134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D819984-0BCB-B705-8381-EF87FBA47F9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4B3B833-1225-75CC-5980-D6B4AEB7ADE2}"/>
              </a:ext>
            </a:extLst>
          </p:cNvPr>
          <p:cNvSpPr txBox="1"/>
          <p:nvPr/>
        </p:nvSpPr>
        <p:spPr>
          <a:xfrm>
            <a:off x="279900" y="206477"/>
            <a:ext cx="5416911" cy="474878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a:solidFill>
                  <a:schemeClr val="bg2">
                    <a:lumMod val="50000"/>
                  </a:schemeClr>
                </a:solidFill>
                <a:latin typeface="Perpetua" panose="02020502060401020303" pitchFamily="18" charset="77"/>
                <a:ea typeface="+mj-ea"/>
                <a:cs typeface="+mj-cs"/>
              </a:rPr>
              <a:t>Menus</a:t>
            </a:r>
          </a:p>
          <a:p>
            <a:pPr algn="ctr" defTabSz="914400">
              <a:lnSpc>
                <a:spcPct val="90000"/>
              </a:lnSpc>
              <a:spcBef>
                <a:spcPct val="0"/>
              </a:spcBef>
              <a:spcAft>
                <a:spcPts val="600"/>
              </a:spcAft>
            </a:pPr>
            <a:endParaRPr lang="en-US" sz="440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a:solidFill>
                <a:schemeClr val="bg2">
                  <a:lumMod val="50000"/>
                </a:schemeClr>
              </a:solidFill>
              <a:latin typeface="Perpetua" panose="02020502060401020303" pitchFamily="18" charset="77"/>
              <a:ea typeface="+mj-ea"/>
              <a:cs typeface="+mj-cs"/>
            </a:endParaRPr>
          </a:p>
          <a:p>
            <a:pPr marL="342900" indent="-342900" algn="ctr" fontAlgn="base">
              <a:buFont typeface="Arial" panose="020B0604020202020204" pitchFamily="34" charset="0"/>
              <a:buChar char="•"/>
            </a:pPr>
            <a:r>
              <a:rPr lang="en-US" sz="2200">
                <a:solidFill>
                  <a:schemeClr val="bg2">
                    <a:lumMod val="50000"/>
                  </a:schemeClr>
                </a:solidFill>
                <a:latin typeface="Perpetua" panose="02020502060401020303" pitchFamily="18" charset="77"/>
              </a:rPr>
              <a:t>A large rectangular format with a rounded top, crafted from white, smooth, thick matte paper, featuring elegant dark script typography and enhanced with white pearls for a sophisticated, harmonious touch</a:t>
            </a:r>
          </a:p>
        </p:txBody>
      </p:sp>
      <p:pic>
        <p:nvPicPr>
          <p:cNvPr id="3" name="Picture 2">
            <a:extLst>
              <a:ext uri="{FF2B5EF4-FFF2-40B4-BE49-F238E27FC236}">
                <a16:creationId xmlns:a16="http://schemas.microsoft.com/office/drawing/2014/main" id="{3576634B-03A1-B7AD-3AD9-CE62143D01D6}"/>
              </a:ext>
            </a:extLst>
          </p:cNvPr>
          <p:cNvPicPr>
            <a:picLocks noChangeAspect="1"/>
          </p:cNvPicPr>
          <p:nvPr/>
        </p:nvPicPr>
        <p:blipFill>
          <a:blip r:embed="rId2"/>
          <a:srcRect/>
          <a:stretch/>
        </p:blipFill>
        <p:spPr>
          <a:xfrm>
            <a:off x="6673665" y="358139"/>
            <a:ext cx="4913376" cy="6141720"/>
          </a:xfrm>
          <a:prstGeom prst="rect">
            <a:avLst/>
          </a:prstGeom>
        </p:spPr>
      </p:pic>
    </p:spTree>
    <p:extLst>
      <p:ext uri="{BB962C8B-B14F-4D97-AF65-F5344CB8AC3E}">
        <p14:creationId xmlns:p14="http://schemas.microsoft.com/office/powerpoint/2010/main" val="2829549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195532" y="293194"/>
            <a:ext cx="12218610" cy="5994911"/>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400" dirty="0">
                <a:solidFill>
                  <a:schemeClr val="bg2">
                    <a:lumMod val="50000"/>
                  </a:schemeClr>
                </a:solidFill>
                <a:latin typeface="Perpetua" panose="02020502060401020303" pitchFamily="18" charset="77"/>
                <a:ea typeface="Noto Sans"/>
                <a:cs typeface="Noto Sans"/>
              </a:rPr>
              <a:t>NOTES POUR LA DESIGNER PAPETERIE</a:t>
            </a:r>
            <a:r>
              <a:rPr lang="en-US" sz="2400" b="1" dirty="0">
                <a:solidFill>
                  <a:schemeClr val="bg2">
                    <a:lumMod val="50000"/>
                  </a:schemeClr>
                </a:solidFill>
                <a:latin typeface="Perpetua" panose="02020502060401020303" pitchFamily="18" charset="77"/>
                <a:ea typeface="Noto Sans"/>
                <a:cs typeface="Noto Sans"/>
              </a:rPr>
              <a:t>:</a:t>
            </a:r>
          </a:p>
          <a:p>
            <a:pPr marL="1596390" marR="513715" indent="-979805" algn="ctr">
              <a:lnSpc>
                <a:spcPct val="98000"/>
              </a:lnSpc>
              <a:spcBef>
                <a:spcPts val="480"/>
              </a:spcBef>
              <a:spcAft>
                <a:spcPts val="0"/>
              </a:spcAft>
            </a:pPr>
            <a:endParaRPr lang="en-US" sz="2400" b="1" dirty="0">
              <a:solidFill>
                <a:schemeClr val="accent5">
                  <a:lumMod val="60000"/>
                  <a:lumOff val="40000"/>
                </a:schemeClr>
              </a:solidFill>
              <a:latin typeface="Perpetua" panose="02020502060401020303" pitchFamily="18" charset="77"/>
              <a:ea typeface="Noto Sans"/>
              <a:cs typeface="Noto Sans"/>
            </a:endParaRPr>
          </a:p>
          <a:p>
            <a:pPr marL="1596390" marR="513715" indent="-979805" algn="ctr">
              <a:lnSpc>
                <a:spcPct val="98000"/>
              </a:lnSpc>
              <a:spcBef>
                <a:spcPts val="480"/>
              </a:spcBef>
              <a:spcAft>
                <a:spcPts val="0"/>
              </a:spcAft>
            </a:pP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59 PLACE CARDS (SANS LES PERLES)</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59 MENUS (AVEC PERLES)</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2 NUMEROS DE TABLES (1 &amp; 2) AVEC LE SUPPORT DORÉ SIMILAIRE A LA PHOTO</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WELCOME SIGN - LES FLEURS PEUVENT ETRE FOURNIES PAR NOTRE FLEURISTE SUR PLACE CEPENDANT IL LUI FAUDRA UN SYSTEM “D’ACCROCHE” MIS EN PLACE POUR QUE CA TIENNE.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SEATING CHART – PAR ORDRE ALPHABETIQUE</a:t>
            </a:r>
          </a:p>
          <a:p>
            <a:pPr marL="902335" marR="513715" indent="-285750">
              <a:lnSpc>
                <a:spcPct val="98000"/>
              </a:lnSpc>
              <a:spcBef>
                <a:spcPts val="480"/>
              </a:spcBef>
              <a:spcAft>
                <a:spcPts val="0"/>
              </a:spcAft>
              <a:buFont typeface="Arial" panose="020B0604020202020204" pitchFamily="34" charset="0"/>
              <a:buChar char="•"/>
            </a:pP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b="1" dirty="0">
                <a:solidFill>
                  <a:schemeClr val="bg2">
                    <a:lumMod val="50000"/>
                  </a:schemeClr>
                </a:solidFill>
                <a:latin typeface="Perpetua" panose="02020502060401020303" pitchFamily="18" charset="77"/>
                <a:ea typeface="Noto Sans"/>
                <a:cs typeface="Noto Sans"/>
              </a:rPr>
              <a:t>REHEARSAL DINNER (PARIS SEINE) – </a:t>
            </a:r>
            <a:r>
              <a:rPr lang="en-US" b="1" dirty="0">
                <a:solidFill>
                  <a:schemeClr val="bg2">
                    <a:lumMod val="50000"/>
                  </a:schemeClr>
                </a:solidFill>
                <a:highlight>
                  <a:srgbClr val="FFFF00"/>
                </a:highlight>
                <a:latin typeface="Perpetua" panose="02020502060401020303" pitchFamily="18" charset="77"/>
                <a:ea typeface="Noto Sans"/>
                <a:cs typeface="Noto Sans"/>
              </a:rPr>
              <a:t>DESIGN SIMPLE, NOUS AVONS CARTE BLANCHE MAIS LE PLUS MINIMALISTE POSSIBLE.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59 PLACE CARDS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6 NUMEROS DE  TABLES </a:t>
            </a:r>
            <a:br>
              <a:rPr lang="en-US" dirty="0">
                <a:solidFill>
                  <a:schemeClr val="bg2">
                    <a:lumMod val="50000"/>
                  </a:schemeClr>
                </a:solidFill>
                <a:latin typeface="Perpetua" panose="02020502060401020303" pitchFamily="18" charset="77"/>
                <a:ea typeface="Noto Sans"/>
                <a:cs typeface="Noto Sans"/>
              </a:rPr>
            </a:br>
            <a:br>
              <a:rPr lang="en-US" dirty="0">
                <a:solidFill>
                  <a:schemeClr val="bg2">
                    <a:lumMod val="50000"/>
                  </a:schemeClr>
                </a:solidFill>
                <a:latin typeface="Perpetua" panose="02020502060401020303" pitchFamily="18" charset="77"/>
                <a:ea typeface="Noto Sans"/>
                <a:cs typeface="Noto Sans"/>
              </a:rPr>
            </a:b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endParaRPr lang="en-US" b="1"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endParaRPr lang="en-US" dirty="0">
              <a:solidFill>
                <a:schemeClr val="bg2">
                  <a:lumMod val="50000"/>
                </a:schemeClr>
              </a:solidFill>
              <a:latin typeface="Perpetua" panose="02020502060401020303" pitchFamily="18" charset="77"/>
              <a:ea typeface="Noto Sans"/>
              <a:cs typeface="Noto Sans"/>
            </a:endParaRP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160</TotalTime>
  <Words>333</Words>
  <Application>Microsoft Macintosh PowerPoint</Application>
  <PresentationFormat>Widescreen</PresentationFormat>
  <Paragraphs>39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Perpetua</vt:lpstr>
      <vt:lpstr>Office 2013 - 2022 Theme</vt:lpstr>
      <vt:lpstr>VERONICA &amp; COLIN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7</cp:revision>
  <dcterms:created xsi:type="dcterms:W3CDTF">2020-01-16T20:29:49Z</dcterms:created>
  <dcterms:modified xsi:type="dcterms:W3CDTF">2026-04-09T11:38:58Z</dcterms:modified>
</cp:coreProperties>
</file>