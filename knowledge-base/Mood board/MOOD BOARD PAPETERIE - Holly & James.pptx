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26" r:id="rId1"/>
  </p:sldMasterIdLst>
  <p:notesMasterIdLst>
    <p:notesMasterId r:id="rId8"/>
  </p:notesMasterIdLst>
  <p:sldIdLst>
    <p:sldId id="256" r:id="rId2"/>
    <p:sldId id="337" r:id="rId3"/>
    <p:sldId id="366" r:id="rId4"/>
    <p:sldId id="403" r:id="rId5"/>
    <p:sldId id="404" r:id="rId6"/>
    <p:sldId id="329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6EE"/>
    <a:srgbClr val="FEF1FF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AC25AA-4576-6D49-B1B8-ADB8A515ED7A}" v="1" dt="2026-02-05T12:15:13.9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207"/>
    <p:restoredTop sz="93162"/>
  </p:normalViewPr>
  <p:slideViewPr>
    <p:cSldViewPr snapToGrid="0" snapToObjects="1">
      <p:cViewPr varScale="1">
        <p:scale>
          <a:sx n="104" d="100"/>
          <a:sy n="104" d="100"/>
        </p:scale>
        <p:origin x="240" y="31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AE4590-D35A-8142-86AA-90D125960F78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7486C1-5F9D-AA45-B7ED-A387EFD3B1E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582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2275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7501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417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543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017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620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5886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110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20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95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1463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564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7" r:id="rId1"/>
    <p:sldLayoutId id="2147483928" r:id="rId2"/>
    <p:sldLayoutId id="2147483929" r:id="rId3"/>
    <p:sldLayoutId id="2147483930" r:id="rId4"/>
    <p:sldLayoutId id="2147483931" r:id="rId5"/>
    <p:sldLayoutId id="2147483932" r:id="rId6"/>
    <p:sldLayoutId id="2147483933" r:id="rId7"/>
    <p:sldLayoutId id="2147483934" r:id="rId8"/>
    <p:sldLayoutId id="2147483935" r:id="rId9"/>
    <p:sldLayoutId id="2147483936" r:id="rId10"/>
    <p:sldLayoutId id="214748393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-71437"/>
            <a:ext cx="9144000" cy="2387600"/>
          </a:xfrm>
        </p:spPr>
        <p:txBody>
          <a:bodyPr/>
          <a:lstStyle/>
          <a:p>
            <a:r>
              <a:rPr lang="fr-FR" dirty="0">
                <a:solidFill>
                  <a:schemeClr val="bg2">
                    <a:lumMod val="50000"/>
                  </a:schemeClr>
                </a:solidFill>
                <a:latin typeface="Perpetua" panose="02020502060401020303" pitchFamily="18" charset="77"/>
              </a:rPr>
              <a:t>HOLLY &amp; JAMES</a:t>
            </a:r>
            <a:br>
              <a:rPr lang="fr-FR" dirty="0">
                <a:solidFill>
                  <a:schemeClr val="bg2">
                    <a:lumMod val="50000"/>
                  </a:schemeClr>
                </a:solidFill>
                <a:latin typeface="Perpetua" panose="02020502060401020303" pitchFamily="18" charset="77"/>
              </a:rPr>
            </a:br>
            <a:endParaRPr lang="fr-FR" dirty="0">
              <a:solidFill>
                <a:schemeClr val="bg2">
                  <a:lumMod val="50000"/>
                </a:schemeClr>
              </a:solidFill>
              <a:latin typeface="Perpetua" panose="02020502060401020303" pitchFamily="18" charset="77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478138" y="3429000"/>
            <a:ext cx="10807323" cy="3419474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chemeClr val="bg2">
                    <a:lumMod val="50000"/>
                  </a:schemeClr>
                </a:solidFill>
                <a:latin typeface="Perpetua" panose="02020502060401020303" pitchFamily="18" charset="77"/>
                <a:ea typeface="Perpetua" charset="0"/>
                <a:cs typeface="Perpetua" charset="0"/>
              </a:rPr>
              <a:t>MAY 16TH, 2026</a:t>
            </a:r>
          </a:p>
          <a:p>
            <a:r>
              <a:rPr lang="fr-FR" dirty="0">
                <a:solidFill>
                  <a:schemeClr val="bg2">
                    <a:lumMod val="50000"/>
                  </a:schemeClr>
                </a:solidFill>
                <a:latin typeface="Perpetua" panose="02020502060401020303" pitchFamily="18" charset="77"/>
                <a:ea typeface="Perpetua" charset="0"/>
                <a:cs typeface="Perpetua" charset="0"/>
              </a:rPr>
              <a:t>50 GUESTS</a:t>
            </a:r>
          </a:p>
          <a:p>
            <a:r>
              <a:rPr lang="fr-FR" dirty="0">
                <a:solidFill>
                  <a:schemeClr val="bg2">
                    <a:lumMod val="50000"/>
                  </a:schemeClr>
                </a:solidFill>
                <a:latin typeface="Perpetua" panose="02020502060401020303" pitchFamily="18" charset="77"/>
                <a:ea typeface="Perpetua" charset="0"/>
                <a:cs typeface="Perpetua" charset="0"/>
              </a:rPr>
              <a:t>CHÂTEAU NAINVILLES-LES-ROCHES</a:t>
            </a:r>
          </a:p>
          <a:p>
            <a:endParaRPr lang="fr-FR" sz="1200" dirty="0">
              <a:solidFill>
                <a:schemeClr val="bg2">
                  <a:lumMod val="50000"/>
                </a:schemeClr>
              </a:solidFill>
              <a:latin typeface="Perpetua" panose="02020502060401020303" pitchFamily="18" charset="77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38801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5533AD3-3D3F-438B-9829-15B20A4B953F}"/>
              </a:ext>
            </a:extLst>
          </p:cNvPr>
          <p:cNvSpPr txBox="1"/>
          <p:nvPr/>
        </p:nvSpPr>
        <p:spPr>
          <a:xfrm>
            <a:off x="880820" y="3101394"/>
            <a:ext cx="10430360" cy="17720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300" dirty="0">
                <a:solidFill>
                  <a:schemeClr val="bg2">
                    <a:lumMod val="50000"/>
                  </a:schemeClr>
                </a:solidFill>
                <a:latin typeface="Perpetua" panose="02020502060401020303" pitchFamily="18" charset="77"/>
                <a:ea typeface="+mj-ea"/>
                <a:cs typeface="+mj-cs"/>
              </a:rPr>
              <a:t>SIGNS / PAPETERIE</a:t>
            </a:r>
          </a:p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900" dirty="0">
              <a:solidFill>
                <a:schemeClr val="bg2">
                  <a:lumMod val="50000"/>
                </a:schemeClr>
              </a:solidFill>
              <a:latin typeface="Perpetua" panose="02020502060401020303" pitchFamily="18" charset="77"/>
              <a:ea typeface="+mj-ea"/>
              <a:cs typeface="+mj-cs"/>
            </a:endParaRPr>
          </a:p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300" dirty="0">
              <a:solidFill>
                <a:schemeClr val="bg2">
                  <a:lumMod val="50000"/>
                </a:schemeClr>
              </a:solidFill>
              <a:latin typeface="Perpetua" panose="02020502060401020303" pitchFamily="18" charset="77"/>
              <a:ea typeface="+mj-ea"/>
              <a:cs typeface="+mj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02A48E-6E94-21CC-4916-BC7F46DBD9BB}"/>
              </a:ext>
            </a:extLst>
          </p:cNvPr>
          <p:cNvSpPr/>
          <p:nvPr/>
        </p:nvSpPr>
        <p:spPr>
          <a:xfrm>
            <a:off x="776409" y="228600"/>
            <a:ext cx="914400" cy="9144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28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5533AD3-3D3F-438B-9829-15B20A4B953F}"/>
              </a:ext>
            </a:extLst>
          </p:cNvPr>
          <p:cNvSpPr txBox="1"/>
          <p:nvPr/>
        </p:nvSpPr>
        <p:spPr>
          <a:xfrm>
            <a:off x="196916" y="397963"/>
            <a:ext cx="4555837" cy="60620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dirty="0">
                <a:solidFill>
                  <a:schemeClr val="bg2">
                    <a:lumMod val="50000"/>
                  </a:schemeClr>
                </a:solidFill>
                <a:latin typeface="Perpetua" panose="02020502060401020303" pitchFamily="18" charset="77"/>
                <a:ea typeface="+mj-ea"/>
                <a:cs typeface="+mj-cs"/>
              </a:rPr>
              <a:t>Seating Chart</a:t>
            </a:r>
          </a:p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400" dirty="0">
              <a:solidFill>
                <a:schemeClr val="bg2">
                  <a:lumMod val="50000"/>
                </a:schemeClr>
              </a:solidFill>
              <a:latin typeface="Perpetua" panose="02020502060401020303" pitchFamily="18" charset="77"/>
              <a:ea typeface="+mj-ea"/>
              <a:cs typeface="+mj-cs"/>
            </a:endParaRPr>
          </a:p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100" dirty="0">
              <a:solidFill>
                <a:schemeClr val="bg2">
                  <a:lumMod val="50000"/>
                </a:schemeClr>
              </a:solidFill>
              <a:latin typeface="Perpetua" panose="02020502060401020303" pitchFamily="18" charset="77"/>
              <a:ea typeface="+mj-ea"/>
              <a:cs typeface="+mj-c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2">
                    <a:lumMod val="50000"/>
                  </a:schemeClr>
                </a:solidFill>
                <a:latin typeface="Perpetua" panose="02020502060401020303" pitchFamily="18" charset="77"/>
              </a:rPr>
              <a:t>The seating chart will be designed in an art-gallery style, inspired by the reference image</a:t>
            </a:r>
          </a:p>
          <a:p>
            <a:endParaRPr lang="en-US" sz="2200" dirty="0">
              <a:solidFill>
                <a:schemeClr val="bg2">
                  <a:lumMod val="50000"/>
                </a:schemeClr>
              </a:solidFill>
              <a:latin typeface="Perpetua" panose="02020502060401020303" pitchFamily="18" charset="7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2">
                    <a:lumMod val="50000"/>
                  </a:schemeClr>
                </a:solidFill>
                <a:latin typeface="Perpetua" panose="02020502060401020303" pitchFamily="18" charset="77"/>
              </a:rPr>
              <a:t>A medium-sized floral arrangement will be displayed at the base of the seating chart, with décor echoing the reference imagery and styled in harmony with the color </a:t>
            </a:r>
            <a:r>
              <a:rPr lang="en-US" sz="2200" dirty="0">
                <a:solidFill>
                  <a:srgbClr val="FFC000"/>
                </a:solidFill>
                <a:latin typeface="Perpetua" panose="02020502060401020303" pitchFamily="18" charset="77"/>
              </a:rPr>
              <a:t>palette detailed on slide #2</a:t>
            </a:r>
            <a:endParaRPr lang="en-US" sz="2200" i="1" dirty="0">
              <a:solidFill>
                <a:schemeClr val="bg2">
                  <a:lumMod val="50000"/>
                </a:schemeClr>
              </a:solidFill>
              <a:latin typeface="Perpetua" panose="02020502060401020303" pitchFamily="18" charset="77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400" dirty="0">
                <a:latin typeface="+mj-lt"/>
                <a:ea typeface="+mj-ea"/>
                <a:cs typeface="+mj-cs"/>
              </a:rPr>
              <a:t> </a:t>
            </a:r>
          </a:p>
        </p:txBody>
      </p:sp>
      <p:pic>
        <p:nvPicPr>
          <p:cNvPr id="2" name="Picture 1" descr="A wall with pictures and candles&#10;&#10;AI-generated content may be incorrect.">
            <a:extLst>
              <a:ext uri="{FF2B5EF4-FFF2-40B4-BE49-F238E27FC236}">
                <a16:creationId xmlns:a16="http://schemas.microsoft.com/office/drawing/2014/main" id="{53003480-F923-4577-071D-C6F11904E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5264" y="397963"/>
            <a:ext cx="4140595" cy="61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622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72C61D-5DF0-E61F-01E7-658D80785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6306ED8-E95D-4E29-7299-FD53B5945A02}"/>
              </a:ext>
            </a:extLst>
          </p:cNvPr>
          <p:cNvSpPr txBox="1"/>
          <p:nvPr/>
        </p:nvSpPr>
        <p:spPr>
          <a:xfrm>
            <a:off x="196916" y="397963"/>
            <a:ext cx="4555837" cy="60620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dirty="0">
                <a:solidFill>
                  <a:schemeClr val="bg2">
                    <a:lumMod val="50000"/>
                  </a:schemeClr>
                </a:solidFill>
                <a:latin typeface="Perpetua" panose="02020502060401020303" pitchFamily="18" charset="77"/>
                <a:ea typeface="+mj-ea"/>
                <a:cs typeface="+mj-cs"/>
              </a:rPr>
              <a:t>Seating Chart</a:t>
            </a:r>
          </a:p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400" dirty="0">
              <a:solidFill>
                <a:schemeClr val="bg2">
                  <a:lumMod val="50000"/>
                </a:schemeClr>
              </a:solidFill>
              <a:latin typeface="Perpetua" panose="02020502060401020303" pitchFamily="18" charset="77"/>
              <a:ea typeface="+mj-ea"/>
              <a:cs typeface="+mj-cs"/>
            </a:endParaRPr>
          </a:p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100" dirty="0">
              <a:solidFill>
                <a:schemeClr val="bg2">
                  <a:lumMod val="50000"/>
                </a:schemeClr>
              </a:solidFill>
              <a:latin typeface="Perpetua" panose="02020502060401020303" pitchFamily="18" charset="77"/>
              <a:ea typeface="+mj-ea"/>
              <a:cs typeface="+mj-c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2">
                    <a:lumMod val="50000"/>
                  </a:schemeClr>
                </a:solidFill>
                <a:latin typeface="Perpetua" panose="02020502060401020303" pitchFamily="18" charset="77"/>
              </a:rPr>
              <a:t>The seating chart will be designed as picture and with alphabetical order names.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205A0D-0E0C-C088-9C06-72488DAC1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97963"/>
            <a:ext cx="4280290" cy="6339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589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ED5311-5140-61FD-ABAB-EFE9BD880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2AB47DC-9029-F907-8366-1E7DC0583245}"/>
              </a:ext>
            </a:extLst>
          </p:cNvPr>
          <p:cNvSpPr txBox="1"/>
          <p:nvPr/>
        </p:nvSpPr>
        <p:spPr>
          <a:xfrm>
            <a:off x="196916" y="397963"/>
            <a:ext cx="4555837" cy="60620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dirty="0">
                <a:solidFill>
                  <a:schemeClr val="bg2">
                    <a:lumMod val="50000"/>
                  </a:schemeClr>
                </a:solidFill>
                <a:latin typeface="Perpetua" panose="02020502060401020303" pitchFamily="18" charset="77"/>
                <a:ea typeface="+mj-ea"/>
                <a:cs typeface="+mj-cs"/>
              </a:rPr>
              <a:t>Market shop structure</a:t>
            </a:r>
          </a:p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400" dirty="0">
              <a:solidFill>
                <a:schemeClr val="bg2">
                  <a:lumMod val="50000"/>
                </a:schemeClr>
              </a:solidFill>
              <a:latin typeface="Perpetua" panose="02020502060401020303" pitchFamily="18" charset="77"/>
              <a:ea typeface="+mj-ea"/>
              <a:cs typeface="+mj-cs"/>
            </a:endParaRPr>
          </a:p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100" dirty="0">
              <a:solidFill>
                <a:schemeClr val="bg2">
                  <a:lumMod val="50000"/>
                </a:schemeClr>
              </a:solidFill>
              <a:latin typeface="Perpetua" panose="02020502060401020303" pitchFamily="18" charset="77"/>
              <a:ea typeface="+mj-ea"/>
              <a:cs typeface="+mj-c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2">
                    <a:lumMod val="50000"/>
                  </a:schemeClr>
                </a:solidFill>
                <a:latin typeface="Perpetua" panose="02020502060401020303" pitchFamily="18" charset="77"/>
              </a:rPr>
              <a:t>Nous </a:t>
            </a:r>
            <a:r>
              <a:rPr lang="en-US" sz="2200" dirty="0" err="1">
                <a:solidFill>
                  <a:schemeClr val="bg2">
                    <a:lumMod val="50000"/>
                  </a:schemeClr>
                </a:solidFill>
                <a:latin typeface="Perpetua" panose="02020502060401020303" pitchFamily="18" charset="77"/>
              </a:rPr>
              <a:t>recherchons</a:t>
            </a:r>
            <a:r>
              <a:rPr lang="en-US" sz="2200" dirty="0">
                <a:solidFill>
                  <a:schemeClr val="bg2">
                    <a:lumMod val="50000"/>
                  </a:schemeClr>
                </a:solidFill>
                <a:latin typeface="Perpetua" panose="02020502060401020303" pitchFamily="18" charset="77"/>
              </a:rPr>
              <a:t> </a:t>
            </a:r>
            <a:r>
              <a:rPr lang="en-US" sz="2200" dirty="0" err="1">
                <a:solidFill>
                  <a:schemeClr val="bg2">
                    <a:lumMod val="50000"/>
                  </a:schemeClr>
                </a:solidFill>
                <a:latin typeface="Perpetua" panose="02020502060401020303" pitchFamily="18" charset="77"/>
              </a:rPr>
              <a:t>ce</a:t>
            </a:r>
            <a:r>
              <a:rPr lang="en-US" sz="2200" dirty="0">
                <a:solidFill>
                  <a:schemeClr val="bg2">
                    <a:lumMod val="50000"/>
                  </a:schemeClr>
                </a:solidFill>
                <a:latin typeface="Perpetua" panose="02020502060401020303" pitchFamily="18" charset="77"/>
              </a:rPr>
              <a:t> type de “market” </a:t>
            </a:r>
            <a:r>
              <a:rPr lang="en-US" sz="2200" dirty="0" err="1">
                <a:solidFill>
                  <a:schemeClr val="bg2">
                    <a:lumMod val="50000"/>
                  </a:schemeClr>
                </a:solidFill>
                <a:latin typeface="Perpetua" panose="02020502060401020303" pitchFamily="18" charset="77"/>
              </a:rPr>
              <a:t>identique</a:t>
            </a:r>
            <a:r>
              <a:rPr lang="en-US" sz="2200" dirty="0">
                <a:solidFill>
                  <a:schemeClr val="bg2">
                    <a:lumMod val="50000"/>
                  </a:schemeClr>
                </a:solidFill>
                <a:latin typeface="Perpetua" panose="02020502060401020303" pitchFamily="18" charset="77"/>
              </a:rPr>
              <a:t> </a:t>
            </a:r>
            <a:r>
              <a:rPr lang="en-US" sz="2200" dirty="0" err="1">
                <a:solidFill>
                  <a:schemeClr val="bg2">
                    <a:lumMod val="50000"/>
                  </a:schemeClr>
                </a:solidFill>
                <a:latin typeface="Perpetua" panose="02020502060401020303" pitchFamily="18" charset="77"/>
              </a:rPr>
              <a:t>ou</a:t>
            </a:r>
            <a:r>
              <a:rPr lang="en-US" sz="2200" dirty="0">
                <a:solidFill>
                  <a:schemeClr val="bg2">
                    <a:lumMod val="50000"/>
                  </a:schemeClr>
                </a:solidFill>
                <a:latin typeface="Perpetua" panose="02020502060401020303" pitchFamily="18" charset="77"/>
              </a:rPr>
              <a:t> </a:t>
            </a:r>
            <a:r>
              <a:rPr lang="en-US" sz="2200" dirty="0" err="1">
                <a:solidFill>
                  <a:schemeClr val="bg2">
                    <a:lumMod val="50000"/>
                  </a:schemeClr>
                </a:solidFill>
                <a:latin typeface="Perpetua" panose="02020502060401020303" pitchFamily="18" charset="77"/>
              </a:rPr>
              <a:t>similaire</a:t>
            </a:r>
            <a:r>
              <a:rPr lang="en-US" sz="2200" dirty="0">
                <a:solidFill>
                  <a:schemeClr val="bg2">
                    <a:lumMod val="50000"/>
                  </a:schemeClr>
                </a:solidFill>
                <a:latin typeface="Perpetua" panose="02020502060401020303" pitchFamily="18" charset="77"/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CE5122-F399-86AE-404E-CF90D11CB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0894" y="598882"/>
            <a:ext cx="4408273" cy="5718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828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936B29B1-0BBE-4C0C-8087-A9B0079F290D}"/>
              </a:ext>
            </a:extLst>
          </p:cNvPr>
          <p:cNvSpPr txBox="1"/>
          <p:nvPr/>
        </p:nvSpPr>
        <p:spPr>
          <a:xfrm>
            <a:off x="244959" y="1177388"/>
            <a:ext cx="12218610" cy="1405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96390" marR="513715" indent="-979805" algn="ctr">
              <a:lnSpc>
                <a:spcPct val="98000"/>
              </a:lnSpc>
              <a:spcBef>
                <a:spcPts val="480"/>
              </a:spcBef>
              <a:spcAft>
                <a:spcPts val="0"/>
              </a:spcAft>
            </a:pP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Perpetua" panose="02020502060401020303" pitchFamily="18" charset="77"/>
                <a:ea typeface="Noto Sans"/>
                <a:cs typeface="Noto Sans"/>
              </a:rPr>
              <a:t>NOTES POUR LE DESIGNER/IMPRIMEUR:</a:t>
            </a:r>
            <a:endParaRPr lang="en-US" sz="2400" b="1" dirty="0">
              <a:solidFill>
                <a:schemeClr val="accent5">
                  <a:lumMod val="60000"/>
                  <a:lumOff val="40000"/>
                </a:schemeClr>
              </a:solidFill>
              <a:latin typeface="Perpetua" panose="02020502060401020303" pitchFamily="18" charset="77"/>
              <a:ea typeface="Noto Sans"/>
              <a:cs typeface="Noto Sans"/>
            </a:endParaRPr>
          </a:p>
          <a:p>
            <a:pPr marL="1596390" marR="513715" indent="-979805" algn="ctr">
              <a:lnSpc>
                <a:spcPct val="98000"/>
              </a:lnSpc>
              <a:spcBef>
                <a:spcPts val="480"/>
              </a:spcBef>
              <a:spcAft>
                <a:spcPts val="0"/>
              </a:spcAft>
            </a:pPr>
            <a:endParaRPr lang="en-US" dirty="0">
              <a:solidFill>
                <a:schemeClr val="bg2">
                  <a:lumMod val="50000"/>
                </a:schemeClr>
              </a:solidFill>
              <a:latin typeface="Perpetua" panose="02020502060401020303" pitchFamily="18" charset="77"/>
              <a:ea typeface="Noto Sans"/>
              <a:cs typeface="Noto Sans"/>
            </a:endParaRPr>
          </a:p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Perpetua" panose="02020502060401020303" pitchFamily="18" charset="77"/>
              </a:rPr>
              <a:t>. SEATING CHART OPTION 1</a:t>
            </a:r>
          </a:p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Perpetua" panose="02020502060401020303" pitchFamily="18" charset="77"/>
              </a:rPr>
              <a:t>. SEATING CHART OPTION 2</a:t>
            </a:r>
          </a:p>
        </p:txBody>
      </p:sp>
    </p:spTree>
    <p:extLst>
      <p:ext uri="{BB962C8B-B14F-4D97-AF65-F5344CB8AC3E}">
        <p14:creationId xmlns:p14="http://schemas.microsoft.com/office/powerpoint/2010/main" val="13472721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Bureau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19133</TotalTime>
  <Words>116</Words>
  <Application>Microsoft Macintosh PowerPoint</Application>
  <PresentationFormat>Widescreen</PresentationFormat>
  <Paragraphs>24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Perpetua</vt:lpstr>
      <vt:lpstr>Office 2013 - 2022 Theme</vt:lpstr>
      <vt:lpstr>HOLLY &amp; JAMES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SHERAZ &amp; RONIS WEDDING</dc:title>
  <dc:creator>Sheraaz Aït</dc:creator>
  <cp:lastModifiedBy>Haute Couture Events Wedding and Event planning</cp:lastModifiedBy>
  <cp:revision>110</cp:revision>
  <dcterms:created xsi:type="dcterms:W3CDTF">2020-01-16T20:29:49Z</dcterms:created>
  <dcterms:modified xsi:type="dcterms:W3CDTF">2026-04-05T21:52:20Z</dcterms:modified>
</cp:coreProperties>
</file>