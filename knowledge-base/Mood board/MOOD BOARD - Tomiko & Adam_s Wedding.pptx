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4" r:id="rId1"/>
  </p:sldMasterIdLst>
  <p:notesMasterIdLst>
    <p:notesMasterId r:id="rId17"/>
  </p:notesMasterIdLst>
  <p:sldIdLst>
    <p:sldId id="256" r:id="rId2"/>
    <p:sldId id="366" r:id="rId3"/>
    <p:sldId id="258" r:id="rId4"/>
    <p:sldId id="312" r:id="rId5"/>
    <p:sldId id="333" r:id="rId6"/>
    <p:sldId id="263" r:id="rId7"/>
    <p:sldId id="265" r:id="rId8"/>
    <p:sldId id="344" r:id="rId9"/>
    <p:sldId id="356" r:id="rId10"/>
    <p:sldId id="367" r:id="rId11"/>
    <p:sldId id="345" r:id="rId12"/>
    <p:sldId id="315" r:id="rId13"/>
    <p:sldId id="363" r:id="rId14"/>
    <p:sldId id="290" r:id="rId15"/>
    <p:sldId id="32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68"/>
    <p:restoredTop sz="93157"/>
  </p:normalViewPr>
  <p:slideViewPr>
    <p:cSldViewPr snapToGrid="0" snapToObjects="1">
      <p:cViewPr varScale="1">
        <p:scale>
          <a:sx n="89" d="100"/>
          <a:sy n="89" d="100"/>
        </p:scale>
        <p:origin x="328" y="47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02/07/2025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08800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3300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1648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3237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4335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5039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74937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4209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59162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435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0107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7/2/25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38798636"/>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solidFill>
                  <a:schemeClr val="bg2">
                    <a:lumMod val="50000"/>
                  </a:schemeClr>
                </a:solidFill>
                <a:latin typeface="Perpetua" panose="02020502060401020303" pitchFamily="18" charset="77"/>
              </a:rPr>
              <a:t>TOMIKO &amp; ADAM’S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1010653" y="3657601"/>
            <a:ext cx="10287000" cy="2078036"/>
          </a:xfrm>
        </p:spPr>
        <p:txBody>
          <a:bodyPr>
            <a:normAutofit fontScale="92500" lnSpcReduction="20000"/>
          </a:bodyPr>
          <a:lstStyle/>
          <a:p>
            <a:r>
              <a:rPr lang="fr-FR" dirty="0">
                <a:solidFill>
                  <a:schemeClr val="bg2">
                    <a:lumMod val="50000"/>
                  </a:schemeClr>
                </a:solidFill>
                <a:latin typeface="Perpetua" panose="02020502060401020303" pitchFamily="18" charset="77"/>
                <a:ea typeface="Perpetua" charset="0"/>
                <a:cs typeface="Perpetua" charset="0"/>
              </a:rPr>
              <a:t>JULY 26TH, 2025</a:t>
            </a:r>
          </a:p>
          <a:p>
            <a:r>
              <a:rPr lang="fr-FR" dirty="0">
                <a:solidFill>
                  <a:schemeClr val="bg2">
                    <a:lumMod val="50000"/>
                  </a:schemeClr>
                </a:solidFill>
                <a:latin typeface="Perpetua" panose="02020502060401020303" pitchFamily="18" charset="77"/>
                <a:ea typeface="Perpetua" charset="0"/>
                <a:cs typeface="Perpetua" charset="0"/>
              </a:rPr>
              <a:t>30 GUESTS</a:t>
            </a:r>
          </a:p>
          <a:p>
            <a:r>
              <a:rPr lang="fr-FR" sz="2400" dirty="0">
                <a:solidFill>
                  <a:schemeClr val="bg2">
                    <a:lumMod val="50000"/>
                  </a:schemeClr>
                </a:solidFill>
                <a:latin typeface="Perpetua" panose="02020502060401020303" pitchFamily="18" charset="77"/>
                <a:ea typeface="Perpetua" charset="0"/>
                <a:cs typeface="Perpetua" charset="0"/>
              </a:rPr>
              <a:t>SHANGRI-LA, PARIS</a:t>
            </a:r>
          </a:p>
          <a:p>
            <a:endParaRPr lang="fr-FR" sz="2400" dirty="0">
              <a:solidFill>
                <a:schemeClr val="bg2">
                  <a:lumMod val="50000"/>
                </a:schemeClr>
              </a:solidFill>
              <a:latin typeface="Perpetua" panose="02020502060401020303" pitchFamily="18" charset="77"/>
              <a:ea typeface="Perpetua" charset="0"/>
              <a:cs typeface="Perpetua" charset="0"/>
            </a:endParaRP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C8E0BFE-A77C-2DCC-3108-C410E0B6913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C91821-5486-090D-91A5-13F86252E68A}"/>
              </a:ext>
            </a:extLst>
          </p:cNvPr>
          <p:cNvSpPr>
            <a:spLocks noGrp="1"/>
          </p:cNvSpPr>
          <p:nvPr>
            <p:ph type="ctrTitle"/>
          </p:nvPr>
        </p:nvSpPr>
        <p:spPr>
          <a:xfrm>
            <a:off x="1524000" y="337671"/>
            <a:ext cx="9144000" cy="751042"/>
          </a:xfrm>
        </p:spPr>
        <p:txBody>
          <a:bodyPr>
            <a:normAutofit fontScale="90000"/>
          </a:bodyPr>
          <a:lstStyle/>
          <a:p>
            <a:r>
              <a:rPr lang="fr-FR" dirty="0">
                <a:solidFill>
                  <a:schemeClr val="bg2">
                    <a:lumMod val="50000"/>
                  </a:schemeClr>
                </a:solidFill>
                <a:latin typeface="Perpetua" panose="02020502060401020303" pitchFamily="18" charset="77"/>
              </a:rPr>
              <a:t>COLOR PALETTE</a:t>
            </a:r>
          </a:p>
        </p:txBody>
      </p:sp>
      <p:pic>
        <p:nvPicPr>
          <p:cNvPr id="5" name="Picture 4" descr="A collage of wedding dress and flowers&#10;&#10;AI-generated content may be incorrect.">
            <a:extLst>
              <a:ext uri="{FF2B5EF4-FFF2-40B4-BE49-F238E27FC236}">
                <a16:creationId xmlns:a16="http://schemas.microsoft.com/office/drawing/2014/main" id="{78DB1856-75CF-3DF3-5BEB-741B54129AF2}"/>
              </a:ext>
            </a:extLst>
          </p:cNvPr>
          <p:cNvPicPr>
            <a:picLocks noChangeAspect="1"/>
          </p:cNvPicPr>
          <p:nvPr/>
        </p:nvPicPr>
        <p:blipFill>
          <a:blip r:embed="rId2"/>
          <a:stretch>
            <a:fillRect/>
          </a:stretch>
        </p:blipFill>
        <p:spPr>
          <a:xfrm>
            <a:off x="3077537" y="1053556"/>
            <a:ext cx="6036926" cy="4750887"/>
          </a:xfrm>
          <a:prstGeom prst="rect">
            <a:avLst/>
          </a:prstGeom>
        </p:spPr>
      </p:pic>
      <p:sp>
        <p:nvSpPr>
          <p:cNvPr id="3" name="TextBox 2">
            <a:extLst>
              <a:ext uri="{FF2B5EF4-FFF2-40B4-BE49-F238E27FC236}">
                <a16:creationId xmlns:a16="http://schemas.microsoft.com/office/drawing/2014/main" id="{B8543FD3-3C19-93E9-2A32-E33FEF2B6133}"/>
              </a:ext>
            </a:extLst>
          </p:cNvPr>
          <p:cNvSpPr txBox="1"/>
          <p:nvPr/>
        </p:nvSpPr>
        <p:spPr>
          <a:xfrm>
            <a:off x="514350" y="6289495"/>
            <a:ext cx="11047255" cy="461665"/>
          </a:xfrm>
          <a:prstGeom prst="rect">
            <a:avLst/>
          </a:prstGeom>
          <a:noFill/>
        </p:spPr>
        <p:txBody>
          <a:bodyPr wrap="none" rtlCol="0">
            <a:spAutoFit/>
          </a:bodyPr>
          <a:lstStyle/>
          <a:p>
            <a:r>
              <a:rPr lang="en-US" sz="2400" dirty="0">
                <a:solidFill>
                  <a:schemeClr val="accent5">
                    <a:lumMod val="60000"/>
                    <a:lumOff val="40000"/>
                  </a:schemeClr>
                </a:solidFill>
                <a:latin typeface="Perpetua" panose="02020502060401020303" pitchFamily="18" charset="77"/>
              </a:rPr>
              <a:t>NOTE: COLORS WILL BE WHITE, LIGHT PINK, IVORY/CHAMPAGNE &amp; GOLD TOUCHES</a:t>
            </a:r>
          </a:p>
        </p:txBody>
      </p:sp>
    </p:spTree>
    <p:extLst>
      <p:ext uri="{BB962C8B-B14F-4D97-AF65-F5344CB8AC3E}">
        <p14:creationId xmlns:p14="http://schemas.microsoft.com/office/powerpoint/2010/main" val="1512331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A1E0707-4985-454B-ACE0-4855BB558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p:cNvSpPr>
            <a:spLocks noGrp="1"/>
          </p:cNvSpPr>
          <p:nvPr>
            <p:ph type="title"/>
          </p:nvPr>
        </p:nvSpPr>
        <p:spPr>
          <a:xfrm>
            <a:off x="154340" y="609599"/>
            <a:ext cx="3686174" cy="1322888"/>
          </a:xfrm>
        </p:spPr>
        <p:txBody>
          <a:bodyPr>
            <a:normAutofit fontScale="90000"/>
          </a:bodyPr>
          <a:lstStyle/>
          <a:p>
            <a:r>
              <a:rPr lang="fr-FR" sz="3100" dirty="0">
                <a:solidFill>
                  <a:schemeClr val="bg2">
                    <a:lumMod val="50000"/>
                  </a:schemeClr>
                </a:solidFill>
                <a:latin typeface="Perpetua" panose="02020502060401020303" pitchFamily="18" charset="77"/>
              </a:rPr>
              <a:t>CEREMONY DECOR – GENERAL IDEA </a:t>
            </a:r>
            <a:br>
              <a:rPr lang="fr-FR" sz="2100" i="1" dirty="0">
                <a:latin typeface="Perpetua" panose="02020502060401020303" pitchFamily="18" charset="77"/>
              </a:rPr>
            </a:br>
            <a:br>
              <a:rPr lang="fr-FR" sz="2100" dirty="0">
                <a:latin typeface="Perpetua" panose="02020502060401020303" pitchFamily="18" charset="77"/>
              </a:rPr>
            </a:br>
            <a:endParaRPr lang="fr-FR" sz="21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54886570-2773-479B-B710-D0ADE12BEB19}"/>
              </a:ext>
            </a:extLst>
          </p:cNvPr>
          <p:cNvSpPr>
            <a:spLocks noGrp="1"/>
          </p:cNvSpPr>
          <p:nvPr>
            <p:ph idx="1"/>
          </p:nvPr>
        </p:nvSpPr>
        <p:spPr>
          <a:xfrm>
            <a:off x="154340" y="1628775"/>
            <a:ext cx="4495719" cy="5199685"/>
          </a:xfrm>
        </p:spPr>
        <p:txBody>
          <a:bodyPr>
            <a:normAutofit fontScale="92500" lnSpcReduction="10000"/>
          </a:bodyPr>
          <a:lstStyle/>
          <a:p>
            <a:pPr>
              <a:buNone/>
            </a:pPr>
            <a:r>
              <a:rPr lang="en-US" sz="2400" dirty="0">
                <a:solidFill>
                  <a:schemeClr val="bg2">
                    <a:lumMod val="50000"/>
                  </a:schemeClr>
                </a:solidFill>
                <a:latin typeface="Perpetua" panose="02020502060401020303" pitchFamily="18" charset="77"/>
              </a:rPr>
              <a:t>For the ceremony décor, we will have two white columns topped with large urns filled with extra-large seasonal flower arrangements in white, pink, dusty pink, and touches of wild greenery for a “</a:t>
            </a:r>
            <a:r>
              <a:rPr lang="en-US" sz="2400" dirty="0" err="1">
                <a:solidFill>
                  <a:schemeClr val="bg2">
                    <a:lumMod val="50000"/>
                  </a:schemeClr>
                </a:solidFill>
                <a:latin typeface="Perpetua" panose="02020502060401020303" pitchFamily="18" charset="77"/>
              </a:rPr>
              <a:t>destructured</a:t>
            </a:r>
            <a:r>
              <a:rPr lang="en-US" sz="2400" dirty="0">
                <a:solidFill>
                  <a:schemeClr val="bg2">
                    <a:lumMod val="50000"/>
                  </a:schemeClr>
                </a:solidFill>
                <a:latin typeface="Perpetua" panose="02020502060401020303" pitchFamily="18" charset="77"/>
              </a:rPr>
              <a:t>” style.</a:t>
            </a:r>
          </a:p>
          <a:p>
            <a:pPr>
              <a:buNone/>
            </a:pPr>
            <a:endParaRPr lang="en-US" sz="2400" dirty="0">
              <a:solidFill>
                <a:schemeClr val="bg2">
                  <a:lumMod val="50000"/>
                </a:schemeClr>
              </a:solidFill>
              <a:latin typeface="Perpetua" panose="02020502060401020303" pitchFamily="18" charset="77"/>
            </a:endParaRPr>
          </a:p>
          <a:p>
            <a:pPr>
              <a:buNone/>
            </a:pPr>
            <a:r>
              <a:rPr lang="en-US" sz="2400" dirty="0">
                <a:solidFill>
                  <a:schemeClr val="bg2">
                    <a:lumMod val="50000"/>
                  </a:schemeClr>
                </a:solidFill>
                <a:latin typeface="Perpetua" panose="02020502060401020303" pitchFamily="18" charset="77"/>
              </a:rPr>
              <a:t>The aisle will be lined with arrangements matching the altar décor—five on each side. We’re planning for 15 chairs per side, set in five rows of three.</a:t>
            </a:r>
          </a:p>
          <a:p>
            <a:pPr marL="0" indent="0">
              <a:buNone/>
            </a:pPr>
            <a:endParaRPr lang="en-US" sz="2400" dirty="0">
              <a:solidFill>
                <a:schemeClr val="bg2">
                  <a:lumMod val="50000"/>
                </a:schemeClr>
              </a:solidFill>
              <a:latin typeface="Perpetua" panose="02020502060401020303" pitchFamily="18" charset="77"/>
            </a:endParaRPr>
          </a:p>
          <a:p>
            <a:pPr marL="0" indent="0">
              <a:buNone/>
            </a:pPr>
            <a:r>
              <a:rPr lang="en-US" sz="2400" dirty="0">
                <a:solidFill>
                  <a:schemeClr val="bg2">
                    <a:lumMod val="50000"/>
                  </a:schemeClr>
                </a:solidFill>
                <a:latin typeface="Perpetua" panose="02020502060401020303" pitchFamily="18" charset="77"/>
              </a:rPr>
              <a:t>LED candles will be placed inside cylindrical glass vases, the bases filled with granulated powder to create a realistic, glowing effect.</a:t>
            </a:r>
          </a:p>
          <a:p>
            <a:pPr marL="0" indent="0">
              <a:buNone/>
            </a:pPr>
            <a:endParaRPr lang="en-US" sz="2400" dirty="0">
              <a:solidFill>
                <a:schemeClr val="bg2">
                  <a:lumMod val="50000"/>
                </a:schemeClr>
              </a:solidFill>
              <a:latin typeface="Perpetua" panose="02020502060401020303" pitchFamily="18" charset="77"/>
            </a:endParaRPr>
          </a:p>
        </p:txBody>
      </p:sp>
      <p:pic>
        <p:nvPicPr>
          <p:cNvPr id="4" name="Picture 3" descr="A aisle with flowers and candles&#10;&#10;AI-generated content may be incorrect.">
            <a:extLst>
              <a:ext uri="{FF2B5EF4-FFF2-40B4-BE49-F238E27FC236}">
                <a16:creationId xmlns:a16="http://schemas.microsoft.com/office/drawing/2014/main" id="{2F98C279-0262-06C3-73F5-DB673F0D7A26}"/>
              </a:ext>
            </a:extLst>
          </p:cNvPr>
          <p:cNvPicPr>
            <a:picLocks noChangeAspect="1"/>
          </p:cNvPicPr>
          <p:nvPr/>
        </p:nvPicPr>
        <p:blipFill>
          <a:blip r:embed="rId2"/>
          <a:stretch>
            <a:fillRect/>
          </a:stretch>
        </p:blipFill>
        <p:spPr>
          <a:xfrm>
            <a:off x="6096000" y="137445"/>
            <a:ext cx="5091113" cy="6583110"/>
          </a:xfrm>
          <a:prstGeom prst="rect">
            <a:avLst/>
          </a:prstGeom>
        </p:spPr>
      </p:pic>
    </p:spTree>
    <p:extLst>
      <p:ext uri="{BB962C8B-B14F-4D97-AF65-F5344CB8AC3E}">
        <p14:creationId xmlns:p14="http://schemas.microsoft.com/office/powerpoint/2010/main" val="1741831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1AC6A30-4F22-4C0F-B278-19C5B8A80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B4335AD-65B1-44E4-90AF-264024FE4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title"/>
          </p:nvPr>
        </p:nvSpPr>
        <p:spPr>
          <a:xfrm>
            <a:off x="6919941" y="411730"/>
            <a:ext cx="5920351" cy="1351472"/>
          </a:xfrm>
        </p:spPr>
        <p:txBody>
          <a:bodyPr>
            <a:normAutofit fontScale="90000"/>
          </a:bodyPr>
          <a:lstStyle/>
          <a:p>
            <a:pPr algn="ctr"/>
            <a:r>
              <a:rPr lang="fr-FR" sz="3600" dirty="0">
                <a:solidFill>
                  <a:schemeClr val="bg2">
                    <a:lumMod val="50000"/>
                  </a:schemeClr>
                </a:solidFill>
                <a:latin typeface="Perpetua" panose="02020502060401020303" pitchFamily="18" charset="77"/>
              </a:rPr>
              <a:t>AISLE  DECOR</a:t>
            </a:r>
            <a:br>
              <a:rPr lang="fr-FR" sz="3600" dirty="0">
                <a:solidFill>
                  <a:schemeClr val="bg2">
                    <a:lumMod val="50000"/>
                  </a:schemeClr>
                </a:solidFill>
                <a:latin typeface="Perpetua" panose="02020502060401020303" pitchFamily="18" charset="77"/>
              </a:rPr>
            </a:br>
            <a:br>
              <a:rPr lang="fr-FR" sz="3200" dirty="0">
                <a:solidFill>
                  <a:schemeClr val="tx1">
                    <a:lumMod val="85000"/>
                    <a:lumOff val="15000"/>
                  </a:schemeClr>
                </a:solidFill>
                <a:latin typeface="Perpetua" panose="02020502060401020303" pitchFamily="18" charset="77"/>
              </a:rPr>
            </a:br>
            <a:br>
              <a:rPr lang="fr-FR" sz="3200" dirty="0">
                <a:solidFill>
                  <a:schemeClr val="tx1">
                    <a:lumMod val="85000"/>
                    <a:lumOff val="15000"/>
                  </a:schemeClr>
                </a:solidFill>
                <a:latin typeface="Perpetua" panose="02020502060401020303" pitchFamily="18" charset="77"/>
              </a:rPr>
            </a:br>
            <a:endParaRPr lang="fr-FR" sz="3200" b="1" i="1" dirty="0">
              <a:solidFill>
                <a:schemeClr val="tx1">
                  <a:lumMod val="85000"/>
                  <a:lumOff val="15000"/>
                </a:schemeClr>
              </a:solidFill>
              <a:latin typeface="Perpetua" panose="02020502060401020303" pitchFamily="18" charset="77"/>
            </a:endParaRPr>
          </a:p>
        </p:txBody>
      </p:sp>
      <p:sp>
        <p:nvSpPr>
          <p:cNvPr id="10" name="Content Placeholder 9">
            <a:extLst>
              <a:ext uri="{FF2B5EF4-FFF2-40B4-BE49-F238E27FC236}">
                <a16:creationId xmlns:a16="http://schemas.microsoft.com/office/drawing/2014/main" id="{54886570-2773-479B-B710-D0ADE12BEB19}"/>
              </a:ext>
            </a:extLst>
          </p:cNvPr>
          <p:cNvSpPr>
            <a:spLocks noGrp="1"/>
          </p:cNvSpPr>
          <p:nvPr>
            <p:ph idx="1"/>
          </p:nvPr>
        </p:nvSpPr>
        <p:spPr>
          <a:xfrm>
            <a:off x="7245924" y="1087466"/>
            <a:ext cx="4946076" cy="5770534"/>
          </a:xfrm>
        </p:spPr>
        <p:txBody>
          <a:bodyPr>
            <a:normAutofit/>
          </a:bodyPr>
          <a:lstStyle/>
          <a:p>
            <a:pPr marL="0" indent="0" algn="ctr">
              <a:buNone/>
            </a:pPr>
            <a:r>
              <a:rPr lang="en-US" dirty="0">
                <a:solidFill>
                  <a:schemeClr val="bg2">
                    <a:lumMod val="50000"/>
                  </a:schemeClr>
                </a:solidFill>
                <a:latin typeface="Perpetua" panose="02020502060401020303" pitchFamily="18" charset="77"/>
              </a:rPr>
              <a:t>The aisle will be elegantly adorned with medium size </a:t>
            </a:r>
            <a:r>
              <a:rPr lang="en-US" sz="2800" dirty="0">
                <a:solidFill>
                  <a:schemeClr val="bg2">
                    <a:lumMod val="50000"/>
                  </a:schemeClr>
                </a:solidFill>
                <a:latin typeface="Perpetua" panose="02020502060401020303" pitchFamily="18" charset="77"/>
              </a:rPr>
              <a:t>arrangements matching the altar décor, 5 on each side. </a:t>
            </a:r>
          </a:p>
          <a:p>
            <a:pPr marL="0" indent="0" algn="ctr">
              <a:buNone/>
            </a:pPr>
            <a:endParaRPr lang="en-US" dirty="0">
              <a:solidFill>
                <a:schemeClr val="bg2">
                  <a:lumMod val="50000"/>
                </a:schemeClr>
              </a:solidFill>
              <a:latin typeface="Perpetua" panose="02020502060401020303" pitchFamily="18" charset="77"/>
            </a:endParaRPr>
          </a:p>
          <a:p>
            <a:pPr marL="0" indent="0" algn="ctr">
              <a:buNone/>
            </a:pPr>
            <a:r>
              <a:rPr lang="en-US" sz="2800" dirty="0">
                <a:solidFill>
                  <a:schemeClr val="bg2">
                    <a:lumMod val="50000"/>
                  </a:schemeClr>
                </a:solidFill>
                <a:latin typeface="Perpetua" panose="02020502060401020303" pitchFamily="18" charset="77"/>
              </a:rPr>
              <a:t>+ LED candles as described on the previous slides.</a:t>
            </a:r>
          </a:p>
          <a:p>
            <a:pPr marL="0" indent="0" algn="ctr">
              <a:buNone/>
            </a:pPr>
            <a:endParaRPr lang="en-US" dirty="0">
              <a:solidFill>
                <a:schemeClr val="bg2">
                  <a:lumMod val="50000"/>
                </a:schemeClr>
              </a:solidFill>
              <a:latin typeface="Perpetua" panose="02020502060401020303" pitchFamily="18" charset="77"/>
            </a:endParaRPr>
          </a:p>
          <a:p>
            <a:pPr marL="0" indent="0" algn="ctr">
              <a:buNone/>
            </a:pPr>
            <a:endParaRPr lang="en-US" sz="2800" dirty="0">
              <a:solidFill>
                <a:schemeClr val="bg2">
                  <a:lumMod val="50000"/>
                </a:schemeClr>
              </a:solidFill>
              <a:latin typeface="Perpetua" panose="02020502060401020303" pitchFamily="18" charset="77"/>
            </a:endParaRPr>
          </a:p>
          <a:p>
            <a:pPr marL="0" indent="0" algn="ctr">
              <a:buNone/>
            </a:pPr>
            <a:r>
              <a:rPr lang="en-US" dirty="0">
                <a:solidFill>
                  <a:schemeClr val="accent5">
                    <a:lumMod val="60000"/>
                    <a:lumOff val="40000"/>
                  </a:schemeClr>
                </a:solidFill>
                <a:latin typeface="Perpetua" panose="02020502060401020303" pitchFamily="18" charset="77"/>
              </a:rPr>
              <a:t>NOTE: </a:t>
            </a:r>
            <a:r>
              <a:rPr lang="en-US" sz="2800" dirty="0">
                <a:solidFill>
                  <a:schemeClr val="accent5">
                    <a:lumMod val="60000"/>
                    <a:lumOff val="40000"/>
                  </a:schemeClr>
                </a:solidFill>
                <a:latin typeface="Perpetua" panose="02020502060401020303" pitchFamily="18" charset="77"/>
              </a:rPr>
              <a:t>We’re planning for 15 chairs per side, set in 5 rows of 3 chairs.</a:t>
            </a:r>
          </a:p>
          <a:p>
            <a:pPr marL="0" indent="0" algn="ctr">
              <a:buNone/>
            </a:pPr>
            <a:endParaRPr lang="en-US" dirty="0">
              <a:solidFill>
                <a:schemeClr val="bg2">
                  <a:lumMod val="50000"/>
                </a:schemeClr>
              </a:solidFill>
              <a:latin typeface="Perpetua" panose="02020502060401020303" pitchFamily="18" charset="77"/>
            </a:endParaRPr>
          </a:p>
          <a:p>
            <a:pPr marL="0" indent="0" algn="ctr" defTabSz="914400">
              <a:lnSpc>
                <a:spcPct val="90000"/>
              </a:lnSpc>
              <a:spcAft>
                <a:spcPts val="600"/>
              </a:spcAft>
              <a:buNone/>
            </a:pPr>
            <a:endParaRPr lang="en-US" b="0" i="0" dirty="0">
              <a:solidFill>
                <a:schemeClr val="bg2">
                  <a:lumMod val="50000"/>
                </a:schemeClr>
              </a:solidFill>
              <a:effectLst/>
              <a:latin typeface="Perpetua" panose="02020502060401020303" pitchFamily="18" charset="77"/>
            </a:endParaRPr>
          </a:p>
        </p:txBody>
      </p:sp>
      <p:pic>
        <p:nvPicPr>
          <p:cNvPr id="5" name="Picture 4" descr="A group of white chairs with pink roses&#10;&#10;AI-generated content may be incorrect.">
            <a:extLst>
              <a:ext uri="{FF2B5EF4-FFF2-40B4-BE49-F238E27FC236}">
                <a16:creationId xmlns:a16="http://schemas.microsoft.com/office/drawing/2014/main" id="{5B1F40BC-5ABE-A958-FE35-CA4E0A8F6C68}"/>
              </a:ext>
            </a:extLst>
          </p:cNvPr>
          <p:cNvPicPr>
            <a:picLocks noChangeAspect="1"/>
          </p:cNvPicPr>
          <p:nvPr/>
        </p:nvPicPr>
        <p:blipFill>
          <a:blip r:embed="rId2"/>
          <a:stretch>
            <a:fillRect/>
          </a:stretch>
        </p:blipFill>
        <p:spPr>
          <a:xfrm>
            <a:off x="383071" y="442912"/>
            <a:ext cx="3076899" cy="5972175"/>
          </a:xfrm>
          <a:prstGeom prst="rect">
            <a:avLst/>
          </a:prstGeom>
        </p:spPr>
      </p:pic>
      <p:pic>
        <p:nvPicPr>
          <p:cNvPr id="8" name="Picture 7" descr="A row of chairs with flowers in front of them&#10;&#10;AI-generated content may be incorrect.">
            <a:extLst>
              <a:ext uri="{FF2B5EF4-FFF2-40B4-BE49-F238E27FC236}">
                <a16:creationId xmlns:a16="http://schemas.microsoft.com/office/drawing/2014/main" id="{4253344B-44DB-BE28-DD7F-F3C7F4890B51}"/>
              </a:ext>
            </a:extLst>
          </p:cNvPr>
          <p:cNvPicPr>
            <a:picLocks noChangeAspect="1"/>
          </p:cNvPicPr>
          <p:nvPr/>
        </p:nvPicPr>
        <p:blipFill>
          <a:blip r:embed="rId3"/>
          <a:stretch>
            <a:fillRect/>
          </a:stretch>
        </p:blipFill>
        <p:spPr>
          <a:xfrm>
            <a:off x="3741125" y="857249"/>
            <a:ext cx="3061870" cy="5143501"/>
          </a:xfrm>
          <a:prstGeom prst="rect">
            <a:avLst/>
          </a:prstGeom>
        </p:spPr>
      </p:pic>
    </p:spTree>
    <p:extLst>
      <p:ext uri="{BB962C8B-B14F-4D97-AF65-F5344CB8AC3E}">
        <p14:creationId xmlns:p14="http://schemas.microsoft.com/office/powerpoint/2010/main" val="3671591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1DD16F-012C-D030-F5A2-B06023193718}"/>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5FF0E9A-85C9-45F8-9D91-E9200B5915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2C8CEC4-7C6F-F111-3363-CD8E6368F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103B704-9544-AB3A-54B7-F3D055C28341}"/>
              </a:ext>
            </a:extLst>
          </p:cNvPr>
          <p:cNvSpPr>
            <a:spLocks noGrp="1"/>
          </p:cNvSpPr>
          <p:nvPr>
            <p:ph type="title"/>
          </p:nvPr>
        </p:nvSpPr>
        <p:spPr>
          <a:xfrm>
            <a:off x="-7" y="2354674"/>
            <a:ext cx="5920351" cy="1351472"/>
          </a:xfrm>
        </p:spPr>
        <p:txBody>
          <a:bodyPr>
            <a:normAutofit fontScale="90000"/>
          </a:bodyPr>
          <a:lstStyle/>
          <a:p>
            <a:pPr algn="ctr"/>
            <a:r>
              <a:rPr lang="fr-FR" sz="3600" dirty="0">
                <a:solidFill>
                  <a:schemeClr val="bg2">
                    <a:lumMod val="50000"/>
                  </a:schemeClr>
                </a:solidFill>
                <a:latin typeface="Perpetua" panose="02020502060401020303" pitchFamily="18" charset="77"/>
              </a:rPr>
              <a:t>AISLE RUNNER</a:t>
            </a:r>
            <a:br>
              <a:rPr lang="fr-FR" sz="3600" dirty="0">
                <a:solidFill>
                  <a:schemeClr val="bg2">
                    <a:lumMod val="50000"/>
                  </a:schemeClr>
                </a:solidFill>
                <a:latin typeface="Perpetua" panose="02020502060401020303" pitchFamily="18" charset="77"/>
              </a:rPr>
            </a:br>
            <a:br>
              <a:rPr lang="fr-FR" sz="3600" dirty="0">
                <a:solidFill>
                  <a:schemeClr val="bg2">
                    <a:lumMod val="50000"/>
                  </a:schemeClr>
                </a:solidFill>
                <a:latin typeface="Perpetua" panose="02020502060401020303" pitchFamily="18" charset="77"/>
              </a:rPr>
            </a:br>
            <a:br>
              <a:rPr lang="fr-FR" sz="3600" dirty="0">
                <a:solidFill>
                  <a:schemeClr val="bg2">
                    <a:lumMod val="50000"/>
                  </a:schemeClr>
                </a:solidFill>
                <a:latin typeface="Perpetua" panose="02020502060401020303" pitchFamily="18" charset="77"/>
              </a:rPr>
            </a:br>
            <a:br>
              <a:rPr lang="fr-FR" sz="3200" dirty="0">
                <a:solidFill>
                  <a:schemeClr val="tx1">
                    <a:lumMod val="85000"/>
                    <a:lumOff val="15000"/>
                  </a:schemeClr>
                </a:solidFill>
                <a:latin typeface="Perpetua" panose="02020502060401020303" pitchFamily="18" charset="77"/>
              </a:rPr>
            </a:br>
            <a:br>
              <a:rPr lang="fr-FR" sz="3200" dirty="0">
                <a:solidFill>
                  <a:schemeClr val="tx1">
                    <a:lumMod val="85000"/>
                    <a:lumOff val="15000"/>
                  </a:schemeClr>
                </a:solidFill>
                <a:latin typeface="Perpetua" panose="02020502060401020303" pitchFamily="18" charset="77"/>
              </a:rPr>
            </a:br>
            <a:endParaRPr lang="fr-FR" sz="3200" b="1" i="1" dirty="0">
              <a:solidFill>
                <a:schemeClr val="tx1">
                  <a:lumMod val="85000"/>
                  <a:lumOff val="15000"/>
                </a:schemeClr>
              </a:solidFill>
              <a:latin typeface="Perpetua" panose="02020502060401020303" pitchFamily="18" charset="77"/>
            </a:endParaRPr>
          </a:p>
        </p:txBody>
      </p:sp>
      <p:sp>
        <p:nvSpPr>
          <p:cNvPr id="10" name="Content Placeholder 9">
            <a:extLst>
              <a:ext uri="{FF2B5EF4-FFF2-40B4-BE49-F238E27FC236}">
                <a16:creationId xmlns:a16="http://schemas.microsoft.com/office/drawing/2014/main" id="{F84B8BCC-C1C7-50E5-692F-FB9876FB63BA}"/>
              </a:ext>
            </a:extLst>
          </p:cNvPr>
          <p:cNvSpPr>
            <a:spLocks noGrp="1"/>
          </p:cNvSpPr>
          <p:nvPr>
            <p:ph idx="1"/>
          </p:nvPr>
        </p:nvSpPr>
        <p:spPr>
          <a:xfrm>
            <a:off x="428096" y="3030410"/>
            <a:ext cx="4868835" cy="4287327"/>
          </a:xfrm>
        </p:spPr>
        <p:txBody>
          <a:bodyPr>
            <a:normAutofit/>
          </a:bodyPr>
          <a:lstStyle/>
          <a:p>
            <a:pPr marL="0" indent="0" algn="ctr" defTabSz="914400">
              <a:lnSpc>
                <a:spcPct val="90000"/>
              </a:lnSpc>
              <a:spcAft>
                <a:spcPts val="600"/>
              </a:spcAft>
              <a:buNone/>
            </a:pPr>
            <a:r>
              <a:rPr lang="en-US" b="0" i="0" dirty="0">
                <a:solidFill>
                  <a:schemeClr val="bg2">
                    <a:lumMod val="50000"/>
                  </a:schemeClr>
                </a:solidFill>
                <a:effectLst/>
                <a:latin typeface="Perpetua" panose="02020502060401020303" pitchFamily="18" charset="77"/>
              </a:rPr>
              <a:t>White glossy runner with gold initials - TBD</a:t>
            </a:r>
          </a:p>
          <a:p>
            <a:pPr marL="0" indent="0" algn="ctr" defTabSz="914400">
              <a:lnSpc>
                <a:spcPct val="90000"/>
              </a:lnSpc>
              <a:spcAft>
                <a:spcPts val="600"/>
              </a:spcAft>
              <a:buNone/>
            </a:pPr>
            <a:endParaRPr lang="en-US" dirty="0">
              <a:solidFill>
                <a:schemeClr val="bg2">
                  <a:lumMod val="50000"/>
                </a:schemeClr>
              </a:solidFill>
              <a:latin typeface="Perpetua" panose="02020502060401020303" pitchFamily="18" charset="77"/>
            </a:endParaRPr>
          </a:p>
        </p:txBody>
      </p:sp>
      <p:pic>
        <p:nvPicPr>
          <p:cNvPr id="5" name="Picture 4">
            <a:extLst>
              <a:ext uri="{FF2B5EF4-FFF2-40B4-BE49-F238E27FC236}">
                <a16:creationId xmlns:a16="http://schemas.microsoft.com/office/drawing/2014/main" id="{4FC6962E-9C1F-0001-3969-5AFD05898F42}"/>
              </a:ext>
            </a:extLst>
          </p:cNvPr>
          <p:cNvPicPr>
            <a:picLocks noChangeAspect="1"/>
          </p:cNvPicPr>
          <p:nvPr/>
        </p:nvPicPr>
        <p:blipFill>
          <a:blip r:embed="rId2"/>
          <a:stretch>
            <a:fillRect/>
          </a:stretch>
        </p:blipFill>
        <p:spPr>
          <a:xfrm>
            <a:off x="6895070" y="224267"/>
            <a:ext cx="3882880" cy="6409466"/>
          </a:xfrm>
          <a:prstGeom prst="rect">
            <a:avLst/>
          </a:prstGeom>
        </p:spPr>
      </p:pic>
    </p:spTree>
    <p:extLst>
      <p:ext uri="{BB962C8B-B14F-4D97-AF65-F5344CB8AC3E}">
        <p14:creationId xmlns:p14="http://schemas.microsoft.com/office/powerpoint/2010/main" val="4070648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4299313" y="1044266"/>
            <a:ext cx="9920985" cy="1415270"/>
          </a:xfrm>
        </p:spPr>
        <p:txBody>
          <a:bodyPr vert="horz" lIns="91440" tIns="45720" rIns="91440" bIns="45720" rtlCol="0" anchor="t">
            <a:normAutofit/>
          </a:bodyPr>
          <a:lstStyle/>
          <a:p>
            <a:r>
              <a:rPr lang="en-US" sz="4000" kern="1200" dirty="0">
                <a:solidFill>
                  <a:schemeClr val="bg2">
                    <a:lumMod val="50000"/>
                  </a:schemeClr>
                </a:solidFill>
                <a:latin typeface="Perpetua" panose="02020502060401020303" pitchFamily="18" charset="77"/>
              </a:rPr>
              <a:t>BRIDAL BOUQUET &amp; BOUTONNIERE</a:t>
            </a:r>
          </a:p>
        </p:txBody>
      </p:sp>
      <p:cxnSp>
        <p:nvCxnSpPr>
          <p:cNvPr id="73" name="Straight Connector 72">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5214"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Content Placeholder 17">
            <a:extLst>
              <a:ext uri="{FF2B5EF4-FFF2-40B4-BE49-F238E27FC236}">
                <a16:creationId xmlns:a16="http://schemas.microsoft.com/office/drawing/2014/main" id="{F55E19D7-7AAE-44AB-ADA9-038C66B41C04}"/>
              </a:ext>
            </a:extLst>
          </p:cNvPr>
          <p:cNvSpPr>
            <a:spLocks noGrp="1"/>
          </p:cNvSpPr>
          <p:nvPr>
            <p:ph idx="1"/>
          </p:nvPr>
        </p:nvSpPr>
        <p:spPr>
          <a:xfrm>
            <a:off x="4676756" y="1291415"/>
            <a:ext cx="7508488" cy="4977433"/>
          </a:xfrm>
        </p:spPr>
        <p:txBody>
          <a:bodyPr>
            <a:normAutofit/>
          </a:bodyPr>
          <a:lstStyle/>
          <a:p>
            <a:pPr marL="0" indent="0">
              <a:buNone/>
            </a:pPr>
            <a:endParaRPr lang="en-US" sz="2000" dirty="0">
              <a:latin typeface="Perpetua" panose="02020502060401020303" pitchFamily="18" charset="77"/>
            </a:endParaRPr>
          </a:p>
          <a:p>
            <a:pPr marL="0" indent="0">
              <a:buNone/>
            </a:pPr>
            <a:endParaRPr lang="en-US" sz="2000" dirty="0">
              <a:solidFill>
                <a:schemeClr val="bg2">
                  <a:lumMod val="50000"/>
                </a:schemeClr>
              </a:solidFill>
              <a:latin typeface="Perpetua" panose="02020502060401020303" pitchFamily="18" charset="77"/>
            </a:endParaRPr>
          </a:p>
          <a:p>
            <a:pPr marL="0" indent="0" algn="ctr">
              <a:buNone/>
            </a:pPr>
            <a:r>
              <a:rPr lang="en-US" sz="2000" b="0" i="0" dirty="0">
                <a:solidFill>
                  <a:schemeClr val="bg2">
                    <a:lumMod val="50000"/>
                  </a:schemeClr>
                </a:solidFill>
                <a:effectLst/>
                <a:latin typeface="Perpetua" panose="02020502060401020303" pitchFamily="18" charset="77"/>
              </a:rPr>
              <a:t>For the bridal bouquet, we will aim for a medium size as picture</a:t>
            </a:r>
            <a:r>
              <a:rPr lang="en-US" sz="2000" dirty="0">
                <a:solidFill>
                  <a:schemeClr val="bg2">
                    <a:lumMod val="50000"/>
                  </a:schemeClr>
                </a:solidFill>
                <a:latin typeface="Perpetua" panose="02020502060401020303" pitchFamily="18" charset="77"/>
              </a:rPr>
              <a:t>. </a:t>
            </a:r>
            <a:r>
              <a:rPr lang="en-US" sz="2000" b="0" i="0" dirty="0">
                <a:solidFill>
                  <a:schemeClr val="bg2">
                    <a:lumMod val="50000"/>
                  </a:schemeClr>
                </a:solidFill>
                <a:effectLst/>
                <a:latin typeface="Perpetua" panose="02020502060401020303" pitchFamily="18" charset="77"/>
              </a:rPr>
              <a:t>blushing pink and white bouquet. The stems tied with a light pink/white ribbon not wrapped all the way at the bottom.</a:t>
            </a:r>
            <a:endParaRPr lang="en-US" sz="2000" dirty="0">
              <a:solidFill>
                <a:schemeClr val="bg2">
                  <a:lumMod val="50000"/>
                </a:schemeClr>
              </a:solidFill>
              <a:latin typeface="Perpetua" panose="02020502060401020303" pitchFamily="18" charset="77"/>
            </a:endParaRPr>
          </a:p>
          <a:p>
            <a:pPr marL="0" indent="0" algn="ctr">
              <a:buNone/>
            </a:pPr>
            <a:endParaRPr lang="en-US" sz="2000" dirty="0">
              <a:solidFill>
                <a:schemeClr val="bg2">
                  <a:lumMod val="50000"/>
                </a:schemeClr>
              </a:solidFill>
              <a:latin typeface="Perpetua" panose="02020502060401020303" pitchFamily="18" charset="77"/>
            </a:endParaRPr>
          </a:p>
          <a:p>
            <a:pPr marL="0" indent="0" algn="ctr">
              <a:buNone/>
            </a:pPr>
            <a:r>
              <a:rPr lang="en-US" sz="2000" b="0" i="0" dirty="0">
                <a:solidFill>
                  <a:schemeClr val="bg2">
                    <a:lumMod val="50000"/>
                  </a:schemeClr>
                </a:solidFill>
                <a:effectLst/>
                <a:latin typeface="Perpetua" panose="02020502060401020303" pitchFamily="18" charset="77"/>
              </a:rPr>
              <a:t>Boutonniere </a:t>
            </a:r>
            <a:r>
              <a:rPr lang="en-US" sz="2000" dirty="0">
                <a:solidFill>
                  <a:schemeClr val="bg2">
                    <a:lumMod val="50000"/>
                  </a:schemeClr>
                </a:solidFill>
                <a:latin typeface="Perpetua" panose="02020502060401020303" pitchFamily="18" charset="77"/>
              </a:rPr>
              <a:t>as picture.</a:t>
            </a:r>
            <a:endParaRPr lang="en-US" sz="2000" b="0" i="0" dirty="0">
              <a:solidFill>
                <a:schemeClr val="bg2">
                  <a:lumMod val="50000"/>
                </a:schemeClr>
              </a:solidFill>
              <a:effectLst/>
              <a:latin typeface="Perpetua" panose="02020502060401020303" pitchFamily="18" charset="77"/>
            </a:endParaRPr>
          </a:p>
        </p:txBody>
      </p:sp>
      <p:sp>
        <p:nvSpPr>
          <p:cNvPr id="8" name="Rectangle 7">
            <a:extLst>
              <a:ext uri="{FF2B5EF4-FFF2-40B4-BE49-F238E27FC236}">
                <a16:creationId xmlns:a16="http://schemas.microsoft.com/office/drawing/2014/main" id="{9E94D85F-04E9-7D78-E8BE-96ADA1940A61}"/>
              </a:ext>
            </a:extLst>
          </p:cNvPr>
          <p:cNvSpPr/>
          <p:nvPr/>
        </p:nvSpPr>
        <p:spPr>
          <a:xfrm>
            <a:off x="6006483" y="203896"/>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white rose on a white jacket&#10;&#10;Description automatically generated">
            <a:extLst>
              <a:ext uri="{FF2B5EF4-FFF2-40B4-BE49-F238E27FC236}">
                <a16:creationId xmlns:a16="http://schemas.microsoft.com/office/drawing/2014/main" id="{A73ACACF-D9A1-B24C-C51A-36DFF8660F14}"/>
              </a:ext>
            </a:extLst>
          </p:cNvPr>
          <p:cNvPicPr>
            <a:picLocks noChangeAspect="1"/>
          </p:cNvPicPr>
          <p:nvPr/>
        </p:nvPicPr>
        <p:blipFill>
          <a:blip r:embed="rId2"/>
          <a:stretch>
            <a:fillRect/>
          </a:stretch>
        </p:blipFill>
        <p:spPr>
          <a:xfrm>
            <a:off x="2641702" y="3197816"/>
            <a:ext cx="2969534" cy="3474821"/>
          </a:xfrm>
          <a:prstGeom prst="rect">
            <a:avLst/>
          </a:prstGeom>
        </p:spPr>
      </p:pic>
      <p:pic>
        <p:nvPicPr>
          <p:cNvPr id="5" name="Picture 4" descr="A bouquet of flowers on a table&#10;&#10;AI-generated content may be incorrect.">
            <a:extLst>
              <a:ext uri="{FF2B5EF4-FFF2-40B4-BE49-F238E27FC236}">
                <a16:creationId xmlns:a16="http://schemas.microsoft.com/office/drawing/2014/main" id="{F12475ED-54F5-F356-57AE-FA48619CEE92}"/>
              </a:ext>
            </a:extLst>
          </p:cNvPr>
          <p:cNvPicPr>
            <a:picLocks noChangeAspect="1"/>
          </p:cNvPicPr>
          <p:nvPr/>
        </p:nvPicPr>
        <p:blipFill>
          <a:blip r:embed="rId3"/>
          <a:stretch>
            <a:fillRect/>
          </a:stretch>
        </p:blipFill>
        <p:spPr>
          <a:xfrm>
            <a:off x="207589" y="203896"/>
            <a:ext cx="3161056" cy="4037011"/>
          </a:xfrm>
          <a:prstGeom prst="rect">
            <a:avLst/>
          </a:prstGeom>
        </p:spPr>
      </p:pic>
    </p:spTree>
    <p:extLst>
      <p:ext uri="{BB962C8B-B14F-4D97-AF65-F5344CB8AC3E}">
        <p14:creationId xmlns:p14="http://schemas.microsoft.com/office/powerpoint/2010/main" val="2066328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47">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9" name="Rectangle 49">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0" name="Rectangle 51">
            <a:extLst>
              <a:ext uri="{FF2B5EF4-FFF2-40B4-BE49-F238E27FC236}">
                <a16:creationId xmlns:a16="http://schemas.microsoft.com/office/drawing/2014/main" id="{B908E8DC-1025-4FCC-873D-DC5C2ADEF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title"/>
          </p:nvPr>
        </p:nvSpPr>
        <p:spPr>
          <a:xfrm>
            <a:off x="1541057" y="-72001"/>
            <a:ext cx="4274607" cy="2135867"/>
          </a:xfrm>
        </p:spPr>
        <p:txBody>
          <a:bodyPr anchor="b">
            <a:normAutofit/>
          </a:bodyPr>
          <a:lstStyle/>
          <a:p>
            <a:r>
              <a:rPr lang="fr-FR" dirty="0">
                <a:solidFill>
                  <a:schemeClr val="bg2">
                    <a:lumMod val="50000"/>
                  </a:schemeClr>
                </a:solidFill>
                <a:latin typeface="Perpetua" panose="02020502060401020303" pitchFamily="18" charset="77"/>
              </a:rPr>
              <a:t>COCKTAIL</a:t>
            </a:r>
          </a:p>
        </p:txBody>
      </p:sp>
      <p:sp>
        <p:nvSpPr>
          <p:cNvPr id="14" name="Content Placeholder 13">
            <a:extLst>
              <a:ext uri="{FF2B5EF4-FFF2-40B4-BE49-F238E27FC236}">
                <a16:creationId xmlns:a16="http://schemas.microsoft.com/office/drawing/2014/main" id="{7847E9E7-126E-46AC-AAD2-75FD20301F86}"/>
              </a:ext>
            </a:extLst>
          </p:cNvPr>
          <p:cNvSpPr>
            <a:spLocks noGrp="1"/>
          </p:cNvSpPr>
          <p:nvPr>
            <p:ph idx="1"/>
          </p:nvPr>
        </p:nvSpPr>
        <p:spPr>
          <a:xfrm>
            <a:off x="1261813" y="2547826"/>
            <a:ext cx="4574050" cy="3610275"/>
          </a:xfrm>
        </p:spPr>
        <p:txBody>
          <a:bodyPr anchor="t">
            <a:noAutofit/>
          </a:bodyPr>
          <a:lstStyle/>
          <a:p>
            <a:pPr marL="0" indent="0" algn="ctr">
              <a:buNone/>
            </a:pPr>
            <a:r>
              <a:rPr lang="en-US" sz="2400" dirty="0">
                <a:solidFill>
                  <a:schemeClr val="bg2">
                    <a:lumMod val="50000"/>
                  </a:schemeClr>
                </a:solidFill>
                <a:latin typeface="Perpetua" panose="02020502060401020303" pitchFamily="18" charset="77"/>
              </a:rPr>
              <a:t>Cocktail arrangements will reflect the reference image, featuring soft touches of light pink florals paired with delicate LED votive candles. The table will be draped in a loose ivory tablecloth for an effortlessly refined and elegant look.</a:t>
            </a:r>
            <a:endParaRPr lang="en-US" sz="4000" dirty="0">
              <a:solidFill>
                <a:schemeClr val="bg2">
                  <a:lumMod val="50000"/>
                </a:schemeClr>
              </a:solidFill>
              <a:latin typeface="Perpetua" panose="02020502060401020303" pitchFamily="18" charset="77"/>
            </a:endParaRPr>
          </a:p>
          <a:p>
            <a:pPr marL="0" indent="0" algn="ctr">
              <a:buNone/>
            </a:pPr>
            <a:r>
              <a:rPr lang="en-US" sz="4000" b="0" i="0" dirty="0">
                <a:solidFill>
                  <a:schemeClr val="bg2">
                    <a:lumMod val="50000"/>
                  </a:schemeClr>
                </a:solidFill>
                <a:effectLst/>
                <a:latin typeface="Perpetua" panose="02020502060401020303" pitchFamily="18" charset="77"/>
              </a:rPr>
              <a:t> </a:t>
            </a:r>
            <a:endParaRPr lang="en-US" sz="3600" b="0" i="0" dirty="0">
              <a:solidFill>
                <a:schemeClr val="accent5">
                  <a:lumMod val="60000"/>
                  <a:lumOff val="40000"/>
                </a:schemeClr>
              </a:solidFill>
              <a:effectLst/>
              <a:latin typeface="Perpetua" panose="02020502060401020303" pitchFamily="18" charset="77"/>
            </a:endParaRPr>
          </a:p>
        </p:txBody>
      </p:sp>
      <p:cxnSp>
        <p:nvCxnSpPr>
          <p:cNvPr id="61" name="Straight Connector 53">
            <a:extLst>
              <a:ext uri="{FF2B5EF4-FFF2-40B4-BE49-F238E27FC236}">
                <a16:creationId xmlns:a16="http://schemas.microsoft.com/office/drawing/2014/main" id="{F085D7B9-E066-4923-8CB7-294BF30629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9B57D9A5-B0E6-43E8-854F-D4931B715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47856" y="706072"/>
            <a:ext cx="445586" cy="544584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cxnSp>
        <p:nvCxnSpPr>
          <p:cNvPr id="58" name="Straight Connector 57">
            <a:extLst>
              <a:ext uri="{FF2B5EF4-FFF2-40B4-BE49-F238E27FC236}">
                <a16:creationId xmlns:a16="http://schemas.microsoft.com/office/drawing/2014/main" id="{25443840-A796-4C43-8DC1-1B738EFEC5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4632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4" name="Picture 3" descr="A table covered in white cloth&#10;&#10;AI-generated content may be incorrect.">
            <a:extLst>
              <a:ext uri="{FF2B5EF4-FFF2-40B4-BE49-F238E27FC236}">
                <a16:creationId xmlns:a16="http://schemas.microsoft.com/office/drawing/2014/main" id="{4084C172-FF4E-1D92-6DCC-AE2BD050071C}"/>
              </a:ext>
            </a:extLst>
          </p:cNvPr>
          <p:cNvPicPr>
            <a:picLocks noChangeAspect="1"/>
          </p:cNvPicPr>
          <p:nvPr/>
        </p:nvPicPr>
        <p:blipFill>
          <a:blip r:embed="rId2"/>
          <a:stretch>
            <a:fillRect/>
          </a:stretch>
        </p:blipFill>
        <p:spPr>
          <a:xfrm>
            <a:off x="9065928" y="1333404"/>
            <a:ext cx="3124200" cy="4890518"/>
          </a:xfrm>
          <a:prstGeom prst="rect">
            <a:avLst/>
          </a:prstGeom>
        </p:spPr>
      </p:pic>
      <p:pic>
        <p:nvPicPr>
          <p:cNvPr id="8" name="Picture 7" descr="A close-up of a flower arrangement&#10;&#10;AI-generated content may be incorrect.">
            <a:extLst>
              <a:ext uri="{FF2B5EF4-FFF2-40B4-BE49-F238E27FC236}">
                <a16:creationId xmlns:a16="http://schemas.microsoft.com/office/drawing/2014/main" id="{56A42240-BC13-6612-E9DB-F5CA9A3CF838}"/>
              </a:ext>
            </a:extLst>
          </p:cNvPr>
          <p:cNvPicPr>
            <a:picLocks noChangeAspect="1"/>
          </p:cNvPicPr>
          <p:nvPr/>
        </p:nvPicPr>
        <p:blipFill>
          <a:blip r:embed="rId3"/>
          <a:stretch>
            <a:fillRect/>
          </a:stretch>
        </p:blipFill>
        <p:spPr>
          <a:xfrm>
            <a:off x="5910449" y="1890534"/>
            <a:ext cx="3055828" cy="4178185"/>
          </a:xfrm>
          <a:prstGeom prst="rect">
            <a:avLst/>
          </a:prstGeom>
        </p:spPr>
      </p:pic>
      <p:pic>
        <p:nvPicPr>
          <p:cNvPr id="10" name="Picture 9" descr="A close-up of a flower arrangement&#10;&#10;AI-generated content may be incorrect.">
            <a:extLst>
              <a:ext uri="{FF2B5EF4-FFF2-40B4-BE49-F238E27FC236}">
                <a16:creationId xmlns:a16="http://schemas.microsoft.com/office/drawing/2014/main" id="{F0E8399B-DB0F-7399-9B9C-C0D07750F659}"/>
              </a:ext>
            </a:extLst>
          </p:cNvPr>
          <p:cNvPicPr>
            <a:picLocks noChangeAspect="1"/>
          </p:cNvPicPr>
          <p:nvPr/>
        </p:nvPicPr>
        <p:blipFill>
          <a:blip r:embed="rId3"/>
          <a:stretch>
            <a:fillRect/>
          </a:stretch>
        </p:blipFill>
        <p:spPr>
          <a:xfrm>
            <a:off x="9811804" y="101355"/>
            <a:ext cx="1459401" cy="1995415"/>
          </a:xfrm>
          <a:prstGeom prst="rect">
            <a:avLst/>
          </a:prstGeom>
        </p:spPr>
      </p:pic>
    </p:spTree>
    <p:extLst>
      <p:ext uri="{BB962C8B-B14F-4D97-AF65-F5344CB8AC3E}">
        <p14:creationId xmlns:p14="http://schemas.microsoft.com/office/powerpoint/2010/main" val="1429147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5533AD3-3D3F-438B-9829-15B20A4B953F}"/>
              </a:ext>
            </a:extLst>
          </p:cNvPr>
          <p:cNvSpPr txBox="1"/>
          <p:nvPr/>
        </p:nvSpPr>
        <p:spPr>
          <a:xfrm>
            <a:off x="0" y="335870"/>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Wedding Sign &amp; Décor + Place cards</a:t>
            </a:r>
          </a:p>
          <a:p>
            <a:pPr algn="ctr" defTabSz="914400">
              <a:lnSpc>
                <a:spcPct val="90000"/>
              </a:lnSpc>
              <a:spcBef>
                <a:spcPct val="0"/>
              </a:spcBef>
              <a:spcAft>
                <a:spcPts val="600"/>
              </a:spcAft>
            </a:pPr>
            <a:endParaRPr lang="en-US" sz="3400" dirty="0">
              <a:latin typeface="+mj-lt"/>
              <a:ea typeface="+mj-ea"/>
              <a:cs typeface="+mj-cs"/>
            </a:endParaRPr>
          </a:p>
        </p:txBody>
      </p:sp>
      <p:sp>
        <p:nvSpPr>
          <p:cNvPr id="14" name="TextBox 13">
            <a:extLst>
              <a:ext uri="{FF2B5EF4-FFF2-40B4-BE49-F238E27FC236}">
                <a16:creationId xmlns:a16="http://schemas.microsoft.com/office/drawing/2014/main" id="{E99A9442-9890-C720-EC14-0AB9C8AAFFE5}"/>
              </a:ext>
            </a:extLst>
          </p:cNvPr>
          <p:cNvSpPr txBox="1"/>
          <p:nvPr/>
        </p:nvSpPr>
        <p:spPr>
          <a:xfrm>
            <a:off x="296563" y="1867893"/>
            <a:ext cx="4632625" cy="5324535"/>
          </a:xfrm>
          <a:prstGeom prst="rect">
            <a:avLst/>
          </a:prstGeom>
          <a:noFill/>
        </p:spPr>
        <p:txBody>
          <a:bodyPr wrap="square" rtlCol="0">
            <a:spAutoFit/>
          </a:bodyPr>
          <a:lstStyle/>
          <a:p>
            <a:pPr>
              <a:buNone/>
            </a:pPr>
            <a:r>
              <a:rPr lang="en-US" sz="2800" dirty="0">
                <a:solidFill>
                  <a:schemeClr val="bg2">
                    <a:lumMod val="50000"/>
                  </a:schemeClr>
                </a:solidFill>
                <a:latin typeface="Perpetua" panose="02020502060401020303" pitchFamily="18" charset="77"/>
              </a:rPr>
              <a:t>For the welcome sign, we’ll use a design identical to the one in the photo, set in an antique gold frame, black writing and displayed on a gold easel.</a:t>
            </a:r>
          </a:p>
          <a:p>
            <a:r>
              <a:rPr lang="en-US" sz="2800" dirty="0">
                <a:solidFill>
                  <a:schemeClr val="bg2">
                    <a:lumMod val="50000"/>
                  </a:schemeClr>
                </a:solidFill>
                <a:latin typeface="Perpetua" panose="02020502060401020303" pitchFamily="18" charset="77"/>
              </a:rPr>
              <a:t>For the place cards, the long rectangular table seats 15 guests per side. Each guest’s name will be placed directly at their seat on the napkin, so they can easily locate their spot.</a:t>
            </a:r>
          </a:p>
          <a:p>
            <a:endParaRPr lang="en-US" sz="3200" dirty="0">
              <a:solidFill>
                <a:schemeClr val="bg2">
                  <a:lumMod val="50000"/>
                </a:schemeClr>
              </a:solidFill>
              <a:latin typeface="Perpetua" panose="02020502060401020303" pitchFamily="18" charset="77"/>
            </a:endParaRPr>
          </a:p>
        </p:txBody>
      </p:sp>
      <p:pic>
        <p:nvPicPr>
          <p:cNvPr id="7" name="Picture 6" descr="A place setting on a plate&#10;&#10;AI-generated content may be incorrect.">
            <a:extLst>
              <a:ext uri="{FF2B5EF4-FFF2-40B4-BE49-F238E27FC236}">
                <a16:creationId xmlns:a16="http://schemas.microsoft.com/office/drawing/2014/main" id="{0E51EFD8-7BF4-99CC-372D-7331B5719FAC}"/>
              </a:ext>
            </a:extLst>
          </p:cNvPr>
          <p:cNvPicPr>
            <a:picLocks noChangeAspect="1"/>
          </p:cNvPicPr>
          <p:nvPr/>
        </p:nvPicPr>
        <p:blipFill>
          <a:blip r:embed="rId2"/>
          <a:stretch>
            <a:fillRect/>
          </a:stretch>
        </p:blipFill>
        <p:spPr>
          <a:xfrm>
            <a:off x="5111452" y="4045241"/>
            <a:ext cx="3316510" cy="2443162"/>
          </a:xfrm>
          <a:prstGeom prst="rect">
            <a:avLst/>
          </a:prstGeom>
        </p:spPr>
      </p:pic>
      <p:pic>
        <p:nvPicPr>
          <p:cNvPr id="4" name="Picture 3" descr="A sign with flowers on it&#10;&#10;AI-generated content may be incorrect.">
            <a:extLst>
              <a:ext uri="{FF2B5EF4-FFF2-40B4-BE49-F238E27FC236}">
                <a16:creationId xmlns:a16="http://schemas.microsoft.com/office/drawing/2014/main" id="{8917EE34-1D1A-63BC-393D-76733765A7F7}"/>
              </a:ext>
            </a:extLst>
          </p:cNvPr>
          <p:cNvPicPr>
            <a:picLocks noChangeAspect="1"/>
          </p:cNvPicPr>
          <p:nvPr/>
        </p:nvPicPr>
        <p:blipFill>
          <a:blip r:embed="rId3"/>
          <a:stretch>
            <a:fillRect/>
          </a:stretch>
        </p:blipFill>
        <p:spPr>
          <a:xfrm>
            <a:off x="7880714" y="335870"/>
            <a:ext cx="4014723" cy="4763738"/>
          </a:xfrm>
          <a:prstGeom prst="rect">
            <a:avLst/>
          </a:prstGeom>
        </p:spPr>
      </p:pic>
    </p:spTree>
    <p:extLst>
      <p:ext uri="{BB962C8B-B14F-4D97-AF65-F5344CB8AC3E}">
        <p14:creationId xmlns:p14="http://schemas.microsoft.com/office/powerpoint/2010/main" val="2560477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193969" y="1143000"/>
            <a:ext cx="5678740" cy="1397505"/>
          </a:xfrm>
          <a:prstGeom prst="rect">
            <a:avLst/>
          </a:prstGeom>
        </p:spPr>
        <p:txBody>
          <a:bodyPr vert="horz" lIns="91440" tIns="45720" rIns="91440" bIns="45720" rtlCol="0" anchor="t">
            <a:normAutofit fontScale="85000" lnSpcReduction="20000"/>
          </a:bodyPr>
          <a:lstStyle/>
          <a:p>
            <a:pPr algn="ctr" defTabSz="914400">
              <a:lnSpc>
                <a:spcPct val="90000"/>
              </a:lnSpc>
              <a:spcBef>
                <a:spcPct val="0"/>
              </a:spcBef>
              <a:spcAft>
                <a:spcPts val="600"/>
              </a:spcAft>
            </a:pPr>
            <a:r>
              <a:rPr lang="en-US" sz="3900" dirty="0">
                <a:solidFill>
                  <a:schemeClr val="bg2">
                    <a:lumMod val="50000"/>
                  </a:schemeClr>
                </a:solidFill>
                <a:highlight>
                  <a:srgbClr val="FFFF00"/>
                </a:highlight>
                <a:latin typeface="Perpetua" panose="02020502060401020303" pitchFamily="18" charset="77"/>
                <a:ea typeface="+mj-ea"/>
                <a:cs typeface="+mj-cs"/>
              </a:rPr>
              <a:t>OPTION 1 </a:t>
            </a:r>
          </a:p>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Centerpieces – 1 Long rectangular table for 30 guests (15 each side)</a:t>
            </a:r>
            <a:endParaRPr lang="en-US" sz="3900" i="1" dirty="0">
              <a:solidFill>
                <a:schemeClr val="bg2">
                  <a:lumMod val="50000"/>
                </a:schemeClr>
              </a:solidFill>
              <a:highlight>
                <a:srgbClr val="FFFF00"/>
              </a:highlight>
              <a:latin typeface="Perpetua" panose="02020502060401020303" pitchFamily="18" charset="77"/>
              <a:ea typeface="+mj-ea"/>
              <a:cs typeface="+mj-cs"/>
            </a:endParaRPr>
          </a:p>
        </p:txBody>
      </p:sp>
      <p:cxnSp>
        <p:nvCxnSpPr>
          <p:cNvPr id="34" name="Straight Connector 3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288462" y="2612559"/>
            <a:ext cx="4713879" cy="4116854"/>
          </a:xfrm>
        </p:spPr>
        <p:txBody>
          <a:bodyPr vert="horz" lIns="91440" tIns="45720" rIns="91440" bIns="45720" rtlCol="0">
            <a:noAutofit/>
          </a:bodyPr>
          <a:lstStyle/>
          <a:p>
            <a:pPr marL="0" indent="0">
              <a:buNone/>
            </a:pPr>
            <a:r>
              <a:rPr lang="en-US" sz="2400" dirty="0">
                <a:solidFill>
                  <a:schemeClr val="bg2">
                    <a:lumMod val="50000"/>
                  </a:schemeClr>
                </a:solidFill>
                <a:latin typeface="Perpetua" panose="02020502060401020303" pitchFamily="18" charset="77"/>
              </a:rPr>
              <a:t>The theme is romantic and fairytale-inspired, with warm tones of white, pink and gold (No greenery). The long, rectangular table will be adorned with a continuous garland running from one end to the other,</a:t>
            </a:r>
          </a:p>
          <a:p>
            <a:pPr marL="0" indent="0">
              <a:buNone/>
            </a:pPr>
            <a:r>
              <a:rPr lang="en-US" sz="2400" dirty="0">
                <a:solidFill>
                  <a:schemeClr val="bg2">
                    <a:lumMod val="50000"/>
                  </a:schemeClr>
                </a:solidFill>
                <a:latin typeface="Perpetua" panose="02020502060401020303" pitchFamily="18" charset="77"/>
              </a:rPr>
              <a:t> interspersed with a mix of clear and gold candle holders. </a:t>
            </a:r>
            <a:r>
              <a:rPr lang="en-US" sz="2400" dirty="0">
                <a:solidFill>
                  <a:schemeClr val="accent5">
                    <a:lumMod val="60000"/>
                    <a:lumOff val="40000"/>
                  </a:schemeClr>
                </a:solidFill>
                <a:latin typeface="Perpetua" panose="02020502060401020303" pitchFamily="18" charset="77"/>
              </a:rPr>
              <a:t>Please note that Shangri-La has recently changed its policy and no longer permits real candles, so we will use LED candles throughout.</a:t>
            </a:r>
          </a:p>
          <a:p>
            <a:pPr marL="0" indent="0" algn="ctr">
              <a:buNone/>
            </a:pPr>
            <a:endParaRPr lang="en-US" sz="2000" dirty="0">
              <a:solidFill>
                <a:schemeClr val="bg2">
                  <a:lumMod val="50000"/>
                </a:schemeClr>
              </a:solidFill>
              <a:latin typeface="Perpetua" panose="02020502060401020303" pitchFamily="18" charset="77"/>
            </a:endParaRPr>
          </a:p>
          <a:p>
            <a:pPr marL="0" indent="0" algn="l">
              <a:buNone/>
            </a:pPr>
            <a:endParaRPr lang="en-US" sz="1800" b="0" i="0" dirty="0">
              <a:solidFill>
                <a:schemeClr val="bg2">
                  <a:lumMod val="50000"/>
                </a:schemeClr>
              </a:solidFill>
              <a:effectLst/>
              <a:latin typeface="Perpetua" panose="02020502060401020303" pitchFamily="18" charset="77"/>
            </a:endParaRPr>
          </a:p>
          <a:p>
            <a:pPr marL="0" indent="0" algn="l">
              <a:buNone/>
            </a:pPr>
            <a:endParaRPr lang="en-US" sz="1800" b="0" i="0" dirty="0">
              <a:solidFill>
                <a:schemeClr val="bg2">
                  <a:lumMod val="50000"/>
                </a:schemeClr>
              </a:solidFill>
              <a:effectLst/>
              <a:latin typeface="Perpetua" panose="02020502060401020303" pitchFamily="18" charset="77"/>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table with flowers and candles&#10;&#10;AI-generated content may be incorrect.">
            <a:extLst>
              <a:ext uri="{FF2B5EF4-FFF2-40B4-BE49-F238E27FC236}">
                <a16:creationId xmlns:a16="http://schemas.microsoft.com/office/drawing/2014/main" id="{3630AC10-A4DF-B21A-2606-3286A3EAF102}"/>
              </a:ext>
            </a:extLst>
          </p:cNvPr>
          <p:cNvPicPr>
            <a:picLocks noChangeAspect="1"/>
          </p:cNvPicPr>
          <p:nvPr/>
        </p:nvPicPr>
        <p:blipFill>
          <a:blip r:embed="rId2"/>
          <a:stretch>
            <a:fillRect/>
          </a:stretch>
        </p:blipFill>
        <p:spPr>
          <a:xfrm>
            <a:off x="5711825" y="871146"/>
            <a:ext cx="6083300" cy="5308600"/>
          </a:xfrm>
          <a:prstGeom prst="rect">
            <a:avLst/>
          </a:prstGeom>
        </p:spPr>
      </p:pic>
    </p:spTree>
    <p:extLst>
      <p:ext uri="{BB962C8B-B14F-4D97-AF65-F5344CB8AC3E}">
        <p14:creationId xmlns:p14="http://schemas.microsoft.com/office/powerpoint/2010/main" val="592611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BB54B29-1E92-1769-3150-140C2A4B565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59870E0-D279-0D47-B569-1217F2DBF07E}"/>
              </a:ext>
            </a:extLst>
          </p:cNvPr>
          <p:cNvSpPr txBox="1"/>
          <p:nvPr/>
        </p:nvSpPr>
        <p:spPr>
          <a:xfrm>
            <a:off x="0" y="776633"/>
            <a:ext cx="5678740" cy="1397505"/>
          </a:xfrm>
          <a:prstGeom prst="rect">
            <a:avLst/>
          </a:prstGeom>
        </p:spPr>
        <p:txBody>
          <a:bodyPr vert="horz" lIns="91440" tIns="45720" rIns="91440" bIns="45720" rtlCol="0" anchor="t">
            <a:normAutofit fontScale="85000" lnSpcReduction="20000"/>
          </a:bodyPr>
          <a:lstStyle/>
          <a:p>
            <a:pPr algn="ctr" defTabSz="914400">
              <a:lnSpc>
                <a:spcPct val="90000"/>
              </a:lnSpc>
              <a:spcBef>
                <a:spcPct val="0"/>
              </a:spcBef>
              <a:spcAft>
                <a:spcPts val="600"/>
              </a:spcAft>
            </a:pPr>
            <a:r>
              <a:rPr lang="en-US" sz="3900" dirty="0">
                <a:solidFill>
                  <a:schemeClr val="bg2">
                    <a:lumMod val="50000"/>
                  </a:schemeClr>
                </a:solidFill>
                <a:highlight>
                  <a:srgbClr val="FFFF00"/>
                </a:highlight>
                <a:latin typeface="Perpetua" panose="02020502060401020303" pitchFamily="18" charset="77"/>
                <a:ea typeface="+mj-ea"/>
                <a:cs typeface="+mj-cs"/>
              </a:rPr>
              <a:t>OPTION 2 </a:t>
            </a:r>
          </a:p>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Centerpieces – 1 Long rectangular table for 30 guests (15 each side)</a:t>
            </a:r>
            <a:endParaRPr lang="en-US" sz="3900" i="1" dirty="0">
              <a:solidFill>
                <a:schemeClr val="bg2">
                  <a:lumMod val="50000"/>
                </a:schemeClr>
              </a:solidFill>
              <a:highlight>
                <a:srgbClr val="FFFF00"/>
              </a:highlight>
              <a:latin typeface="Perpetua" panose="02020502060401020303" pitchFamily="18" charset="77"/>
              <a:ea typeface="+mj-ea"/>
              <a:cs typeface="+mj-cs"/>
            </a:endParaRPr>
          </a:p>
        </p:txBody>
      </p:sp>
      <p:cxnSp>
        <p:nvCxnSpPr>
          <p:cNvPr id="34" name="Straight Connector 33">
            <a:extLst>
              <a:ext uri="{FF2B5EF4-FFF2-40B4-BE49-F238E27FC236}">
                <a16:creationId xmlns:a16="http://schemas.microsoft.com/office/drawing/2014/main" id="{9E3D0210-3CE2-D61C-67FD-2A51035F9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3" name="Content Placeholder 12">
            <a:extLst>
              <a:ext uri="{FF2B5EF4-FFF2-40B4-BE49-F238E27FC236}">
                <a16:creationId xmlns:a16="http://schemas.microsoft.com/office/drawing/2014/main" id="{6E9D658E-34AC-C96A-FE60-8C268B469670}"/>
              </a:ext>
            </a:extLst>
          </p:cNvPr>
          <p:cNvSpPr>
            <a:spLocks noGrp="1"/>
          </p:cNvSpPr>
          <p:nvPr>
            <p:ph idx="1"/>
          </p:nvPr>
        </p:nvSpPr>
        <p:spPr>
          <a:xfrm>
            <a:off x="168184" y="2446847"/>
            <a:ext cx="3805239" cy="4116854"/>
          </a:xfrm>
        </p:spPr>
        <p:txBody>
          <a:bodyPr vert="horz" lIns="91440" tIns="45720" rIns="91440" bIns="45720" rtlCol="0">
            <a:noAutofit/>
          </a:bodyPr>
          <a:lstStyle/>
          <a:p>
            <a:pPr marL="0" indent="0">
              <a:buNone/>
            </a:pPr>
            <a:r>
              <a:rPr lang="en-US" sz="2400" dirty="0">
                <a:solidFill>
                  <a:schemeClr val="bg2">
                    <a:lumMod val="50000"/>
                  </a:schemeClr>
                </a:solidFill>
                <a:latin typeface="Perpetua" panose="02020502060401020303" pitchFamily="18" charset="77"/>
              </a:rPr>
              <a:t>Option 2 will follow the same overall aesthetic as Option 1. However, instead of a continuous garland running along the length of the table, we will feature medium-sized floral arrangements composed of white and light pink blooms, with no greenery, as shown in the mood board reference image.</a:t>
            </a:r>
            <a:endParaRPr lang="en-US" sz="2400" b="0" i="0" dirty="0">
              <a:solidFill>
                <a:schemeClr val="bg2">
                  <a:lumMod val="50000"/>
                </a:schemeClr>
              </a:solidFill>
              <a:effectLst/>
              <a:latin typeface="Perpetua" panose="02020502060401020303" pitchFamily="18" charset="77"/>
            </a:endParaRPr>
          </a:p>
          <a:p>
            <a:pPr marL="0" indent="0" algn="l">
              <a:buNone/>
            </a:pPr>
            <a:endParaRPr lang="en-US" sz="1800" b="0" i="0" dirty="0">
              <a:solidFill>
                <a:schemeClr val="bg2">
                  <a:lumMod val="50000"/>
                </a:schemeClr>
              </a:solidFill>
              <a:effectLst/>
              <a:latin typeface="Perpetua" panose="02020502060401020303" pitchFamily="18" charset="77"/>
            </a:endParaRPr>
          </a:p>
        </p:txBody>
      </p:sp>
      <p:sp>
        <p:nvSpPr>
          <p:cNvPr id="4" name="Rectangle 3">
            <a:extLst>
              <a:ext uri="{FF2B5EF4-FFF2-40B4-BE49-F238E27FC236}">
                <a16:creationId xmlns:a16="http://schemas.microsoft.com/office/drawing/2014/main" id="{98F45FD0-C9FC-E518-4E0A-4FD5BD51BE41}"/>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table set for a dinner party&#10;&#10;AI-generated content may be incorrect.">
            <a:extLst>
              <a:ext uri="{FF2B5EF4-FFF2-40B4-BE49-F238E27FC236}">
                <a16:creationId xmlns:a16="http://schemas.microsoft.com/office/drawing/2014/main" id="{05B750C6-E4FC-BBAC-4D73-DACAD09FEDFE}"/>
              </a:ext>
            </a:extLst>
          </p:cNvPr>
          <p:cNvPicPr>
            <a:picLocks noChangeAspect="1"/>
          </p:cNvPicPr>
          <p:nvPr/>
        </p:nvPicPr>
        <p:blipFill>
          <a:blip r:embed="rId2"/>
          <a:stretch>
            <a:fillRect/>
          </a:stretch>
        </p:blipFill>
        <p:spPr>
          <a:xfrm>
            <a:off x="6707231" y="345571"/>
            <a:ext cx="5295900" cy="5575300"/>
          </a:xfrm>
          <a:prstGeom prst="rect">
            <a:avLst/>
          </a:prstGeom>
        </p:spPr>
      </p:pic>
      <p:pic>
        <p:nvPicPr>
          <p:cNvPr id="7" name="Picture 6" descr="A table set with flowers and candles&#10;&#10;AI-generated content may be incorrect.">
            <a:extLst>
              <a:ext uri="{FF2B5EF4-FFF2-40B4-BE49-F238E27FC236}">
                <a16:creationId xmlns:a16="http://schemas.microsoft.com/office/drawing/2014/main" id="{ADCCB4C0-E58D-859F-E7A0-6656F18C422E}"/>
              </a:ext>
            </a:extLst>
          </p:cNvPr>
          <p:cNvPicPr>
            <a:picLocks noChangeAspect="1"/>
          </p:cNvPicPr>
          <p:nvPr/>
        </p:nvPicPr>
        <p:blipFill>
          <a:blip r:embed="rId3"/>
          <a:stretch>
            <a:fillRect/>
          </a:stretch>
        </p:blipFill>
        <p:spPr>
          <a:xfrm>
            <a:off x="4193381" y="2964549"/>
            <a:ext cx="3805238" cy="3430480"/>
          </a:xfrm>
          <a:prstGeom prst="rect">
            <a:avLst/>
          </a:prstGeom>
        </p:spPr>
      </p:pic>
    </p:spTree>
    <p:extLst>
      <p:ext uri="{BB962C8B-B14F-4D97-AF65-F5344CB8AC3E}">
        <p14:creationId xmlns:p14="http://schemas.microsoft.com/office/powerpoint/2010/main" val="419526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58615" y="1027901"/>
            <a:ext cx="5418540" cy="5140305"/>
          </a:xfrm>
          <a:prstGeom prst="rect">
            <a:avLst/>
          </a:prstGeom>
        </p:spPr>
        <p:txBody>
          <a:bodyPr vert="horz" lIns="91440" tIns="45720" rIns="91440" bIns="45720" rtlCol="0" anchor="t">
            <a:normAutofit/>
          </a:bodyPr>
          <a:lstStyle/>
          <a:p>
            <a:pP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TABLEWARE</a:t>
            </a: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p:txBody>
      </p:sp>
      <p:cxnSp>
        <p:nvCxnSpPr>
          <p:cNvPr id="34" name="Straight Connector 3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old cutlery set with a knife spoon and fork&#10;&#10;Description automatically generated">
            <a:extLst>
              <a:ext uri="{FF2B5EF4-FFF2-40B4-BE49-F238E27FC236}">
                <a16:creationId xmlns:a16="http://schemas.microsoft.com/office/drawing/2014/main" id="{32565B80-D97C-1F55-76F7-041F88FD7BC2}"/>
              </a:ext>
            </a:extLst>
          </p:cNvPr>
          <p:cNvPicPr>
            <a:picLocks noChangeAspect="1"/>
          </p:cNvPicPr>
          <p:nvPr/>
        </p:nvPicPr>
        <p:blipFill>
          <a:blip r:embed="rId2"/>
          <a:stretch>
            <a:fillRect/>
          </a:stretch>
        </p:blipFill>
        <p:spPr>
          <a:xfrm>
            <a:off x="5210700" y="1398976"/>
            <a:ext cx="2904280" cy="3030292"/>
          </a:xfrm>
          <a:prstGeom prst="rect">
            <a:avLst/>
          </a:prstGeom>
        </p:spPr>
      </p:pic>
      <p:sp>
        <p:nvSpPr>
          <p:cNvPr id="14" name="TextBox 13">
            <a:extLst>
              <a:ext uri="{FF2B5EF4-FFF2-40B4-BE49-F238E27FC236}">
                <a16:creationId xmlns:a16="http://schemas.microsoft.com/office/drawing/2014/main" id="{C4E91E1E-1CFE-DC5B-40A8-D186EB235688}"/>
              </a:ext>
            </a:extLst>
          </p:cNvPr>
          <p:cNvSpPr txBox="1"/>
          <p:nvPr/>
        </p:nvSpPr>
        <p:spPr>
          <a:xfrm>
            <a:off x="224303" y="2382554"/>
            <a:ext cx="4273555" cy="4093428"/>
          </a:xfrm>
          <a:prstGeom prst="rect">
            <a:avLst/>
          </a:prstGeom>
          <a:noFill/>
        </p:spPr>
        <p:txBody>
          <a:bodyPr wrap="square" rtlCol="0">
            <a:spAutoFit/>
          </a:bodyPr>
          <a:lstStyle/>
          <a:p>
            <a:r>
              <a:rPr lang="en-US" sz="2400" dirty="0">
                <a:solidFill>
                  <a:schemeClr val="bg2">
                    <a:lumMod val="50000"/>
                  </a:schemeClr>
                </a:solidFill>
                <a:latin typeface="Perpetua" panose="02020502060401020303" pitchFamily="18" charset="77"/>
              </a:rPr>
              <a:t>The tables will be dressed with gold-rimmed elements, including gold rimmed charge plate and royal gold flatware. </a:t>
            </a:r>
          </a:p>
          <a:p>
            <a:r>
              <a:rPr lang="en-US" sz="2400" dirty="0">
                <a:solidFill>
                  <a:schemeClr val="bg2">
                    <a:lumMod val="50000"/>
                  </a:schemeClr>
                </a:solidFill>
                <a:latin typeface="Perpetua" panose="02020502060401020303" pitchFamily="18" charset="77"/>
              </a:rPr>
              <a:t>For the charger plates, you can choose between a gold-rimmed charger or a Firenze-inspired </a:t>
            </a:r>
          </a:p>
          <a:p>
            <a:endParaRPr lang="en-US" sz="2400" dirty="0">
              <a:solidFill>
                <a:schemeClr val="bg2">
                  <a:lumMod val="50000"/>
                </a:schemeClr>
              </a:solidFill>
              <a:latin typeface="Perpetua" panose="02020502060401020303" pitchFamily="18" charset="77"/>
            </a:endParaRPr>
          </a:p>
          <a:p>
            <a:r>
              <a:rPr lang="en-US" sz="2400" dirty="0">
                <a:solidFill>
                  <a:schemeClr val="bg2">
                    <a:lumMod val="50000"/>
                  </a:schemeClr>
                </a:solidFill>
                <a:latin typeface="Perpetua" panose="02020502060401020303" pitchFamily="18" charset="77"/>
              </a:rPr>
              <a:t>The look will be beautifully completed with a satin ivory napkin.</a:t>
            </a:r>
          </a:p>
          <a:p>
            <a:endParaRPr lang="en-US" sz="2000" dirty="0">
              <a:solidFill>
                <a:schemeClr val="accent5">
                  <a:lumMod val="60000"/>
                  <a:lumOff val="40000"/>
                </a:schemeClr>
              </a:solidFill>
              <a:latin typeface="Perpetua" panose="02020502060401020303" pitchFamily="18" charset="77"/>
            </a:endParaRPr>
          </a:p>
        </p:txBody>
      </p:sp>
      <p:pic>
        <p:nvPicPr>
          <p:cNvPr id="5" name="Picture 4" descr="A white plate with gold rim&#10;&#10;AI-generated content may be incorrect.">
            <a:extLst>
              <a:ext uri="{FF2B5EF4-FFF2-40B4-BE49-F238E27FC236}">
                <a16:creationId xmlns:a16="http://schemas.microsoft.com/office/drawing/2014/main" id="{3E07F5FF-E5B2-8B62-1326-F3B98023763B}"/>
              </a:ext>
            </a:extLst>
          </p:cNvPr>
          <p:cNvPicPr>
            <a:picLocks noChangeAspect="1"/>
          </p:cNvPicPr>
          <p:nvPr/>
        </p:nvPicPr>
        <p:blipFill>
          <a:blip r:embed="rId3"/>
          <a:stretch>
            <a:fillRect/>
          </a:stretch>
        </p:blipFill>
        <p:spPr>
          <a:xfrm>
            <a:off x="7997803" y="3697786"/>
            <a:ext cx="2904280" cy="2778196"/>
          </a:xfrm>
          <a:prstGeom prst="rect">
            <a:avLst/>
          </a:prstGeom>
        </p:spPr>
      </p:pic>
    </p:spTree>
    <p:extLst>
      <p:ext uri="{BB962C8B-B14F-4D97-AF65-F5344CB8AC3E}">
        <p14:creationId xmlns:p14="http://schemas.microsoft.com/office/powerpoint/2010/main" val="3032118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035E-5966-ACBC-1783-900155DF7A40}"/>
              </a:ext>
            </a:extLst>
          </p:cNvPr>
          <p:cNvSpPr>
            <a:spLocks noGrp="1"/>
          </p:cNvSpPr>
          <p:nvPr>
            <p:ph type="title"/>
          </p:nvPr>
        </p:nvSpPr>
        <p:spPr>
          <a:xfrm>
            <a:off x="291822" y="315549"/>
            <a:ext cx="10515600" cy="1325563"/>
          </a:xfrm>
        </p:spPr>
        <p:txBody>
          <a:bodyPr/>
          <a:lstStyle/>
          <a:p>
            <a:r>
              <a:rPr lang="en-US" dirty="0">
                <a:solidFill>
                  <a:schemeClr val="bg2">
                    <a:lumMod val="50000"/>
                  </a:schemeClr>
                </a:solidFill>
                <a:latin typeface="Perpetua" panose="02020502060401020303" pitchFamily="18" charset="77"/>
              </a:rPr>
              <a:t>CAKE TABLE </a:t>
            </a:r>
          </a:p>
        </p:txBody>
      </p:sp>
      <p:sp>
        <p:nvSpPr>
          <p:cNvPr id="8" name="TextBox 7">
            <a:extLst>
              <a:ext uri="{FF2B5EF4-FFF2-40B4-BE49-F238E27FC236}">
                <a16:creationId xmlns:a16="http://schemas.microsoft.com/office/drawing/2014/main" id="{00BA0D7C-2976-B139-E634-692625262AAD}"/>
              </a:ext>
            </a:extLst>
          </p:cNvPr>
          <p:cNvSpPr txBox="1"/>
          <p:nvPr/>
        </p:nvSpPr>
        <p:spPr>
          <a:xfrm>
            <a:off x="291822" y="2717733"/>
            <a:ext cx="4922729" cy="3416320"/>
          </a:xfrm>
          <a:prstGeom prst="rect">
            <a:avLst/>
          </a:prstGeom>
          <a:noFill/>
        </p:spPr>
        <p:txBody>
          <a:bodyPr wrap="square" rtlCol="0">
            <a:spAutoFit/>
          </a:bodyPr>
          <a:lstStyle/>
          <a:p>
            <a:r>
              <a:rPr lang="en-US" sz="2400" dirty="0">
                <a:solidFill>
                  <a:schemeClr val="bg2">
                    <a:lumMod val="50000"/>
                  </a:schemeClr>
                </a:solidFill>
                <a:latin typeface="Perpetua" panose="02020502060401020303" pitchFamily="18" charset="77"/>
              </a:rPr>
              <a:t>The Cake table style will harmonize with the rest of the décor. </a:t>
            </a:r>
          </a:p>
          <a:p>
            <a:endParaRPr lang="en-US" sz="2400" dirty="0">
              <a:solidFill>
                <a:schemeClr val="bg2">
                  <a:lumMod val="50000"/>
                </a:schemeClr>
              </a:solidFill>
              <a:latin typeface="Perpetua" panose="02020502060401020303" pitchFamily="18" charset="77"/>
            </a:endParaRPr>
          </a:p>
          <a:p>
            <a:r>
              <a:rPr lang="en-US" sz="2400" b="0" i="0" dirty="0">
                <a:solidFill>
                  <a:schemeClr val="bg2">
                    <a:lumMod val="50000"/>
                  </a:schemeClr>
                </a:solidFill>
                <a:effectLst/>
                <a:latin typeface="Perpetua" panose="02020502060401020303" pitchFamily="18" charset="77"/>
              </a:rPr>
              <a:t>The idea is to have  all the ceremony aisle flower arrangements to be re purposed as picture. </a:t>
            </a:r>
            <a:r>
              <a:rPr lang="en-US" sz="2400" dirty="0">
                <a:solidFill>
                  <a:schemeClr val="bg2">
                    <a:lumMod val="50000"/>
                  </a:schemeClr>
                </a:solidFill>
                <a:latin typeface="Perpetua" panose="02020502060401020303" pitchFamily="18" charset="77"/>
                <a:sym typeface="Wingdings" pitchFamily="2" charset="2"/>
              </a:rPr>
              <a:t></a:t>
            </a:r>
          </a:p>
          <a:p>
            <a:endParaRPr lang="en-US" sz="2400" dirty="0">
              <a:solidFill>
                <a:schemeClr val="bg2">
                  <a:lumMod val="50000"/>
                </a:schemeClr>
              </a:solidFill>
              <a:latin typeface="Perpetua" panose="02020502060401020303" pitchFamily="18" charset="77"/>
              <a:sym typeface="Wingdings" pitchFamily="2" charset="2"/>
            </a:endParaRPr>
          </a:p>
          <a:p>
            <a:endParaRPr lang="en-US" sz="2400" dirty="0">
              <a:solidFill>
                <a:schemeClr val="bg2">
                  <a:lumMod val="50000"/>
                </a:schemeClr>
              </a:solidFill>
              <a:latin typeface="Perpetua" panose="02020502060401020303" pitchFamily="18" charset="77"/>
            </a:endParaRPr>
          </a:p>
          <a:p>
            <a:endParaRPr lang="en-US" sz="2400" dirty="0">
              <a:solidFill>
                <a:schemeClr val="bg2">
                  <a:lumMod val="50000"/>
                </a:schemeClr>
              </a:solidFill>
              <a:latin typeface="Perpetua" panose="02020502060401020303" pitchFamily="18" charset="77"/>
            </a:endParaRPr>
          </a:p>
        </p:txBody>
      </p:sp>
      <p:pic>
        <p:nvPicPr>
          <p:cNvPr id="5" name="Picture 4" descr="A cake on a table&#10;&#10;Description automatically generated">
            <a:extLst>
              <a:ext uri="{FF2B5EF4-FFF2-40B4-BE49-F238E27FC236}">
                <a16:creationId xmlns:a16="http://schemas.microsoft.com/office/drawing/2014/main" id="{A41C5BAF-411E-28C5-C456-BBA58BA7037D}"/>
              </a:ext>
            </a:extLst>
          </p:cNvPr>
          <p:cNvPicPr>
            <a:picLocks noChangeAspect="1"/>
          </p:cNvPicPr>
          <p:nvPr/>
        </p:nvPicPr>
        <p:blipFill>
          <a:blip r:embed="rId2"/>
          <a:stretch>
            <a:fillRect/>
          </a:stretch>
        </p:blipFill>
        <p:spPr>
          <a:xfrm>
            <a:off x="8280850" y="315549"/>
            <a:ext cx="3619328" cy="4601951"/>
          </a:xfrm>
          <a:prstGeom prst="rect">
            <a:avLst/>
          </a:prstGeom>
        </p:spPr>
      </p:pic>
      <p:pic>
        <p:nvPicPr>
          <p:cNvPr id="7" name="Picture 6" descr="A cake with flowers on a table&#10;&#10;Description automatically generated">
            <a:extLst>
              <a:ext uri="{FF2B5EF4-FFF2-40B4-BE49-F238E27FC236}">
                <a16:creationId xmlns:a16="http://schemas.microsoft.com/office/drawing/2014/main" id="{796C787F-5F94-7CC2-4122-BA4F498DEBBA}"/>
              </a:ext>
            </a:extLst>
          </p:cNvPr>
          <p:cNvPicPr>
            <a:picLocks noChangeAspect="1"/>
          </p:cNvPicPr>
          <p:nvPr/>
        </p:nvPicPr>
        <p:blipFill>
          <a:blip r:embed="rId3"/>
          <a:stretch>
            <a:fillRect/>
          </a:stretch>
        </p:blipFill>
        <p:spPr>
          <a:xfrm>
            <a:off x="5386722" y="645621"/>
            <a:ext cx="3181457" cy="3941805"/>
          </a:xfrm>
          <a:prstGeom prst="rect">
            <a:avLst/>
          </a:prstGeom>
        </p:spPr>
      </p:pic>
      <p:pic>
        <p:nvPicPr>
          <p:cNvPr id="10" name="Picture 9" descr="A cake with flowers around it&#10;&#10;Description automatically generated">
            <a:extLst>
              <a:ext uri="{FF2B5EF4-FFF2-40B4-BE49-F238E27FC236}">
                <a16:creationId xmlns:a16="http://schemas.microsoft.com/office/drawing/2014/main" id="{E08E50B2-A0BD-C33F-2DB3-B3915D11B2B9}"/>
              </a:ext>
            </a:extLst>
          </p:cNvPr>
          <p:cNvPicPr>
            <a:picLocks noChangeAspect="1"/>
          </p:cNvPicPr>
          <p:nvPr/>
        </p:nvPicPr>
        <p:blipFill>
          <a:blip r:embed="rId4"/>
          <a:stretch>
            <a:fillRect/>
          </a:stretch>
        </p:blipFill>
        <p:spPr>
          <a:xfrm>
            <a:off x="8395761" y="3889136"/>
            <a:ext cx="2411661" cy="2716872"/>
          </a:xfrm>
          <a:prstGeom prst="rect">
            <a:avLst/>
          </a:prstGeom>
        </p:spPr>
      </p:pic>
    </p:spTree>
    <p:extLst>
      <p:ext uri="{BB962C8B-B14F-4D97-AF65-F5344CB8AC3E}">
        <p14:creationId xmlns:p14="http://schemas.microsoft.com/office/powerpoint/2010/main" val="1053509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1233609" y="1143000"/>
            <a:ext cx="10258425" cy="988562"/>
          </a:xfrm>
          <a:prstGeom prst="rect">
            <a:avLst/>
          </a:prstGeom>
        </p:spPr>
        <p:txBody>
          <a:bodyPr vert="horz" lIns="91440" tIns="45720" rIns="91440" bIns="45720" rtlCol="0" anchor="t">
            <a:normAutofit fontScale="85000" lnSpcReduction="10000"/>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GUEST FAVORS &amp; EXTRA PROPS IDEAS: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cxnSp>
        <p:nvCxnSpPr>
          <p:cNvPr id="34" name="Straight Connector 3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ign and a box of bubbles&#10;&#10;AI-generated content may be incorrect.">
            <a:extLst>
              <a:ext uri="{FF2B5EF4-FFF2-40B4-BE49-F238E27FC236}">
                <a16:creationId xmlns:a16="http://schemas.microsoft.com/office/drawing/2014/main" id="{57F5A768-657B-8B1C-A1AC-B5ABA92A399C}"/>
              </a:ext>
            </a:extLst>
          </p:cNvPr>
          <p:cNvPicPr>
            <a:picLocks noChangeAspect="1"/>
          </p:cNvPicPr>
          <p:nvPr/>
        </p:nvPicPr>
        <p:blipFill>
          <a:blip r:embed="rId2"/>
          <a:stretch>
            <a:fillRect/>
          </a:stretch>
        </p:blipFill>
        <p:spPr>
          <a:xfrm>
            <a:off x="699966" y="2057400"/>
            <a:ext cx="3229749" cy="4521648"/>
          </a:xfrm>
          <a:prstGeom prst="rect">
            <a:avLst/>
          </a:prstGeom>
        </p:spPr>
      </p:pic>
      <p:sp>
        <p:nvSpPr>
          <p:cNvPr id="5" name="TextBox 4">
            <a:extLst>
              <a:ext uri="{FF2B5EF4-FFF2-40B4-BE49-F238E27FC236}">
                <a16:creationId xmlns:a16="http://schemas.microsoft.com/office/drawing/2014/main" id="{93AF2503-0D8E-232B-F64E-331097E41099}"/>
              </a:ext>
            </a:extLst>
          </p:cNvPr>
          <p:cNvSpPr txBox="1"/>
          <p:nvPr/>
        </p:nvSpPr>
        <p:spPr>
          <a:xfrm>
            <a:off x="4105396" y="2399631"/>
            <a:ext cx="2257425" cy="707886"/>
          </a:xfrm>
          <a:prstGeom prst="rect">
            <a:avLst/>
          </a:prstGeom>
          <a:noFill/>
        </p:spPr>
        <p:txBody>
          <a:bodyPr wrap="square" rtlCol="0">
            <a:spAutoFit/>
          </a:bodyPr>
          <a:lstStyle/>
          <a:p>
            <a:r>
              <a:rPr lang="en-US" sz="2000" dirty="0">
                <a:solidFill>
                  <a:schemeClr val="bg2">
                    <a:lumMod val="50000"/>
                  </a:schemeClr>
                </a:solidFill>
                <a:latin typeface="Perpetua" panose="02020502060401020303" pitchFamily="18" charset="77"/>
              </a:rPr>
              <a:t>Bubble sign + bubble send off for 30 guests</a:t>
            </a:r>
          </a:p>
        </p:txBody>
      </p:sp>
      <p:pic>
        <p:nvPicPr>
          <p:cNvPr id="7" name="Picture 6" descr="A box of macaroons with a gold ribbon&#10;&#10;AI-generated content may be incorrect.">
            <a:extLst>
              <a:ext uri="{FF2B5EF4-FFF2-40B4-BE49-F238E27FC236}">
                <a16:creationId xmlns:a16="http://schemas.microsoft.com/office/drawing/2014/main" id="{5E909394-84FA-D0E7-C051-A89D0BFD1D85}"/>
              </a:ext>
            </a:extLst>
          </p:cNvPr>
          <p:cNvPicPr>
            <a:picLocks noChangeAspect="1"/>
          </p:cNvPicPr>
          <p:nvPr/>
        </p:nvPicPr>
        <p:blipFill>
          <a:blip r:embed="rId3"/>
          <a:stretch>
            <a:fillRect/>
          </a:stretch>
        </p:blipFill>
        <p:spPr>
          <a:xfrm>
            <a:off x="8063277" y="2090992"/>
            <a:ext cx="3962400" cy="4454463"/>
          </a:xfrm>
          <a:prstGeom prst="rect">
            <a:avLst/>
          </a:prstGeom>
        </p:spPr>
      </p:pic>
      <p:sp>
        <p:nvSpPr>
          <p:cNvPr id="8" name="TextBox 7">
            <a:extLst>
              <a:ext uri="{FF2B5EF4-FFF2-40B4-BE49-F238E27FC236}">
                <a16:creationId xmlns:a16="http://schemas.microsoft.com/office/drawing/2014/main" id="{7FB24B29-A52A-5B9C-D0DF-4719C5AF4972}"/>
              </a:ext>
            </a:extLst>
          </p:cNvPr>
          <p:cNvSpPr txBox="1"/>
          <p:nvPr/>
        </p:nvSpPr>
        <p:spPr>
          <a:xfrm>
            <a:off x="6341331" y="4726439"/>
            <a:ext cx="1701107" cy="707886"/>
          </a:xfrm>
          <a:prstGeom prst="rect">
            <a:avLst/>
          </a:prstGeom>
          <a:noFill/>
        </p:spPr>
        <p:txBody>
          <a:bodyPr wrap="none" rtlCol="0">
            <a:spAutoFit/>
          </a:bodyPr>
          <a:lstStyle/>
          <a:p>
            <a:r>
              <a:rPr lang="en-US" sz="2000" dirty="0">
                <a:solidFill>
                  <a:schemeClr val="bg2">
                    <a:lumMod val="50000"/>
                  </a:schemeClr>
                </a:solidFill>
                <a:latin typeface="Perpetua" panose="02020502060401020303" pitchFamily="18" charset="77"/>
              </a:rPr>
              <a:t>Small customed </a:t>
            </a:r>
          </a:p>
          <a:p>
            <a:r>
              <a:rPr lang="en-US" sz="2000" dirty="0">
                <a:solidFill>
                  <a:schemeClr val="bg2">
                    <a:lumMod val="50000"/>
                  </a:schemeClr>
                </a:solidFill>
                <a:latin typeface="Perpetua" panose="02020502060401020303" pitchFamily="18" charset="77"/>
              </a:rPr>
              <a:t>macaroons box </a:t>
            </a:r>
          </a:p>
        </p:txBody>
      </p:sp>
    </p:spTree>
    <p:extLst>
      <p:ext uri="{BB962C8B-B14F-4D97-AF65-F5344CB8AC3E}">
        <p14:creationId xmlns:p14="http://schemas.microsoft.com/office/powerpoint/2010/main" val="2788542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687805" y="1349957"/>
            <a:ext cx="10816390" cy="4576125"/>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4000" dirty="0">
                <a:solidFill>
                  <a:schemeClr val="bg2">
                    <a:lumMod val="50000"/>
                  </a:schemeClr>
                </a:solidFill>
                <a:effectLst/>
                <a:latin typeface="Perpetua" panose="02020502060401020303" pitchFamily="18" charset="77"/>
                <a:ea typeface="Noto Sans"/>
                <a:cs typeface="Noto Sans"/>
              </a:rPr>
              <a:t>We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can’</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wai</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brin</a:t>
            </a:r>
            <a:r>
              <a:rPr lang="en-US" sz="4000" dirty="0">
                <a:solidFill>
                  <a:schemeClr val="bg2">
                    <a:lumMod val="50000"/>
                  </a:schemeClr>
                </a:solidFill>
                <a:effectLst/>
                <a:latin typeface="Perpetua" panose="02020502060401020303" pitchFamily="18" charset="77"/>
                <a:ea typeface="Noto Sans"/>
                <a:cs typeface="Noto Sans"/>
              </a:rPr>
              <a:t>g </a:t>
            </a:r>
            <a:r>
              <a:rPr lang="en-US" sz="4000" spc="-5" dirty="0">
                <a:solidFill>
                  <a:schemeClr val="bg2">
                    <a:lumMod val="50000"/>
                  </a:schemeClr>
                </a:solidFill>
                <a:effectLst/>
                <a:latin typeface="Perpetua" panose="02020502060401020303" pitchFamily="18" charset="77"/>
                <a:ea typeface="Noto Sans"/>
                <a:cs typeface="Noto Sans"/>
              </a:rPr>
              <a:t>you</a:t>
            </a:r>
            <a:r>
              <a:rPr lang="en-US" sz="4000" dirty="0">
                <a:solidFill>
                  <a:schemeClr val="bg2">
                    <a:lumMod val="50000"/>
                  </a:schemeClr>
                </a:solidFill>
                <a:effectLst/>
                <a:latin typeface="Perpetua" panose="02020502060401020303" pitchFamily="18" charset="77"/>
                <a:ea typeface="Noto Sans"/>
                <a:cs typeface="Noto Sans"/>
              </a:rPr>
              <a:t>r </a:t>
            </a:r>
            <a:r>
              <a:rPr lang="en-US" sz="4000" spc="-5" dirty="0">
                <a:solidFill>
                  <a:schemeClr val="bg2">
                    <a:lumMod val="50000"/>
                  </a:schemeClr>
                </a:solidFill>
                <a:effectLst/>
                <a:latin typeface="Perpetua" panose="02020502060401020303" pitchFamily="18" charset="77"/>
                <a:ea typeface="Noto Sans"/>
                <a:cs typeface="Noto Sans"/>
              </a:rPr>
              <a:t>visio</a:t>
            </a:r>
            <a:r>
              <a:rPr lang="en-US" sz="4000" dirty="0">
                <a:solidFill>
                  <a:schemeClr val="bg2">
                    <a:lumMod val="50000"/>
                  </a:schemeClr>
                </a:solidFill>
                <a:effectLst/>
                <a:latin typeface="Perpetua" panose="02020502060401020303" pitchFamily="18" charset="77"/>
                <a:ea typeface="Noto Sans"/>
                <a:cs typeface="Noto Sans"/>
              </a:rPr>
              <a:t>n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life</a:t>
            </a:r>
            <a:r>
              <a:rPr lang="en-US" sz="4000" dirty="0">
                <a:solidFill>
                  <a:schemeClr val="bg2">
                    <a:lumMod val="50000"/>
                  </a:schemeClr>
                </a:solidFill>
                <a:effectLst/>
                <a:latin typeface="Perpetua" panose="02020502060401020303" pitchFamily="18" charset="77"/>
                <a:ea typeface="Noto Sans"/>
                <a:cs typeface="Noto Sans"/>
              </a:rPr>
              <a:t>!</a:t>
            </a: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lgn="ctr">
              <a:spcBef>
                <a:spcPts val="4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845185" marR="681355" algn="ctr">
              <a:lnSpc>
                <a:spcPct val="102000"/>
              </a:lnSpc>
              <a:spcBef>
                <a:spcPts val="52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The concepts (written and images) in this proposal are symbolic of the design inspiration we intend to bring to life for your event. Due to the characteristics of perishable items (flowers), there can be situations that may emerge that are completely out of our control. </a:t>
            </a:r>
            <a:endParaRPr lang="en-US" sz="2400" dirty="0">
              <a:solidFill>
                <a:schemeClr val="bg2">
                  <a:lumMod val="50000"/>
                </a:schemeClr>
              </a:solidFill>
              <a:latin typeface="Perpetua" panose="02020502060401020303" pitchFamily="18" charset="77"/>
              <a:ea typeface="Noto Sans"/>
              <a:cs typeface="Noto Sans"/>
            </a:endParaRPr>
          </a:p>
          <a:p>
            <a:pPr marL="845185" marR="681355" algn="ctr">
              <a:lnSpc>
                <a:spcPct val="102000"/>
              </a:lnSpc>
              <a:spcBef>
                <a:spcPts val="525"/>
              </a:spcBef>
              <a:spcAft>
                <a:spcPts val="0"/>
              </a:spcAft>
            </a:pPr>
            <a:endParaRPr lang="en-US" sz="2400" dirty="0">
              <a:solidFill>
                <a:schemeClr val="bg2">
                  <a:lumMod val="50000"/>
                </a:schemeClr>
              </a:solidFill>
              <a:effectLst/>
              <a:latin typeface="Perpetua" panose="02020502060401020303" pitchFamily="18" charset="77"/>
              <a:ea typeface="Noto Sans"/>
              <a:cs typeface="Noto Sans"/>
            </a:endParaRPr>
          </a:p>
          <a:p>
            <a:pPr marL="839470" marR="675005" indent="-635" algn="ctr">
              <a:lnSpc>
                <a:spcPct val="102000"/>
              </a:lnSpc>
              <a:spcBef>
                <a:spcPts val="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To protect the integrity of our creativity, we kindly ask that you do not share the details of this proposal with other vendors bidding for your event. This was made just for </a:t>
            </a:r>
            <a:r>
              <a:rPr lang="en-US" sz="2400" i="1" dirty="0">
                <a:solidFill>
                  <a:schemeClr val="bg2">
                    <a:lumMod val="50000"/>
                  </a:schemeClr>
                </a:solidFill>
                <a:effectLst/>
                <a:latin typeface="Perpetua" panose="02020502060401020303" pitchFamily="18" charset="77"/>
                <a:ea typeface="Noto Sans"/>
                <a:cs typeface="Noto Sans"/>
              </a:rPr>
              <a:t>you</a:t>
            </a:r>
            <a:r>
              <a:rPr lang="en-US" sz="2400" dirty="0">
                <a:solidFill>
                  <a:schemeClr val="bg2">
                    <a:lumMod val="50000"/>
                  </a:schemeClr>
                </a:solidFill>
                <a:effectLst/>
                <a:latin typeface="Perpetua" panose="02020502060401020303" pitchFamily="18" charset="77"/>
                <a:ea typeface="Noto Sans"/>
                <a:cs typeface="Noto Sans"/>
              </a:rPr>
              <a:t>. However, please feel free to share this with your family.</a:t>
            </a:r>
          </a:p>
        </p:txBody>
      </p:sp>
    </p:spTree>
    <p:extLst>
      <p:ext uri="{BB962C8B-B14F-4D97-AF65-F5344CB8AC3E}">
        <p14:creationId xmlns:p14="http://schemas.microsoft.com/office/powerpoint/2010/main" val="4008270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784251" y="308601"/>
            <a:ext cx="9275046" cy="3476080"/>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FOR PLANNER AND FLORIST  TEAM ONLY </a:t>
            </a:r>
            <a:r>
              <a:rPr lang="en-US" sz="2400" b="1" dirty="0">
                <a:solidFill>
                  <a:schemeClr val="accent5">
                    <a:lumMod val="60000"/>
                    <a:lumOff val="40000"/>
                  </a:schemeClr>
                </a:solidFill>
                <a:latin typeface="Perpetua" panose="02020502060401020303" pitchFamily="18" charset="77"/>
                <a:ea typeface="Noto Sans"/>
                <a:cs typeface="Noto Sans"/>
              </a:rPr>
              <a:t>(FRENCH):</a:t>
            </a:r>
          </a:p>
          <a:p>
            <a:pPr marL="616585" marR="513715">
              <a:lnSpc>
                <a:spcPct val="98000"/>
              </a:lnSpc>
              <a:spcBef>
                <a:spcPts val="480"/>
              </a:spcBef>
              <a:spcAft>
                <a:spcPts val="0"/>
              </a:spcAft>
            </a:pP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Bouquet de </a:t>
            </a:r>
            <a:r>
              <a:rPr lang="en-US" dirty="0" err="1">
                <a:solidFill>
                  <a:schemeClr val="bg2">
                    <a:lumMod val="50000"/>
                  </a:schemeClr>
                </a:solidFill>
                <a:latin typeface="Perpetua" panose="02020502060401020303" pitchFamily="18" charset="77"/>
                <a:ea typeface="Noto Sans"/>
                <a:cs typeface="Noto Sans"/>
              </a:rPr>
              <a:t>mariée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Boutonnière du </a:t>
            </a:r>
            <a:r>
              <a:rPr lang="en-US" dirty="0" err="1">
                <a:solidFill>
                  <a:schemeClr val="bg2">
                    <a:lumMod val="50000"/>
                  </a:schemeClr>
                </a:solidFill>
                <a:latin typeface="Perpetua" panose="02020502060401020303" pitchFamily="18" charset="77"/>
                <a:ea typeface="Noto Sans"/>
                <a:cs typeface="Noto Sans"/>
              </a:rPr>
              <a:t>marié</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Décor de la </a:t>
            </a:r>
            <a:r>
              <a:rPr lang="en-US" dirty="0" err="1">
                <a:solidFill>
                  <a:schemeClr val="bg2">
                    <a:lumMod val="50000"/>
                  </a:schemeClr>
                </a:solidFill>
                <a:latin typeface="Perpetua" panose="02020502060401020303" pitchFamily="18" charset="77"/>
                <a:ea typeface="Noto Sans"/>
                <a:cs typeface="Noto Sans"/>
              </a:rPr>
              <a:t>Cérémonie</a:t>
            </a:r>
            <a:r>
              <a:rPr lang="en-US" dirty="0">
                <a:solidFill>
                  <a:schemeClr val="bg2">
                    <a:lumMod val="50000"/>
                  </a:schemeClr>
                </a:solidFill>
                <a:latin typeface="Perpetua" panose="02020502060401020303" pitchFamily="18" charset="77"/>
                <a:ea typeface="Noto Sans"/>
                <a:cs typeface="Noto Sans"/>
              </a:rPr>
              <a:t> et de </a:t>
            </a:r>
            <a:r>
              <a:rPr lang="en-US" dirty="0" err="1">
                <a:solidFill>
                  <a:schemeClr val="bg2">
                    <a:lumMod val="50000"/>
                  </a:schemeClr>
                </a:solidFill>
                <a:latin typeface="Perpetua" panose="02020502060401020303" pitchFamily="18" charset="77"/>
                <a:ea typeface="Noto Sans"/>
                <a:cs typeface="Noto Sans"/>
              </a:rPr>
              <a:t>l’allée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Table </a:t>
            </a:r>
            <a:r>
              <a:rPr lang="en-US" dirty="0" err="1">
                <a:solidFill>
                  <a:schemeClr val="bg2">
                    <a:lumMod val="50000"/>
                  </a:schemeClr>
                </a:solidFill>
                <a:latin typeface="Perpetua" panose="02020502060401020303" pitchFamily="18" charset="77"/>
                <a:ea typeface="Noto Sans"/>
                <a:cs typeface="Noto Sans"/>
              </a:rPr>
              <a:t>rectangulaire</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jusqu’à</a:t>
            </a:r>
            <a:r>
              <a:rPr lang="en-US" dirty="0">
                <a:solidFill>
                  <a:schemeClr val="bg2">
                    <a:lumMod val="50000"/>
                  </a:schemeClr>
                </a:solidFill>
                <a:latin typeface="Perpetua" panose="02020502060401020303" pitchFamily="18" charset="77"/>
                <a:ea typeface="Noto Sans"/>
                <a:cs typeface="Noto Sans"/>
              </a:rPr>
              <a:t> 15 </a:t>
            </a:r>
            <a:r>
              <a:rPr lang="en-US" dirty="0" err="1">
                <a:solidFill>
                  <a:schemeClr val="bg2">
                    <a:lumMod val="50000"/>
                  </a:schemeClr>
                </a:solidFill>
                <a:latin typeface="Perpetua" panose="02020502060401020303" pitchFamily="18" charset="77"/>
                <a:ea typeface="Noto Sans"/>
                <a:cs typeface="Noto Sans"/>
              </a:rPr>
              <a:t>invités</a:t>
            </a:r>
            <a:r>
              <a:rPr lang="en-US" dirty="0">
                <a:solidFill>
                  <a:schemeClr val="bg2">
                    <a:lumMod val="50000"/>
                  </a:schemeClr>
                </a:solidFill>
                <a:latin typeface="Perpetua" panose="02020502060401020303" pitchFamily="18" charset="77"/>
                <a:ea typeface="Noto Sans"/>
                <a:cs typeface="Noto Sans"/>
              </a:rPr>
              <a:t> de </a:t>
            </a:r>
            <a:r>
              <a:rPr lang="en-US" dirty="0" err="1">
                <a:solidFill>
                  <a:schemeClr val="bg2">
                    <a:lumMod val="50000"/>
                  </a:schemeClr>
                </a:solidFill>
                <a:latin typeface="Perpetua" panose="02020502060401020303" pitchFamily="18" charset="77"/>
                <a:ea typeface="Noto Sans"/>
                <a:cs typeface="Noto Sans"/>
              </a:rPr>
              <a:t>chaque</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coté</a:t>
            </a:r>
            <a:r>
              <a:rPr lang="en-US" dirty="0">
                <a:solidFill>
                  <a:schemeClr val="bg2">
                    <a:lumMod val="50000"/>
                  </a:schemeClr>
                </a:solidFill>
                <a:latin typeface="Perpetua" panose="02020502060401020303" pitchFamily="18" charset="77"/>
                <a:ea typeface="Noto Sans"/>
                <a:cs typeface="Noto Sans"/>
              </a:rPr>
              <a:t>)</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4 Tables mange </a:t>
            </a:r>
            <a:r>
              <a:rPr lang="en-US" dirty="0" err="1">
                <a:solidFill>
                  <a:schemeClr val="bg2">
                    <a:lumMod val="50000"/>
                  </a:schemeClr>
                </a:solidFill>
                <a:latin typeface="Perpetua" panose="02020502060401020303" pitchFamily="18" charset="77"/>
                <a:ea typeface="Noto Sans"/>
                <a:cs typeface="Noto Sans"/>
              </a:rPr>
              <a:t>debout</a:t>
            </a:r>
            <a:r>
              <a:rPr lang="en-US" dirty="0">
                <a:solidFill>
                  <a:schemeClr val="bg2">
                    <a:lumMod val="50000"/>
                  </a:schemeClr>
                </a:solidFill>
                <a:latin typeface="Perpetua" panose="02020502060401020303" pitchFamily="18" charset="77"/>
                <a:ea typeface="Noto Sans"/>
                <a:cs typeface="Noto Sans"/>
              </a:rPr>
              <a:t> pour </a:t>
            </a:r>
            <a:r>
              <a:rPr lang="en-US" dirty="0" err="1">
                <a:solidFill>
                  <a:schemeClr val="bg2">
                    <a:lumMod val="50000"/>
                  </a:schemeClr>
                </a:solidFill>
                <a:latin typeface="Perpetua" panose="02020502060401020303" pitchFamily="18" charset="77"/>
                <a:ea typeface="Noto Sans"/>
                <a:cs typeface="Noto Sans"/>
              </a:rPr>
              <a:t>l'heure</a:t>
            </a:r>
            <a:r>
              <a:rPr lang="en-US" dirty="0">
                <a:solidFill>
                  <a:schemeClr val="bg2">
                    <a:lumMod val="50000"/>
                  </a:schemeClr>
                </a:solidFill>
                <a:latin typeface="Perpetua" panose="02020502060401020303" pitchFamily="18" charset="77"/>
                <a:ea typeface="Noto Sans"/>
                <a:cs typeface="Noto Sans"/>
              </a:rPr>
              <a:t> du cocktail</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la seating chart/Plan de table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le welcome sign / </a:t>
            </a:r>
            <a:r>
              <a:rPr lang="en-US" dirty="0" err="1">
                <a:solidFill>
                  <a:schemeClr val="bg2">
                    <a:lumMod val="50000"/>
                  </a:schemeClr>
                </a:solidFill>
                <a:latin typeface="Perpetua" panose="02020502060401020303" pitchFamily="18" charset="77"/>
                <a:ea typeface="Noto Sans"/>
                <a:cs typeface="Noto Sans"/>
              </a:rPr>
              <a:t>panneau</a:t>
            </a:r>
            <a:r>
              <a:rPr lang="en-US" dirty="0">
                <a:solidFill>
                  <a:schemeClr val="bg2">
                    <a:lumMod val="50000"/>
                  </a:schemeClr>
                </a:solidFill>
                <a:latin typeface="Perpetua" panose="02020502060401020303" pitchFamily="18" charset="77"/>
                <a:ea typeface="Noto Sans"/>
                <a:cs typeface="Noto Sans"/>
              </a:rPr>
              <a:t> de </a:t>
            </a:r>
            <a:r>
              <a:rPr lang="en-US" dirty="0" err="1">
                <a:solidFill>
                  <a:schemeClr val="bg2">
                    <a:lumMod val="50000"/>
                  </a:schemeClr>
                </a:solidFill>
                <a:latin typeface="Perpetua" panose="02020502060401020303" pitchFamily="18" charset="77"/>
                <a:ea typeface="Noto Sans"/>
                <a:cs typeface="Noto Sans"/>
              </a:rPr>
              <a:t>bienvenue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Re disposition des fleurs pour la table du Wedding Cake </a:t>
            </a: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4422</TotalTime>
  <Words>823</Words>
  <Application>Microsoft Macintosh PowerPoint</Application>
  <PresentationFormat>Widescreen</PresentationFormat>
  <Paragraphs>76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Helvetica Neue Medium</vt:lpstr>
      <vt:lpstr>Perpetua</vt:lpstr>
      <vt:lpstr>Office Theme</vt:lpstr>
      <vt:lpstr>TOMIKO &amp; ADAM’S WEDDING</vt:lpstr>
      <vt:lpstr>COLOR PALETTE</vt:lpstr>
      <vt:lpstr>CEREMONY DECOR – GENERAL IDEA   </vt:lpstr>
      <vt:lpstr>AISLE  DECOR   </vt:lpstr>
      <vt:lpstr>AISLE RUNNER     </vt:lpstr>
      <vt:lpstr>BRIDAL BOUQUET &amp; BOUTONNIERE</vt:lpstr>
      <vt:lpstr>COCKTAIL</vt:lpstr>
      <vt:lpstr>PowerPoint Presentation</vt:lpstr>
      <vt:lpstr>PowerPoint Presentation</vt:lpstr>
      <vt:lpstr>PowerPoint Presentation</vt:lpstr>
      <vt:lpstr>PowerPoint Presentation</vt:lpstr>
      <vt:lpstr>CAKE TABLE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72</cp:revision>
  <dcterms:created xsi:type="dcterms:W3CDTF">2020-01-16T20:29:49Z</dcterms:created>
  <dcterms:modified xsi:type="dcterms:W3CDTF">2025-07-02T14:08:24Z</dcterms:modified>
</cp:coreProperties>
</file>