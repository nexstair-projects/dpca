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6" r:id="rId1"/>
  </p:sldMasterIdLst>
  <p:notesMasterIdLst>
    <p:notesMasterId r:id="rId39"/>
  </p:notesMasterIdLst>
  <p:sldIdLst>
    <p:sldId id="256" r:id="rId2"/>
    <p:sldId id="378" r:id="rId3"/>
    <p:sldId id="258" r:id="rId4"/>
    <p:sldId id="383" r:id="rId5"/>
    <p:sldId id="404" r:id="rId6"/>
    <p:sldId id="333" r:id="rId7"/>
    <p:sldId id="395" r:id="rId8"/>
    <p:sldId id="263" r:id="rId9"/>
    <p:sldId id="384" r:id="rId10"/>
    <p:sldId id="265" r:id="rId11"/>
    <p:sldId id="390" r:id="rId12"/>
    <p:sldId id="307" r:id="rId13"/>
    <p:sldId id="337" r:id="rId14"/>
    <p:sldId id="368" r:id="rId15"/>
    <p:sldId id="366" r:id="rId16"/>
    <p:sldId id="386" r:id="rId17"/>
    <p:sldId id="387" r:id="rId18"/>
    <p:sldId id="388" r:id="rId19"/>
    <p:sldId id="406" r:id="rId20"/>
    <p:sldId id="407" r:id="rId21"/>
    <p:sldId id="385" r:id="rId22"/>
    <p:sldId id="369" r:id="rId23"/>
    <p:sldId id="391" r:id="rId24"/>
    <p:sldId id="370" r:id="rId25"/>
    <p:sldId id="401" r:id="rId26"/>
    <p:sldId id="361" r:id="rId27"/>
    <p:sldId id="345" r:id="rId28"/>
    <p:sldId id="348" r:id="rId29"/>
    <p:sldId id="315" r:id="rId30"/>
    <p:sldId id="405" r:id="rId31"/>
    <p:sldId id="350" r:id="rId32"/>
    <p:sldId id="363" r:id="rId33"/>
    <p:sldId id="364" r:id="rId34"/>
    <p:sldId id="402" r:id="rId35"/>
    <p:sldId id="403" r:id="rId36"/>
    <p:sldId id="290" r:id="rId37"/>
    <p:sldId id="329"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6EE"/>
    <a:srgbClr val="FEF1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2ED171-5C47-5D46-8C2B-2B618B865F1B}" v="4" dt="2026-02-15T09:46:31.9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056"/>
    <p:restoredTop sz="93156"/>
  </p:normalViewPr>
  <p:slideViewPr>
    <p:cSldViewPr snapToGrid="0" snapToObjects="1">
      <p:cViewPr varScale="1">
        <p:scale>
          <a:sx n="101" d="100"/>
          <a:sy n="101" d="100"/>
        </p:scale>
        <p:origin x="224" y="42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AE4590-D35A-8142-86AA-90D125960F78}" type="datetimeFigureOut">
              <a:rPr lang="fr-FR" smtClean="0"/>
              <a:t>17/02/2026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7486C1-5F9D-AA45-B7ED-A387EFD3B1ED}" type="slidenum">
              <a:rPr lang="fr-FR" smtClean="0"/>
              <a:t>‹#›</a:t>
            </a:fld>
            <a:endParaRPr lang="fr-FR"/>
          </a:p>
        </p:txBody>
      </p:sp>
    </p:spTree>
    <p:extLst>
      <p:ext uri="{BB962C8B-B14F-4D97-AF65-F5344CB8AC3E}">
        <p14:creationId xmlns:p14="http://schemas.microsoft.com/office/powerpoint/2010/main" val="362582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0D7486C1-5F9D-AA45-B7ED-A387EFD3B1ED}" type="slidenum">
              <a:rPr lang="fr-FR" smtClean="0"/>
              <a:t>7</a:t>
            </a:fld>
            <a:endParaRPr lang="fr-FR"/>
          </a:p>
        </p:txBody>
      </p:sp>
    </p:spTree>
    <p:extLst>
      <p:ext uri="{BB962C8B-B14F-4D97-AF65-F5344CB8AC3E}">
        <p14:creationId xmlns:p14="http://schemas.microsoft.com/office/powerpoint/2010/main" val="1513184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7486C1-5F9D-AA45-B7ED-A387EFD3B1ED}" type="slidenum">
              <a:rPr lang="fr-FR" smtClean="0"/>
              <a:t>10</a:t>
            </a:fld>
            <a:endParaRPr lang="fr-FR"/>
          </a:p>
        </p:txBody>
      </p:sp>
    </p:spTree>
    <p:extLst>
      <p:ext uri="{BB962C8B-B14F-4D97-AF65-F5344CB8AC3E}">
        <p14:creationId xmlns:p14="http://schemas.microsoft.com/office/powerpoint/2010/main" val="509525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EF5B4-BB35-EDD2-BF46-A3763C8C9C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73826A-F72A-192B-014A-35AA159439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DEFE80-93C3-6F6B-311F-0D4654A4BD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1A83F9-1943-98A7-7FD3-96315797EDB0}"/>
              </a:ext>
            </a:extLst>
          </p:cNvPr>
          <p:cNvSpPr>
            <a:spLocks noGrp="1"/>
          </p:cNvSpPr>
          <p:nvPr>
            <p:ph type="sldNum" sz="quarter" idx="5"/>
          </p:nvPr>
        </p:nvSpPr>
        <p:spPr/>
        <p:txBody>
          <a:bodyPr/>
          <a:lstStyle/>
          <a:p>
            <a:fld id="{0D7486C1-5F9D-AA45-B7ED-A387EFD3B1ED}" type="slidenum">
              <a:rPr lang="fr-FR" smtClean="0"/>
              <a:t>11</a:t>
            </a:fld>
            <a:endParaRPr lang="fr-FR"/>
          </a:p>
        </p:txBody>
      </p:sp>
    </p:spTree>
    <p:extLst>
      <p:ext uri="{BB962C8B-B14F-4D97-AF65-F5344CB8AC3E}">
        <p14:creationId xmlns:p14="http://schemas.microsoft.com/office/powerpoint/2010/main" val="40636015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0D7486C1-5F9D-AA45-B7ED-A387EFD3B1ED}" type="slidenum">
              <a:rPr lang="fr-FR" smtClean="0"/>
              <a:t>23</a:t>
            </a:fld>
            <a:endParaRPr lang="fr-FR"/>
          </a:p>
        </p:txBody>
      </p:sp>
    </p:spTree>
    <p:extLst>
      <p:ext uri="{BB962C8B-B14F-4D97-AF65-F5344CB8AC3E}">
        <p14:creationId xmlns:p14="http://schemas.microsoft.com/office/powerpoint/2010/main" val="5926900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7486C1-5F9D-AA45-B7ED-A387EFD3B1ED}" type="slidenum">
              <a:rPr lang="fr-FR" smtClean="0"/>
              <a:t>31</a:t>
            </a:fld>
            <a:endParaRPr lang="fr-FR"/>
          </a:p>
        </p:txBody>
      </p:sp>
    </p:spTree>
    <p:extLst>
      <p:ext uri="{BB962C8B-B14F-4D97-AF65-F5344CB8AC3E}">
        <p14:creationId xmlns:p14="http://schemas.microsoft.com/office/powerpoint/2010/main" val="2790620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92275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87501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40417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2/17/26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47543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2/17/26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83017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2/17/26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26620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2/17/26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758865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01110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220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5595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31463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2/17/26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59564783"/>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3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2.jpg"/></Relationships>
</file>

<file path=ppt/slides/_rels/slide24.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3.jpg"/></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71437"/>
            <a:ext cx="9144000" cy="2387600"/>
          </a:xfrm>
        </p:spPr>
        <p:txBody>
          <a:bodyPr/>
          <a:lstStyle/>
          <a:p>
            <a:r>
              <a:rPr lang="fr-FR" dirty="0">
                <a:solidFill>
                  <a:schemeClr val="bg2">
                    <a:lumMod val="50000"/>
                  </a:schemeClr>
                </a:solidFill>
                <a:latin typeface="Perpetua" panose="02020502060401020303" pitchFamily="18" charset="77"/>
              </a:rPr>
              <a:t>KIARA &amp; SEAN’S</a:t>
            </a:r>
            <a:br>
              <a:rPr lang="fr-FR" dirty="0">
                <a:solidFill>
                  <a:schemeClr val="bg2">
                    <a:lumMod val="50000"/>
                  </a:schemeClr>
                </a:solidFill>
                <a:latin typeface="Perpetua" panose="02020502060401020303" pitchFamily="18" charset="77"/>
              </a:rPr>
            </a:br>
            <a:r>
              <a:rPr lang="fr-FR" dirty="0">
                <a:solidFill>
                  <a:schemeClr val="bg2">
                    <a:lumMod val="50000"/>
                  </a:schemeClr>
                </a:solidFill>
                <a:latin typeface="Perpetua" panose="02020502060401020303" pitchFamily="18" charset="77"/>
              </a:rPr>
              <a:t>WEDDING</a:t>
            </a:r>
          </a:p>
        </p:txBody>
      </p:sp>
      <p:sp>
        <p:nvSpPr>
          <p:cNvPr id="3" name="Sous-titre 2"/>
          <p:cNvSpPr>
            <a:spLocks noGrp="1"/>
          </p:cNvSpPr>
          <p:nvPr>
            <p:ph type="subTitle" idx="1"/>
          </p:nvPr>
        </p:nvSpPr>
        <p:spPr>
          <a:xfrm>
            <a:off x="478138" y="3429000"/>
            <a:ext cx="10807323" cy="3419474"/>
          </a:xfrm>
        </p:spPr>
        <p:txBody>
          <a:bodyPr>
            <a:normAutofit/>
          </a:bodyPr>
          <a:lstStyle/>
          <a:p>
            <a:r>
              <a:rPr lang="fr-FR" dirty="0">
                <a:solidFill>
                  <a:schemeClr val="bg2">
                    <a:lumMod val="50000"/>
                  </a:schemeClr>
                </a:solidFill>
                <a:latin typeface="Perpetua" panose="02020502060401020303" pitchFamily="18" charset="77"/>
                <a:ea typeface="Perpetua" charset="0"/>
                <a:cs typeface="Perpetua" charset="0"/>
              </a:rPr>
              <a:t>MAY 25TH, 2026</a:t>
            </a:r>
          </a:p>
          <a:p>
            <a:r>
              <a:rPr lang="fr-FR" dirty="0">
                <a:solidFill>
                  <a:schemeClr val="bg2">
                    <a:lumMod val="50000"/>
                  </a:schemeClr>
                </a:solidFill>
                <a:latin typeface="Perpetua" panose="02020502060401020303" pitchFamily="18" charset="77"/>
                <a:ea typeface="Perpetua" charset="0"/>
                <a:cs typeface="Perpetua" charset="0"/>
              </a:rPr>
              <a:t>80 GUESTS</a:t>
            </a:r>
          </a:p>
          <a:p>
            <a:r>
              <a:rPr lang="fr-FR" dirty="0">
                <a:solidFill>
                  <a:schemeClr val="bg2">
                    <a:lumMod val="50000"/>
                  </a:schemeClr>
                </a:solidFill>
                <a:latin typeface="Perpetua" panose="02020502060401020303" pitchFamily="18" charset="77"/>
                <a:ea typeface="Perpetua" charset="0"/>
                <a:cs typeface="Perpetua" charset="0"/>
              </a:rPr>
              <a:t>SHANGRI-LA, PARIS</a:t>
            </a:r>
          </a:p>
          <a:p>
            <a:endParaRPr lang="fr-FR" sz="1200" dirty="0">
              <a:solidFill>
                <a:schemeClr val="bg2">
                  <a:lumMod val="50000"/>
                </a:schemeClr>
              </a:solidFill>
              <a:latin typeface="Perpetua" panose="02020502060401020303" pitchFamily="18" charset="77"/>
            </a:endParaRPr>
          </a:p>
          <a:p>
            <a:r>
              <a:rPr lang="fr-FR" sz="2800" dirty="0">
                <a:solidFill>
                  <a:schemeClr val="bg2">
                    <a:lumMod val="50000"/>
                  </a:schemeClr>
                </a:solidFill>
                <a:latin typeface="Perpetua" panose="02020502060401020303" pitchFamily="18" charset="77"/>
              </a:rPr>
              <a:t>WEDDING MOOD BOARD</a:t>
            </a:r>
          </a:p>
          <a:p>
            <a:endParaRPr lang="fr-FR" dirty="0"/>
          </a:p>
        </p:txBody>
      </p:sp>
    </p:spTree>
    <p:extLst>
      <p:ext uri="{BB962C8B-B14F-4D97-AF65-F5344CB8AC3E}">
        <p14:creationId xmlns:p14="http://schemas.microsoft.com/office/powerpoint/2010/main" val="1238801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825F492-105E-E0D9-6CCE-2D71240C594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5BE95AB-5C88-4B29-CD3D-306C617B3063}"/>
              </a:ext>
            </a:extLst>
          </p:cNvPr>
          <p:cNvSpPr>
            <a:spLocks noGrp="1"/>
          </p:cNvSpPr>
          <p:nvPr>
            <p:ph type="ctrTitle"/>
          </p:nvPr>
        </p:nvSpPr>
        <p:spPr>
          <a:xfrm>
            <a:off x="1523999" y="-228355"/>
            <a:ext cx="9144000" cy="1482725"/>
          </a:xfrm>
        </p:spPr>
        <p:txBody>
          <a:bodyPr/>
          <a:lstStyle/>
          <a:p>
            <a:r>
              <a:rPr lang="fr-FR" dirty="0">
                <a:solidFill>
                  <a:schemeClr val="bg2">
                    <a:lumMod val="50000"/>
                  </a:schemeClr>
                </a:solidFill>
                <a:latin typeface="Perpetua" panose="02020502060401020303" pitchFamily="18" charset="77"/>
              </a:rPr>
              <a:t>COLOR PALETTE</a:t>
            </a:r>
          </a:p>
        </p:txBody>
      </p:sp>
      <p:sp>
        <p:nvSpPr>
          <p:cNvPr id="3" name="Sous-titre 2">
            <a:extLst>
              <a:ext uri="{FF2B5EF4-FFF2-40B4-BE49-F238E27FC236}">
                <a16:creationId xmlns:a16="http://schemas.microsoft.com/office/drawing/2014/main" id="{DF1D652F-6489-69DF-0620-175C6914946E}"/>
              </a:ext>
            </a:extLst>
          </p:cNvPr>
          <p:cNvSpPr>
            <a:spLocks noGrp="1"/>
          </p:cNvSpPr>
          <p:nvPr>
            <p:ph type="subTitle" idx="1"/>
          </p:nvPr>
        </p:nvSpPr>
        <p:spPr>
          <a:xfrm>
            <a:off x="366608" y="2602523"/>
            <a:ext cx="11458783" cy="3083536"/>
          </a:xfrm>
        </p:spPr>
        <p:txBody>
          <a:bodyPr>
            <a:normAutofit/>
          </a:bodyPr>
          <a:lstStyle/>
          <a:p>
            <a:endParaRPr lang="fr-FR" sz="2000" dirty="0">
              <a:solidFill>
                <a:schemeClr val="bg2">
                  <a:lumMod val="50000"/>
                </a:schemeClr>
              </a:solidFill>
              <a:latin typeface="Perpetua" panose="02020502060401020303" pitchFamily="18" charset="77"/>
              <a:ea typeface="Perpetua" charset="0"/>
              <a:cs typeface="Perpetua" charset="0"/>
            </a:endParaRPr>
          </a:p>
          <a:p>
            <a:r>
              <a:rPr lang="fr-FR" sz="2000" u="sng" dirty="0">
                <a:solidFill>
                  <a:schemeClr val="bg2">
                    <a:lumMod val="50000"/>
                  </a:schemeClr>
                </a:solidFill>
                <a:latin typeface="Perpetua" panose="02020502060401020303" pitchFamily="18" charset="77"/>
                <a:ea typeface="Perpetua" charset="0"/>
                <a:cs typeface="Perpetua" charset="0"/>
              </a:rPr>
              <a:t>MAY 25TH, 2026: </a:t>
            </a:r>
          </a:p>
          <a:p>
            <a:r>
              <a:rPr lang="fr-FR" sz="1700" b="1" dirty="0">
                <a:solidFill>
                  <a:schemeClr val="bg2">
                    <a:lumMod val="50000"/>
                  </a:schemeClr>
                </a:solidFill>
                <a:latin typeface="Perpetua" panose="02020502060401020303" pitchFamily="18" charset="77"/>
                <a:ea typeface="Perpetua" charset="0"/>
                <a:cs typeface="Perpetua" charset="0"/>
              </a:rPr>
              <a:t>CEREMONY: </a:t>
            </a:r>
            <a:r>
              <a:rPr lang="fr-FR" sz="1800" dirty="0">
                <a:solidFill>
                  <a:schemeClr val="bg2">
                    <a:lumMod val="50000"/>
                  </a:schemeClr>
                </a:solidFill>
                <a:latin typeface="Perpetua" panose="02020502060401020303" pitchFamily="18" charset="77"/>
                <a:ea typeface="Perpetua" charset="0"/>
                <a:cs typeface="Perpetua" charset="0"/>
              </a:rPr>
              <a:t>WARM WHITE/GREENERY/LIGHT PINK</a:t>
            </a:r>
          </a:p>
          <a:p>
            <a:r>
              <a:rPr lang="fr-FR" sz="1800" b="1" dirty="0">
                <a:solidFill>
                  <a:schemeClr val="bg2">
                    <a:lumMod val="50000"/>
                  </a:schemeClr>
                </a:solidFill>
                <a:latin typeface="Perpetua" panose="02020502060401020303" pitchFamily="18" charset="77"/>
                <a:ea typeface="Perpetua" charset="0"/>
                <a:cs typeface="Perpetua" charset="0"/>
              </a:rPr>
              <a:t>BOUQUET: </a:t>
            </a:r>
            <a:r>
              <a:rPr lang="fr-FR" sz="1800" dirty="0">
                <a:solidFill>
                  <a:schemeClr val="bg2">
                    <a:lumMod val="50000"/>
                  </a:schemeClr>
                </a:solidFill>
                <a:latin typeface="Perpetua" panose="02020502060401020303" pitchFamily="18" charset="77"/>
                <a:ea typeface="Perpetua" charset="0"/>
                <a:cs typeface="Perpetua" charset="0"/>
              </a:rPr>
              <a:t>WARM WHITE/LIGHT PINK</a:t>
            </a:r>
          </a:p>
          <a:p>
            <a:r>
              <a:rPr lang="fr-FR" sz="1800" b="1" dirty="0">
                <a:solidFill>
                  <a:schemeClr val="bg2">
                    <a:lumMod val="50000"/>
                  </a:schemeClr>
                </a:solidFill>
                <a:latin typeface="Perpetua" panose="02020502060401020303" pitchFamily="18" charset="77"/>
                <a:ea typeface="Perpetua" charset="0"/>
                <a:cs typeface="Perpetua" charset="0"/>
              </a:rPr>
              <a:t>COCKTAIL &amp; </a:t>
            </a:r>
            <a:r>
              <a:rPr lang="fr-FR" sz="1700" b="1" dirty="0">
                <a:solidFill>
                  <a:schemeClr val="bg2">
                    <a:lumMod val="50000"/>
                  </a:schemeClr>
                </a:solidFill>
                <a:latin typeface="Perpetua" panose="02020502060401020303" pitchFamily="18" charset="77"/>
                <a:ea typeface="Perpetua" charset="0"/>
                <a:cs typeface="Perpetua" charset="0"/>
              </a:rPr>
              <a:t>RECEPTION/DINNER: </a:t>
            </a:r>
            <a:r>
              <a:rPr lang="fr-FR" sz="1800" dirty="0">
                <a:solidFill>
                  <a:schemeClr val="bg2">
                    <a:lumMod val="50000"/>
                  </a:schemeClr>
                </a:solidFill>
                <a:latin typeface="Perpetua" panose="02020502060401020303" pitchFamily="18" charset="77"/>
                <a:ea typeface="Perpetua" charset="0"/>
                <a:cs typeface="Perpetua" charset="0"/>
              </a:rPr>
              <a:t>WARM WHITE/LIGHT PINK</a:t>
            </a:r>
          </a:p>
          <a:p>
            <a:r>
              <a:rPr lang="fr-FR" sz="1800" b="1" dirty="0">
                <a:solidFill>
                  <a:schemeClr val="bg2">
                    <a:lumMod val="50000"/>
                  </a:schemeClr>
                </a:solidFill>
                <a:latin typeface="Perpetua" panose="02020502060401020303" pitchFamily="18" charset="77"/>
                <a:ea typeface="Perpetua" charset="0"/>
                <a:cs typeface="Perpetua" charset="0"/>
              </a:rPr>
              <a:t>WELCOME PARTY: </a:t>
            </a:r>
            <a:r>
              <a:rPr lang="fr-FR" sz="1800" dirty="0">
                <a:solidFill>
                  <a:schemeClr val="bg2">
                    <a:lumMod val="50000"/>
                  </a:schemeClr>
                </a:solidFill>
                <a:latin typeface="Perpetua" panose="02020502060401020303" pitchFamily="18" charset="77"/>
                <a:ea typeface="Perpetua" charset="0"/>
                <a:cs typeface="Perpetua" charset="0"/>
              </a:rPr>
              <a:t>WARMWHITE/GREENERY/LIGHT PINK</a:t>
            </a:r>
          </a:p>
        </p:txBody>
      </p:sp>
    </p:spTree>
    <p:extLst>
      <p:ext uri="{BB962C8B-B14F-4D97-AF65-F5344CB8AC3E}">
        <p14:creationId xmlns:p14="http://schemas.microsoft.com/office/powerpoint/2010/main" val="703309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621816" y="961947"/>
            <a:ext cx="3686174" cy="1322888"/>
          </a:xfrm>
        </p:spPr>
        <p:txBody>
          <a:bodyPr>
            <a:normAutofit/>
          </a:bodyPr>
          <a:lstStyle/>
          <a:p>
            <a:r>
              <a:rPr lang="fr-FR" sz="3200" dirty="0">
                <a:solidFill>
                  <a:schemeClr val="bg2">
                    <a:lumMod val="50000"/>
                  </a:schemeClr>
                </a:solidFill>
                <a:latin typeface="Perpetua" panose="02020502060401020303" pitchFamily="18" charset="77"/>
              </a:rPr>
              <a:t>CEREMONY DECOR </a:t>
            </a:r>
            <a:br>
              <a:rPr lang="fr-FR" sz="2400" i="1" dirty="0">
                <a:latin typeface="Perpetua" panose="02020502060401020303" pitchFamily="18" charset="77"/>
              </a:rPr>
            </a:br>
            <a:br>
              <a:rPr lang="fr-FR" sz="2400" dirty="0">
                <a:latin typeface="Perpetua" panose="02020502060401020303" pitchFamily="18" charset="77"/>
              </a:rPr>
            </a:br>
            <a:endParaRPr lang="fr-FR" sz="2400" b="1" i="1" dirty="0">
              <a:latin typeface="Perpetua" panose="02020502060401020303" pitchFamily="18" charset="77"/>
            </a:endParaRPr>
          </a:p>
        </p:txBody>
      </p:sp>
      <p:sp>
        <p:nvSpPr>
          <p:cNvPr id="10" name="Content Placeholder 9">
            <a:extLst>
              <a:ext uri="{FF2B5EF4-FFF2-40B4-BE49-F238E27FC236}">
                <a16:creationId xmlns:a16="http://schemas.microsoft.com/office/drawing/2014/main" id="{54886570-2773-479B-B710-D0ADE12BEB19}"/>
              </a:ext>
            </a:extLst>
          </p:cNvPr>
          <p:cNvSpPr>
            <a:spLocks noGrp="1"/>
          </p:cNvSpPr>
          <p:nvPr>
            <p:ph idx="1"/>
          </p:nvPr>
        </p:nvSpPr>
        <p:spPr>
          <a:xfrm>
            <a:off x="209382" y="3246782"/>
            <a:ext cx="4609198" cy="1175730"/>
          </a:xfrm>
        </p:spPr>
        <p:txBody>
          <a:bodyPr>
            <a:normAutofit/>
          </a:bodyPr>
          <a:lstStyle/>
          <a:p>
            <a:pPr marL="0" indent="0" algn="ctr">
              <a:buNone/>
            </a:pPr>
            <a:r>
              <a:rPr lang="en-US" sz="3000" dirty="0">
                <a:solidFill>
                  <a:schemeClr val="bg2">
                    <a:lumMod val="50000"/>
                  </a:schemeClr>
                </a:solidFill>
                <a:latin typeface="Perpetua" panose="02020502060401020303" pitchFamily="18" charset="77"/>
              </a:rPr>
              <a:t>The ceremony will take place at Shangri-La, Paris.</a:t>
            </a:r>
          </a:p>
          <a:p>
            <a:pPr>
              <a:buNone/>
            </a:pPr>
            <a:endParaRPr lang="en-US" sz="2000" dirty="0">
              <a:solidFill>
                <a:schemeClr val="bg2">
                  <a:lumMod val="50000"/>
                </a:schemeClr>
              </a:solidFill>
              <a:latin typeface="Perpetua" panose="02020502060401020303" pitchFamily="18" charset="77"/>
            </a:endParaRPr>
          </a:p>
          <a:p>
            <a:pPr>
              <a:buNone/>
            </a:pPr>
            <a:endParaRPr lang="en-US" sz="1800" dirty="0">
              <a:solidFill>
                <a:schemeClr val="bg2">
                  <a:lumMod val="50000"/>
                </a:schemeClr>
              </a:solidFill>
              <a:latin typeface="Perpetua" panose="02020502060401020303" pitchFamily="18" charset="77"/>
            </a:endParaRPr>
          </a:p>
          <a:p>
            <a:pPr>
              <a:buNone/>
            </a:pPr>
            <a:endParaRPr lang="en-US" sz="1800" dirty="0">
              <a:solidFill>
                <a:schemeClr val="bg2">
                  <a:lumMod val="50000"/>
                </a:schemeClr>
              </a:solidFill>
              <a:latin typeface="Perpetua" panose="02020502060401020303" pitchFamily="18" charset="77"/>
            </a:endParaRPr>
          </a:p>
        </p:txBody>
      </p:sp>
      <p:pic>
        <p:nvPicPr>
          <p:cNvPr id="14" name="Picture 13">
            <a:extLst>
              <a:ext uri="{FF2B5EF4-FFF2-40B4-BE49-F238E27FC236}">
                <a16:creationId xmlns:a16="http://schemas.microsoft.com/office/drawing/2014/main" id="{45997538-E5BA-94E1-392D-8B302028F323}"/>
              </a:ext>
            </a:extLst>
          </p:cNvPr>
          <p:cNvPicPr>
            <a:picLocks noChangeAspect="1"/>
          </p:cNvPicPr>
          <p:nvPr/>
        </p:nvPicPr>
        <p:blipFill>
          <a:blip r:embed="rId2"/>
          <a:srcRect/>
          <a:stretch/>
        </p:blipFill>
        <p:spPr>
          <a:xfrm>
            <a:off x="5028876" y="1338383"/>
            <a:ext cx="6541308" cy="4181233"/>
          </a:xfrm>
          <a:prstGeom prst="rect">
            <a:avLst/>
          </a:prstGeom>
        </p:spPr>
      </p:pic>
    </p:spTree>
    <p:extLst>
      <p:ext uri="{BB962C8B-B14F-4D97-AF65-F5344CB8AC3E}">
        <p14:creationId xmlns:p14="http://schemas.microsoft.com/office/powerpoint/2010/main" val="1741831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3C54D27-C850-ECF9-8290-038F57B8606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5C3DF00-291C-59D9-3D2F-AA74A39B32C2}"/>
              </a:ext>
            </a:extLst>
          </p:cNvPr>
          <p:cNvSpPr>
            <a:spLocks noGrp="1"/>
          </p:cNvSpPr>
          <p:nvPr>
            <p:ph type="title"/>
          </p:nvPr>
        </p:nvSpPr>
        <p:spPr>
          <a:xfrm>
            <a:off x="1458562" y="539984"/>
            <a:ext cx="3686174" cy="1322888"/>
          </a:xfrm>
        </p:spPr>
        <p:txBody>
          <a:bodyPr>
            <a:normAutofit fontScale="90000"/>
          </a:bodyPr>
          <a:lstStyle/>
          <a:p>
            <a:r>
              <a:rPr lang="fr-FR" sz="3100" dirty="0">
                <a:solidFill>
                  <a:schemeClr val="bg2">
                    <a:lumMod val="50000"/>
                  </a:schemeClr>
                </a:solidFill>
                <a:latin typeface="Perpetua" panose="02020502060401020303" pitchFamily="18" charset="77"/>
              </a:rPr>
              <a:t>CEREMONY DECOR </a:t>
            </a:r>
            <a:r>
              <a:rPr lang="fr-FR" sz="3100" dirty="0">
                <a:solidFill>
                  <a:schemeClr val="bg2">
                    <a:lumMod val="50000"/>
                  </a:schemeClr>
                </a:solidFill>
                <a:highlight>
                  <a:srgbClr val="FFFF00"/>
                </a:highlight>
                <a:latin typeface="Perpetua" panose="02020502060401020303" pitchFamily="18" charset="77"/>
              </a:rPr>
              <a:t>– OPTION 1 </a:t>
            </a:r>
            <a:br>
              <a:rPr lang="fr-FR" sz="2100" i="1" dirty="0">
                <a:latin typeface="Perpetua" panose="02020502060401020303" pitchFamily="18" charset="77"/>
              </a:rPr>
            </a:br>
            <a:br>
              <a:rPr lang="fr-FR" sz="2100" dirty="0">
                <a:latin typeface="Perpetua" panose="02020502060401020303" pitchFamily="18" charset="77"/>
              </a:rPr>
            </a:br>
            <a:endParaRPr lang="fr-FR" sz="2100" b="1" i="1" dirty="0">
              <a:latin typeface="Perpetua" panose="02020502060401020303" pitchFamily="18" charset="77"/>
            </a:endParaRPr>
          </a:p>
        </p:txBody>
      </p:sp>
      <p:sp>
        <p:nvSpPr>
          <p:cNvPr id="10" name="Content Placeholder 9">
            <a:extLst>
              <a:ext uri="{FF2B5EF4-FFF2-40B4-BE49-F238E27FC236}">
                <a16:creationId xmlns:a16="http://schemas.microsoft.com/office/drawing/2014/main" id="{43B354DD-EFF8-EEE9-1D20-2EDAA6E36630}"/>
              </a:ext>
            </a:extLst>
          </p:cNvPr>
          <p:cNvSpPr>
            <a:spLocks noGrp="1"/>
          </p:cNvSpPr>
          <p:nvPr>
            <p:ph idx="1"/>
          </p:nvPr>
        </p:nvSpPr>
        <p:spPr>
          <a:xfrm>
            <a:off x="936136" y="1862872"/>
            <a:ext cx="4731026" cy="3838194"/>
          </a:xfrm>
        </p:spPr>
        <p:txBody>
          <a:bodyPr>
            <a:normAutofit/>
          </a:bodyPr>
          <a:lstStyle/>
          <a:p>
            <a:pPr marL="0" indent="0">
              <a:buNone/>
            </a:pPr>
            <a:br>
              <a:rPr lang="en-US" sz="4000" dirty="0">
                <a:solidFill>
                  <a:schemeClr val="bg2">
                    <a:lumMod val="50000"/>
                  </a:schemeClr>
                </a:solidFill>
                <a:latin typeface="Perpetua" panose="02020502060401020303" pitchFamily="18" charset="77"/>
              </a:rPr>
            </a:br>
            <a:endParaRPr lang="en-US" dirty="0">
              <a:solidFill>
                <a:schemeClr val="bg2">
                  <a:lumMod val="50000"/>
                </a:schemeClr>
              </a:solidFill>
              <a:latin typeface="Perpetua" panose="02020502060401020303" pitchFamily="18" charset="77"/>
            </a:endParaRPr>
          </a:p>
          <a:p>
            <a:r>
              <a:rPr lang="en-US" sz="2200" dirty="0">
                <a:solidFill>
                  <a:schemeClr val="bg2">
                    <a:lumMod val="50000"/>
                  </a:schemeClr>
                </a:solidFill>
                <a:latin typeface="Perpetua" panose="02020502060401020303" pitchFamily="18" charset="77"/>
              </a:rPr>
              <a:t>A rectangular floral arch will be adorned with a refined mix of warm white and light pink spring florals, complemented by subtle touches of greenery</a:t>
            </a:r>
          </a:p>
          <a:p>
            <a:pPr marL="0" indent="0" fontAlgn="base">
              <a:buNone/>
            </a:pPr>
            <a:endParaRPr lang="en-US" sz="3600" dirty="0">
              <a:solidFill>
                <a:schemeClr val="bg2">
                  <a:lumMod val="50000"/>
                </a:schemeClr>
              </a:solidFill>
              <a:latin typeface="Perpetua" panose="02020502060401020303" pitchFamily="18" charset="77"/>
            </a:endParaRPr>
          </a:p>
        </p:txBody>
      </p:sp>
      <p:pic>
        <p:nvPicPr>
          <p:cNvPr id="12" name="Picture 11">
            <a:extLst>
              <a:ext uri="{FF2B5EF4-FFF2-40B4-BE49-F238E27FC236}">
                <a16:creationId xmlns:a16="http://schemas.microsoft.com/office/drawing/2014/main" id="{892A865E-3242-FACC-E73E-412114DB5E8E}"/>
              </a:ext>
            </a:extLst>
          </p:cNvPr>
          <p:cNvPicPr>
            <a:picLocks noChangeAspect="1"/>
          </p:cNvPicPr>
          <p:nvPr/>
        </p:nvPicPr>
        <p:blipFill>
          <a:blip r:embed="rId2"/>
          <a:srcRect l="48064" t="13244" r="2061" b="34257"/>
          <a:stretch>
            <a:fillRect/>
          </a:stretch>
        </p:blipFill>
        <p:spPr>
          <a:xfrm>
            <a:off x="7509161" y="390235"/>
            <a:ext cx="3556001" cy="6077529"/>
          </a:xfrm>
          <a:prstGeom prst="rect">
            <a:avLst/>
          </a:prstGeom>
        </p:spPr>
      </p:pic>
    </p:spTree>
    <p:extLst>
      <p:ext uri="{BB962C8B-B14F-4D97-AF65-F5344CB8AC3E}">
        <p14:creationId xmlns:p14="http://schemas.microsoft.com/office/powerpoint/2010/main" val="4000810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CC29B89-8062-73FB-2BA4-7D123591F35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A6BFF38-AF45-CFE9-02B2-19012DA28C0B}"/>
              </a:ext>
            </a:extLst>
          </p:cNvPr>
          <p:cNvSpPr>
            <a:spLocks noGrp="1"/>
          </p:cNvSpPr>
          <p:nvPr>
            <p:ph type="title"/>
          </p:nvPr>
        </p:nvSpPr>
        <p:spPr>
          <a:xfrm>
            <a:off x="1458562" y="539984"/>
            <a:ext cx="3686174" cy="1322888"/>
          </a:xfrm>
        </p:spPr>
        <p:txBody>
          <a:bodyPr>
            <a:normAutofit fontScale="90000"/>
          </a:bodyPr>
          <a:lstStyle/>
          <a:p>
            <a:r>
              <a:rPr lang="fr-FR" sz="3100" dirty="0">
                <a:solidFill>
                  <a:schemeClr val="bg2">
                    <a:lumMod val="50000"/>
                  </a:schemeClr>
                </a:solidFill>
                <a:latin typeface="Perpetua" panose="02020502060401020303" pitchFamily="18" charset="77"/>
              </a:rPr>
              <a:t>CEREMONY DECOR </a:t>
            </a:r>
            <a:r>
              <a:rPr lang="fr-FR" sz="3100" dirty="0">
                <a:solidFill>
                  <a:schemeClr val="bg2">
                    <a:lumMod val="50000"/>
                  </a:schemeClr>
                </a:solidFill>
                <a:highlight>
                  <a:srgbClr val="FFFF00"/>
                </a:highlight>
                <a:latin typeface="Perpetua" panose="02020502060401020303" pitchFamily="18" charset="77"/>
              </a:rPr>
              <a:t>– OPTION 2 </a:t>
            </a:r>
            <a:br>
              <a:rPr lang="fr-FR" sz="2100" i="1" dirty="0">
                <a:latin typeface="Perpetua" panose="02020502060401020303" pitchFamily="18" charset="77"/>
              </a:rPr>
            </a:br>
            <a:br>
              <a:rPr lang="fr-FR" sz="2100" dirty="0">
                <a:latin typeface="Perpetua" panose="02020502060401020303" pitchFamily="18" charset="77"/>
              </a:rPr>
            </a:br>
            <a:endParaRPr lang="fr-FR" sz="2100" b="1" i="1" dirty="0">
              <a:latin typeface="Perpetua" panose="02020502060401020303" pitchFamily="18" charset="77"/>
            </a:endParaRPr>
          </a:p>
        </p:txBody>
      </p:sp>
      <p:sp>
        <p:nvSpPr>
          <p:cNvPr id="10" name="Content Placeholder 9">
            <a:extLst>
              <a:ext uri="{FF2B5EF4-FFF2-40B4-BE49-F238E27FC236}">
                <a16:creationId xmlns:a16="http://schemas.microsoft.com/office/drawing/2014/main" id="{379D172B-5930-B5B4-E5AC-66AC71CF7344}"/>
              </a:ext>
            </a:extLst>
          </p:cNvPr>
          <p:cNvSpPr>
            <a:spLocks noGrp="1"/>
          </p:cNvSpPr>
          <p:nvPr>
            <p:ph idx="1"/>
          </p:nvPr>
        </p:nvSpPr>
        <p:spPr>
          <a:xfrm>
            <a:off x="936136" y="1862872"/>
            <a:ext cx="4731026" cy="3838194"/>
          </a:xfrm>
        </p:spPr>
        <p:txBody>
          <a:bodyPr>
            <a:normAutofit/>
          </a:bodyPr>
          <a:lstStyle/>
          <a:p>
            <a:pPr marL="0" indent="0">
              <a:buNone/>
            </a:pPr>
            <a:br>
              <a:rPr lang="en-US" sz="4000" dirty="0">
                <a:solidFill>
                  <a:schemeClr val="bg2">
                    <a:lumMod val="50000"/>
                  </a:schemeClr>
                </a:solidFill>
                <a:latin typeface="Perpetua" panose="02020502060401020303" pitchFamily="18" charset="77"/>
              </a:rPr>
            </a:br>
            <a:endParaRPr lang="en-US" sz="2400" dirty="0">
              <a:solidFill>
                <a:schemeClr val="bg2">
                  <a:lumMod val="50000"/>
                </a:schemeClr>
              </a:solidFill>
              <a:latin typeface="Perpetua" panose="02020502060401020303" pitchFamily="18" charset="77"/>
            </a:endParaRPr>
          </a:p>
          <a:p>
            <a:r>
              <a:rPr lang="en-US" sz="2400" dirty="0">
                <a:solidFill>
                  <a:schemeClr val="bg2">
                    <a:lumMod val="50000"/>
                  </a:schemeClr>
                </a:solidFill>
                <a:latin typeface="Perpetua" panose="02020502060401020303" pitchFamily="18" charset="77"/>
              </a:rPr>
              <a:t>This 2nd ceremony décor option features 4 white columns in 2 varying heights, each adorned with soft pink, blush, peach, and warm white spring florals, accented with light greenery. The columns will be placed on each side of the bride and groom, as shown in the reference image.</a:t>
            </a:r>
          </a:p>
        </p:txBody>
      </p:sp>
      <p:pic>
        <p:nvPicPr>
          <p:cNvPr id="4" name="Picture 3" descr="A group of white pillars with flowers&#10;&#10;AI-generated content may be incorrect.">
            <a:extLst>
              <a:ext uri="{FF2B5EF4-FFF2-40B4-BE49-F238E27FC236}">
                <a16:creationId xmlns:a16="http://schemas.microsoft.com/office/drawing/2014/main" id="{90E355DC-6D67-C9FE-E929-92B5CAF268A7}"/>
              </a:ext>
            </a:extLst>
          </p:cNvPr>
          <p:cNvPicPr>
            <a:picLocks noChangeAspect="1"/>
          </p:cNvPicPr>
          <p:nvPr/>
        </p:nvPicPr>
        <p:blipFill>
          <a:blip r:embed="rId2"/>
          <a:stretch>
            <a:fillRect/>
          </a:stretch>
        </p:blipFill>
        <p:spPr>
          <a:xfrm>
            <a:off x="6771861" y="442307"/>
            <a:ext cx="4518991" cy="6067953"/>
          </a:xfrm>
          <a:prstGeom prst="rect">
            <a:avLst/>
          </a:prstGeom>
        </p:spPr>
      </p:pic>
    </p:spTree>
    <p:extLst>
      <p:ext uri="{BB962C8B-B14F-4D97-AF65-F5344CB8AC3E}">
        <p14:creationId xmlns:p14="http://schemas.microsoft.com/office/powerpoint/2010/main" val="1881241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01DD16F-012C-D030-F5A2-B0602319371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103B704-9544-AB3A-54B7-F3D055C28341}"/>
              </a:ext>
            </a:extLst>
          </p:cNvPr>
          <p:cNvSpPr>
            <a:spLocks noGrp="1"/>
          </p:cNvSpPr>
          <p:nvPr>
            <p:ph type="title"/>
          </p:nvPr>
        </p:nvSpPr>
        <p:spPr>
          <a:xfrm>
            <a:off x="537717" y="1245138"/>
            <a:ext cx="6400807" cy="1351472"/>
          </a:xfrm>
        </p:spPr>
        <p:txBody>
          <a:bodyPr>
            <a:noAutofit/>
          </a:bodyPr>
          <a:lstStyle/>
          <a:p>
            <a:pPr algn="ctr"/>
            <a:r>
              <a:rPr lang="fr-FR" sz="4000" dirty="0">
                <a:solidFill>
                  <a:schemeClr val="bg2">
                    <a:lumMod val="50000"/>
                  </a:schemeClr>
                </a:solidFill>
                <a:latin typeface="Perpetua" panose="02020502060401020303" pitchFamily="18" charset="77"/>
              </a:rPr>
              <a:t>AISLE DECOR</a:t>
            </a:r>
            <a:br>
              <a:rPr lang="fr-FR" sz="4000" dirty="0">
                <a:solidFill>
                  <a:schemeClr val="bg2">
                    <a:lumMod val="50000"/>
                  </a:schemeClr>
                </a:solidFill>
                <a:latin typeface="Perpetua" panose="02020502060401020303" pitchFamily="18" charset="77"/>
              </a:rPr>
            </a:br>
            <a:br>
              <a:rPr lang="fr-FR" sz="4000" dirty="0">
                <a:solidFill>
                  <a:schemeClr val="bg2">
                    <a:lumMod val="50000"/>
                  </a:schemeClr>
                </a:solidFill>
                <a:latin typeface="Perpetua" panose="02020502060401020303" pitchFamily="18" charset="77"/>
              </a:rPr>
            </a:br>
            <a:br>
              <a:rPr lang="fr-FR" sz="3600" dirty="0">
                <a:solidFill>
                  <a:schemeClr val="tx1">
                    <a:lumMod val="85000"/>
                    <a:lumOff val="15000"/>
                  </a:schemeClr>
                </a:solidFill>
                <a:latin typeface="Perpetua" panose="02020502060401020303" pitchFamily="18" charset="77"/>
              </a:rPr>
            </a:br>
            <a:br>
              <a:rPr lang="fr-FR" sz="3600" dirty="0">
                <a:solidFill>
                  <a:schemeClr val="tx1">
                    <a:lumMod val="85000"/>
                    <a:lumOff val="15000"/>
                  </a:schemeClr>
                </a:solidFill>
                <a:latin typeface="Perpetua" panose="02020502060401020303" pitchFamily="18" charset="77"/>
              </a:rPr>
            </a:br>
            <a:endParaRPr lang="fr-FR" sz="3600" b="1" i="1" dirty="0">
              <a:solidFill>
                <a:schemeClr val="tx1">
                  <a:lumMod val="85000"/>
                  <a:lumOff val="15000"/>
                </a:schemeClr>
              </a:solidFill>
              <a:latin typeface="Perpetua" panose="02020502060401020303" pitchFamily="18" charset="77"/>
            </a:endParaRPr>
          </a:p>
        </p:txBody>
      </p:sp>
      <p:sp>
        <p:nvSpPr>
          <p:cNvPr id="10" name="Content Placeholder 9">
            <a:extLst>
              <a:ext uri="{FF2B5EF4-FFF2-40B4-BE49-F238E27FC236}">
                <a16:creationId xmlns:a16="http://schemas.microsoft.com/office/drawing/2014/main" id="{F84B8BCC-C1C7-50E5-692F-FB9876FB63BA}"/>
              </a:ext>
            </a:extLst>
          </p:cNvPr>
          <p:cNvSpPr>
            <a:spLocks noGrp="1"/>
          </p:cNvSpPr>
          <p:nvPr>
            <p:ph idx="1"/>
          </p:nvPr>
        </p:nvSpPr>
        <p:spPr>
          <a:xfrm>
            <a:off x="904168" y="2542866"/>
            <a:ext cx="5667904" cy="1772266"/>
          </a:xfrm>
        </p:spPr>
        <p:txBody>
          <a:bodyPr>
            <a:noAutofit/>
          </a:bodyPr>
          <a:lstStyle/>
          <a:p>
            <a:r>
              <a:rPr lang="en-US" sz="2200" dirty="0">
                <a:solidFill>
                  <a:schemeClr val="bg2">
                    <a:lumMod val="50000"/>
                  </a:schemeClr>
                </a:solidFill>
                <a:latin typeface="Perpetua" panose="02020502060401020303" pitchFamily="18" charset="77"/>
              </a:rPr>
              <a:t>Individual medium-sized rectangular floral arrangements (12 recommended — a minimum of 6 on each side), composed of seasonal blooms in warm white florals accented with subtle touches of light pink, as shown in the reference image. These arrangements will be artfully positioned along both sides of the aisle, creating an elegant and romantic pathway for the ceremony</a:t>
            </a:r>
          </a:p>
        </p:txBody>
      </p:sp>
      <p:pic>
        <p:nvPicPr>
          <p:cNvPr id="5" name="Picture 4">
            <a:extLst>
              <a:ext uri="{FF2B5EF4-FFF2-40B4-BE49-F238E27FC236}">
                <a16:creationId xmlns:a16="http://schemas.microsoft.com/office/drawing/2014/main" id="{3CCF60D9-B043-F103-7A9E-AC0CA5A23721}"/>
              </a:ext>
            </a:extLst>
          </p:cNvPr>
          <p:cNvPicPr>
            <a:picLocks noChangeAspect="1"/>
          </p:cNvPicPr>
          <p:nvPr/>
        </p:nvPicPr>
        <p:blipFill>
          <a:blip r:embed="rId2"/>
          <a:srcRect/>
          <a:stretch/>
        </p:blipFill>
        <p:spPr>
          <a:xfrm>
            <a:off x="7476241" y="600959"/>
            <a:ext cx="4524865" cy="5656081"/>
          </a:xfrm>
          <a:prstGeom prst="rect">
            <a:avLst/>
          </a:prstGeom>
        </p:spPr>
      </p:pic>
    </p:spTree>
    <p:extLst>
      <p:ext uri="{BB962C8B-B14F-4D97-AF65-F5344CB8AC3E}">
        <p14:creationId xmlns:p14="http://schemas.microsoft.com/office/powerpoint/2010/main" val="4070648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8B53A9F-AB44-FE77-CBEA-7D8CDF5D3C1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F3419BD-5073-F006-39AC-0806E66A8BC8}"/>
              </a:ext>
            </a:extLst>
          </p:cNvPr>
          <p:cNvSpPr>
            <a:spLocks noGrp="1"/>
          </p:cNvSpPr>
          <p:nvPr>
            <p:ph type="title"/>
          </p:nvPr>
        </p:nvSpPr>
        <p:spPr>
          <a:xfrm>
            <a:off x="1180318" y="421064"/>
            <a:ext cx="3686174" cy="1322888"/>
          </a:xfrm>
        </p:spPr>
        <p:txBody>
          <a:bodyPr>
            <a:normAutofit fontScale="90000"/>
          </a:bodyPr>
          <a:lstStyle/>
          <a:p>
            <a:pPr algn="ctr"/>
            <a:r>
              <a:rPr lang="fr-FR" sz="3100" dirty="0">
                <a:solidFill>
                  <a:schemeClr val="bg2">
                    <a:lumMod val="50000"/>
                  </a:schemeClr>
                </a:solidFill>
                <a:latin typeface="Perpetua" panose="02020502060401020303" pitchFamily="18" charset="77"/>
              </a:rPr>
              <a:t>AISLE DECOR – </a:t>
            </a:r>
            <a:r>
              <a:rPr lang="fr-FR" sz="3100" dirty="0">
                <a:solidFill>
                  <a:schemeClr val="bg2">
                    <a:lumMod val="50000"/>
                  </a:schemeClr>
                </a:solidFill>
                <a:highlight>
                  <a:srgbClr val="FFFF00"/>
                </a:highlight>
                <a:latin typeface="Perpetua" panose="02020502060401020303" pitchFamily="18" charset="77"/>
              </a:rPr>
              <a:t>OPTION 2</a:t>
            </a:r>
            <a:br>
              <a:rPr lang="fr-FR" sz="2100" i="1" dirty="0">
                <a:latin typeface="Perpetua" panose="02020502060401020303" pitchFamily="18" charset="77"/>
              </a:rPr>
            </a:br>
            <a:br>
              <a:rPr lang="fr-FR" sz="2100" dirty="0">
                <a:latin typeface="Perpetua" panose="02020502060401020303" pitchFamily="18" charset="77"/>
              </a:rPr>
            </a:br>
            <a:endParaRPr lang="fr-FR" sz="2100" b="1" i="1" dirty="0">
              <a:latin typeface="Perpetua" panose="02020502060401020303" pitchFamily="18" charset="77"/>
            </a:endParaRPr>
          </a:p>
        </p:txBody>
      </p:sp>
      <p:sp>
        <p:nvSpPr>
          <p:cNvPr id="10" name="Content Placeholder 9">
            <a:extLst>
              <a:ext uri="{FF2B5EF4-FFF2-40B4-BE49-F238E27FC236}">
                <a16:creationId xmlns:a16="http://schemas.microsoft.com/office/drawing/2014/main" id="{3C76D906-DF9D-7FBA-9EFA-854B0BCAD8C5}"/>
              </a:ext>
            </a:extLst>
          </p:cNvPr>
          <p:cNvSpPr>
            <a:spLocks noGrp="1"/>
          </p:cNvSpPr>
          <p:nvPr>
            <p:ph idx="1"/>
          </p:nvPr>
        </p:nvSpPr>
        <p:spPr>
          <a:xfrm>
            <a:off x="657892" y="2376416"/>
            <a:ext cx="4731026" cy="3507592"/>
          </a:xfrm>
        </p:spPr>
        <p:txBody>
          <a:bodyPr>
            <a:normAutofit/>
          </a:bodyPr>
          <a:lstStyle/>
          <a:p>
            <a:pPr marL="0" indent="0">
              <a:buNone/>
            </a:pPr>
            <a:endParaRPr lang="en-US" sz="2600" dirty="0">
              <a:solidFill>
                <a:schemeClr val="bg2">
                  <a:lumMod val="50000"/>
                </a:schemeClr>
              </a:solidFill>
              <a:latin typeface="Perpetua" panose="02020502060401020303" pitchFamily="18" charset="77"/>
            </a:endParaRPr>
          </a:p>
          <a:p>
            <a:r>
              <a:rPr lang="en-US" sz="2200" dirty="0">
                <a:solidFill>
                  <a:schemeClr val="bg2">
                    <a:lumMod val="50000"/>
                  </a:schemeClr>
                </a:solidFill>
                <a:latin typeface="Perpetua" panose="02020502060401020303" pitchFamily="18" charset="77"/>
              </a:rPr>
              <a:t>Lush greenery intertwined with seasonal white and soft pink florals will form garlands extending from side to side along both edges of the aisle, creating a romantic and immersive ceremony pathway</a:t>
            </a:r>
          </a:p>
        </p:txBody>
      </p:sp>
      <p:pic>
        <p:nvPicPr>
          <p:cNvPr id="4" name="Picture 3">
            <a:extLst>
              <a:ext uri="{FF2B5EF4-FFF2-40B4-BE49-F238E27FC236}">
                <a16:creationId xmlns:a16="http://schemas.microsoft.com/office/drawing/2014/main" id="{7E08EC80-980B-84FA-6C5E-AAF1F4848E12}"/>
              </a:ext>
            </a:extLst>
          </p:cNvPr>
          <p:cNvPicPr>
            <a:picLocks noChangeAspect="1"/>
          </p:cNvPicPr>
          <p:nvPr/>
        </p:nvPicPr>
        <p:blipFill>
          <a:blip r:embed="rId3"/>
          <a:srcRect t="20107"/>
          <a:stretch>
            <a:fillRect/>
          </a:stretch>
        </p:blipFill>
        <p:spPr>
          <a:xfrm>
            <a:off x="6290078" y="397904"/>
            <a:ext cx="5379496" cy="6062192"/>
          </a:xfrm>
          <a:prstGeom prst="rect">
            <a:avLst/>
          </a:prstGeom>
        </p:spPr>
      </p:pic>
    </p:spTree>
    <p:extLst>
      <p:ext uri="{BB962C8B-B14F-4D97-AF65-F5344CB8AC3E}">
        <p14:creationId xmlns:p14="http://schemas.microsoft.com/office/powerpoint/2010/main" val="2065696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2782025" y="1118296"/>
            <a:ext cx="9920985" cy="1415270"/>
          </a:xfrm>
        </p:spPr>
        <p:txBody>
          <a:bodyPr vert="horz" lIns="91440" tIns="45720" rIns="91440" bIns="45720" rtlCol="0" anchor="t">
            <a:normAutofit/>
          </a:bodyPr>
          <a:lstStyle/>
          <a:p>
            <a:pPr algn="ctr"/>
            <a:r>
              <a:rPr lang="en-US" sz="4000" kern="1200" dirty="0">
                <a:solidFill>
                  <a:schemeClr val="bg2">
                    <a:lumMod val="50000"/>
                  </a:schemeClr>
                </a:solidFill>
                <a:latin typeface="Perpetua" panose="02020502060401020303" pitchFamily="18" charset="77"/>
              </a:rPr>
              <a:t>BRIDAL BOUQUET</a:t>
            </a:r>
          </a:p>
        </p:txBody>
      </p:sp>
      <p:sp>
        <p:nvSpPr>
          <p:cNvPr id="18" name="Content Placeholder 17">
            <a:extLst>
              <a:ext uri="{FF2B5EF4-FFF2-40B4-BE49-F238E27FC236}">
                <a16:creationId xmlns:a16="http://schemas.microsoft.com/office/drawing/2014/main" id="{F55E19D7-7AAE-44AB-ADA9-038C66B41C04}"/>
              </a:ext>
            </a:extLst>
          </p:cNvPr>
          <p:cNvSpPr>
            <a:spLocks noGrp="1"/>
          </p:cNvSpPr>
          <p:nvPr>
            <p:ph idx="1"/>
          </p:nvPr>
        </p:nvSpPr>
        <p:spPr>
          <a:xfrm>
            <a:off x="3299791" y="1676672"/>
            <a:ext cx="8885453" cy="2529576"/>
          </a:xfrm>
        </p:spPr>
        <p:txBody>
          <a:bodyPr>
            <a:normAutofit/>
          </a:bodyPr>
          <a:lstStyle/>
          <a:p>
            <a:pPr marL="0" indent="0">
              <a:buNone/>
            </a:pPr>
            <a:endParaRPr lang="en-US" sz="2000" dirty="0">
              <a:latin typeface="Perpetua" panose="02020502060401020303" pitchFamily="18" charset="77"/>
            </a:endParaRPr>
          </a:p>
          <a:p>
            <a:pPr marL="0" indent="0">
              <a:buNone/>
            </a:pPr>
            <a:endParaRPr lang="en-US" sz="2000" dirty="0">
              <a:solidFill>
                <a:schemeClr val="bg2">
                  <a:lumMod val="50000"/>
                </a:schemeClr>
              </a:solidFill>
              <a:latin typeface="Perpetua" panose="02020502060401020303" pitchFamily="18" charset="77"/>
            </a:endParaRPr>
          </a:p>
          <a:p>
            <a:pPr marL="0" indent="0" algn="ctr">
              <a:buNone/>
            </a:pPr>
            <a:r>
              <a:rPr lang="en-US" sz="2200" b="1" dirty="0">
                <a:solidFill>
                  <a:schemeClr val="bg2">
                    <a:lumMod val="50000"/>
                  </a:schemeClr>
                </a:solidFill>
                <a:latin typeface="Perpetua" panose="02020502060401020303" pitchFamily="18" charset="77"/>
              </a:rPr>
              <a:t>Bridal bouquet: </a:t>
            </a:r>
            <a:r>
              <a:rPr lang="en-US" sz="2200" dirty="0">
                <a:solidFill>
                  <a:schemeClr val="bg2">
                    <a:lumMod val="50000"/>
                  </a:schemeClr>
                </a:solidFill>
                <a:latin typeface="Perpetua" panose="02020502060401020303" pitchFamily="18" charset="77"/>
              </a:rPr>
              <a:t>The bridal bouquet will be medium in size, composed of an airy and refined blend of warm white and light pink florals, inspired by the reference image. The stems will be finished with </a:t>
            </a:r>
            <a:r>
              <a:rPr lang="en-US" sz="2200">
                <a:solidFill>
                  <a:schemeClr val="bg2">
                    <a:lumMod val="50000"/>
                  </a:schemeClr>
                </a:solidFill>
                <a:latin typeface="Perpetua" panose="02020502060401020303" pitchFamily="18" charset="77"/>
              </a:rPr>
              <a:t>a flowing light </a:t>
            </a:r>
            <a:r>
              <a:rPr lang="en-US" sz="2200" dirty="0">
                <a:solidFill>
                  <a:schemeClr val="bg2">
                    <a:lumMod val="50000"/>
                  </a:schemeClr>
                </a:solidFill>
                <a:latin typeface="Perpetua" panose="02020502060401020303" pitchFamily="18" charset="77"/>
              </a:rPr>
              <a:t>pink ribbon, delicately tied and left partially exposed to create a natural, effortless finish</a:t>
            </a:r>
          </a:p>
        </p:txBody>
      </p:sp>
      <p:sp>
        <p:nvSpPr>
          <p:cNvPr id="8" name="Rectangle 7">
            <a:extLst>
              <a:ext uri="{FF2B5EF4-FFF2-40B4-BE49-F238E27FC236}">
                <a16:creationId xmlns:a16="http://schemas.microsoft.com/office/drawing/2014/main" id="{9E94D85F-04E9-7D78-E8BE-96ADA1940A61}"/>
              </a:ext>
            </a:extLst>
          </p:cNvPr>
          <p:cNvSpPr/>
          <p:nvPr/>
        </p:nvSpPr>
        <p:spPr>
          <a:xfrm>
            <a:off x="6006483" y="203896"/>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DAAFCC5-839E-A218-D8CC-034AE4CFCC92}"/>
              </a:ext>
            </a:extLst>
          </p:cNvPr>
          <p:cNvPicPr>
            <a:picLocks noChangeAspect="1"/>
          </p:cNvPicPr>
          <p:nvPr/>
        </p:nvPicPr>
        <p:blipFill>
          <a:blip r:embed="rId2"/>
          <a:srcRect t="1657" b="1657"/>
          <a:stretch/>
        </p:blipFill>
        <p:spPr>
          <a:xfrm>
            <a:off x="224356" y="203896"/>
            <a:ext cx="3152288" cy="4571736"/>
          </a:xfrm>
          <a:prstGeom prst="rect">
            <a:avLst/>
          </a:prstGeom>
        </p:spPr>
      </p:pic>
      <p:pic>
        <p:nvPicPr>
          <p:cNvPr id="7" name="Picture 6">
            <a:extLst>
              <a:ext uri="{FF2B5EF4-FFF2-40B4-BE49-F238E27FC236}">
                <a16:creationId xmlns:a16="http://schemas.microsoft.com/office/drawing/2014/main" id="{66E5B487-510E-5175-73CB-A8CE515D9B9C}"/>
              </a:ext>
            </a:extLst>
          </p:cNvPr>
          <p:cNvPicPr>
            <a:picLocks noChangeAspect="1"/>
          </p:cNvPicPr>
          <p:nvPr/>
        </p:nvPicPr>
        <p:blipFill>
          <a:blip r:embed="rId3"/>
          <a:srcRect t="10807" b="10807"/>
          <a:stretch/>
        </p:blipFill>
        <p:spPr>
          <a:xfrm>
            <a:off x="2166475" y="4206248"/>
            <a:ext cx="2420338" cy="2529576"/>
          </a:xfrm>
          <a:prstGeom prst="rect">
            <a:avLst/>
          </a:prstGeom>
        </p:spPr>
      </p:pic>
      <p:sp>
        <p:nvSpPr>
          <p:cNvPr id="3" name="TextBox 2">
            <a:extLst>
              <a:ext uri="{FF2B5EF4-FFF2-40B4-BE49-F238E27FC236}">
                <a16:creationId xmlns:a16="http://schemas.microsoft.com/office/drawing/2014/main" id="{3243C24F-25DE-DC61-81B8-AD9ECD5F253A}"/>
              </a:ext>
            </a:extLst>
          </p:cNvPr>
          <p:cNvSpPr txBox="1"/>
          <p:nvPr/>
        </p:nvSpPr>
        <p:spPr>
          <a:xfrm>
            <a:off x="5318763" y="4732372"/>
            <a:ext cx="6389511" cy="1046440"/>
          </a:xfrm>
          <a:prstGeom prst="rect">
            <a:avLst/>
          </a:prstGeom>
          <a:noFill/>
        </p:spPr>
        <p:txBody>
          <a:bodyPr wrap="square" rtlCol="0">
            <a:spAutoFit/>
          </a:bodyPr>
          <a:lstStyle/>
          <a:p>
            <a:r>
              <a:rPr lang="en-US" sz="2200" b="1" dirty="0">
                <a:solidFill>
                  <a:schemeClr val="bg2">
                    <a:lumMod val="50000"/>
                  </a:schemeClr>
                </a:solidFill>
                <a:latin typeface="Perpetua" panose="02020502060401020303" pitchFamily="18" charset="77"/>
              </a:rPr>
              <a:t>Boutonniere: </a:t>
            </a:r>
            <a:r>
              <a:rPr lang="en-US" sz="2200" dirty="0">
                <a:solidFill>
                  <a:schemeClr val="bg2">
                    <a:lumMod val="50000"/>
                  </a:schemeClr>
                </a:solidFill>
                <a:latin typeface="Perpetua" panose="02020502060401020303" pitchFamily="18" charset="77"/>
              </a:rPr>
              <a:t>The boutonniere will feature a wild spring bloom, delicately enhanced with a soft pastel accent</a:t>
            </a:r>
            <a:endParaRPr lang="en-AE" sz="2200" b="1" dirty="0">
              <a:solidFill>
                <a:schemeClr val="bg2">
                  <a:lumMod val="50000"/>
                </a:schemeClr>
              </a:solidFill>
              <a:latin typeface="Perpetua" panose="02020502060401020303" pitchFamily="18" charset="77"/>
            </a:endParaRPr>
          </a:p>
          <a:p>
            <a:endParaRPr lang="en-AE" b="1" dirty="0"/>
          </a:p>
        </p:txBody>
      </p:sp>
    </p:spTree>
    <p:extLst>
      <p:ext uri="{BB962C8B-B14F-4D97-AF65-F5344CB8AC3E}">
        <p14:creationId xmlns:p14="http://schemas.microsoft.com/office/powerpoint/2010/main" val="2066328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3D33531-BE49-C16F-9FB4-CED3F666A63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C70CB63-C2CD-429B-ABEF-10D18E793525}"/>
              </a:ext>
            </a:extLst>
          </p:cNvPr>
          <p:cNvSpPr>
            <a:spLocks noGrp="1"/>
          </p:cNvSpPr>
          <p:nvPr>
            <p:ph type="title"/>
          </p:nvPr>
        </p:nvSpPr>
        <p:spPr>
          <a:xfrm>
            <a:off x="917121" y="1352926"/>
            <a:ext cx="9920985" cy="1415270"/>
          </a:xfrm>
        </p:spPr>
        <p:txBody>
          <a:bodyPr vert="horz" lIns="91440" tIns="45720" rIns="91440" bIns="45720" rtlCol="0" anchor="t">
            <a:normAutofit/>
          </a:bodyPr>
          <a:lstStyle/>
          <a:p>
            <a:pPr algn="ctr"/>
            <a:r>
              <a:rPr lang="en-US" sz="4000" dirty="0">
                <a:solidFill>
                  <a:schemeClr val="bg2">
                    <a:lumMod val="50000"/>
                  </a:schemeClr>
                </a:solidFill>
                <a:latin typeface="Perpetua" panose="02020502060401020303" pitchFamily="18" charset="77"/>
              </a:rPr>
              <a:t>MAID OF HONOR &amp; </a:t>
            </a:r>
            <a:br>
              <a:rPr lang="en-US" sz="4000" dirty="0">
                <a:solidFill>
                  <a:schemeClr val="bg2">
                    <a:lumMod val="50000"/>
                  </a:schemeClr>
                </a:solidFill>
                <a:latin typeface="Perpetua" panose="02020502060401020303" pitchFamily="18" charset="77"/>
              </a:rPr>
            </a:br>
            <a:r>
              <a:rPr lang="en-US" sz="4000" dirty="0">
                <a:solidFill>
                  <a:schemeClr val="bg2">
                    <a:lumMod val="50000"/>
                  </a:schemeClr>
                </a:solidFill>
                <a:latin typeface="Perpetua" panose="02020502060401020303" pitchFamily="18" charset="77"/>
              </a:rPr>
              <a:t>FLOWER GIRLS BOUQUETS </a:t>
            </a:r>
            <a:endParaRPr lang="en-US" sz="4000" kern="1200" dirty="0">
              <a:solidFill>
                <a:schemeClr val="bg2">
                  <a:lumMod val="50000"/>
                </a:schemeClr>
              </a:solidFill>
              <a:latin typeface="Perpetua" panose="02020502060401020303" pitchFamily="18" charset="77"/>
            </a:endParaRPr>
          </a:p>
        </p:txBody>
      </p:sp>
      <p:sp>
        <p:nvSpPr>
          <p:cNvPr id="18" name="Content Placeholder 17">
            <a:extLst>
              <a:ext uri="{FF2B5EF4-FFF2-40B4-BE49-F238E27FC236}">
                <a16:creationId xmlns:a16="http://schemas.microsoft.com/office/drawing/2014/main" id="{5F183A1A-F78D-CAED-AF70-3E3B2898BCB5}"/>
              </a:ext>
            </a:extLst>
          </p:cNvPr>
          <p:cNvSpPr>
            <a:spLocks noGrp="1"/>
          </p:cNvSpPr>
          <p:nvPr>
            <p:ph idx="1"/>
          </p:nvPr>
        </p:nvSpPr>
        <p:spPr>
          <a:xfrm>
            <a:off x="1353894" y="2577345"/>
            <a:ext cx="8885453" cy="4977433"/>
          </a:xfrm>
        </p:spPr>
        <p:txBody>
          <a:bodyPr>
            <a:normAutofit/>
          </a:bodyPr>
          <a:lstStyle/>
          <a:p>
            <a:pPr marL="0" indent="0" algn="ctr">
              <a:buNone/>
            </a:pPr>
            <a:endParaRPr lang="en-US" sz="2000" dirty="0">
              <a:latin typeface="Perpetua" panose="02020502060401020303" pitchFamily="18" charset="77"/>
            </a:endParaRPr>
          </a:p>
          <a:p>
            <a:pPr marL="0" indent="0">
              <a:buNone/>
            </a:pPr>
            <a:endParaRPr lang="en-US" sz="2000" dirty="0">
              <a:solidFill>
                <a:schemeClr val="bg2">
                  <a:lumMod val="50000"/>
                </a:schemeClr>
              </a:solidFill>
              <a:latin typeface="Perpetua" panose="02020502060401020303" pitchFamily="18" charset="77"/>
            </a:endParaRPr>
          </a:p>
          <a:p>
            <a:pPr marL="0" indent="0" algn="ctr">
              <a:buNone/>
            </a:pPr>
            <a:r>
              <a:rPr lang="en-US" sz="2400" dirty="0">
                <a:solidFill>
                  <a:schemeClr val="bg2">
                    <a:lumMod val="50000"/>
                  </a:schemeClr>
                </a:solidFill>
                <a:latin typeface="Perpetua" panose="02020502060401020303" pitchFamily="18" charset="77"/>
              </a:rPr>
              <a:t>Should this be required, please inform us and include a reference image for guidance</a:t>
            </a:r>
            <a:endParaRPr lang="en-US" sz="2000" i="0" dirty="0">
              <a:solidFill>
                <a:schemeClr val="bg2">
                  <a:lumMod val="50000"/>
                </a:schemeClr>
              </a:solidFill>
              <a:effectLst/>
              <a:latin typeface="Perpetua" panose="02020502060401020303" pitchFamily="18" charset="77"/>
            </a:endParaRPr>
          </a:p>
        </p:txBody>
      </p:sp>
      <p:sp>
        <p:nvSpPr>
          <p:cNvPr id="8" name="Rectangle 7">
            <a:extLst>
              <a:ext uri="{FF2B5EF4-FFF2-40B4-BE49-F238E27FC236}">
                <a16:creationId xmlns:a16="http://schemas.microsoft.com/office/drawing/2014/main" id="{65664496-77F5-111E-3F80-E05C47F34518}"/>
              </a:ext>
            </a:extLst>
          </p:cNvPr>
          <p:cNvSpPr/>
          <p:nvPr/>
        </p:nvSpPr>
        <p:spPr>
          <a:xfrm>
            <a:off x="10131071" y="166348"/>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804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476881" y="174610"/>
            <a:ext cx="4274607" cy="777054"/>
          </a:xfrm>
        </p:spPr>
        <p:txBody>
          <a:bodyPr anchor="b">
            <a:normAutofit/>
          </a:bodyPr>
          <a:lstStyle/>
          <a:p>
            <a:r>
              <a:rPr lang="fr-FR" dirty="0">
                <a:solidFill>
                  <a:schemeClr val="bg2">
                    <a:lumMod val="50000"/>
                  </a:schemeClr>
                </a:solidFill>
                <a:latin typeface="Perpetua" panose="02020502060401020303" pitchFamily="18" charset="77"/>
              </a:rPr>
              <a:t>COCKTAIL </a:t>
            </a:r>
          </a:p>
        </p:txBody>
      </p:sp>
      <p:sp>
        <p:nvSpPr>
          <p:cNvPr id="14" name="Content Placeholder 13">
            <a:extLst>
              <a:ext uri="{FF2B5EF4-FFF2-40B4-BE49-F238E27FC236}">
                <a16:creationId xmlns:a16="http://schemas.microsoft.com/office/drawing/2014/main" id="{7847E9E7-126E-46AC-AAD2-75FD20301F86}"/>
              </a:ext>
            </a:extLst>
          </p:cNvPr>
          <p:cNvSpPr>
            <a:spLocks noGrp="1"/>
          </p:cNvSpPr>
          <p:nvPr>
            <p:ph idx="1"/>
          </p:nvPr>
        </p:nvSpPr>
        <p:spPr>
          <a:xfrm>
            <a:off x="1476881" y="1034791"/>
            <a:ext cx="3874800" cy="1962085"/>
          </a:xfrm>
        </p:spPr>
        <p:txBody>
          <a:bodyPr anchor="t">
            <a:noAutofit/>
          </a:bodyPr>
          <a:lstStyle/>
          <a:p>
            <a:r>
              <a:rPr lang="en-US" sz="2200" dirty="0">
                <a:solidFill>
                  <a:schemeClr val="bg2">
                    <a:lumMod val="50000"/>
                  </a:schemeClr>
                </a:solidFill>
                <a:latin typeface="Perpetua" panose="02020502060401020303" pitchFamily="18" charset="77"/>
              </a:rPr>
              <a:t>During the cocktail hour, a carefully curated arrangement of high-top cocktail tables, enhanced with elegant lace-style drapery cascading to the floor (or ivory polyester linens for a more economical option), will offer guests an inviting space to relax in an atmosphere of understated elegance</a:t>
            </a:r>
          </a:p>
        </p:txBody>
      </p:sp>
      <p:pic>
        <p:nvPicPr>
          <p:cNvPr id="6" name="Picture 5">
            <a:extLst>
              <a:ext uri="{FF2B5EF4-FFF2-40B4-BE49-F238E27FC236}">
                <a16:creationId xmlns:a16="http://schemas.microsoft.com/office/drawing/2014/main" id="{148177AA-1910-0A6C-CF4E-3AE5056684DE}"/>
              </a:ext>
            </a:extLst>
          </p:cNvPr>
          <p:cNvPicPr>
            <a:picLocks noChangeAspect="1"/>
          </p:cNvPicPr>
          <p:nvPr/>
        </p:nvPicPr>
        <p:blipFill>
          <a:blip r:embed="rId3"/>
          <a:srcRect/>
          <a:stretch/>
        </p:blipFill>
        <p:spPr>
          <a:xfrm>
            <a:off x="5526514" y="846677"/>
            <a:ext cx="3874800" cy="5164645"/>
          </a:xfrm>
          <a:prstGeom prst="rect">
            <a:avLst/>
          </a:prstGeom>
        </p:spPr>
      </p:pic>
      <p:pic>
        <p:nvPicPr>
          <p:cNvPr id="4" name="Picture 3">
            <a:extLst>
              <a:ext uri="{FF2B5EF4-FFF2-40B4-BE49-F238E27FC236}">
                <a16:creationId xmlns:a16="http://schemas.microsoft.com/office/drawing/2014/main" id="{35B94C32-4B36-E760-F3F9-D542AACDEE5E}"/>
              </a:ext>
            </a:extLst>
          </p:cNvPr>
          <p:cNvPicPr>
            <a:picLocks noChangeAspect="1"/>
          </p:cNvPicPr>
          <p:nvPr/>
        </p:nvPicPr>
        <p:blipFill>
          <a:blip r:embed="rId4"/>
          <a:srcRect/>
          <a:stretch/>
        </p:blipFill>
        <p:spPr>
          <a:xfrm>
            <a:off x="9164246" y="1759037"/>
            <a:ext cx="2703655" cy="4055482"/>
          </a:xfrm>
          <a:prstGeom prst="rect">
            <a:avLst/>
          </a:prstGeom>
        </p:spPr>
      </p:pic>
      <p:sp>
        <p:nvSpPr>
          <p:cNvPr id="5" name="TextBox 4">
            <a:extLst>
              <a:ext uri="{FF2B5EF4-FFF2-40B4-BE49-F238E27FC236}">
                <a16:creationId xmlns:a16="http://schemas.microsoft.com/office/drawing/2014/main" id="{E7561B38-99EA-2083-AF35-2AE30F39508D}"/>
              </a:ext>
            </a:extLst>
          </p:cNvPr>
          <p:cNvSpPr txBox="1"/>
          <p:nvPr/>
        </p:nvSpPr>
        <p:spPr>
          <a:xfrm>
            <a:off x="1564298" y="4467399"/>
            <a:ext cx="3874799" cy="1785104"/>
          </a:xfrm>
          <a:prstGeom prst="rect">
            <a:avLst/>
          </a:prstGeom>
          <a:noFill/>
        </p:spPr>
        <p:txBody>
          <a:bodyPr wrap="square" rtlCol="0">
            <a:spAutoFit/>
          </a:bodyPr>
          <a:lstStyle/>
          <a:p>
            <a:pPr marL="342900" indent="-342900">
              <a:buFont typeface="Arial" panose="020B0604020202020204" pitchFamily="34" charset="0"/>
              <a:buChar char="•"/>
            </a:pPr>
            <a:r>
              <a:rPr lang="en-US" sz="2200" dirty="0">
                <a:solidFill>
                  <a:schemeClr val="bg2">
                    <a:lumMod val="50000"/>
                  </a:schemeClr>
                </a:solidFill>
                <a:latin typeface="Perpetua" panose="02020502060401020303" pitchFamily="18" charset="77"/>
              </a:rPr>
              <a:t>Each table will feature medium-sized, delicate floral arrangements in shades of warm white and light pink, presented in antique gold vases</a:t>
            </a:r>
            <a:endParaRPr lang="en-AE" sz="2200" dirty="0">
              <a:solidFill>
                <a:schemeClr val="bg2">
                  <a:lumMod val="50000"/>
                </a:schemeClr>
              </a:solidFill>
              <a:latin typeface="Perpetua" panose="02020502060401020303" pitchFamily="18" charset="77"/>
            </a:endParaRPr>
          </a:p>
        </p:txBody>
      </p:sp>
    </p:spTree>
    <p:extLst>
      <p:ext uri="{BB962C8B-B14F-4D97-AF65-F5344CB8AC3E}">
        <p14:creationId xmlns:p14="http://schemas.microsoft.com/office/powerpoint/2010/main" val="1429147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a:extLst>
            <a:ext uri="{FF2B5EF4-FFF2-40B4-BE49-F238E27FC236}">
              <a16:creationId xmlns:a16="http://schemas.microsoft.com/office/drawing/2014/main" id="{1EFC99BE-0FD5-BEB2-C8DA-17F3DE46F18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70859B7-0973-4AA3-3302-E3F52C8AFD96}"/>
              </a:ext>
            </a:extLst>
          </p:cNvPr>
          <p:cNvSpPr>
            <a:spLocks noGrp="1"/>
          </p:cNvSpPr>
          <p:nvPr>
            <p:ph type="title"/>
          </p:nvPr>
        </p:nvSpPr>
        <p:spPr>
          <a:xfrm>
            <a:off x="1278019" y="422410"/>
            <a:ext cx="5426499" cy="777054"/>
          </a:xfrm>
        </p:spPr>
        <p:txBody>
          <a:bodyPr anchor="b">
            <a:normAutofit/>
          </a:bodyPr>
          <a:lstStyle/>
          <a:p>
            <a:pPr algn="ctr"/>
            <a:r>
              <a:rPr lang="fr-FR" dirty="0">
                <a:solidFill>
                  <a:schemeClr val="bg2">
                    <a:lumMod val="50000"/>
                  </a:schemeClr>
                </a:solidFill>
                <a:latin typeface="Perpetua" panose="02020502060401020303" pitchFamily="18" charset="77"/>
              </a:rPr>
              <a:t>COCKTAIL – PART 2 </a:t>
            </a:r>
          </a:p>
        </p:txBody>
      </p:sp>
      <p:sp>
        <p:nvSpPr>
          <p:cNvPr id="14" name="Content Placeholder 13">
            <a:extLst>
              <a:ext uri="{FF2B5EF4-FFF2-40B4-BE49-F238E27FC236}">
                <a16:creationId xmlns:a16="http://schemas.microsoft.com/office/drawing/2014/main" id="{5D2BD02C-F471-0920-6576-58A027B8E49D}"/>
              </a:ext>
            </a:extLst>
          </p:cNvPr>
          <p:cNvSpPr>
            <a:spLocks noGrp="1"/>
          </p:cNvSpPr>
          <p:nvPr>
            <p:ph idx="1"/>
          </p:nvPr>
        </p:nvSpPr>
        <p:spPr>
          <a:xfrm>
            <a:off x="1991842" y="2620695"/>
            <a:ext cx="3998851" cy="2429003"/>
          </a:xfrm>
        </p:spPr>
        <p:txBody>
          <a:bodyPr anchor="t">
            <a:noAutofit/>
          </a:bodyPr>
          <a:lstStyle/>
          <a:p>
            <a:r>
              <a:rPr lang="en-US" sz="2200" dirty="0">
                <a:solidFill>
                  <a:schemeClr val="bg2">
                    <a:lumMod val="50000"/>
                  </a:schemeClr>
                </a:solidFill>
                <a:latin typeface="Perpetua" panose="02020502060401020303" pitchFamily="18" charset="77"/>
              </a:rPr>
              <a:t>A set of medium-sized candles, adorned with delicate light pink silk knots, will be displayed on short gold taper holders on each table</a:t>
            </a:r>
          </a:p>
        </p:txBody>
      </p:sp>
      <p:pic>
        <p:nvPicPr>
          <p:cNvPr id="8" name="Picture 7">
            <a:extLst>
              <a:ext uri="{FF2B5EF4-FFF2-40B4-BE49-F238E27FC236}">
                <a16:creationId xmlns:a16="http://schemas.microsoft.com/office/drawing/2014/main" id="{B9E67FAE-5699-A010-DA85-936F5C447731}"/>
              </a:ext>
            </a:extLst>
          </p:cNvPr>
          <p:cNvPicPr>
            <a:picLocks noChangeAspect="1"/>
          </p:cNvPicPr>
          <p:nvPr/>
        </p:nvPicPr>
        <p:blipFill>
          <a:blip r:embed="rId3"/>
          <a:srcRect/>
          <a:stretch/>
        </p:blipFill>
        <p:spPr>
          <a:xfrm>
            <a:off x="7820616" y="329370"/>
            <a:ext cx="3488267" cy="6199259"/>
          </a:xfrm>
          <a:prstGeom prst="rect">
            <a:avLst/>
          </a:prstGeom>
        </p:spPr>
      </p:pic>
    </p:spTree>
    <p:extLst>
      <p:ext uri="{BB962C8B-B14F-4D97-AF65-F5344CB8AC3E}">
        <p14:creationId xmlns:p14="http://schemas.microsoft.com/office/powerpoint/2010/main" val="1126405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2FA18-925E-890A-530B-26C9D3F8D9A2}"/>
              </a:ext>
            </a:extLst>
          </p:cNvPr>
          <p:cNvSpPr>
            <a:spLocks noGrp="1"/>
          </p:cNvSpPr>
          <p:nvPr>
            <p:ph type="title"/>
          </p:nvPr>
        </p:nvSpPr>
        <p:spPr>
          <a:xfrm>
            <a:off x="296896" y="174678"/>
            <a:ext cx="5176995" cy="786247"/>
          </a:xfrm>
        </p:spPr>
        <p:txBody>
          <a:bodyPr vert="horz" lIns="91440" tIns="45720" rIns="91440" bIns="45720" rtlCol="0" anchor="b">
            <a:normAutofit/>
          </a:bodyPr>
          <a:lstStyle/>
          <a:p>
            <a:pPr algn="ctr"/>
            <a:r>
              <a:rPr lang="en-US" sz="4000" dirty="0">
                <a:solidFill>
                  <a:schemeClr val="bg2">
                    <a:lumMod val="50000"/>
                  </a:schemeClr>
                </a:solidFill>
                <a:latin typeface="Perpetua" panose="02020502060401020303" pitchFamily="18" charset="77"/>
              </a:rPr>
              <a:t>BARS DECOR</a:t>
            </a:r>
          </a:p>
        </p:txBody>
      </p:sp>
      <p:sp>
        <p:nvSpPr>
          <p:cNvPr id="6" name="TextBox 5">
            <a:extLst>
              <a:ext uri="{FF2B5EF4-FFF2-40B4-BE49-F238E27FC236}">
                <a16:creationId xmlns:a16="http://schemas.microsoft.com/office/drawing/2014/main" id="{CEE297F3-E010-D773-C6C2-DAD7F14B25E8}"/>
              </a:ext>
            </a:extLst>
          </p:cNvPr>
          <p:cNvSpPr txBox="1"/>
          <p:nvPr/>
        </p:nvSpPr>
        <p:spPr>
          <a:xfrm>
            <a:off x="296896" y="1459607"/>
            <a:ext cx="4786447" cy="5223715"/>
          </a:xfrm>
          <a:prstGeom prst="rect">
            <a:avLst/>
          </a:prstGeom>
        </p:spPr>
        <p:txBody>
          <a:bodyPr vert="horz" lIns="91440" tIns="45720" rIns="91440" bIns="45720" rtlCol="0">
            <a:normAutofit fontScale="25000" lnSpcReduction="20000"/>
          </a:bodyPr>
          <a:lstStyle/>
          <a:p>
            <a:pPr marL="457200" indent="-457200">
              <a:buFont typeface="Arial" panose="020B0604020202020204" pitchFamily="34" charset="0"/>
              <a:buChar char="•"/>
            </a:pPr>
            <a:r>
              <a:rPr lang="en-US" sz="8800" dirty="0">
                <a:solidFill>
                  <a:schemeClr val="bg2">
                    <a:lumMod val="50000"/>
                  </a:schemeClr>
                </a:solidFill>
                <a:latin typeface="Perpetua" panose="02020502060401020303" pitchFamily="18" charset="77"/>
              </a:rPr>
              <a:t>Bar will be provided by the Shangri-La for both cocktail &amp; reception</a:t>
            </a:r>
          </a:p>
          <a:p>
            <a:endParaRPr lang="en-US" sz="8800" dirty="0">
              <a:solidFill>
                <a:schemeClr val="bg2">
                  <a:lumMod val="50000"/>
                </a:schemeClr>
              </a:solidFill>
              <a:latin typeface="Perpetua" panose="02020502060401020303" pitchFamily="18" charset="77"/>
            </a:endParaRPr>
          </a:p>
          <a:p>
            <a:pPr marL="457200" indent="-457200">
              <a:buFont typeface="Arial" panose="020B0604020202020204" pitchFamily="34" charset="0"/>
              <a:buChar char="•"/>
            </a:pPr>
            <a:r>
              <a:rPr lang="en-US" sz="8800" dirty="0">
                <a:solidFill>
                  <a:schemeClr val="bg2">
                    <a:lumMod val="50000"/>
                  </a:schemeClr>
                </a:solidFill>
                <a:latin typeface="Perpetua" panose="02020502060401020303" pitchFamily="18" charset="77"/>
              </a:rPr>
              <a:t>A bespoke light pink banner will be thoughtfully designed and printed, elegantly displaying the selected beverages, the names of the bride and groom, and the wedding date</a:t>
            </a:r>
          </a:p>
          <a:p>
            <a:endParaRPr lang="en-US" sz="8800" dirty="0">
              <a:solidFill>
                <a:schemeClr val="bg2">
                  <a:lumMod val="50000"/>
                </a:schemeClr>
              </a:solidFill>
              <a:latin typeface="Perpetua" panose="02020502060401020303" pitchFamily="18" charset="77"/>
            </a:endParaRPr>
          </a:p>
          <a:p>
            <a:r>
              <a:rPr lang="en-US" sz="8800" dirty="0">
                <a:solidFill>
                  <a:schemeClr val="bg2">
                    <a:lumMod val="50000"/>
                  </a:schemeClr>
                </a:solidFill>
                <a:latin typeface="Perpetua" panose="02020502060401020303" pitchFamily="18" charset="77"/>
              </a:rPr>
              <a:t>The décor will echo the reference imagery, styled in harmony with the color </a:t>
            </a:r>
            <a:r>
              <a:rPr lang="en-US" sz="8800" dirty="0">
                <a:solidFill>
                  <a:srgbClr val="FFC000"/>
                </a:solidFill>
                <a:latin typeface="Perpetua" panose="02020502060401020303" pitchFamily="18" charset="77"/>
              </a:rPr>
              <a:t>palette detailed on slide #2</a:t>
            </a:r>
          </a:p>
          <a:p>
            <a:endParaRPr lang="en-US" sz="3400" dirty="0">
              <a:solidFill>
                <a:schemeClr val="accent6"/>
              </a:solidFill>
              <a:latin typeface="Perpetua" panose="02020502060401020303" pitchFamily="18" charset="77"/>
            </a:endParaRPr>
          </a:p>
          <a:p>
            <a:endParaRPr lang="en-US" dirty="0">
              <a:highlight>
                <a:srgbClr val="FFFF00"/>
              </a:highlight>
            </a:endParaRPr>
          </a:p>
        </p:txBody>
      </p:sp>
      <p:pic>
        <p:nvPicPr>
          <p:cNvPr id="8" name="Picture 7" descr="A white bar with flowers and wine bottles&#10;&#10;AI-generated content may be incorrect.">
            <a:extLst>
              <a:ext uri="{FF2B5EF4-FFF2-40B4-BE49-F238E27FC236}">
                <a16:creationId xmlns:a16="http://schemas.microsoft.com/office/drawing/2014/main" id="{32FDB5E7-775E-3878-E497-5D543239D464}"/>
              </a:ext>
            </a:extLst>
          </p:cNvPr>
          <p:cNvPicPr>
            <a:picLocks noChangeAspect="1"/>
          </p:cNvPicPr>
          <p:nvPr/>
        </p:nvPicPr>
        <p:blipFill>
          <a:blip r:embed="rId2"/>
          <a:stretch>
            <a:fillRect/>
          </a:stretch>
        </p:blipFill>
        <p:spPr>
          <a:xfrm>
            <a:off x="7305964" y="255331"/>
            <a:ext cx="4208519" cy="6312779"/>
          </a:xfrm>
          <a:prstGeom prst="rect">
            <a:avLst/>
          </a:prstGeom>
        </p:spPr>
      </p:pic>
    </p:spTree>
    <p:extLst>
      <p:ext uri="{BB962C8B-B14F-4D97-AF65-F5344CB8AC3E}">
        <p14:creationId xmlns:p14="http://schemas.microsoft.com/office/powerpoint/2010/main" val="3576223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880820" y="3101394"/>
            <a:ext cx="10430360" cy="1772093"/>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300" dirty="0">
                <a:solidFill>
                  <a:schemeClr val="bg2">
                    <a:lumMod val="50000"/>
                  </a:schemeClr>
                </a:solidFill>
                <a:latin typeface="Perpetua" panose="02020502060401020303" pitchFamily="18" charset="77"/>
                <a:ea typeface="+mj-ea"/>
                <a:cs typeface="+mj-cs"/>
              </a:rPr>
              <a:t>SIGNS</a:t>
            </a:r>
          </a:p>
          <a:p>
            <a:pPr algn="ctr" defTabSz="914400">
              <a:lnSpc>
                <a:spcPct val="90000"/>
              </a:lnSpc>
              <a:spcBef>
                <a:spcPct val="0"/>
              </a:spcBef>
              <a:spcAft>
                <a:spcPts val="600"/>
              </a:spcAft>
            </a:pPr>
            <a:endParaRPr lang="en-US" sz="39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300" dirty="0">
              <a:solidFill>
                <a:schemeClr val="bg2">
                  <a:lumMod val="50000"/>
                </a:schemeClr>
              </a:solidFill>
              <a:latin typeface="Perpetua" panose="02020502060401020303" pitchFamily="18" charset="77"/>
              <a:ea typeface="+mj-ea"/>
              <a:cs typeface="+mj-cs"/>
            </a:endParaRPr>
          </a:p>
        </p:txBody>
      </p:sp>
      <p:sp>
        <p:nvSpPr>
          <p:cNvPr id="4" name="Rectangle 3">
            <a:extLst>
              <a:ext uri="{FF2B5EF4-FFF2-40B4-BE49-F238E27FC236}">
                <a16:creationId xmlns:a16="http://schemas.microsoft.com/office/drawing/2014/main" id="{3D02A48E-6E94-21CC-4916-BC7F46DBD9BB}"/>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528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D67F88A-43EC-97AE-5876-EF4C9222A42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4649F76-675B-243D-FFBE-BDED9DD6FF27}"/>
              </a:ext>
            </a:extLst>
          </p:cNvPr>
          <p:cNvSpPr txBox="1"/>
          <p:nvPr/>
        </p:nvSpPr>
        <p:spPr>
          <a:xfrm>
            <a:off x="634889" y="0"/>
            <a:ext cx="5251316" cy="180730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Welcome Sign &amp; Décor </a:t>
            </a:r>
            <a:endParaRPr lang="en-US" sz="44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sp>
        <p:nvSpPr>
          <p:cNvPr id="14" name="TextBox 13">
            <a:extLst>
              <a:ext uri="{FF2B5EF4-FFF2-40B4-BE49-F238E27FC236}">
                <a16:creationId xmlns:a16="http://schemas.microsoft.com/office/drawing/2014/main" id="{7CEFE24F-026B-31E1-2D62-A79AE5350BBE}"/>
              </a:ext>
            </a:extLst>
          </p:cNvPr>
          <p:cNvSpPr txBox="1"/>
          <p:nvPr/>
        </p:nvSpPr>
        <p:spPr>
          <a:xfrm>
            <a:off x="634889" y="1875545"/>
            <a:ext cx="5461111" cy="3477875"/>
          </a:xfrm>
          <a:prstGeom prst="rect">
            <a:avLst/>
          </a:prstGeom>
          <a:noFill/>
        </p:spPr>
        <p:txBody>
          <a:bodyPr wrap="square" rtlCol="0">
            <a:spAutoFit/>
          </a:bodyPr>
          <a:lstStyle/>
          <a:p>
            <a:pPr marL="342900" indent="-342900" fontAlgn="base">
              <a:buFont typeface="Arial" panose="020B0604020202020204" pitchFamily="34" charset="0"/>
              <a:buChar char="•"/>
            </a:pPr>
            <a:r>
              <a:rPr lang="en-US" sz="2200" dirty="0">
                <a:solidFill>
                  <a:schemeClr val="bg2">
                    <a:lumMod val="50000"/>
                  </a:schemeClr>
                </a:solidFill>
                <a:latin typeface="Perpetua" panose="02020502060401020303" pitchFamily="18" charset="77"/>
              </a:rPr>
              <a:t>A Baroque-style gold mirror will showcase the bride and groom’s names in luminous gold script, paired with the wedding date in refined dark brown typography, exuding sophistication and timeless elegance</a:t>
            </a:r>
          </a:p>
          <a:p>
            <a:pPr marL="342900" indent="-342900" fontAlgn="base">
              <a:buFont typeface="Arial" panose="020B0604020202020204" pitchFamily="34" charset="0"/>
              <a:buChar char="•"/>
            </a:pPr>
            <a:endParaRPr lang="en-US" sz="2200" dirty="0">
              <a:solidFill>
                <a:schemeClr val="bg2">
                  <a:lumMod val="50000"/>
                </a:schemeClr>
              </a:solidFill>
              <a:latin typeface="Perpetua" panose="02020502060401020303" pitchFamily="18" charset="77"/>
            </a:endParaRPr>
          </a:p>
          <a:p>
            <a:pPr fontAlgn="base"/>
            <a:r>
              <a:rPr lang="en-US" sz="2200" dirty="0">
                <a:solidFill>
                  <a:srgbClr val="FF0000"/>
                </a:solidFill>
                <a:highlight>
                  <a:srgbClr val="FFFF00"/>
                </a:highlight>
                <a:latin typeface="Perpetua" panose="02020502060401020303" pitchFamily="18" charset="77"/>
              </a:rPr>
              <a:t>The gold frame will be a distinct variation from the reference image, providing a bespoke and sophisticated touch while preserving the overall elegance of the design</a:t>
            </a:r>
          </a:p>
        </p:txBody>
      </p:sp>
      <p:pic>
        <p:nvPicPr>
          <p:cNvPr id="7" name="Picture 6">
            <a:extLst>
              <a:ext uri="{FF2B5EF4-FFF2-40B4-BE49-F238E27FC236}">
                <a16:creationId xmlns:a16="http://schemas.microsoft.com/office/drawing/2014/main" id="{F53FD14D-8517-01F0-11CF-A697DCAC159C}"/>
              </a:ext>
            </a:extLst>
          </p:cNvPr>
          <p:cNvPicPr>
            <a:picLocks noChangeAspect="1"/>
          </p:cNvPicPr>
          <p:nvPr/>
        </p:nvPicPr>
        <p:blipFill>
          <a:blip r:embed="rId2"/>
          <a:srcRect/>
          <a:stretch/>
        </p:blipFill>
        <p:spPr>
          <a:xfrm>
            <a:off x="7119294" y="284988"/>
            <a:ext cx="4183460" cy="6288024"/>
          </a:xfrm>
          <a:prstGeom prst="rect">
            <a:avLst/>
          </a:prstGeom>
        </p:spPr>
      </p:pic>
    </p:spTree>
    <p:extLst>
      <p:ext uri="{BB962C8B-B14F-4D97-AF65-F5344CB8AC3E}">
        <p14:creationId xmlns:p14="http://schemas.microsoft.com/office/powerpoint/2010/main" val="1002002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196916" y="397963"/>
            <a:ext cx="4555837" cy="6062072"/>
          </a:xfrm>
          <a:prstGeom prst="rect">
            <a:avLst/>
          </a:prstGeom>
        </p:spPr>
        <p:txBody>
          <a:bodyPr vert="horz" lIns="91440" tIns="45720" rIns="91440" bIns="45720" rtlCol="0" anchor="ctr">
            <a:normAutofit fontScale="92500" lnSpcReduction="10000"/>
          </a:bodyPr>
          <a:lstStyle/>
          <a:p>
            <a:pPr algn="ctr" defTabSz="914400">
              <a:lnSpc>
                <a:spcPct val="90000"/>
              </a:lnSpc>
              <a:spcBef>
                <a:spcPct val="0"/>
              </a:spcBef>
              <a:spcAft>
                <a:spcPts val="600"/>
              </a:spcAft>
            </a:pPr>
            <a:r>
              <a:rPr lang="en-US" sz="4800" dirty="0">
                <a:solidFill>
                  <a:schemeClr val="bg2">
                    <a:lumMod val="50000"/>
                  </a:schemeClr>
                </a:solidFill>
                <a:latin typeface="Perpetua" panose="02020502060401020303" pitchFamily="18" charset="77"/>
                <a:ea typeface="+mj-ea"/>
                <a:cs typeface="+mj-cs"/>
              </a:rPr>
              <a:t>Seating Chart</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3100" dirty="0">
              <a:solidFill>
                <a:schemeClr val="bg2">
                  <a:lumMod val="50000"/>
                </a:schemeClr>
              </a:solidFill>
              <a:latin typeface="Perpetua" panose="02020502060401020303" pitchFamily="18" charset="77"/>
              <a:ea typeface="+mj-ea"/>
              <a:cs typeface="+mj-cs"/>
            </a:endParaRPr>
          </a:p>
          <a:p>
            <a:pPr marL="457200" indent="-457200">
              <a:buFont typeface="Arial" panose="020B0604020202020204" pitchFamily="34" charset="0"/>
              <a:buChar char="•"/>
            </a:pPr>
            <a:r>
              <a:rPr lang="en-US" sz="2400" dirty="0">
                <a:solidFill>
                  <a:schemeClr val="bg2">
                    <a:lumMod val="50000"/>
                  </a:schemeClr>
                </a:solidFill>
                <a:latin typeface="Perpetua" panose="02020502060401020303" pitchFamily="18" charset="77"/>
              </a:rPr>
              <a:t>A large rectangular gold-framed mirror will display the seating chart, featuring wax-sealed, gold-stamped cards elegantly presenting each table number and guests’ names</a:t>
            </a:r>
          </a:p>
          <a:p>
            <a:endParaRPr lang="en-US" sz="2400" dirty="0">
              <a:solidFill>
                <a:schemeClr val="bg2">
                  <a:lumMod val="50000"/>
                </a:schemeClr>
              </a:solidFill>
              <a:latin typeface="Perpetua" panose="02020502060401020303" pitchFamily="18" charset="77"/>
            </a:endParaRPr>
          </a:p>
          <a:p>
            <a:pPr marL="457200" indent="-457200">
              <a:buFont typeface="Arial" panose="020B0604020202020204" pitchFamily="34" charset="0"/>
              <a:buChar char="•"/>
            </a:pPr>
            <a:r>
              <a:rPr lang="en-US" sz="2400" dirty="0">
                <a:solidFill>
                  <a:schemeClr val="bg2">
                    <a:lumMod val="50000"/>
                  </a:schemeClr>
                </a:solidFill>
                <a:latin typeface="Perpetua" panose="02020502060401020303" pitchFamily="18" charset="77"/>
              </a:rPr>
              <a:t>A medium-sized floral arrangement will be displayed at the base of the seating chart, with décor echoing the reference imagery and styled in harmony with the color </a:t>
            </a:r>
            <a:r>
              <a:rPr lang="en-US" sz="2400" dirty="0">
                <a:solidFill>
                  <a:srgbClr val="FFC000"/>
                </a:solidFill>
                <a:latin typeface="Perpetua" panose="02020502060401020303" pitchFamily="18" charset="77"/>
              </a:rPr>
              <a:t>palette detailed on slide #2</a:t>
            </a:r>
            <a:endParaRPr lang="en-US" sz="24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pic>
        <p:nvPicPr>
          <p:cNvPr id="16" name="Picture 15">
            <a:extLst>
              <a:ext uri="{FF2B5EF4-FFF2-40B4-BE49-F238E27FC236}">
                <a16:creationId xmlns:a16="http://schemas.microsoft.com/office/drawing/2014/main" id="{B5E9A1CD-8BA4-83C5-944E-020157EB4A3F}"/>
              </a:ext>
            </a:extLst>
          </p:cNvPr>
          <p:cNvPicPr>
            <a:picLocks noChangeAspect="1"/>
          </p:cNvPicPr>
          <p:nvPr/>
        </p:nvPicPr>
        <p:blipFill>
          <a:blip r:embed="rId2"/>
          <a:srcRect/>
          <a:stretch/>
        </p:blipFill>
        <p:spPr>
          <a:xfrm>
            <a:off x="6881504" y="397963"/>
            <a:ext cx="4045045" cy="6062073"/>
          </a:xfrm>
          <a:prstGeom prst="rect">
            <a:avLst/>
          </a:prstGeom>
        </p:spPr>
      </p:pic>
    </p:spTree>
    <p:extLst>
      <p:ext uri="{BB962C8B-B14F-4D97-AF65-F5344CB8AC3E}">
        <p14:creationId xmlns:p14="http://schemas.microsoft.com/office/powerpoint/2010/main" val="3534622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49F8F6B-B294-ABC9-9842-A2EC89BD711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58828DE-0A81-97F9-162E-A4A83B82B235}"/>
              </a:ext>
            </a:extLst>
          </p:cNvPr>
          <p:cNvSpPr txBox="1"/>
          <p:nvPr/>
        </p:nvSpPr>
        <p:spPr>
          <a:xfrm>
            <a:off x="922929" y="268355"/>
            <a:ext cx="4453743" cy="6321287"/>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Place Cards</a:t>
            </a:r>
          </a:p>
          <a:p>
            <a:pPr algn="ctr" defTabSz="914400">
              <a:lnSpc>
                <a:spcPct val="90000"/>
              </a:lnSpc>
              <a:spcBef>
                <a:spcPct val="0"/>
              </a:spcBef>
              <a:spcAft>
                <a:spcPts val="600"/>
              </a:spcAft>
            </a:pPr>
            <a:r>
              <a:rPr lang="en-US" sz="3600" i="1" dirty="0">
                <a:solidFill>
                  <a:srgbClr val="FFC000"/>
                </a:solidFill>
                <a:latin typeface="Perpetua" panose="02020502060401020303" pitchFamily="18" charset="77"/>
                <a:ea typeface="+mj-ea"/>
                <a:cs typeface="+mj-cs"/>
              </a:rPr>
              <a:t>Audrey’s Note: </a:t>
            </a:r>
          </a:p>
          <a:p>
            <a:pPr algn="ctr" defTabSz="914400">
              <a:lnSpc>
                <a:spcPct val="90000"/>
              </a:lnSpc>
              <a:spcBef>
                <a:spcPct val="0"/>
              </a:spcBef>
              <a:spcAft>
                <a:spcPts val="600"/>
              </a:spcAft>
            </a:pPr>
            <a:endParaRPr lang="en-US" sz="4400" i="1"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r>
              <a:rPr lang="en-US" sz="2200" dirty="0">
                <a:solidFill>
                  <a:schemeClr val="bg2">
                    <a:lumMod val="50000"/>
                  </a:schemeClr>
                </a:solidFill>
                <a:latin typeface="Perpetua" panose="02020502060401020303" pitchFamily="18" charset="77"/>
              </a:rPr>
              <a:t>Please note that place cards are required by the catering staff regardless of round or rectangular tables. For weddings with more than 100 guests, place cards must be placed on each table with assigned seating, showing each guest’s full name, table number, and a meal icon/allergy note to guide the staff.</a:t>
            </a:r>
            <a:endParaRPr lang="en-US" sz="22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pic>
        <p:nvPicPr>
          <p:cNvPr id="3" name="Picture 2">
            <a:extLst>
              <a:ext uri="{FF2B5EF4-FFF2-40B4-BE49-F238E27FC236}">
                <a16:creationId xmlns:a16="http://schemas.microsoft.com/office/drawing/2014/main" id="{80BD6E25-2C67-B0A9-5AC2-44EC7EF84917}"/>
              </a:ext>
            </a:extLst>
          </p:cNvPr>
          <p:cNvPicPr>
            <a:picLocks noChangeAspect="1"/>
          </p:cNvPicPr>
          <p:nvPr/>
        </p:nvPicPr>
        <p:blipFill>
          <a:blip r:embed="rId2"/>
          <a:srcRect/>
          <a:stretch/>
        </p:blipFill>
        <p:spPr>
          <a:xfrm>
            <a:off x="7425268" y="334890"/>
            <a:ext cx="3843803" cy="6188215"/>
          </a:xfrm>
          <a:prstGeom prst="rect">
            <a:avLst/>
          </a:prstGeom>
        </p:spPr>
      </p:pic>
    </p:spTree>
    <p:extLst>
      <p:ext uri="{BB962C8B-B14F-4D97-AF65-F5344CB8AC3E}">
        <p14:creationId xmlns:p14="http://schemas.microsoft.com/office/powerpoint/2010/main" val="36174177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37C5453-EF1A-B806-4E83-A4778DCE2ED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FD6A3D0-071B-27FE-1A63-2E2F52A1C602}"/>
              </a:ext>
            </a:extLst>
          </p:cNvPr>
          <p:cNvSpPr txBox="1"/>
          <p:nvPr/>
        </p:nvSpPr>
        <p:spPr>
          <a:xfrm>
            <a:off x="142641" y="-422656"/>
            <a:ext cx="6136239" cy="563641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Table numbers</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marL="342900" indent="-342900" algn="ctr" defTabSz="914400">
              <a:lnSpc>
                <a:spcPct val="90000"/>
              </a:lnSpc>
              <a:spcBef>
                <a:spcPct val="0"/>
              </a:spcBef>
              <a:spcAft>
                <a:spcPts val="600"/>
              </a:spcAft>
              <a:buFont typeface="Arial" panose="020B0604020202020204" pitchFamily="34" charset="0"/>
              <a:buChar char="•"/>
            </a:pPr>
            <a:r>
              <a:rPr lang="en-US" sz="2200" dirty="0">
                <a:solidFill>
                  <a:schemeClr val="bg2">
                    <a:lumMod val="50000"/>
                  </a:schemeClr>
                </a:solidFill>
                <a:latin typeface="Perpetua" panose="02020502060401020303" pitchFamily="18" charset="77"/>
              </a:rPr>
              <a:t>A sophisticated rectangular design, printed on warm white paper and enhanced with delicate lace detailing and elegant script typography, will be gracefully displayed on a gold holder, exuding understated elegance</a:t>
            </a:r>
          </a:p>
        </p:txBody>
      </p:sp>
      <p:pic>
        <p:nvPicPr>
          <p:cNvPr id="4" name="Picture 3">
            <a:extLst>
              <a:ext uri="{FF2B5EF4-FFF2-40B4-BE49-F238E27FC236}">
                <a16:creationId xmlns:a16="http://schemas.microsoft.com/office/drawing/2014/main" id="{40D030C9-5843-CFC5-A305-20C724FD7C4E}"/>
              </a:ext>
            </a:extLst>
          </p:cNvPr>
          <p:cNvPicPr>
            <a:picLocks noChangeAspect="1"/>
          </p:cNvPicPr>
          <p:nvPr/>
        </p:nvPicPr>
        <p:blipFill>
          <a:blip r:embed="rId2"/>
          <a:srcRect/>
          <a:stretch/>
        </p:blipFill>
        <p:spPr>
          <a:xfrm>
            <a:off x="7047890" y="1059988"/>
            <a:ext cx="4273511" cy="4738023"/>
          </a:xfrm>
          <a:prstGeom prst="rect">
            <a:avLst/>
          </a:prstGeom>
        </p:spPr>
      </p:pic>
    </p:spTree>
    <p:extLst>
      <p:ext uri="{BB962C8B-B14F-4D97-AF65-F5344CB8AC3E}">
        <p14:creationId xmlns:p14="http://schemas.microsoft.com/office/powerpoint/2010/main" val="4279134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D819984-0BCB-B705-8381-EF87FBA47F9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4B3B833-1225-75CC-5980-D6B4AEB7ADE2}"/>
              </a:ext>
            </a:extLst>
          </p:cNvPr>
          <p:cNvSpPr txBox="1"/>
          <p:nvPr/>
        </p:nvSpPr>
        <p:spPr>
          <a:xfrm>
            <a:off x="279900" y="206476"/>
            <a:ext cx="5416911" cy="6240505"/>
          </a:xfrm>
          <a:prstGeom prst="rect">
            <a:avLst/>
          </a:prstGeom>
        </p:spPr>
        <p:txBody>
          <a:bodyPr vert="horz" lIns="91440" tIns="45720" rIns="91440" bIns="45720" rtlCol="0" anchor="ctr">
            <a:normAutofit fontScale="85000" lnSpcReduction="10000"/>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Menus</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3100" dirty="0">
              <a:solidFill>
                <a:schemeClr val="bg2">
                  <a:lumMod val="50000"/>
                </a:schemeClr>
              </a:solidFill>
              <a:latin typeface="Perpetua" panose="02020502060401020303" pitchFamily="18" charset="77"/>
              <a:ea typeface="+mj-ea"/>
              <a:cs typeface="+mj-cs"/>
            </a:endParaRPr>
          </a:p>
          <a:p>
            <a:pPr marL="342900" indent="-342900" algn="ctr" fontAlgn="base">
              <a:buFont typeface="Arial" panose="020B0604020202020204" pitchFamily="34" charset="0"/>
              <a:buChar char="•"/>
            </a:pPr>
            <a:r>
              <a:rPr lang="en-US" sz="3100" dirty="0">
                <a:solidFill>
                  <a:schemeClr val="bg2">
                    <a:lumMod val="50000"/>
                  </a:schemeClr>
                </a:solidFill>
                <a:latin typeface="Perpetua" panose="02020502060401020303" pitchFamily="18" charset="77"/>
              </a:rPr>
              <a:t>An oval-format menu, adorned with a delicate light background card beneath and featuring elegant dark green script typography at its center, accented with a light pink ribbon, exuding refined and harmonious sophistication</a:t>
            </a:r>
          </a:p>
          <a:p>
            <a:pPr algn="ctr" fontAlgn="base"/>
            <a:endParaRPr lang="en-US" sz="3100" dirty="0">
              <a:solidFill>
                <a:schemeClr val="bg2">
                  <a:lumMod val="50000"/>
                </a:schemeClr>
              </a:solidFill>
              <a:latin typeface="Perpetua" panose="02020502060401020303" pitchFamily="18" charset="77"/>
            </a:endParaRPr>
          </a:p>
          <a:p>
            <a:pPr algn="ctr" fontAlgn="base"/>
            <a:endParaRPr lang="en-US" sz="2400" dirty="0">
              <a:solidFill>
                <a:schemeClr val="accent2">
                  <a:lumMod val="75000"/>
                </a:schemeClr>
              </a:solidFill>
              <a:latin typeface="Perpetua" panose="02020502060401020303" pitchFamily="18" charset="77"/>
            </a:endParaRPr>
          </a:p>
          <a:p>
            <a:pPr algn="ctr" fontAlgn="base"/>
            <a:r>
              <a:rPr lang="en-US" sz="2400" dirty="0">
                <a:solidFill>
                  <a:schemeClr val="accent2">
                    <a:lumMod val="75000"/>
                  </a:schemeClr>
                </a:solidFill>
                <a:latin typeface="Perpetua" panose="02020502060401020303" pitchFamily="18" charset="77"/>
              </a:rPr>
              <a:t>Audrey’s note: For the menu the Bride would like something with a more simple background paper vs the busy floral design. </a:t>
            </a:r>
          </a:p>
          <a:p>
            <a:pPr algn="ctr" fontAlgn="base"/>
            <a:endParaRPr lang="en-US" sz="3100" dirty="0">
              <a:solidFill>
                <a:srgbClr val="FFC000"/>
              </a:solidFill>
              <a:latin typeface="Perpetua" panose="02020502060401020303" pitchFamily="18" charset="77"/>
            </a:endParaRPr>
          </a:p>
        </p:txBody>
      </p:sp>
      <p:pic>
        <p:nvPicPr>
          <p:cNvPr id="3" name="Picture 2">
            <a:extLst>
              <a:ext uri="{FF2B5EF4-FFF2-40B4-BE49-F238E27FC236}">
                <a16:creationId xmlns:a16="http://schemas.microsoft.com/office/drawing/2014/main" id="{3576634B-03A1-B7AD-3AD9-CE62143D01D6}"/>
              </a:ext>
            </a:extLst>
          </p:cNvPr>
          <p:cNvPicPr>
            <a:picLocks noChangeAspect="1"/>
          </p:cNvPicPr>
          <p:nvPr/>
        </p:nvPicPr>
        <p:blipFill>
          <a:blip r:embed="rId2"/>
          <a:srcRect/>
          <a:stretch/>
        </p:blipFill>
        <p:spPr>
          <a:xfrm>
            <a:off x="6495191" y="499311"/>
            <a:ext cx="4913376" cy="5859377"/>
          </a:xfrm>
          <a:prstGeom prst="rect">
            <a:avLst/>
          </a:prstGeom>
        </p:spPr>
      </p:pic>
    </p:spTree>
    <p:extLst>
      <p:ext uri="{BB962C8B-B14F-4D97-AF65-F5344CB8AC3E}">
        <p14:creationId xmlns:p14="http://schemas.microsoft.com/office/powerpoint/2010/main" val="28295492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9EA3572-05ED-C681-CA50-BEAC8036F51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E5E32C0C-2DAF-24A0-B29C-8A8A031B33C4}"/>
              </a:ext>
            </a:extLst>
          </p:cNvPr>
          <p:cNvSpPr txBox="1"/>
          <p:nvPr/>
        </p:nvSpPr>
        <p:spPr>
          <a:xfrm>
            <a:off x="279900" y="206476"/>
            <a:ext cx="5416911" cy="624050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QR Code Sign</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r>
              <a:rPr lang="en-US" sz="3100" dirty="0">
                <a:solidFill>
                  <a:schemeClr val="bg2">
                    <a:lumMod val="50000"/>
                  </a:schemeClr>
                </a:solidFill>
                <a:latin typeface="Perpetua" panose="02020502060401020303" pitchFamily="18" charset="77"/>
                <a:ea typeface="+mj-ea"/>
                <a:cs typeface="+mj-cs"/>
              </a:rPr>
              <a:t>Simple aesthetic as picture</a:t>
            </a:r>
            <a:endParaRPr lang="en-US" sz="3100" dirty="0">
              <a:solidFill>
                <a:srgbClr val="FFC000"/>
              </a:solidFill>
              <a:latin typeface="Perpetua" panose="02020502060401020303" pitchFamily="18" charset="77"/>
            </a:endParaRPr>
          </a:p>
        </p:txBody>
      </p:sp>
      <p:pic>
        <p:nvPicPr>
          <p:cNvPr id="2" name="Picture 1" descr="A qr code on a card&#10;&#10;AI-generated content may be incorrect.">
            <a:extLst>
              <a:ext uri="{FF2B5EF4-FFF2-40B4-BE49-F238E27FC236}">
                <a16:creationId xmlns:a16="http://schemas.microsoft.com/office/drawing/2014/main" id="{C590912C-F1F4-A33F-7400-4C4F5F1BFAF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68896" y="1250577"/>
            <a:ext cx="4108703" cy="5003094"/>
          </a:xfrm>
          <a:prstGeom prst="rect">
            <a:avLst/>
          </a:prstGeom>
        </p:spPr>
      </p:pic>
    </p:spTree>
    <p:extLst>
      <p:ext uri="{BB962C8B-B14F-4D97-AF65-F5344CB8AC3E}">
        <p14:creationId xmlns:p14="http://schemas.microsoft.com/office/powerpoint/2010/main" val="18870195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65E0412-A1BA-3659-93F6-57A17AAD6AD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0AA1DA1-99EF-9FD9-261D-B9AEBDFB8BEC}"/>
              </a:ext>
            </a:extLst>
          </p:cNvPr>
          <p:cNvSpPr txBox="1"/>
          <p:nvPr/>
        </p:nvSpPr>
        <p:spPr>
          <a:xfrm>
            <a:off x="-277949" y="214712"/>
            <a:ext cx="5416911" cy="624050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Satin bows on plates</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r>
              <a:rPr lang="en-US" sz="3100" dirty="0">
                <a:solidFill>
                  <a:schemeClr val="bg2">
                    <a:lumMod val="50000"/>
                  </a:schemeClr>
                </a:solidFill>
                <a:latin typeface="Perpetua" panose="02020502060401020303" pitchFamily="18" charset="77"/>
                <a:ea typeface="+mj-ea"/>
                <a:cs typeface="+mj-cs"/>
              </a:rPr>
              <a:t>as picture – Light Pink color is recommended to match best with the decor</a:t>
            </a:r>
            <a:endParaRPr lang="en-US" sz="3100" dirty="0">
              <a:solidFill>
                <a:srgbClr val="FFC000"/>
              </a:solidFill>
              <a:latin typeface="Perpetua" panose="02020502060401020303" pitchFamily="18" charset="77"/>
            </a:endParaRPr>
          </a:p>
        </p:txBody>
      </p:sp>
      <p:pic>
        <p:nvPicPr>
          <p:cNvPr id="3" name="Picture 2" descr="A plate with a bow on it&#10;&#10;AI-generated content may be incorrect.">
            <a:extLst>
              <a:ext uri="{FF2B5EF4-FFF2-40B4-BE49-F238E27FC236}">
                <a16:creationId xmlns:a16="http://schemas.microsoft.com/office/drawing/2014/main" id="{55496895-B7B5-473B-EE67-906DD8F290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0159" y="1813465"/>
            <a:ext cx="3263790" cy="4387874"/>
          </a:xfrm>
          <a:prstGeom prst="rect">
            <a:avLst/>
          </a:prstGeom>
        </p:spPr>
      </p:pic>
      <p:pic>
        <p:nvPicPr>
          <p:cNvPr id="4" name="Picture 3" descr="A table set for a dinner party&#10;&#10;AI-generated content may be incorrect.">
            <a:extLst>
              <a:ext uri="{FF2B5EF4-FFF2-40B4-BE49-F238E27FC236}">
                <a16:creationId xmlns:a16="http://schemas.microsoft.com/office/drawing/2014/main" id="{F583FAAF-C6AB-0B86-2002-CDD2B6498F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40962" y="656661"/>
            <a:ext cx="3116339" cy="4410640"/>
          </a:xfrm>
          <a:prstGeom prst="rect">
            <a:avLst/>
          </a:prstGeom>
        </p:spPr>
      </p:pic>
    </p:spTree>
    <p:extLst>
      <p:ext uri="{BB962C8B-B14F-4D97-AF65-F5344CB8AC3E}">
        <p14:creationId xmlns:p14="http://schemas.microsoft.com/office/powerpoint/2010/main" val="36909464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6CAF78E-16A2-5A6B-CAA3-7D9B508FD07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E1D080B-C004-9F13-2CC3-E7237812A99E}"/>
              </a:ext>
            </a:extLst>
          </p:cNvPr>
          <p:cNvSpPr txBox="1"/>
          <p:nvPr/>
        </p:nvSpPr>
        <p:spPr>
          <a:xfrm>
            <a:off x="880820" y="1292692"/>
            <a:ext cx="10430360" cy="837560"/>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300" dirty="0">
                <a:solidFill>
                  <a:schemeClr val="bg2">
                    <a:lumMod val="50000"/>
                  </a:schemeClr>
                </a:solidFill>
                <a:latin typeface="Perpetua" panose="02020502060401020303" pitchFamily="18" charset="77"/>
                <a:ea typeface="+mj-ea"/>
                <a:cs typeface="+mj-cs"/>
              </a:rPr>
              <a:t>RECEPTION DÉCOR</a:t>
            </a:r>
            <a:endParaRPr lang="en-US" sz="39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300" dirty="0">
              <a:solidFill>
                <a:schemeClr val="bg2">
                  <a:lumMod val="50000"/>
                </a:schemeClr>
              </a:solidFill>
              <a:latin typeface="Perpetua" panose="02020502060401020303" pitchFamily="18" charset="77"/>
              <a:ea typeface="+mj-ea"/>
              <a:cs typeface="+mj-cs"/>
            </a:endParaRPr>
          </a:p>
        </p:txBody>
      </p:sp>
      <p:sp>
        <p:nvSpPr>
          <p:cNvPr id="4" name="Rectangle 3">
            <a:extLst>
              <a:ext uri="{FF2B5EF4-FFF2-40B4-BE49-F238E27FC236}">
                <a16:creationId xmlns:a16="http://schemas.microsoft.com/office/drawing/2014/main" id="{D99914F7-B682-FF91-5514-2539C1F87929}"/>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6E03C0D-48ED-9810-E231-A3EE4C05D784}"/>
              </a:ext>
            </a:extLst>
          </p:cNvPr>
          <p:cNvSpPr txBox="1"/>
          <p:nvPr/>
        </p:nvSpPr>
        <p:spPr>
          <a:xfrm>
            <a:off x="1225900" y="3637503"/>
            <a:ext cx="9897626" cy="646331"/>
          </a:xfrm>
          <a:prstGeom prst="rect">
            <a:avLst/>
          </a:prstGeom>
          <a:noFill/>
        </p:spPr>
        <p:txBody>
          <a:bodyPr wrap="square" rtlCol="0">
            <a:spAutoFit/>
          </a:bodyPr>
          <a:lstStyle/>
          <a:p>
            <a:pPr algn="ctr"/>
            <a:r>
              <a:rPr lang="en-US" dirty="0">
                <a:solidFill>
                  <a:schemeClr val="bg2">
                    <a:lumMod val="50000"/>
                  </a:schemeClr>
                </a:solidFill>
                <a:latin typeface="Perpetua" panose="02020502060401020303" pitchFamily="18" charset="77"/>
              </a:rPr>
              <a:t>The ceremony will take place at Shangri-La, Paris.</a:t>
            </a:r>
          </a:p>
          <a:p>
            <a:endParaRPr lang="en-AE" dirty="0"/>
          </a:p>
        </p:txBody>
      </p:sp>
    </p:spTree>
    <p:extLst>
      <p:ext uri="{BB962C8B-B14F-4D97-AF65-F5344CB8AC3E}">
        <p14:creationId xmlns:p14="http://schemas.microsoft.com/office/powerpoint/2010/main" val="3820833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98DA3D0-DAC1-0238-2798-DE89CCB6AE2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D1026BB-C18C-CD0F-F230-ECC747518228}"/>
              </a:ext>
            </a:extLst>
          </p:cNvPr>
          <p:cNvSpPr txBox="1"/>
          <p:nvPr/>
        </p:nvSpPr>
        <p:spPr>
          <a:xfrm>
            <a:off x="432997" y="0"/>
            <a:ext cx="5663003" cy="6857999"/>
          </a:xfrm>
          <a:prstGeom prst="rect">
            <a:avLst/>
          </a:prstGeom>
        </p:spPr>
        <p:txBody>
          <a:bodyPr vert="horz" lIns="91440" tIns="45720" rIns="91440" bIns="45720" rtlCol="0" anchor="t">
            <a:normAutofit fontScale="77500" lnSpcReduction="20000"/>
          </a:bodyPr>
          <a:lstStyle/>
          <a:p>
            <a:pPr algn="ctr" defTabSz="914400">
              <a:lnSpc>
                <a:spcPct val="90000"/>
              </a:lnSpc>
              <a:spcBef>
                <a:spcPct val="0"/>
              </a:spcBef>
              <a:spcAft>
                <a:spcPts val="600"/>
              </a:spcAft>
            </a:pPr>
            <a:r>
              <a:rPr lang="en-US" sz="3900" dirty="0">
                <a:solidFill>
                  <a:schemeClr val="bg2">
                    <a:lumMod val="50000"/>
                  </a:schemeClr>
                </a:solidFill>
                <a:latin typeface="Perpetua" panose="02020502060401020303" pitchFamily="18" charset="77"/>
                <a:ea typeface="+mj-ea"/>
                <a:cs typeface="+mj-cs"/>
              </a:rPr>
              <a:t>Bride &amp; groom </a:t>
            </a:r>
            <a:r>
              <a:rPr lang="en-US" sz="4000" dirty="0">
                <a:solidFill>
                  <a:schemeClr val="bg2">
                    <a:lumMod val="50000"/>
                  </a:schemeClr>
                </a:solidFill>
                <a:latin typeface="Perpetua" panose="02020502060401020303" pitchFamily="18" charset="77"/>
              </a:rPr>
              <a:t>–</a:t>
            </a:r>
            <a:r>
              <a:rPr lang="en-US" sz="3900" dirty="0">
                <a:solidFill>
                  <a:schemeClr val="bg2">
                    <a:lumMod val="50000"/>
                  </a:schemeClr>
                </a:solidFill>
                <a:latin typeface="Perpetua" panose="02020502060401020303" pitchFamily="18" charset="77"/>
                <a:ea typeface="+mj-ea"/>
                <a:cs typeface="+mj-cs"/>
              </a:rPr>
              <a:t> </a:t>
            </a:r>
            <a:r>
              <a:rPr lang="en-US" sz="3900" dirty="0">
                <a:solidFill>
                  <a:schemeClr val="accent2"/>
                </a:solidFill>
                <a:latin typeface="Perpetua" panose="02020502060401020303" pitchFamily="18" charset="77"/>
                <a:ea typeface="+mj-ea"/>
                <a:cs typeface="+mj-cs"/>
              </a:rPr>
              <a:t>Table For 2</a:t>
            </a:r>
            <a:endParaRPr lang="en-US" sz="2400" dirty="0">
              <a:solidFill>
                <a:schemeClr val="accent2"/>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3900"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endParaRPr lang="en-US" sz="2800" dirty="0">
              <a:solidFill>
                <a:schemeClr val="bg2">
                  <a:lumMod val="50000"/>
                </a:schemeClr>
              </a:solidFill>
              <a:latin typeface="Perpetua" panose="02020502060401020303" pitchFamily="18" charset="77"/>
            </a:endParaRPr>
          </a:p>
          <a:p>
            <a:pPr marL="457200" indent="-457200" defTabSz="914400">
              <a:lnSpc>
                <a:spcPct val="90000"/>
              </a:lnSpc>
              <a:spcBef>
                <a:spcPct val="0"/>
              </a:spcBef>
              <a:spcAft>
                <a:spcPts val="600"/>
              </a:spcAft>
              <a:buFont typeface="Arial" panose="020B0604020202020204" pitchFamily="34" charset="0"/>
              <a:buChar char="•"/>
            </a:pPr>
            <a:r>
              <a:rPr lang="en-US" sz="2800" dirty="0">
                <a:solidFill>
                  <a:schemeClr val="bg2">
                    <a:lumMod val="50000"/>
                  </a:schemeClr>
                </a:solidFill>
                <a:latin typeface="Perpetua" panose="02020502060401020303" pitchFamily="18" charset="77"/>
              </a:rPr>
              <a:t>The bride and groom’s table will be a rectangular table for two, styled to reflect the elegance of the guest tables while incorporating a distinctive statement element</a:t>
            </a:r>
          </a:p>
          <a:p>
            <a:pPr marL="457200" indent="-457200" defTabSz="914400">
              <a:lnSpc>
                <a:spcPct val="90000"/>
              </a:lnSpc>
              <a:spcBef>
                <a:spcPct val="0"/>
              </a:spcBef>
              <a:spcAft>
                <a:spcPts val="600"/>
              </a:spcAft>
              <a:buFont typeface="Arial" panose="020B0604020202020204" pitchFamily="34" charset="0"/>
              <a:buChar char="•"/>
            </a:pPr>
            <a:endParaRPr lang="en-US" sz="2800" dirty="0">
              <a:solidFill>
                <a:schemeClr val="bg2">
                  <a:lumMod val="50000"/>
                </a:schemeClr>
              </a:solidFill>
              <a:latin typeface="Perpetua" panose="02020502060401020303" pitchFamily="18" charset="77"/>
            </a:endParaRPr>
          </a:p>
          <a:p>
            <a:pPr marL="457200" indent="-457200" defTabSz="914400">
              <a:lnSpc>
                <a:spcPct val="90000"/>
              </a:lnSpc>
              <a:spcBef>
                <a:spcPct val="0"/>
              </a:spcBef>
              <a:spcAft>
                <a:spcPts val="600"/>
              </a:spcAft>
              <a:buFont typeface="Arial" panose="020B0604020202020204" pitchFamily="34" charset="0"/>
              <a:buChar char="•"/>
            </a:pPr>
            <a:r>
              <a:rPr lang="en-US" sz="2800" dirty="0">
                <a:solidFill>
                  <a:schemeClr val="bg2">
                    <a:lumMod val="50000"/>
                  </a:schemeClr>
                </a:solidFill>
                <a:latin typeface="Perpetua" panose="02020502060401020303" pitchFamily="18" charset="77"/>
              </a:rPr>
              <a:t>The tabletop will be adorned from side to side with taper and cylinder candles, complemented by a long, medium-sized floral arrangement centered on the table, as well as a larger arrangement at its base, as shown in the reference image</a:t>
            </a:r>
          </a:p>
          <a:p>
            <a:pPr marL="457200" indent="-457200" defTabSz="914400">
              <a:lnSpc>
                <a:spcPct val="90000"/>
              </a:lnSpc>
              <a:spcBef>
                <a:spcPct val="0"/>
              </a:spcBef>
              <a:spcAft>
                <a:spcPts val="600"/>
              </a:spcAft>
              <a:buFont typeface="Arial" panose="020B0604020202020204" pitchFamily="34" charset="0"/>
              <a:buChar char="•"/>
            </a:pPr>
            <a:br>
              <a:rPr lang="en-US" sz="2800" dirty="0">
                <a:solidFill>
                  <a:schemeClr val="bg2">
                    <a:lumMod val="50000"/>
                  </a:schemeClr>
                </a:solidFill>
                <a:latin typeface="Perpetua" panose="02020502060401020303" pitchFamily="18" charset="77"/>
              </a:rPr>
            </a:br>
            <a:r>
              <a:rPr lang="en-US" sz="2800" dirty="0">
                <a:solidFill>
                  <a:schemeClr val="bg2">
                    <a:lumMod val="50000"/>
                  </a:schemeClr>
                </a:solidFill>
                <a:latin typeface="Perpetua" panose="02020502060401020303" pitchFamily="18" charset="77"/>
              </a:rPr>
              <a:t>Deconstructed, curved floral columns in two varying heights will be positioned on either side behind the couple, creating a striking and sophisticated frame. </a:t>
            </a:r>
          </a:p>
          <a:p>
            <a:pPr defTabSz="914400">
              <a:lnSpc>
                <a:spcPct val="90000"/>
              </a:lnSpc>
              <a:spcBef>
                <a:spcPct val="0"/>
              </a:spcBef>
              <a:spcAft>
                <a:spcPts val="600"/>
              </a:spcAft>
            </a:pPr>
            <a:endParaRPr lang="en-US" sz="2800" dirty="0">
              <a:solidFill>
                <a:schemeClr val="bg2">
                  <a:lumMod val="50000"/>
                </a:schemeClr>
              </a:solidFill>
              <a:latin typeface="Perpetua" panose="02020502060401020303" pitchFamily="18" charset="77"/>
            </a:endParaRPr>
          </a:p>
          <a:p>
            <a:pPr defTabSz="914400">
              <a:lnSpc>
                <a:spcPct val="90000"/>
              </a:lnSpc>
              <a:spcBef>
                <a:spcPct val="0"/>
              </a:spcBef>
              <a:spcAft>
                <a:spcPts val="600"/>
              </a:spcAft>
            </a:pPr>
            <a:endParaRPr lang="en-US" sz="2800" dirty="0">
              <a:solidFill>
                <a:schemeClr val="bg2">
                  <a:lumMod val="50000"/>
                </a:schemeClr>
              </a:solidFill>
              <a:latin typeface="Perpetua" panose="02020502060401020303" pitchFamily="18" charset="77"/>
            </a:endParaRPr>
          </a:p>
          <a:p>
            <a:pPr defTabSz="914400">
              <a:lnSpc>
                <a:spcPct val="90000"/>
              </a:lnSpc>
              <a:spcBef>
                <a:spcPct val="0"/>
              </a:spcBef>
              <a:spcAft>
                <a:spcPts val="600"/>
              </a:spcAft>
            </a:pPr>
            <a:r>
              <a:rPr lang="en-US" sz="2800" dirty="0">
                <a:solidFill>
                  <a:schemeClr val="bg2">
                    <a:lumMod val="50000"/>
                  </a:schemeClr>
                </a:solidFill>
                <a:latin typeface="Perpetua" panose="02020502060401020303" pitchFamily="18" charset="77"/>
              </a:rPr>
              <a:t>Every detail is thoughtfully curated to harmonize seamlessly with the color </a:t>
            </a:r>
            <a:r>
              <a:rPr lang="en-US" sz="2800" dirty="0">
                <a:solidFill>
                  <a:srgbClr val="FFC000"/>
                </a:solidFill>
                <a:latin typeface="Perpetua" panose="02020502060401020303" pitchFamily="18" charset="77"/>
              </a:rPr>
              <a:t>palette detailed on slide #2</a:t>
            </a:r>
            <a:r>
              <a:rPr lang="en-US" sz="2800" dirty="0">
                <a:solidFill>
                  <a:schemeClr val="bg2">
                    <a:lumMod val="50000"/>
                  </a:schemeClr>
                </a:solidFill>
                <a:latin typeface="Perpetua" panose="02020502060401020303" pitchFamily="18" charset="77"/>
              </a:rPr>
              <a:t>, resulting in a warm, refined, and unforgettable focal point</a:t>
            </a:r>
            <a:endParaRPr lang="en-US" sz="2600" dirty="0">
              <a:solidFill>
                <a:schemeClr val="bg2">
                  <a:lumMod val="50000"/>
                </a:schemeClr>
              </a:solidFill>
              <a:latin typeface="Perpetua" panose="02020502060401020303" pitchFamily="18" charset="77"/>
              <a:sym typeface="Wingdings" pitchFamily="2" charset="2"/>
            </a:endParaRPr>
          </a:p>
        </p:txBody>
      </p:sp>
      <p:sp>
        <p:nvSpPr>
          <p:cNvPr id="23" name="Content Placeholder 12">
            <a:extLst>
              <a:ext uri="{FF2B5EF4-FFF2-40B4-BE49-F238E27FC236}">
                <a16:creationId xmlns:a16="http://schemas.microsoft.com/office/drawing/2014/main" id="{E5695596-7817-DE6D-82CA-C3D8A3928D04}"/>
              </a:ext>
            </a:extLst>
          </p:cNvPr>
          <p:cNvSpPr>
            <a:spLocks noGrp="1"/>
          </p:cNvSpPr>
          <p:nvPr>
            <p:ph idx="1"/>
          </p:nvPr>
        </p:nvSpPr>
        <p:spPr>
          <a:xfrm>
            <a:off x="9164538" y="7434541"/>
            <a:ext cx="5518645" cy="4415589"/>
          </a:xfrm>
        </p:spPr>
        <p:txBody>
          <a:bodyPr vert="horz" lIns="91440" tIns="45720" rIns="91440" bIns="45720" rtlCol="0">
            <a:noAutofit/>
          </a:bodyPr>
          <a:lstStyle/>
          <a:p>
            <a:pPr marL="0" indent="0" algn="l">
              <a:buNone/>
            </a:pPr>
            <a:endParaRPr lang="en-US" sz="2000" dirty="0">
              <a:solidFill>
                <a:schemeClr val="bg2">
                  <a:lumMod val="50000"/>
                </a:schemeClr>
              </a:solidFill>
              <a:latin typeface="Perpetua" panose="02020502060401020303" pitchFamily="18" charset="77"/>
            </a:endParaRPr>
          </a:p>
          <a:p>
            <a:pPr marL="0" indent="0" algn="l">
              <a:buNone/>
            </a:pPr>
            <a:endParaRPr lang="en-US" sz="2000" dirty="0">
              <a:solidFill>
                <a:schemeClr val="bg2">
                  <a:lumMod val="50000"/>
                </a:schemeClr>
              </a:solidFill>
              <a:latin typeface="Perpetua" panose="02020502060401020303" pitchFamily="18" charset="77"/>
            </a:endParaRPr>
          </a:p>
        </p:txBody>
      </p:sp>
      <p:pic>
        <p:nvPicPr>
          <p:cNvPr id="5" name="Picture 4">
            <a:extLst>
              <a:ext uri="{FF2B5EF4-FFF2-40B4-BE49-F238E27FC236}">
                <a16:creationId xmlns:a16="http://schemas.microsoft.com/office/drawing/2014/main" id="{B6448455-5651-AFAD-AED8-EBF908346000}"/>
              </a:ext>
            </a:extLst>
          </p:cNvPr>
          <p:cNvPicPr>
            <a:picLocks noChangeAspect="1"/>
          </p:cNvPicPr>
          <p:nvPr/>
        </p:nvPicPr>
        <p:blipFill>
          <a:blip r:embed="rId2"/>
          <a:srcRect/>
          <a:stretch/>
        </p:blipFill>
        <p:spPr>
          <a:xfrm>
            <a:off x="7388576" y="350032"/>
            <a:ext cx="4120444" cy="6180666"/>
          </a:xfrm>
          <a:prstGeom prst="rect">
            <a:avLst/>
          </a:prstGeom>
        </p:spPr>
      </p:pic>
    </p:spTree>
    <p:extLst>
      <p:ext uri="{BB962C8B-B14F-4D97-AF65-F5344CB8AC3E}">
        <p14:creationId xmlns:p14="http://schemas.microsoft.com/office/powerpoint/2010/main" val="36105781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041749-C801-3AB0-625E-5947C995F705}"/>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61293230-B0F6-45B1-96D1-13D18E2429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0A1E0707-4985-454B-ACE0-4855BB558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extBox 8">
            <a:extLst>
              <a:ext uri="{FF2B5EF4-FFF2-40B4-BE49-F238E27FC236}">
                <a16:creationId xmlns:a16="http://schemas.microsoft.com/office/drawing/2014/main" id="{0462F60B-E57F-F239-A1FD-1449A06A11B7}"/>
              </a:ext>
            </a:extLst>
          </p:cNvPr>
          <p:cNvSpPr txBox="1"/>
          <p:nvPr/>
        </p:nvSpPr>
        <p:spPr>
          <a:xfrm>
            <a:off x="7103" y="267855"/>
            <a:ext cx="4989770" cy="6590145"/>
          </a:xfrm>
          <a:prstGeom prst="rect">
            <a:avLst/>
          </a:prstGeom>
        </p:spPr>
        <p:txBody>
          <a:bodyPr vert="horz" lIns="91440" tIns="45720" rIns="91440" bIns="45720" rtlCol="0">
            <a:normAutofit fontScale="92500"/>
          </a:bodyPr>
          <a:lstStyle/>
          <a:p>
            <a:pPr defTabSz="914400">
              <a:lnSpc>
                <a:spcPct val="90000"/>
              </a:lnSpc>
              <a:spcBef>
                <a:spcPct val="0"/>
              </a:spcBef>
              <a:spcAft>
                <a:spcPts val="600"/>
              </a:spcAft>
            </a:pPr>
            <a:r>
              <a:rPr lang="en-US" sz="3500" dirty="0">
                <a:solidFill>
                  <a:schemeClr val="bg2">
                    <a:lumMod val="50000"/>
                  </a:schemeClr>
                </a:solidFill>
                <a:latin typeface="Perpetua" panose="02020502060401020303" pitchFamily="18" charset="77"/>
              </a:rPr>
              <a:t>Rectangular Tables – </a:t>
            </a:r>
            <a:r>
              <a:rPr lang="en-US" sz="3500" dirty="0">
                <a:solidFill>
                  <a:schemeClr val="bg2">
                    <a:lumMod val="50000"/>
                  </a:schemeClr>
                </a:solidFill>
                <a:highlight>
                  <a:srgbClr val="FFFF00"/>
                </a:highlight>
                <a:latin typeface="Perpetua" panose="02020502060401020303" pitchFamily="18" charset="77"/>
              </a:rPr>
              <a:t>OPTION 1</a:t>
            </a:r>
          </a:p>
          <a:p>
            <a:pPr defTabSz="914400">
              <a:lnSpc>
                <a:spcPct val="90000"/>
              </a:lnSpc>
              <a:spcBef>
                <a:spcPct val="0"/>
              </a:spcBef>
              <a:spcAft>
                <a:spcPts val="600"/>
              </a:spcAft>
            </a:pPr>
            <a:endParaRPr lang="en-US" sz="2400" dirty="0">
              <a:solidFill>
                <a:srgbClr val="FFC000"/>
              </a:solidFill>
              <a:highlight>
                <a:srgbClr val="FFFF00"/>
              </a:highlight>
              <a:latin typeface="Perpetua" panose="02020502060401020303" pitchFamily="18" charset="77"/>
            </a:endParaRPr>
          </a:p>
          <a:p>
            <a:pPr algn="ctr" defTabSz="914400">
              <a:lnSpc>
                <a:spcPct val="90000"/>
              </a:lnSpc>
              <a:spcBef>
                <a:spcPct val="0"/>
              </a:spcBef>
              <a:spcAft>
                <a:spcPts val="600"/>
              </a:spcAft>
            </a:pPr>
            <a:endParaRPr lang="en-US" sz="2400" dirty="0">
              <a:solidFill>
                <a:srgbClr val="FFC000"/>
              </a:solidFill>
              <a:highlight>
                <a:srgbClr val="FFFF00"/>
              </a:highlight>
              <a:latin typeface="Perpetua" panose="02020502060401020303" pitchFamily="18" charset="77"/>
            </a:endParaRPr>
          </a:p>
          <a:p>
            <a:pPr marL="457200" indent="-228600" defTabSz="914400">
              <a:lnSpc>
                <a:spcPct val="90000"/>
              </a:lnSpc>
              <a:buFont typeface="Arial" panose="020B0604020202020204" pitchFamily="34" charset="0"/>
              <a:buChar char="•"/>
            </a:pPr>
            <a:r>
              <a:rPr lang="en-US" sz="2400" dirty="0">
                <a:solidFill>
                  <a:schemeClr val="bg2">
                    <a:lumMod val="50000"/>
                  </a:schemeClr>
                </a:solidFill>
                <a:latin typeface="Perpetua" panose="02020502060401020303" pitchFamily="18" charset="77"/>
              </a:rPr>
              <a:t>Rectangular tables (number of guests per side to be confirmed) will be draped in ivory tablecloths and accented with delicate, airy floral arrangements in warm white and soft pink, flowing gracefully along the center to create an elegant and romantic tablescape</a:t>
            </a:r>
          </a:p>
          <a:p>
            <a:pPr marL="228600" defTabSz="914400">
              <a:lnSpc>
                <a:spcPct val="90000"/>
              </a:lnSpc>
            </a:pPr>
            <a:endParaRPr lang="en-US" sz="2400" dirty="0">
              <a:solidFill>
                <a:schemeClr val="bg2">
                  <a:lumMod val="50000"/>
                </a:schemeClr>
              </a:solidFill>
              <a:latin typeface="Perpetua" panose="02020502060401020303" pitchFamily="18" charset="77"/>
            </a:endParaRPr>
          </a:p>
          <a:p>
            <a:pPr marL="457200" indent="-228600" defTabSz="914400">
              <a:lnSpc>
                <a:spcPct val="90000"/>
              </a:lnSpc>
              <a:buFont typeface="Arial" panose="020B0604020202020204" pitchFamily="34" charset="0"/>
              <a:buChar char="•"/>
            </a:pPr>
            <a:r>
              <a:rPr lang="en-US" sz="2400" dirty="0">
                <a:solidFill>
                  <a:schemeClr val="bg2">
                    <a:lumMod val="50000"/>
                  </a:schemeClr>
                </a:solidFill>
                <a:latin typeface="Perpetua" panose="02020502060401020303" pitchFamily="18" charset="77"/>
              </a:rPr>
              <a:t>These arrangements will be complemented by short crystal taper candles, adding a delicate, luminous touch to the tablescape</a:t>
            </a:r>
          </a:p>
          <a:p>
            <a:pPr marL="228600" indent="-228600" defTabSz="914400">
              <a:lnSpc>
                <a:spcPct val="90000"/>
              </a:lnSpc>
              <a:buFont typeface="Arial" panose="020B0604020202020204" pitchFamily="34" charset="0"/>
              <a:buChar char="•"/>
            </a:pPr>
            <a:endParaRPr lang="en-US" sz="2400" dirty="0">
              <a:solidFill>
                <a:schemeClr val="bg2">
                  <a:lumMod val="50000"/>
                </a:schemeClr>
              </a:solidFill>
              <a:latin typeface="Perpetua" panose="02020502060401020303" pitchFamily="18" charset="77"/>
            </a:endParaRPr>
          </a:p>
          <a:p>
            <a:pPr defTabSz="914400">
              <a:lnSpc>
                <a:spcPct val="90000"/>
              </a:lnSpc>
            </a:pPr>
            <a:r>
              <a:rPr lang="en-US" sz="2400" dirty="0">
                <a:solidFill>
                  <a:schemeClr val="bg2">
                    <a:lumMod val="50000"/>
                  </a:schemeClr>
                </a:solidFill>
                <a:latin typeface="Perpetua" panose="02020502060401020303" pitchFamily="18" charset="77"/>
              </a:rPr>
              <a:t>The overall décor will reflect and harmonize with the color </a:t>
            </a:r>
            <a:r>
              <a:rPr lang="en-US" sz="2400" dirty="0">
                <a:solidFill>
                  <a:srgbClr val="FFC000"/>
                </a:solidFill>
                <a:latin typeface="Perpetua" panose="02020502060401020303" pitchFamily="18" charset="77"/>
              </a:rPr>
              <a:t>palette detailed on slide #2</a:t>
            </a:r>
          </a:p>
          <a:p>
            <a:pPr indent="-228600" defTabSz="914400">
              <a:lnSpc>
                <a:spcPct val="90000"/>
              </a:lnSpc>
              <a:spcBef>
                <a:spcPct val="0"/>
              </a:spcBef>
              <a:spcAft>
                <a:spcPts val="600"/>
              </a:spcAft>
              <a:buFont typeface="Arial" panose="020B0604020202020204" pitchFamily="34" charset="0"/>
              <a:buChar char="•"/>
            </a:pPr>
            <a:endParaRPr lang="en-US" sz="1400" dirty="0">
              <a:sym typeface="Wingdings" pitchFamily="2" charset="2"/>
            </a:endParaRPr>
          </a:p>
        </p:txBody>
      </p:sp>
      <p:pic>
        <p:nvPicPr>
          <p:cNvPr id="3" name="Picture 2">
            <a:extLst>
              <a:ext uri="{FF2B5EF4-FFF2-40B4-BE49-F238E27FC236}">
                <a16:creationId xmlns:a16="http://schemas.microsoft.com/office/drawing/2014/main" id="{DFB80419-ED54-98BE-1502-23EF5A4B22B9}"/>
              </a:ext>
            </a:extLst>
          </p:cNvPr>
          <p:cNvPicPr>
            <a:picLocks noChangeAspect="1"/>
          </p:cNvPicPr>
          <p:nvPr/>
        </p:nvPicPr>
        <p:blipFill>
          <a:blip r:embed="rId3"/>
          <a:srcRect l="14074" r="14074"/>
          <a:stretch/>
        </p:blipFill>
        <p:spPr>
          <a:xfrm>
            <a:off x="5829732" y="1073835"/>
            <a:ext cx="2538331" cy="4710330"/>
          </a:xfrm>
          <a:prstGeom prst="rect">
            <a:avLst/>
          </a:prstGeom>
        </p:spPr>
      </p:pic>
      <p:pic>
        <p:nvPicPr>
          <p:cNvPr id="5" name="Picture 4">
            <a:extLst>
              <a:ext uri="{FF2B5EF4-FFF2-40B4-BE49-F238E27FC236}">
                <a16:creationId xmlns:a16="http://schemas.microsoft.com/office/drawing/2014/main" id="{3AFF2D20-F409-D356-E53D-0E872146B7E0}"/>
              </a:ext>
            </a:extLst>
          </p:cNvPr>
          <p:cNvPicPr>
            <a:picLocks noChangeAspect="1"/>
          </p:cNvPicPr>
          <p:nvPr/>
        </p:nvPicPr>
        <p:blipFill>
          <a:blip r:embed="rId4"/>
          <a:srcRect l="14892" r="14892"/>
          <a:stretch/>
        </p:blipFill>
        <p:spPr>
          <a:xfrm>
            <a:off x="8673211" y="1073835"/>
            <a:ext cx="2480530" cy="4710330"/>
          </a:xfrm>
          <a:prstGeom prst="rect">
            <a:avLst/>
          </a:prstGeom>
        </p:spPr>
      </p:pic>
      <p:sp>
        <p:nvSpPr>
          <p:cNvPr id="23" name="Content Placeholder 12">
            <a:extLst>
              <a:ext uri="{FF2B5EF4-FFF2-40B4-BE49-F238E27FC236}">
                <a16:creationId xmlns:a16="http://schemas.microsoft.com/office/drawing/2014/main" id="{8921120B-FE16-E0D1-4AA6-A7EC408A5649}"/>
              </a:ext>
            </a:extLst>
          </p:cNvPr>
          <p:cNvSpPr>
            <a:spLocks noGrp="1"/>
          </p:cNvSpPr>
          <p:nvPr>
            <p:ph idx="1"/>
          </p:nvPr>
        </p:nvSpPr>
        <p:spPr>
          <a:xfrm>
            <a:off x="9164538" y="7434541"/>
            <a:ext cx="5518645" cy="4415589"/>
          </a:xfrm>
        </p:spPr>
        <p:txBody>
          <a:bodyPr vert="horz" lIns="91440" tIns="45720" rIns="91440" bIns="45720" rtlCol="0">
            <a:noAutofit/>
          </a:bodyPr>
          <a:lstStyle/>
          <a:p>
            <a:pPr marL="0" indent="0" algn="l">
              <a:buNone/>
            </a:pPr>
            <a:endParaRPr lang="en-US" sz="2000" dirty="0">
              <a:solidFill>
                <a:schemeClr val="bg2">
                  <a:lumMod val="50000"/>
                </a:schemeClr>
              </a:solidFill>
              <a:latin typeface="Perpetua" panose="02020502060401020303" pitchFamily="18" charset="77"/>
            </a:endParaRPr>
          </a:p>
          <a:p>
            <a:pPr marL="0" indent="0" algn="l">
              <a:buNone/>
            </a:pPr>
            <a:endParaRPr lang="en-US" sz="2000" dirty="0">
              <a:solidFill>
                <a:schemeClr val="bg2">
                  <a:lumMod val="50000"/>
                </a:schemeClr>
              </a:solidFill>
              <a:latin typeface="Perpetua" panose="02020502060401020303" pitchFamily="18" charset="77"/>
            </a:endParaRPr>
          </a:p>
        </p:txBody>
      </p:sp>
    </p:spTree>
    <p:extLst>
      <p:ext uri="{BB962C8B-B14F-4D97-AF65-F5344CB8AC3E}">
        <p14:creationId xmlns:p14="http://schemas.microsoft.com/office/powerpoint/2010/main" val="21515908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0" y="204683"/>
            <a:ext cx="7300018" cy="1397505"/>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3900" dirty="0">
                <a:solidFill>
                  <a:schemeClr val="bg2">
                    <a:lumMod val="50000"/>
                  </a:schemeClr>
                </a:solidFill>
                <a:latin typeface="Perpetua" panose="02020502060401020303" pitchFamily="18" charset="77"/>
                <a:ea typeface="+mj-ea"/>
                <a:cs typeface="+mj-cs"/>
              </a:rPr>
              <a:t>Round Tables Centerpieces – </a:t>
            </a:r>
            <a:r>
              <a:rPr lang="en-US" sz="3900" dirty="0">
                <a:solidFill>
                  <a:schemeClr val="bg2">
                    <a:lumMod val="50000"/>
                  </a:schemeClr>
                </a:solidFill>
                <a:highlight>
                  <a:srgbClr val="FFFF00"/>
                </a:highlight>
                <a:latin typeface="Perpetua" panose="02020502060401020303" pitchFamily="18" charset="77"/>
                <a:ea typeface="+mj-ea"/>
                <a:cs typeface="+mj-cs"/>
              </a:rPr>
              <a:t>Option 2</a:t>
            </a:r>
            <a:endParaRPr lang="en-US" sz="3900" i="1" dirty="0">
              <a:solidFill>
                <a:schemeClr val="bg2">
                  <a:lumMod val="50000"/>
                </a:schemeClr>
              </a:solidFill>
              <a:highlight>
                <a:srgbClr val="FFFF00"/>
              </a:highlight>
              <a:latin typeface="Perpetua" panose="02020502060401020303" pitchFamily="18" charset="77"/>
              <a:ea typeface="+mj-ea"/>
              <a:cs typeface="+mj-cs"/>
            </a:endParaRPr>
          </a:p>
        </p:txBody>
      </p:sp>
      <p:sp>
        <p:nvSpPr>
          <p:cNvPr id="23" name="Content Placeholder 12">
            <a:extLst>
              <a:ext uri="{FF2B5EF4-FFF2-40B4-BE49-F238E27FC236}">
                <a16:creationId xmlns:a16="http://schemas.microsoft.com/office/drawing/2014/main" id="{8DA31A9E-CDA1-4831-8EA8-D8D912D3B933}"/>
              </a:ext>
            </a:extLst>
          </p:cNvPr>
          <p:cNvSpPr>
            <a:spLocks noGrp="1"/>
          </p:cNvSpPr>
          <p:nvPr>
            <p:ph idx="1"/>
          </p:nvPr>
        </p:nvSpPr>
        <p:spPr>
          <a:xfrm>
            <a:off x="745206" y="2129035"/>
            <a:ext cx="5350793" cy="3978476"/>
          </a:xfrm>
        </p:spPr>
        <p:txBody>
          <a:bodyPr vert="horz" lIns="91440" tIns="45720" rIns="91440" bIns="45720" rtlCol="0">
            <a:noAutofit/>
          </a:bodyPr>
          <a:lstStyle/>
          <a:p>
            <a:pPr algn="ctr"/>
            <a:r>
              <a:rPr lang="en-US" sz="2200" dirty="0">
                <a:solidFill>
                  <a:schemeClr val="bg2">
                    <a:lumMod val="50000"/>
                  </a:schemeClr>
                </a:solidFill>
                <a:latin typeface="Perpetua" panose="02020502060401020303" pitchFamily="18" charset="77"/>
              </a:rPr>
              <a:t>For the round table décor, the aesthetic remains light, airy, and romantic. Each table will feature medium-low, rounded floral arrangements, elegantly arranged from end to end in low vases and surrounded by tall crystal taper candle holders. A refined palette of soft pinks, delicate whites, and lush greenery envelops the space, creating a warm, timeless, and effortlessly sophisticated ambiance</a:t>
            </a:r>
          </a:p>
          <a:p>
            <a:pPr marL="0" indent="0" algn="ctr">
              <a:buNone/>
            </a:pPr>
            <a:endParaRPr lang="en-US" sz="2200" dirty="0">
              <a:solidFill>
                <a:schemeClr val="bg2">
                  <a:lumMod val="50000"/>
                </a:schemeClr>
              </a:solidFill>
              <a:latin typeface="Perpetua" panose="02020502060401020303" pitchFamily="18" charset="77"/>
            </a:endParaRPr>
          </a:p>
          <a:p>
            <a:pPr marL="0" indent="0">
              <a:buNone/>
            </a:pPr>
            <a:r>
              <a:rPr lang="en-US" sz="2200" dirty="0">
                <a:solidFill>
                  <a:srgbClr val="FFC000"/>
                </a:solidFill>
                <a:latin typeface="Perpetua" panose="02020502060401020303" pitchFamily="18" charset="77"/>
              </a:rPr>
              <a:t>NOTE: Real candles at Shangri-la are not allowed we will be using LED ones</a:t>
            </a:r>
          </a:p>
        </p:txBody>
      </p:sp>
      <p:pic>
        <p:nvPicPr>
          <p:cNvPr id="4" name="Picture 3">
            <a:extLst>
              <a:ext uri="{FF2B5EF4-FFF2-40B4-BE49-F238E27FC236}">
                <a16:creationId xmlns:a16="http://schemas.microsoft.com/office/drawing/2014/main" id="{BA257427-4C71-4B05-0579-C603DB05E2A3}"/>
              </a:ext>
            </a:extLst>
          </p:cNvPr>
          <p:cNvPicPr>
            <a:picLocks noChangeAspect="1"/>
          </p:cNvPicPr>
          <p:nvPr/>
        </p:nvPicPr>
        <p:blipFill>
          <a:blip r:embed="rId2"/>
          <a:srcRect/>
          <a:stretch/>
        </p:blipFill>
        <p:spPr>
          <a:xfrm>
            <a:off x="7593972" y="750488"/>
            <a:ext cx="3571348" cy="5357023"/>
          </a:xfrm>
          <a:prstGeom prst="rect">
            <a:avLst/>
          </a:prstGeom>
        </p:spPr>
      </p:pic>
    </p:spTree>
    <p:extLst>
      <p:ext uri="{BB962C8B-B14F-4D97-AF65-F5344CB8AC3E}">
        <p14:creationId xmlns:p14="http://schemas.microsoft.com/office/powerpoint/2010/main" val="9389628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2E03162-EB2D-05C6-EBAC-72F33627BB0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E7DDF991-DB62-E74D-1C2D-F214C7389FA1}"/>
              </a:ext>
            </a:extLst>
          </p:cNvPr>
          <p:cNvSpPr txBox="1"/>
          <p:nvPr/>
        </p:nvSpPr>
        <p:spPr>
          <a:xfrm>
            <a:off x="0" y="132211"/>
            <a:ext cx="8302344" cy="1397505"/>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3900" dirty="0">
                <a:solidFill>
                  <a:schemeClr val="bg2">
                    <a:lumMod val="50000"/>
                  </a:schemeClr>
                </a:solidFill>
                <a:latin typeface="Perpetua" panose="02020502060401020303" pitchFamily="18" charset="77"/>
                <a:ea typeface="+mj-ea"/>
                <a:cs typeface="+mj-cs"/>
              </a:rPr>
              <a:t>Round Tables Centerpieces – </a:t>
            </a:r>
            <a:r>
              <a:rPr lang="en-US" sz="3900" dirty="0">
                <a:solidFill>
                  <a:schemeClr val="bg2">
                    <a:lumMod val="50000"/>
                  </a:schemeClr>
                </a:solidFill>
                <a:highlight>
                  <a:srgbClr val="FFFF00"/>
                </a:highlight>
                <a:latin typeface="Perpetua" panose="02020502060401020303" pitchFamily="18" charset="77"/>
                <a:ea typeface="+mj-ea"/>
                <a:cs typeface="+mj-cs"/>
              </a:rPr>
              <a:t>Option 3</a:t>
            </a:r>
            <a:endParaRPr lang="en-US" sz="3900" i="1" dirty="0">
              <a:solidFill>
                <a:schemeClr val="bg2">
                  <a:lumMod val="50000"/>
                </a:schemeClr>
              </a:solidFill>
              <a:highlight>
                <a:srgbClr val="FFFF00"/>
              </a:highlight>
              <a:latin typeface="Perpetua" panose="02020502060401020303" pitchFamily="18" charset="77"/>
              <a:ea typeface="+mj-ea"/>
              <a:cs typeface="+mj-cs"/>
            </a:endParaRPr>
          </a:p>
        </p:txBody>
      </p:sp>
      <p:sp>
        <p:nvSpPr>
          <p:cNvPr id="23" name="Content Placeholder 12">
            <a:extLst>
              <a:ext uri="{FF2B5EF4-FFF2-40B4-BE49-F238E27FC236}">
                <a16:creationId xmlns:a16="http://schemas.microsoft.com/office/drawing/2014/main" id="{D01205CA-09A7-9BC6-E90B-DD5B7C36A4FC}"/>
              </a:ext>
            </a:extLst>
          </p:cNvPr>
          <p:cNvSpPr>
            <a:spLocks noGrp="1"/>
          </p:cNvSpPr>
          <p:nvPr>
            <p:ph idx="1"/>
          </p:nvPr>
        </p:nvSpPr>
        <p:spPr>
          <a:xfrm>
            <a:off x="878952" y="2110224"/>
            <a:ext cx="5350793" cy="3042284"/>
          </a:xfrm>
        </p:spPr>
        <p:txBody>
          <a:bodyPr vert="horz" lIns="91440" tIns="45720" rIns="91440" bIns="45720" rtlCol="0">
            <a:noAutofit/>
          </a:bodyPr>
          <a:lstStyle/>
          <a:p>
            <a:pPr algn="ctr"/>
            <a:r>
              <a:rPr lang="en-US" sz="2200" dirty="0">
                <a:solidFill>
                  <a:schemeClr val="bg2">
                    <a:lumMod val="50000"/>
                  </a:schemeClr>
                </a:solidFill>
                <a:latin typeface="Perpetua" panose="02020502060401020303" pitchFamily="18" charset="77"/>
              </a:rPr>
              <a:t>Option 3 for the round table centerpieces features a crystal candelabra with LED candles, adorned with an asymmetrical floral arrangement attached exactly as shown in the reference image. A sophisticated palette of light pink, rich tones, and soft whites envelops the space, creating a warm, timeless, and effortlessly luxurious ambiance</a:t>
            </a:r>
          </a:p>
        </p:txBody>
      </p:sp>
      <p:pic>
        <p:nvPicPr>
          <p:cNvPr id="2" name="Picture 1">
            <a:extLst>
              <a:ext uri="{FF2B5EF4-FFF2-40B4-BE49-F238E27FC236}">
                <a16:creationId xmlns:a16="http://schemas.microsoft.com/office/drawing/2014/main" id="{224035E8-3C1A-68A5-4D82-34903766BAF3}"/>
              </a:ext>
            </a:extLst>
          </p:cNvPr>
          <p:cNvPicPr>
            <a:picLocks noChangeAspect="1"/>
          </p:cNvPicPr>
          <p:nvPr/>
        </p:nvPicPr>
        <p:blipFill>
          <a:blip r:embed="rId2"/>
          <a:srcRect/>
          <a:stretch/>
        </p:blipFill>
        <p:spPr>
          <a:xfrm>
            <a:off x="7585235" y="973649"/>
            <a:ext cx="3987930" cy="5315434"/>
          </a:xfrm>
          <a:prstGeom prst="rect">
            <a:avLst/>
          </a:prstGeom>
        </p:spPr>
      </p:pic>
    </p:spTree>
    <p:extLst>
      <p:ext uri="{BB962C8B-B14F-4D97-AF65-F5344CB8AC3E}">
        <p14:creationId xmlns:p14="http://schemas.microsoft.com/office/powerpoint/2010/main" val="19800615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2176346" y="2521042"/>
            <a:ext cx="7839307" cy="2474047"/>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5400" dirty="0">
                <a:solidFill>
                  <a:schemeClr val="bg2">
                    <a:lumMod val="50000"/>
                  </a:schemeClr>
                </a:solidFill>
                <a:latin typeface="Perpetua" panose="02020502060401020303" pitchFamily="18" charset="77"/>
                <a:ea typeface="+mj-ea"/>
                <a:cs typeface="+mj-cs"/>
              </a:rPr>
              <a:t>RENTALS</a:t>
            </a:r>
            <a:endParaRPr lang="en-US" sz="5400" i="1" dirty="0">
              <a:solidFill>
                <a:schemeClr val="bg2">
                  <a:lumMod val="50000"/>
                </a:schemeClr>
              </a:solidFill>
              <a:highlight>
                <a:srgbClr val="FFFF00"/>
              </a:highlight>
              <a:latin typeface="Perpetua" panose="02020502060401020303" pitchFamily="18" charset="77"/>
              <a:ea typeface="+mj-ea"/>
              <a:cs typeface="+mj-cs"/>
            </a:endParaRPr>
          </a:p>
        </p:txBody>
      </p:sp>
      <p:sp>
        <p:nvSpPr>
          <p:cNvPr id="4" name="Rectangle 3">
            <a:extLst>
              <a:ext uri="{FF2B5EF4-FFF2-40B4-BE49-F238E27FC236}">
                <a16:creationId xmlns:a16="http://schemas.microsoft.com/office/drawing/2014/main" id="{3D02A48E-6E94-21CC-4916-BC7F46DBD9BB}"/>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45736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88626" y="327611"/>
            <a:ext cx="4966776" cy="733545"/>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3900" dirty="0">
                <a:solidFill>
                  <a:schemeClr val="bg2">
                    <a:lumMod val="50000"/>
                  </a:schemeClr>
                </a:solidFill>
                <a:latin typeface="Perpetua" panose="02020502060401020303" pitchFamily="18" charset="77"/>
                <a:ea typeface="+mj-ea"/>
                <a:cs typeface="+mj-cs"/>
              </a:rPr>
              <a:t>TABLEWARE</a:t>
            </a:r>
          </a:p>
          <a:p>
            <a:pPr defTabSz="914400">
              <a:lnSpc>
                <a:spcPct val="90000"/>
              </a:lnSpc>
              <a:spcBef>
                <a:spcPct val="0"/>
              </a:spcBef>
              <a:spcAft>
                <a:spcPts val="600"/>
              </a:spcAft>
            </a:pPr>
            <a:endParaRPr lang="en-US" sz="3900"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a typeface="+mj-ea"/>
              <a:cs typeface="+mj-cs"/>
              <a:sym typeface="Wingdings" pitchFamily="2" charset="2"/>
            </a:endParaRPr>
          </a:p>
          <a:p>
            <a:pP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a typeface="+mj-ea"/>
              <a:cs typeface="+mj-cs"/>
              <a:sym typeface="Wingdings" pitchFamily="2" charset="2"/>
            </a:endParaRPr>
          </a:p>
          <a:p>
            <a:pP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a typeface="+mj-ea"/>
              <a:cs typeface="+mj-cs"/>
              <a:sym typeface="Wingdings" pitchFamily="2" charset="2"/>
            </a:endParaRPr>
          </a:p>
        </p:txBody>
      </p:sp>
      <p:sp>
        <p:nvSpPr>
          <p:cNvPr id="23" name="Content Placeholder 12">
            <a:extLst>
              <a:ext uri="{FF2B5EF4-FFF2-40B4-BE49-F238E27FC236}">
                <a16:creationId xmlns:a16="http://schemas.microsoft.com/office/drawing/2014/main" id="{8DA31A9E-CDA1-4831-8EA8-D8D912D3B933}"/>
              </a:ext>
            </a:extLst>
          </p:cNvPr>
          <p:cNvSpPr>
            <a:spLocks noGrp="1"/>
          </p:cNvSpPr>
          <p:nvPr>
            <p:ph idx="1"/>
          </p:nvPr>
        </p:nvSpPr>
        <p:spPr>
          <a:xfrm>
            <a:off x="9164538" y="7434541"/>
            <a:ext cx="5518645" cy="4415589"/>
          </a:xfrm>
        </p:spPr>
        <p:txBody>
          <a:bodyPr vert="horz" lIns="91440" tIns="45720" rIns="91440" bIns="45720" rtlCol="0">
            <a:noAutofit/>
          </a:bodyPr>
          <a:lstStyle/>
          <a:p>
            <a:pPr marL="0" indent="0" algn="l">
              <a:buNone/>
            </a:pPr>
            <a:endParaRPr lang="en-US" sz="2000" dirty="0">
              <a:solidFill>
                <a:schemeClr val="bg2">
                  <a:lumMod val="50000"/>
                </a:schemeClr>
              </a:solidFill>
              <a:latin typeface="Perpetua" panose="02020502060401020303" pitchFamily="18" charset="77"/>
            </a:endParaRPr>
          </a:p>
          <a:p>
            <a:pPr marL="0" indent="0" algn="l">
              <a:buNone/>
            </a:pPr>
            <a:endParaRPr lang="en-US" sz="2000" dirty="0">
              <a:solidFill>
                <a:schemeClr val="bg2">
                  <a:lumMod val="50000"/>
                </a:schemeClr>
              </a:solidFill>
              <a:latin typeface="Perpetua" panose="02020502060401020303" pitchFamily="18" charset="77"/>
            </a:endParaRPr>
          </a:p>
        </p:txBody>
      </p:sp>
      <p:sp>
        <p:nvSpPr>
          <p:cNvPr id="14" name="TextBox 13">
            <a:extLst>
              <a:ext uri="{FF2B5EF4-FFF2-40B4-BE49-F238E27FC236}">
                <a16:creationId xmlns:a16="http://schemas.microsoft.com/office/drawing/2014/main" id="{C4E91E1E-1CFE-DC5B-40A8-D186EB235688}"/>
              </a:ext>
            </a:extLst>
          </p:cNvPr>
          <p:cNvSpPr txBox="1"/>
          <p:nvPr/>
        </p:nvSpPr>
        <p:spPr>
          <a:xfrm>
            <a:off x="450939" y="1842417"/>
            <a:ext cx="4427210" cy="3477875"/>
          </a:xfrm>
          <a:prstGeom prst="rect">
            <a:avLst/>
          </a:prstGeom>
          <a:noFill/>
        </p:spPr>
        <p:txBody>
          <a:bodyPr wrap="square" rtlCol="0">
            <a:spAutoFit/>
          </a:bodyPr>
          <a:lstStyle/>
          <a:p>
            <a:pPr marL="342900" indent="-342900">
              <a:buFont typeface="Arial" panose="020B0604020202020204" pitchFamily="34" charset="0"/>
              <a:buChar char="•"/>
            </a:pPr>
            <a:r>
              <a:rPr lang="en-US" sz="2200" dirty="0">
                <a:solidFill>
                  <a:schemeClr val="bg2">
                    <a:lumMod val="50000"/>
                  </a:schemeClr>
                </a:solidFill>
                <a:latin typeface="Perpetua" panose="02020502060401020303" pitchFamily="18" charset="77"/>
              </a:rPr>
              <a:t>Ivory or gold rimmed charger plates will be selected based on rental availability, chosen to match the reference image provided by the bride as closely as possible. Vintage gold flatware will complement the table setting, paired with delicate crystal glassware featuring gold rims and light pink napkins, creating a refined and harmonious tablescape</a:t>
            </a:r>
          </a:p>
        </p:txBody>
      </p:sp>
      <p:pic>
        <p:nvPicPr>
          <p:cNvPr id="7" name="Picture 6" descr="A white plate with a decorative border&#10;&#10;AI-generated content may be incorrect.">
            <a:extLst>
              <a:ext uri="{FF2B5EF4-FFF2-40B4-BE49-F238E27FC236}">
                <a16:creationId xmlns:a16="http://schemas.microsoft.com/office/drawing/2014/main" id="{1C180DDD-BCC5-99E4-17F5-42A3A3AB44EA}"/>
              </a:ext>
            </a:extLst>
          </p:cNvPr>
          <p:cNvPicPr>
            <a:picLocks noChangeAspect="1"/>
          </p:cNvPicPr>
          <p:nvPr/>
        </p:nvPicPr>
        <p:blipFill>
          <a:blip r:embed="rId2"/>
          <a:stretch>
            <a:fillRect/>
          </a:stretch>
        </p:blipFill>
        <p:spPr>
          <a:xfrm>
            <a:off x="5324243" y="327611"/>
            <a:ext cx="2995043" cy="2746835"/>
          </a:xfrm>
          <a:prstGeom prst="rect">
            <a:avLst/>
          </a:prstGeom>
        </p:spPr>
      </p:pic>
      <p:pic>
        <p:nvPicPr>
          <p:cNvPr id="11" name="Picture 10" descr="A gold cutlery set with a knife spoon and fork&#10;&#10;Description automatically generated">
            <a:extLst>
              <a:ext uri="{FF2B5EF4-FFF2-40B4-BE49-F238E27FC236}">
                <a16:creationId xmlns:a16="http://schemas.microsoft.com/office/drawing/2014/main" id="{47607031-061C-723A-60E3-1B7448948028}"/>
              </a:ext>
            </a:extLst>
          </p:cNvPr>
          <p:cNvPicPr>
            <a:picLocks noChangeAspect="1"/>
          </p:cNvPicPr>
          <p:nvPr/>
        </p:nvPicPr>
        <p:blipFill>
          <a:blip r:embed="rId3"/>
          <a:stretch>
            <a:fillRect/>
          </a:stretch>
        </p:blipFill>
        <p:spPr>
          <a:xfrm>
            <a:off x="8893164" y="327611"/>
            <a:ext cx="2758735" cy="2878432"/>
          </a:xfrm>
          <a:prstGeom prst="rect">
            <a:avLst/>
          </a:prstGeom>
        </p:spPr>
      </p:pic>
      <p:pic>
        <p:nvPicPr>
          <p:cNvPr id="4" name="Picture 3" descr="A table set for a wedding&#10;&#10;AI-generated content may be incorrect.">
            <a:extLst>
              <a:ext uri="{FF2B5EF4-FFF2-40B4-BE49-F238E27FC236}">
                <a16:creationId xmlns:a16="http://schemas.microsoft.com/office/drawing/2014/main" id="{1F717EDC-FAE1-807F-874F-911718EFE16D}"/>
              </a:ext>
            </a:extLst>
          </p:cNvPr>
          <p:cNvPicPr>
            <a:picLocks noChangeAspect="1"/>
          </p:cNvPicPr>
          <p:nvPr/>
        </p:nvPicPr>
        <p:blipFill>
          <a:blip r:embed="rId4"/>
          <a:srcRect l="16667" t="67490" r="11728"/>
          <a:stretch>
            <a:fillRect/>
          </a:stretch>
        </p:blipFill>
        <p:spPr>
          <a:xfrm>
            <a:off x="8635642" y="4205514"/>
            <a:ext cx="3273778" cy="2229556"/>
          </a:xfrm>
          <a:prstGeom prst="rect">
            <a:avLst/>
          </a:prstGeom>
        </p:spPr>
      </p:pic>
      <p:pic>
        <p:nvPicPr>
          <p:cNvPr id="5" name="Picture 4" descr="A group of empty wine glasses&#10;&#10;Description automatically generated">
            <a:extLst>
              <a:ext uri="{FF2B5EF4-FFF2-40B4-BE49-F238E27FC236}">
                <a16:creationId xmlns:a16="http://schemas.microsoft.com/office/drawing/2014/main" id="{53D8404D-1644-21F9-46C0-D9981F02B493}"/>
              </a:ext>
            </a:extLst>
          </p:cNvPr>
          <p:cNvPicPr>
            <a:picLocks noChangeAspect="1"/>
          </p:cNvPicPr>
          <p:nvPr/>
        </p:nvPicPr>
        <p:blipFill>
          <a:blip r:embed="rId5"/>
          <a:stretch>
            <a:fillRect/>
          </a:stretch>
        </p:blipFill>
        <p:spPr>
          <a:xfrm>
            <a:off x="5729243" y="3206043"/>
            <a:ext cx="2312827" cy="3395033"/>
          </a:xfrm>
          <a:prstGeom prst="rect">
            <a:avLst/>
          </a:prstGeom>
        </p:spPr>
      </p:pic>
    </p:spTree>
    <p:extLst>
      <p:ext uri="{BB962C8B-B14F-4D97-AF65-F5344CB8AC3E}">
        <p14:creationId xmlns:p14="http://schemas.microsoft.com/office/powerpoint/2010/main" val="30321189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776409" y="500651"/>
            <a:ext cx="5670172" cy="1269155"/>
          </a:xfrm>
          <a:prstGeom prst="rect">
            <a:avLst/>
          </a:prstGeom>
        </p:spPr>
        <p:txBody>
          <a:bodyPr vert="horz" lIns="91440" tIns="45720" rIns="91440" bIns="45720" rtlCol="0" anchor="t">
            <a:normAutofit lnSpcReduction="10000"/>
          </a:bodyPr>
          <a:lstStyle/>
          <a:p>
            <a:pPr algn="ctr" defTabSz="914400">
              <a:lnSpc>
                <a:spcPct val="90000"/>
              </a:lnSpc>
              <a:spcBef>
                <a:spcPct val="0"/>
              </a:spcBef>
              <a:spcAft>
                <a:spcPts val="600"/>
              </a:spcAft>
            </a:pPr>
            <a:r>
              <a:rPr lang="en-US" sz="3900" dirty="0">
                <a:solidFill>
                  <a:schemeClr val="bg2">
                    <a:lumMod val="50000"/>
                  </a:schemeClr>
                </a:solidFill>
                <a:latin typeface="Perpetua" panose="02020502060401020303" pitchFamily="18" charset="77"/>
                <a:ea typeface="+mj-ea"/>
                <a:cs typeface="+mj-cs"/>
              </a:rPr>
              <a:t>CHAIRS FOR </a:t>
            </a:r>
          </a:p>
          <a:p>
            <a:pPr algn="ctr" defTabSz="914400">
              <a:lnSpc>
                <a:spcPct val="90000"/>
              </a:lnSpc>
              <a:spcBef>
                <a:spcPct val="0"/>
              </a:spcBef>
              <a:spcAft>
                <a:spcPts val="600"/>
              </a:spcAft>
            </a:pPr>
            <a:r>
              <a:rPr lang="en-US" sz="3900" dirty="0">
                <a:solidFill>
                  <a:schemeClr val="bg2">
                    <a:lumMod val="50000"/>
                  </a:schemeClr>
                </a:solidFill>
                <a:latin typeface="Perpetua" panose="02020502060401020303" pitchFamily="18" charset="77"/>
                <a:ea typeface="+mj-ea"/>
                <a:cs typeface="+mj-cs"/>
              </a:rPr>
              <a:t>RECEPTION</a:t>
            </a:r>
            <a:endParaRPr lang="en-US" sz="2400" dirty="0">
              <a:solidFill>
                <a:schemeClr val="bg2">
                  <a:lumMod val="50000"/>
                </a:schemeClr>
              </a:solidFill>
              <a:latin typeface="Perpetua" panose="02020502060401020303" pitchFamily="18" charset="77"/>
              <a:ea typeface="+mj-ea"/>
              <a:cs typeface="+mj-cs"/>
              <a:sym typeface="Wingdings" pitchFamily="2" charset="2"/>
            </a:endParaRPr>
          </a:p>
          <a:p>
            <a:pP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a typeface="+mj-ea"/>
              <a:cs typeface="+mj-cs"/>
              <a:sym typeface="Wingdings" pitchFamily="2" charset="2"/>
            </a:endParaRPr>
          </a:p>
          <a:p>
            <a:pP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a typeface="+mj-ea"/>
              <a:cs typeface="+mj-cs"/>
              <a:sym typeface="Wingdings" pitchFamily="2" charset="2"/>
            </a:endParaRPr>
          </a:p>
        </p:txBody>
      </p:sp>
      <p:sp>
        <p:nvSpPr>
          <p:cNvPr id="23" name="Content Placeholder 12">
            <a:extLst>
              <a:ext uri="{FF2B5EF4-FFF2-40B4-BE49-F238E27FC236}">
                <a16:creationId xmlns:a16="http://schemas.microsoft.com/office/drawing/2014/main" id="{8DA31A9E-CDA1-4831-8EA8-D8D912D3B933}"/>
              </a:ext>
            </a:extLst>
          </p:cNvPr>
          <p:cNvSpPr>
            <a:spLocks noGrp="1"/>
          </p:cNvSpPr>
          <p:nvPr>
            <p:ph idx="1"/>
          </p:nvPr>
        </p:nvSpPr>
        <p:spPr>
          <a:xfrm>
            <a:off x="9164538" y="7434541"/>
            <a:ext cx="5518645" cy="4415589"/>
          </a:xfrm>
        </p:spPr>
        <p:txBody>
          <a:bodyPr vert="horz" lIns="91440" tIns="45720" rIns="91440" bIns="45720" rtlCol="0">
            <a:noAutofit/>
          </a:bodyPr>
          <a:lstStyle/>
          <a:p>
            <a:pPr marL="0" indent="0" algn="l">
              <a:buNone/>
            </a:pPr>
            <a:endParaRPr lang="en-US" sz="2000" dirty="0">
              <a:solidFill>
                <a:schemeClr val="bg2">
                  <a:lumMod val="50000"/>
                </a:schemeClr>
              </a:solidFill>
              <a:latin typeface="Perpetua" panose="02020502060401020303" pitchFamily="18" charset="77"/>
            </a:endParaRPr>
          </a:p>
          <a:p>
            <a:pPr marL="0" indent="0" algn="l">
              <a:buNone/>
            </a:pPr>
            <a:endParaRPr lang="en-US" sz="2000" dirty="0">
              <a:solidFill>
                <a:schemeClr val="bg2">
                  <a:lumMod val="50000"/>
                </a:schemeClr>
              </a:solidFill>
              <a:latin typeface="Perpetua" panose="02020502060401020303" pitchFamily="18" charset="77"/>
            </a:endParaRPr>
          </a:p>
        </p:txBody>
      </p:sp>
      <p:sp>
        <p:nvSpPr>
          <p:cNvPr id="4" name="Rectangle 3">
            <a:extLst>
              <a:ext uri="{FF2B5EF4-FFF2-40B4-BE49-F238E27FC236}">
                <a16:creationId xmlns:a16="http://schemas.microsoft.com/office/drawing/2014/main" id="{3D02A48E-6E94-21CC-4916-BC7F46DBD9BB}"/>
              </a:ext>
            </a:extLst>
          </p:cNvPr>
          <p:cNvSpPr/>
          <p:nvPr/>
        </p:nvSpPr>
        <p:spPr>
          <a:xfrm>
            <a:off x="776409" y="101001"/>
            <a:ext cx="825670" cy="799301"/>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032B2AD-A513-AF8F-E573-D1F3DD149786}"/>
              </a:ext>
            </a:extLst>
          </p:cNvPr>
          <p:cNvSpPr txBox="1"/>
          <p:nvPr/>
        </p:nvSpPr>
        <p:spPr>
          <a:xfrm>
            <a:off x="1914146" y="3040025"/>
            <a:ext cx="3394698" cy="430887"/>
          </a:xfrm>
          <a:prstGeom prst="rect">
            <a:avLst/>
          </a:prstGeom>
          <a:noFill/>
        </p:spPr>
        <p:txBody>
          <a:bodyPr wrap="square" rtlCol="0">
            <a:spAutoFit/>
          </a:bodyPr>
          <a:lstStyle/>
          <a:p>
            <a:r>
              <a:rPr lang="en-US" sz="2200" dirty="0">
                <a:solidFill>
                  <a:schemeClr val="bg2">
                    <a:lumMod val="50000"/>
                  </a:schemeClr>
                </a:solidFill>
                <a:latin typeface="Perpetua" panose="02020502060401020303" pitchFamily="18" charset="77"/>
              </a:rPr>
              <a:t>WOODEN - Louis Chairs</a:t>
            </a:r>
          </a:p>
        </p:txBody>
      </p:sp>
      <p:pic>
        <p:nvPicPr>
          <p:cNvPr id="10" name="Picture 9">
            <a:extLst>
              <a:ext uri="{FF2B5EF4-FFF2-40B4-BE49-F238E27FC236}">
                <a16:creationId xmlns:a16="http://schemas.microsoft.com/office/drawing/2014/main" id="{A6A73C5B-08D6-D520-81A4-E1BFACBBAB8E}"/>
              </a:ext>
            </a:extLst>
          </p:cNvPr>
          <p:cNvPicPr>
            <a:picLocks noChangeAspect="1"/>
          </p:cNvPicPr>
          <p:nvPr/>
        </p:nvPicPr>
        <p:blipFill>
          <a:blip r:embed="rId2"/>
          <a:stretch>
            <a:fillRect/>
          </a:stretch>
        </p:blipFill>
        <p:spPr>
          <a:xfrm>
            <a:off x="7712117" y="688790"/>
            <a:ext cx="3496898" cy="5564245"/>
          </a:xfrm>
          <a:prstGeom prst="rect">
            <a:avLst/>
          </a:prstGeom>
        </p:spPr>
      </p:pic>
    </p:spTree>
    <p:extLst>
      <p:ext uri="{BB962C8B-B14F-4D97-AF65-F5344CB8AC3E}">
        <p14:creationId xmlns:p14="http://schemas.microsoft.com/office/powerpoint/2010/main" val="3686488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D035E-5966-ACBC-1783-900155DF7A40}"/>
              </a:ext>
            </a:extLst>
          </p:cNvPr>
          <p:cNvSpPr>
            <a:spLocks noGrp="1"/>
          </p:cNvSpPr>
          <p:nvPr>
            <p:ph type="title"/>
          </p:nvPr>
        </p:nvSpPr>
        <p:spPr>
          <a:xfrm>
            <a:off x="488134" y="230205"/>
            <a:ext cx="5194578" cy="1325563"/>
          </a:xfrm>
        </p:spPr>
        <p:txBody>
          <a:bodyPr/>
          <a:lstStyle/>
          <a:p>
            <a:pPr algn="ctr"/>
            <a:r>
              <a:rPr lang="en-US" dirty="0">
                <a:solidFill>
                  <a:schemeClr val="bg2">
                    <a:lumMod val="50000"/>
                  </a:schemeClr>
                </a:solidFill>
                <a:latin typeface="Perpetua" panose="02020502060401020303" pitchFamily="18" charset="77"/>
              </a:rPr>
              <a:t>CAKE TABLE </a:t>
            </a:r>
          </a:p>
        </p:txBody>
      </p:sp>
      <p:sp>
        <p:nvSpPr>
          <p:cNvPr id="8" name="TextBox 7">
            <a:extLst>
              <a:ext uri="{FF2B5EF4-FFF2-40B4-BE49-F238E27FC236}">
                <a16:creationId xmlns:a16="http://schemas.microsoft.com/office/drawing/2014/main" id="{00BA0D7C-2976-B139-E634-692625262AAD}"/>
              </a:ext>
            </a:extLst>
          </p:cNvPr>
          <p:cNvSpPr txBox="1"/>
          <p:nvPr/>
        </p:nvSpPr>
        <p:spPr>
          <a:xfrm>
            <a:off x="1236882" y="2274837"/>
            <a:ext cx="3697082" cy="2800767"/>
          </a:xfrm>
          <a:prstGeom prst="rect">
            <a:avLst/>
          </a:prstGeom>
          <a:noFill/>
        </p:spPr>
        <p:txBody>
          <a:bodyPr wrap="square" rtlCol="0">
            <a:spAutoFit/>
          </a:bodyPr>
          <a:lstStyle/>
          <a:p>
            <a:pPr marL="342900" indent="-342900" algn="ctr">
              <a:buFont typeface="Arial" panose="020B0604020202020204" pitchFamily="34" charset="0"/>
              <a:buChar char="•"/>
            </a:pPr>
            <a:r>
              <a:rPr lang="en-US" sz="2200" dirty="0">
                <a:solidFill>
                  <a:schemeClr val="bg2">
                    <a:lumMod val="50000"/>
                  </a:schemeClr>
                </a:solidFill>
                <a:latin typeface="Perpetua" panose="02020502060401020303" pitchFamily="18" charset="77"/>
              </a:rPr>
              <a:t>The cake table will be styled with floral arrangements and cascading drapery, as shown in the reference image, harmonizing seamlessly with the overall décor and in keeping with the established color palette</a:t>
            </a:r>
          </a:p>
        </p:txBody>
      </p:sp>
      <p:pic>
        <p:nvPicPr>
          <p:cNvPr id="4" name="Picture 3">
            <a:extLst>
              <a:ext uri="{FF2B5EF4-FFF2-40B4-BE49-F238E27FC236}">
                <a16:creationId xmlns:a16="http://schemas.microsoft.com/office/drawing/2014/main" id="{11686D57-09B8-E710-69D7-22E9C4CBDEC6}"/>
              </a:ext>
            </a:extLst>
          </p:cNvPr>
          <p:cNvPicPr>
            <a:picLocks noChangeAspect="1"/>
          </p:cNvPicPr>
          <p:nvPr/>
        </p:nvPicPr>
        <p:blipFill>
          <a:blip r:embed="rId2"/>
          <a:srcRect/>
          <a:stretch/>
        </p:blipFill>
        <p:spPr>
          <a:xfrm>
            <a:off x="7027495" y="139821"/>
            <a:ext cx="4385571" cy="6578357"/>
          </a:xfrm>
          <a:prstGeom prst="rect">
            <a:avLst/>
          </a:prstGeom>
        </p:spPr>
      </p:pic>
    </p:spTree>
    <p:extLst>
      <p:ext uri="{BB962C8B-B14F-4D97-AF65-F5344CB8AC3E}">
        <p14:creationId xmlns:p14="http://schemas.microsoft.com/office/powerpoint/2010/main" val="10535094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0085CCD-22A1-246E-37F8-2478F50297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6CB7B1-254F-3B86-6C29-1A4D579AE6FC}"/>
              </a:ext>
            </a:extLst>
          </p:cNvPr>
          <p:cNvSpPr>
            <a:spLocks noGrp="1"/>
          </p:cNvSpPr>
          <p:nvPr>
            <p:ph type="title"/>
          </p:nvPr>
        </p:nvSpPr>
        <p:spPr>
          <a:xfrm>
            <a:off x="3445702" y="154550"/>
            <a:ext cx="5194578" cy="1325563"/>
          </a:xfrm>
        </p:spPr>
        <p:txBody>
          <a:bodyPr/>
          <a:lstStyle/>
          <a:p>
            <a:pPr algn="ctr"/>
            <a:r>
              <a:rPr lang="en-US" dirty="0">
                <a:solidFill>
                  <a:schemeClr val="bg2">
                    <a:lumMod val="50000"/>
                  </a:schemeClr>
                </a:solidFill>
                <a:latin typeface="Perpetua" panose="02020502060401020303" pitchFamily="18" charset="77"/>
              </a:rPr>
              <a:t>DANCEFLOOR</a:t>
            </a:r>
          </a:p>
        </p:txBody>
      </p:sp>
      <p:sp>
        <p:nvSpPr>
          <p:cNvPr id="8" name="TextBox 7">
            <a:extLst>
              <a:ext uri="{FF2B5EF4-FFF2-40B4-BE49-F238E27FC236}">
                <a16:creationId xmlns:a16="http://schemas.microsoft.com/office/drawing/2014/main" id="{54963694-6CD3-50C0-1716-D27FE425C759}"/>
              </a:ext>
            </a:extLst>
          </p:cNvPr>
          <p:cNvSpPr txBox="1"/>
          <p:nvPr/>
        </p:nvSpPr>
        <p:spPr>
          <a:xfrm>
            <a:off x="437321" y="1188158"/>
            <a:ext cx="11211339" cy="1200329"/>
          </a:xfrm>
          <a:prstGeom prst="rect">
            <a:avLst/>
          </a:prstGeom>
          <a:noFill/>
        </p:spPr>
        <p:txBody>
          <a:bodyPr wrap="square" rtlCol="0">
            <a:spAutoFit/>
          </a:bodyPr>
          <a:lstStyle/>
          <a:p>
            <a:pPr marL="342900" indent="-342900" algn="ctr">
              <a:buFont typeface="Arial" panose="020B0604020202020204" pitchFamily="34" charset="0"/>
              <a:buChar char="•"/>
            </a:pPr>
            <a:r>
              <a:rPr lang="en-US" sz="2400" dirty="0">
                <a:solidFill>
                  <a:schemeClr val="bg2">
                    <a:lumMod val="50000"/>
                  </a:schemeClr>
                </a:solidFill>
                <a:latin typeface="Perpetua" panose="02020502060401020303" pitchFamily="18" charset="77"/>
              </a:rPr>
              <a:t>The dance floor provided by the Shangri-La will be glossy white and wrapped with gold foil, exactly as shown in the reference image, featuring a similar logo with the initials K &amp; S and the date 5.25.2026.</a:t>
            </a:r>
          </a:p>
        </p:txBody>
      </p:sp>
      <p:pic>
        <p:nvPicPr>
          <p:cNvPr id="5" name="Picture 4" descr="A wedding reception with a large table and chairs&#10;&#10;AI-generated content may be incorrect.">
            <a:extLst>
              <a:ext uri="{FF2B5EF4-FFF2-40B4-BE49-F238E27FC236}">
                <a16:creationId xmlns:a16="http://schemas.microsoft.com/office/drawing/2014/main" id="{5E0F8B4A-3F91-97EC-F5D5-9CBF699A2990}"/>
              </a:ext>
            </a:extLst>
          </p:cNvPr>
          <p:cNvPicPr>
            <a:picLocks noChangeAspect="1"/>
          </p:cNvPicPr>
          <p:nvPr/>
        </p:nvPicPr>
        <p:blipFill>
          <a:blip r:embed="rId2"/>
          <a:stretch>
            <a:fillRect/>
          </a:stretch>
        </p:blipFill>
        <p:spPr>
          <a:xfrm>
            <a:off x="2379870" y="2543071"/>
            <a:ext cx="7772400" cy="4160379"/>
          </a:xfrm>
          <a:prstGeom prst="rect">
            <a:avLst/>
          </a:prstGeom>
        </p:spPr>
      </p:pic>
    </p:spTree>
    <p:extLst>
      <p:ext uri="{BB962C8B-B14F-4D97-AF65-F5344CB8AC3E}">
        <p14:creationId xmlns:p14="http://schemas.microsoft.com/office/powerpoint/2010/main" val="4980045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976290" y="222152"/>
            <a:ext cx="8236368" cy="707172"/>
          </a:xfrm>
        </p:spPr>
        <p:txBody>
          <a:bodyPr vert="horz" lIns="91440" tIns="45720" rIns="91440" bIns="45720" rtlCol="0" anchor="ctr">
            <a:normAutofit fontScale="90000"/>
          </a:bodyPr>
          <a:lstStyle/>
          <a:p>
            <a:pPr algn="ctr"/>
            <a:r>
              <a:rPr lang="en-US" sz="3100" dirty="0">
                <a:solidFill>
                  <a:schemeClr val="bg2">
                    <a:lumMod val="50000"/>
                  </a:schemeClr>
                </a:solidFill>
                <a:latin typeface="Perpetua" panose="02020502060401020303" pitchFamily="18" charset="77"/>
              </a:rPr>
              <a:t>UP LITHING</a:t>
            </a:r>
            <a:br>
              <a:rPr lang="en-US" sz="2400" kern="1200" dirty="0">
                <a:solidFill>
                  <a:schemeClr val="bg2">
                    <a:lumMod val="50000"/>
                  </a:schemeClr>
                </a:solidFill>
                <a:latin typeface="Perpetua" panose="02020502060401020303" pitchFamily="18" charset="77"/>
              </a:rPr>
            </a:br>
            <a:endParaRPr lang="en-US" sz="2400" kern="1200" dirty="0">
              <a:solidFill>
                <a:schemeClr val="bg2">
                  <a:lumMod val="50000"/>
                </a:schemeClr>
              </a:solidFill>
              <a:latin typeface="Perpetua" panose="02020502060401020303" pitchFamily="18" charset="77"/>
            </a:endParaRPr>
          </a:p>
        </p:txBody>
      </p:sp>
      <p:pic>
        <p:nvPicPr>
          <p:cNvPr id="5" name="Picture 4" descr="A room with tables and chairs&#10;&#10;Description automatically generated">
            <a:extLst>
              <a:ext uri="{FF2B5EF4-FFF2-40B4-BE49-F238E27FC236}">
                <a16:creationId xmlns:a16="http://schemas.microsoft.com/office/drawing/2014/main" id="{3FDF27F5-3EE5-6566-CBCC-8CD661A37A91}"/>
              </a:ext>
            </a:extLst>
          </p:cNvPr>
          <p:cNvPicPr>
            <a:picLocks noChangeAspect="1"/>
          </p:cNvPicPr>
          <p:nvPr/>
        </p:nvPicPr>
        <p:blipFill>
          <a:blip r:embed="rId3"/>
          <a:stretch>
            <a:fillRect/>
          </a:stretch>
        </p:blipFill>
        <p:spPr>
          <a:xfrm>
            <a:off x="175398" y="2347783"/>
            <a:ext cx="4001186" cy="4417347"/>
          </a:xfrm>
          <a:prstGeom prst="rect">
            <a:avLst/>
          </a:prstGeom>
        </p:spPr>
      </p:pic>
      <p:pic>
        <p:nvPicPr>
          <p:cNvPr id="8" name="Picture 7" descr="A room with tables and chairs&#10;&#10;Description automatically generated">
            <a:extLst>
              <a:ext uri="{FF2B5EF4-FFF2-40B4-BE49-F238E27FC236}">
                <a16:creationId xmlns:a16="http://schemas.microsoft.com/office/drawing/2014/main" id="{1059039F-3AAB-9322-24E8-EFAA74642592}"/>
              </a:ext>
            </a:extLst>
          </p:cNvPr>
          <p:cNvPicPr>
            <a:picLocks noChangeAspect="1"/>
          </p:cNvPicPr>
          <p:nvPr/>
        </p:nvPicPr>
        <p:blipFill>
          <a:blip r:embed="rId4"/>
          <a:stretch>
            <a:fillRect/>
          </a:stretch>
        </p:blipFill>
        <p:spPr>
          <a:xfrm>
            <a:off x="4270860" y="2347784"/>
            <a:ext cx="3647229" cy="4417347"/>
          </a:xfrm>
          <a:prstGeom prst="rect">
            <a:avLst/>
          </a:prstGeom>
        </p:spPr>
      </p:pic>
      <p:pic>
        <p:nvPicPr>
          <p:cNvPr id="11" name="Picture 10" descr="A room with tables and chairs and chandeliers&#10;&#10;Description automatically generated">
            <a:extLst>
              <a:ext uri="{FF2B5EF4-FFF2-40B4-BE49-F238E27FC236}">
                <a16:creationId xmlns:a16="http://schemas.microsoft.com/office/drawing/2014/main" id="{097B2804-FC64-B84B-63AF-03C9D019D845}"/>
              </a:ext>
            </a:extLst>
          </p:cNvPr>
          <p:cNvPicPr>
            <a:picLocks noChangeAspect="1"/>
          </p:cNvPicPr>
          <p:nvPr/>
        </p:nvPicPr>
        <p:blipFill>
          <a:blip r:embed="rId5"/>
          <a:stretch>
            <a:fillRect/>
          </a:stretch>
        </p:blipFill>
        <p:spPr>
          <a:xfrm>
            <a:off x="8012365" y="2347782"/>
            <a:ext cx="3880956" cy="4417348"/>
          </a:xfrm>
          <a:prstGeom prst="rect">
            <a:avLst/>
          </a:prstGeom>
        </p:spPr>
      </p:pic>
      <p:sp>
        <p:nvSpPr>
          <p:cNvPr id="12" name="TextBox 11">
            <a:extLst>
              <a:ext uri="{FF2B5EF4-FFF2-40B4-BE49-F238E27FC236}">
                <a16:creationId xmlns:a16="http://schemas.microsoft.com/office/drawing/2014/main" id="{C2C98D09-40D2-B9B2-95E6-7A89724F0D53}"/>
              </a:ext>
            </a:extLst>
          </p:cNvPr>
          <p:cNvSpPr txBox="1"/>
          <p:nvPr/>
        </p:nvSpPr>
        <p:spPr>
          <a:xfrm>
            <a:off x="469557" y="999381"/>
            <a:ext cx="11423764" cy="1015663"/>
          </a:xfrm>
          <a:prstGeom prst="rect">
            <a:avLst/>
          </a:prstGeom>
          <a:noFill/>
        </p:spPr>
        <p:txBody>
          <a:bodyPr wrap="square" rtlCol="0">
            <a:spAutoFit/>
          </a:bodyPr>
          <a:lstStyle/>
          <a:p>
            <a:pPr algn="ctr"/>
            <a:r>
              <a:rPr lang="en-US" sz="2000" dirty="0">
                <a:solidFill>
                  <a:srgbClr val="FFC000"/>
                </a:solidFill>
                <a:latin typeface="Perpetua" panose="02020502060401020303" pitchFamily="18" charset="77"/>
              </a:rPr>
              <a:t>Audrey’s Note: </a:t>
            </a:r>
            <a:r>
              <a:rPr lang="en-US" sz="2000" dirty="0">
                <a:solidFill>
                  <a:schemeClr val="bg2">
                    <a:lumMod val="50000"/>
                  </a:schemeClr>
                </a:solidFill>
                <a:latin typeface="Perpetua" panose="02020502060401020303" pitchFamily="18" charset="77"/>
              </a:rPr>
              <a:t>I highly recommend considering uplighting for your décor. It has a remarkable ability to enhance the overall ambiance by highlighting key elements and adding warmth to the space. Uplighting can truly transform your event, creating a captivating and inviting atmosphere that your guests will love.</a:t>
            </a:r>
          </a:p>
        </p:txBody>
      </p:sp>
    </p:spTree>
    <p:extLst>
      <p:ext uri="{BB962C8B-B14F-4D97-AF65-F5344CB8AC3E}">
        <p14:creationId xmlns:p14="http://schemas.microsoft.com/office/powerpoint/2010/main" val="24284544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2176346" y="2774863"/>
            <a:ext cx="7839307" cy="2474047"/>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5400" dirty="0">
                <a:solidFill>
                  <a:schemeClr val="bg2">
                    <a:lumMod val="50000"/>
                  </a:schemeClr>
                </a:solidFill>
                <a:latin typeface="Perpetua" panose="02020502060401020303" pitchFamily="18" charset="77"/>
                <a:ea typeface="+mj-ea"/>
                <a:cs typeface="+mj-cs"/>
              </a:rPr>
              <a:t>FLOOR PLANS</a:t>
            </a:r>
            <a:endParaRPr lang="en-US" sz="5400" i="1" dirty="0">
              <a:solidFill>
                <a:schemeClr val="bg2">
                  <a:lumMod val="50000"/>
                </a:schemeClr>
              </a:solidFill>
              <a:highlight>
                <a:srgbClr val="FFFF00"/>
              </a:highlight>
              <a:latin typeface="Perpetua" panose="02020502060401020303" pitchFamily="18" charset="77"/>
              <a:ea typeface="+mj-ea"/>
              <a:cs typeface="+mj-cs"/>
            </a:endParaRPr>
          </a:p>
        </p:txBody>
      </p:sp>
      <p:sp>
        <p:nvSpPr>
          <p:cNvPr id="4" name="Rectangle 3">
            <a:extLst>
              <a:ext uri="{FF2B5EF4-FFF2-40B4-BE49-F238E27FC236}">
                <a16:creationId xmlns:a16="http://schemas.microsoft.com/office/drawing/2014/main" id="{3D02A48E-6E94-21CC-4916-BC7F46DBD9BB}"/>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85422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212658" y="627994"/>
            <a:ext cx="11763633" cy="1070212"/>
          </a:xfrm>
        </p:spPr>
        <p:txBody>
          <a:bodyPr vert="horz" lIns="91440" tIns="45720" rIns="91440" bIns="45720" rtlCol="0" anchor="ctr">
            <a:normAutofit fontScale="90000"/>
          </a:bodyPr>
          <a:lstStyle/>
          <a:p>
            <a:pPr algn="ctr"/>
            <a:r>
              <a:rPr lang="en-US" sz="3100" kern="1200" dirty="0">
                <a:solidFill>
                  <a:schemeClr val="bg2">
                    <a:lumMod val="50000"/>
                  </a:schemeClr>
                </a:solidFill>
                <a:latin typeface="Perpetua" panose="02020502060401020303" pitchFamily="18" charset="77"/>
              </a:rPr>
              <a:t>RECEPTION/DINNER </a:t>
            </a:r>
            <a:r>
              <a:rPr lang="en-US" sz="3100" dirty="0">
                <a:solidFill>
                  <a:schemeClr val="bg2">
                    <a:lumMod val="50000"/>
                  </a:schemeClr>
                </a:solidFill>
                <a:latin typeface="Perpetua" panose="02020502060401020303" pitchFamily="18" charset="77"/>
              </a:rPr>
              <a:t>SEATING</a:t>
            </a:r>
            <a:r>
              <a:rPr lang="en-US" sz="3100" kern="1200" dirty="0">
                <a:solidFill>
                  <a:schemeClr val="bg2">
                    <a:lumMod val="50000"/>
                  </a:schemeClr>
                </a:solidFill>
                <a:latin typeface="Perpetua" panose="02020502060401020303" pitchFamily="18" charset="77"/>
              </a:rPr>
              <a:t> PLAN </a:t>
            </a:r>
            <a:br>
              <a:rPr lang="en-US" sz="2200" kern="1200" dirty="0">
                <a:solidFill>
                  <a:schemeClr val="bg2">
                    <a:lumMod val="50000"/>
                  </a:schemeClr>
                </a:solidFill>
                <a:latin typeface="Perpetua" panose="02020502060401020303" pitchFamily="18" charset="77"/>
              </a:rPr>
            </a:br>
            <a:br>
              <a:rPr lang="en-US" sz="2200" kern="1200" dirty="0">
                <a:solidFill>
                  <a:schemeClr val="bg2">
                    <a:lumMod val="50000"/>
                  </a:schemeClr>
                </a:solidFill>
                <a:latin typeface="Perpetua" panose="02020502060401020303" pitchFamily="18" charset="77"/>
              </a:rPr>
            </a:br>
            <a:endParaRPr lang="en-US" sz="2400" kern="1200" dirty="0">
              <a:solidFill>
                <a:schemeClr val="bg2">
                  <a:lumMod val="50000"/>
                </a:schemeClr>
              </a:solidFill>
              <a:latin typeface="Perpetua" panose="02020502060401020303" pitchFamily="18" charset="77"/>
            </a:endParaRPr>
          </a:p>
        </p:txBody>
      </p:sp>
      <p:sp>
        <p:nvSpPr>
          <p:cNvPr id="3" name="TextBox 2">
            <a:extLst>
              <a:ext uri="{FF2B5EF4-FFF2-40B4-BE49-F238E27FC236}">
                <a16:creationId xmlns:a16="http://schemas.microsoft.com/office/drawing/2014/main" id="{51969A44-C599-31EC-B25E-CC741AD59839}"/>
              </a:ext>
            </a:extLst>
          </p:cNvPr>
          <p:cNvSpPr txBox="1"/>
          <p:nvPr/>
        </p:nvSpPr>
        <p:spPr>
          <a:xfrm>
            <a:off x="1394458" y="2450592"/>
            <a:ext cx="9400032" cy="769441"/>
          </a:xfrm>
          <a:prstGeom prst="rect">
            <a:avLst/>
          </a:prstGeom>
          <a:noFill/>
        </p:spPr>
        <p:txBody>
          <a:bodyPr wrap="square" rtlCol="0">
            <a:spAutoFit/>
          </a:bodyPr>
          <a:lstStyle/>
          <a:p>
            <a:pPr algn="ctr"/>
            <a:r>
              <a:rPr lang="en-US" sz="2200" dirty="0">
                <a:solidFill>
                  <a:schemeClr val="bg2">
                    <a:lumMod val="50000"/>
                  </a:schemeClr>
                </a:solidFill>
                <a:latin typeface="Perpetua" panose="02020502060401020303" pitchFamily="18" charset="77"/>
              </a:rPr>
              <a:t>The finalized floor plan will be shared upon confirmation of the final guest list and type of tables.</a:t>
            </a:r>
            <a:endParaRPr lang="en-AE" sz="2200" dirty="0"/>
          </a:p>
        </p:txBody>
      </p:sp>
    </p:spTree>
    <p:extLst>
      <p:ext uri="{BB962C8B-B14F-4D97-AF65-F5344CB8AC3E}">
        <p14:creationId xmlns:p14="http://schemas.microsoft.com/office/powerpoint/2010/main" val="37161175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E1984-34ED-0810-9808-DBBA287C50A2}"/>
              </a:ext>
            </a:extLst>
          </p:cNvPr>
          <p:cNvSpPr>
            <a:spLocks noGrp="1"/>
          </p:cNvSpPr>
          <p:nvPr>
            <p:ph type="title"/>
          </p:nvPr>
        </p:nvSpPr>
        <p:spPr>
          <a:xfrm>
            <a:off x="-416588" y="453218"/>
            <a:ext cx="6919127" cy="1042107"/>
          </a:xfrm>
        </p:spPr>
        <p:txBody>
          <a:bodyPr>
            <a:normAutofit/>
          </a:bodyPr>
          <a:lstStyle/>
          <a:p>
            <a:pPr algn="ctr"/>
            <a:r>
              <a:rPr lang="en-AE" sz="5400" dirty="0">
                <a:solidFill>
                  <a:schemeClr val="bg2">
                    <a:lumMod val="50000"/>
                  </a:schemeClr>
                </a:solidFill>
                <a:latin typeface="Perpetua" panose="02020502060401020303" pitchFamily="18" charset="77"/>
              </a:rPr>
              <a:t>WELCOME DINNER</a:t>
            </a:r>
          </a:p>
        </p:txBody>
      </p:sp>
      <p:sp>
        <p:nvSpPr>
          <p:cNvPr id="3" name="TextBox 2">
            <a:extLst>
              <a:ext uri="{FF2B5EF4-FFF2-40B4-BE49-F238E27FC236}">
                <a16:creationId xmlns:a16="http://schemas.microsoft.com/office/drawing/2014/main" id="{C44E02E3-36D3-1DDC-F6A1-FBB163BC7CE4}"/>
              </a:ext>
            </a:extLst>
          </p:cNvPr>
          <p:cNvSpPr txBox="1"/>
          <p:nvPr/>
        </p:nvSpPr>
        <p:spPr>
          <a:xfrm>
            <a:off x="276747" y="2652040"/>
            <a:ext cx="5532455" cy="1292662"/>
          </a:xfrm>
          <a:prstGeom prst="rect">
            <a:avLst/>
          </a:prstGeom>
          <a:noFill/>
        </p:spPr>
        <p:txBody>
          <a:bodyPr wrap="square" rtlCol="0">
            <a:spAutoFit/>
          </a:bodyPr>
          <a:lstStyle/>
          <a:p>
            <a:pPr algn="ctr"/>
            <a:r>
              <a:rPr lang="en-US" sz="3000" dirty="0">
                <a:solidFill>
                  <a:schemeClr val="bg2">
                    <a:lumMod val="50000"/>
                  </a:schemeClr>
                </a:solidFill>
                <a:latin typeface="Perpetua" panose="02020502060401020303" pitchFamily="18" charset="77"/>
              </a:rPr>
              <a:t>The welcome dinner will take place at Montebello, Paris.</a:t>
            </a:r>
          </a:p>
          <a:p>
            <a:endParaRPr lang="en-AE" dirty="0"/>
          </a:p>
        </p:txBody>
      </p:sp>
      <p:pic>
        <p:nvPicPr>
          <p:cNvPr id="5" name="Picture 4" descr="A boat on the water&#10;&#10;AI-generated content may be incorrect.">
            <a:extLst>
              <a:ext uri="{FF2B5EF4-FFF2-40B4-BE49-F238E27FC236}">
                <a16:creationId xmlns:a16="http://schemas.microsoft.com/office/drawing/2014/main" id="{90948920-2F81-5845-4EA3-1633D6908FD7}"/>
              </a:ext>
            </a:extLst>
          </p:cNvPr>
          <p:cNvPicPr>
            <a:picLocks noChangeAspect="1"/>
          </p:cNvPicPr>
          <p:nvPr/>
        </p:nvPicPr>
        <p:blipFill>
          <a:blip r:embed="rId2"/>
          <a:stretch>
            <a:fillRect/>
          </a:stretch>
        </p:blipFill>
        <p:spPr>
          <a:xfrm>
            <a:off x="5809202" y="1351294"/>
            <a:ext cx="6233118" cy="4155412"/>
          </a:xfrm>
          <a:prstGeom prst="rect">
            <a:avLst/>
          </a:prstGeom>
        </p:spPr>
      </p:pic>
    </p:spTree>
    <p:extLst>
      <p:ext uri="{BB962C8B-B14F-4D97-AF65-F5344CB8AC3E}">
        <p14:creationId xmlns:p14="http://schemas.microsoft.com/office/powerpoint/2010/main" val="6038308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E970FA1-78E2-51E2-894B-E5F092FB9264}"/>
              </a:ext>
            </a:extLst>
          </p:cNvPr>
          <p:cNvPicPr>
            <a:picLocks noGrp="1" noChangeAspect="1"/>
          </p:cNvPicPr>
          <p:nvPr>
            <p:ph idx="1"/>
          </p:nvPr>
        </p:nvPicPr>
        <p:blipFill>
          <a:blip r:embed="rId2"/>
          <a:srcRect/>
          <a:stretch/>
        </p:blipFill>
        <p:spPr>
          <a:xfrm>
            <a:off x="7055804" y="206176"/>
            <a:ext cx="4297098" cy="6445647"/>
          </a:xfrm>
        </p:spPr>
      </p:pic>
      <p:sp>
        <p:nvSpPr>
          <p:cNvPr id="5" name="TextBox 4">
            <a:extLst>
              <a:ext uri="{FF2B5EF4-FFF2-40B4-BE49-F238E27FC236}">
                <a16:creationId xmlns:a16="http://schemas.microsoft.com/office/drawing/2014/main" id="{43932DF9-7A2B-D494-CA2E-32699C27B454}"/>
              </a:ext>
            </a:extLst>
          </p:cNvPr>
          <p:cNvSpPr txBox="1"/>
          <p:nvPr/>
        </p:nvSpPr>
        <p:spPr>
          <a:xfrm>
            <a:off x="1019968" y="2459503"/>
            <a:ext cx="5076032" cy="1785104"/>
          </a:xfrm>
          <a:prstGeom prst="rect">
            <a:avLst/>
          </a:prstGeom>
          <a:noFill/>
        </p:spPr>
        <p:txBody>
          <a:bodyPr wrap="square" rtlCol="0">
            <a:spAutoFit/>
          </a:bodyPr>
          <a:lstStyle/>
          <a:p>
            <a:pPr marL="285750" indent="-285750">
              <a:buFont typeface="Arial" panose="020B0604020202020204" pitchFamily="34" charset="0"/>
              <a:buChar char="•"/>
            </a:pPr>
            <a:r>
              <a:rPr lang="en-US" sz="2200" dirty="0">
                <a:solidFill>
                  <a:schemeClr val="bg2">
                    <a:lumMod val="50000"/>
                  </a:schemeClr>
                </a:solidFill>
                <a:latin typeface="Perpetua" panose="02020502060401020303" pitchFamily="18" charset="77"/>
              </a:rPr>
              <a:t>A warm white and light pink floral arrangement will be placed on each table, accompanied by a cluster of small votive candles, creating a light, sophisticated, and effortlessly elegant ambiance</a:t>
            </a:r>
            <a:endParaRPr lang="en-AE" sz="2200" dirty="0">
              <a:solidFill>
                <a:schemeClr val="bg2">
                  <a:lumMod val="50000"/>
                </a:schemeClr>
              </a:solidFill>
              <a:latin typeface="Perpetua" panose="02020502060401020303" pitchFamily="18" charset="77"/>
            </a:endParaRPr>
          </a:p>
        </p:txBody>
      </p:sp>
    </p:spTree>
    <p:extLst>
      <p:ext uri="{BB962C8B-B14F-4D97-AF65-F5344CB8AC3E}">
        <p14:creationId xmlns:p14="http://schemas.microsoft.com/office/powerpoint/2010/main" val="15459373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936B29B1-0BBE-4C0C-8087-A9B0079F290D}"/>
              </a:ext>
            </a:extLst>
          </p:cNvPr>
          <p:cNvSpPr txBox="1"/>
          <p:nvPr/>
        </p:nvSpPr>
        <p:spPr>
          <a:xfrm>
            <a:off x="687805" y="1349957"/>
            <a:ext cx="10816390" cy="4576125"/>
          </a:xfrm>
          <a:prstGeom prst="rect">
            <a:avLst/>
          </a:prstGeom>
          <a:noFill/>
        </p:spPr>
        <p:txBody>
          <a:bodyPr wrap="square">
            <a:spAutoFit/>
          </a:bodyPr>
          <a:lstStyle/>
          <a:p>
            <a:pPr marL="1596390" marR="513715" indent="-979805" algn="ctr">
              <a:lnSpc>
                <a:spcPct val="98000"/>
              </a:lnSpc>
              <a:spcBef>
                <a:spcPts val="480"/>
              </a:spcBef>
              <a:spcAft>
                <a:spcPts val="0"/>
              </a:spcAft>
            </a:pPr>
            <a:r>
              <a:rPr lang="en-US" sz="4000" dirty="0">
                <a:solidFill>
                  <a:schemeClr val="bg2">
                    <a:lumMod val="50000"/>
                  </a:schemeClr>
                </a:solidFill>
                <a:effectLst/>
                <a:latin typeface="Perpetua" panose="02020502060401020303" pitchFamily="18" charset="77"/>
                <a:ea typeface="Noto Sans"/>
                <a:cs typeface="Noto Sans"/>
              </a:rPr>
              <a:t>We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can’</a:t>
            </a:r>
            <a:r>
              <a:rPr lang="en-US" sz="4000" dirty="0">
                <a:solidFill>
                  <a:schemeClr val="bg2">
                    <a:lumMod val="50000"/>
                  </a:schemeClr>
                </a:solidFill>
                <a:effectLst/>
                <a:latin typeface="Perpetua" panose="02020502060401020303" pitchFamily="18" charset="77"/>
                <a:ea typeface="Noto Sans"/>
                <a:cs typeface="Noto Sans"/>
              </a:rPr>
              <a:t>t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wai</a:t>
            </a:r>
            <a:r>
              <a:rPr lang="en-US" sz="4000" dirty="0">
                <a:solidFill>
                  <a:schemeClr val="bg2">
                    <a:lumMod val="50000"/>
                  </a:schemeClr>
                </a:solidFill>
                <a:effectLst/>
                <a:latin typeface="Perpetua" panose="02020502060401020303" pitchFamily="18" charset="77"/>
                <a:ea typeface="Noto Sans"/>
                <a:cs typeface="Noto Sans"/>
              </a:rPr>
              <a:t>t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t</a:t>
            </a:r>
            <a:r>
              <a:rPr lang="en-US" sz="4000" dirty="0">
                <a:solidFill>
                  <a:schemeClr val="bg2">
                    <a:lumMod val="50000"/>
                  </a:schemeClr>
                </a:solidFill>
                <a:effectLst/>
                <a:latin typeface="Perpetua" panose="02020502060401020303" pitchFamily="18" charset="77"/>
                <a:ea typeface="Noto Sans"/>
                <a:cs typeface="Noto Sans"/>
              </a:rPr>
              <a:t>o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brin</a:t>
            </a:r>
            <a:r>
              <a:rPr lang="en-US" sz="4000" dirty="0">
                <a:solidFill>
                  <a:schemeClr val="bg2">
                    <a:lumMod val="50000"/>
                  </a:schemeClr>
                </a:solidFill>
                <a:effectLst/>
                <a:latin typeface="Perpetua" panose="02020502060401020303" pitchFamily="18" charset="77"/>
                <a:ea typeface="Noto Sans"/>
                <a:cs typeface="Noto Sans"/>
              </a:rPr>
              <a:t>g </a:t>
            </a:r>
            <a:r>
              <a:rPr lang="en-US" sz="4000" spc="-5" dirty="0">
                <a:solidFill>
                  <a:schemeClr val="bg2">
                    <a:lumMod val="50000"/>
                  </a:schemeClr>
                </a:solidFill>
                <a:effectLst/>
                <a:latin typeface="Perpetua" panose="02020502060401020303" pitchFamily="18" charset="77"/>
                <a:ea typeface="Noto Sans"/>
                <a:cs typeface="Noto Sans"/>
              </a:rPr>
              <a:t>you</a:t>
            </a:r>
            <a:r>
              <a:rPr lang="en-US" sz="4000" dirty="0">
                <a:solidFill>
                  <a:schemeClr val="bg2">
                    <a:lumMod val="50000"/>
                  </a:schemeClr>
                </a:solidFill>
                <a:effectLst/>
                <a:latin typeface="Perpetua" panose="02020502060401020303" pitchFamily="18" charset="77"/>
                <a:ea typeface="Noto Sans"/>
                <a:cs typeface="Noto Sans"/>
              </a:rPr>
              <a:t>r </a:t>
            </a:r>
            <a:r>
              <a:rPr lang="en-US" sz="4000" spc="-5" dirty="0">
                <a:solidFill>
                  <a:schemeClr val="bg2">
                    <a:lumMod val="50000"/>
                  </a:schemeClr>
                </a:solidFill>
                <a:effectLst/>
                <a:latin typeface="Perpetua" panose="02020502060401020303" pitchFamily="18" charset="77"/>
                <a:ea typeface="Noto Sans"/>
                <a:cs typeface="Noto Sans"/>
              </a:rPr>
              <a:t>visio</a:t>
            </a:r>
            <a:r>
              <a:rPr lang="en-US" sz="4000" dirty="0">
                <a:solidFill>
                  <a:schemeClr val="bg2">
                    <a:lumMod val="50000"/>
                  </a:schemeClr>
                </a:solidFill>
                <a:effectLst/>
                <a:latin typeface="Perpetua" panose="02020502060401020303" pitchFamily="18" charset="77"/>
                <a:ea typeface="Noto Sans"/>
                <a:cs typeface="Noto Sans"/>
              </a:rPr>
              <a:t>n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t</a:t>
            </a:r>
            <a:r>
              <a:rPr lang="en-US" sz="4000" dirty="0">
                <a:solidFill>
                  <a:schemeClr val="bg2">
                    <a:lumMod val="50000"/>
                  </a:schemeClr>
                </a:solidFill>
                <a:effectLst/>
                <a:latin typeface="Perpetua" panose="02020502060401020303" pitchFamily="18" charset="77"/>
                <a:ea typeface="Noto Sans"/>
                <a:cs typeface="Noto Sans"/>
              </a:rPr>
              <a:t>o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life</a:t>
            </a:r>
            <a:r>
              <a:rPr lang="en-US" sz="4000" dirty="0">
                <a:solidFill>
                  <a:schemeClr val="bg2">
                    <a:lumMod val="50000"/>
                  </a:schemeClr>
                </a:solidFill>
                <a:effectLst/>
                <a:latin typeface="Perpetua" panose="02020502060401020303" pitchFamily="18" charset="77"/>
                <a:ea typeface="Noto Sans"/>
                <a:cs typeface="Noto Sans"/>
              </a:rPr>
              <a:t>!</a:t>
            </a:r>
          </a:p>
          <a:p>
            <a:pPr marL="0" marR="0">
              <a:spcBef>
                <a:spcPts val="0"/>
              </a:spcBef>
              <a:spcAft>
                <a:spcPts val="0"/>
              </a:spcAft>
            </a:pPr>
            <a:r>
              <a:rPr lang="en-US" sz="1600" b="0" dirty="0">
                <a:solidFill>
                  <a:schemeClr val="bg2">
                    <a:lumMod val="50000"/>
                  </a:schemeClr>
                </a:solidFill>
                <a:effectLst/>
                <a:latin typeface="Perpetua" panose="02020502060401020303" pitchFamily="18" charset="77"/>
                <a:ea typeface="Noto Sans"/>
                <a:cs typeface="Noto Sans"/>
              </a:rPr>
              <a:t> </a:t>
            </a:r>
            <a:endParaRPr lang="en-US" sz="1600" b="1" dirty="0">
              <a:solidFill>
                <a:schemeClr val="bg2">
                  <a:lumMod val="50000"/>
                </a:schemeClr>
              </a:solidFill>
              <a:effectLst/>
              <a:latin typeface="Perpetua" panose="02020502060401020303" pitchFamily="18" charset="77"/>
              <a:ea typeface="Noto Sans"/>
              <a:cs typeface="Noto Sans"/>
            </a:endParaRPr>
          </a:p>
          <a:p>
            <a:pPr marL="0" marR="0">
              <a:spcBef>
                <a:spcPts val="0"/>
              </a:spcBef>
              <a:spcAft>
                <a:spcPts val="0"/>
              </a:spcAft>
            </a:pPr>
            <a:r>
              <a:rPr lang="en-US" sz="1600" b="0" dirty="0">
                <a:solidFill>
                  <a:schemeClr val="bg2">
                    <a:lumMod val="50000"/>
                  </a:schemeClr>
                </a:solidFill>
                <a:effectLst/>
                <a:latin typeface="Perpetua" panose="02020502060401020303" pitchFamily="18" charset="77"/>
                <a:ea typeface="Noto Sans"/>
                <a:cs typeface="Noto Sans"/>
              </a:rPr>
              <a:t> </a:t>
            </a:r>
            <a:endParaRPr lang="en-US" sz="1600" b="1" dirty="0">
              <a:solidFill>
                <a:schemeClr val="bg2">
                  <a:lumMod val="50000"/>
                </a:schemeClr>
              </a:solidFill>
              <a:effectLst/>
              <a:latin typeface="Perpetua" panose="02020502060401020303" pitchFamily="18" charset="77"/>
              <a:ea typeface="Noto Sans"/>
              <a:cs typeface="Noto Sans"/>
            </a:endParaRPr>
          </a:p>
          <a:p>
            <a:pPr marL="0" marR="0" algn="ctr">
              <a:spcBef>
                <a:spcPts val="40"/>
              </a:spcBef>
              <a:spcAft>
                <a:spcPts val="0"/>
              </a:spcAft>
            </a:pPr>
            <a:r>
              <a:rPr lang="en-US" sz="1600" b="0" dirty="0">
                <a:solidFill>
                  <a:schemeClr val="bg2">
                    <a:lumMod val="50000"/>
                  </a:schemeClr>
                </a:solidFill>
                <a:effectLst/>
                <a:latin typeface="Perpetua" panose="02020502060401020303" pitchFamily="18" charset="77"/>
                <a:ea typeface="Noto Sans"/>
                <a:cs typeface="Noto Sans"/>
              </a:rPr>
              <a:t> </a:t>
            </a:r>
            <a:endParaRPr lang="en-US" sz="1600" b="1" dirty="0">
              <a:solidFill>
                <a:schemeClr val="bg2">
                  <a:lumMod val="50000"/>
                </a:schemeClr>
              </a:solidFill>
              <a:effectLst/>
              <a:latin typeface="Perpetua" panose="02020502060401020303" pitchFamily="18" charset="77"/>
              <a:ea typeface="Noto Sans"/>
              <a:cs typeface="Noto Sans"/>
            </a:endParaRPr>
          </a:p>
          <a:p>
            <a:pPr marL="845185" marR="681355" algn="ctr">
              <a:lnSpc>
                <a:spcPct val="102000"/>
              </a:lnSpc>
              <a:spcBef>
                <a:spcPts val="525"/>
              </a:spcBef>
              <a:spcAft>
                <a:spcPts val="0"/>
              </a:spcAft>
            </a:pPr>
            <a:r>
              <a:rPr lang="en-US" sz="2400" dirty="0">
                <a:solidFill>
                  <a:schemeClr val="bg2">
                    <a:lumMod val="50000"/>
                  </a:schemeClr>
                </a:solidFill>
                <a:effectLst/>
                <a:latin typeface="Perpetua" panose="02020502060401020303" pitchFamily="18" charset="77"/>
                <a:ea typeface="Noto Sans"/>
                <a:cs typeface="Noto Sans"/>
              </a:rPr>
              <a:t>The concepts (written and images) in this proposal are symbolic of the design inspiration we intend to bring to life for your event. Due to the characteristics of perishable items (flowers), there can be situations that may emerge that are completely out of our control. </a:t>
            </a:r>
            <a:endParaRPr lang="en-US" sz="2400" dirty="0">
              <a:solidFill>
                <a:schemeClr val="bg2">
                  <a:lumMod val="50000"/>
                </a:schemeClr>
              </a:solidFill>
              <a:latin typeface="Perpetua" panose="02020502060401020303" pitchFamily="18" charset="77"/>
              <a:ea typeface="Noto Sans"/>
              <a:cs typeface="Noto Sans"/>
            </a:endParaRPr>
          </a:p>
          <a:p>
            <a:pPr marL="845185" marR="681355" algn="ctr">
              <a:lnSpc>
                <a:spcPct val="102000"/>
              </a:lnSpc>
              <a:spcBef>
                <a:spcPts val="525"/>
              </a:spcBef>
              <a:spcAft>
                <a:spcPts val="0"/>
              </a:spcAft>
            </a:pPr>
            <a:endParaRPr lang="en-US" sz="2400" dirty="0">
              <a:solidFill>
                <a:schemeClr val="bg2">
                  <a:lumMod val="50000"/>
                </a:schemeClr>
              </a:solidFill>
              <a:effectLst/>
              <a:latin typeface="Perpetua" panose="02020502060401020303" pitchFamily="18" charset="77"/>
              <a:ea typeface="Noto Sans"/>
              <a:cs typeface="Noto Sans"/>
            </a:endParaRPr>
          </a:p>
          <a:p>
            <a:pPr marL="839470" marR="675005" indent="-635" algn="ctr">
              <a:lnSpc>
                <a:spcPct val="102000"/>
              </a:lnSpc>
              <a:spcBef>
                <a:spcPts val="5"/>
              </a:spcBef>
              <a:spcAft>
                <a:spcPts val="0"/>
              </a:spcAft>
            </a:pPr>
            <a:r>
              <a:rPr lang="en-US" sz="2400" dirty="0">
                <a:solidFill>
                  <a:schemeClr val="bg2">
                    <a:lumMod val="50000"/>
                  </a:schemeClr>
                </a:solidFill>
                <a:effectLst/>
                <a:latin typeface="Perpetua" panose="02020502060401020303" pitchFamily="18" charset="77"/>
                <a:ea typeface="Noto Sans"/>
                <a:cs typeface="Noto Sans"/>
              </a:rPr>
              <a:t>To protect the integrity of our creativity, we kindly ask that you do not share the details of this proposal with other vendors bidding for your event. This was made just for </a:t>
            </a:r>
            <a:r>
              <a:rPr lang="en-US" sz="2400" i="1" dirty="0">
                <a:solidFill>
                  <a:schemeClr val="bg2">
                    <a:lumMod val="50000"/>
                  </a:schemeClr>
                </a:solidFill>
                <a:effectLst/>
                <a:latin typeface="Perpetua" panose="02020502060401020303" pitchFamily="18" charset="77"/>
                <a:ea typeface="Noto Sans"/>
                <a:cs typeface="Noto Sans"/>
              </a:rPr>
              <a:t>you</a:t>
            </a:r>
            <a:r>
              <a:rPr lang="en-US" sz="2400" dirty="0">
                <a:solidFill>
                  <a:schemeClr val="bg2">
                    <a:lumMod val="50000"/>
                  </a:schemeClr>
                </a:solidFill>
                <a:effectLst/>
                <a:latin typeface="Perpetua" panose="02020502060401020303" pitchFamily="18" charset="77"/>
                <a:ea typeface="Noto Sans"/>
                <a:cs typeface="Noto Sans"/>
              </a:rPr>
              <a:t>. However, please feel free to share this with your family.</a:t>
            </a:r>
          </a:p>
        </p:txBody>
      </p:sp>
    </p:spTree>
    <p:extLst>
      <p:ext uri="{BB962C8B-B14F-4D97-AF65-F5344CB8AC3E}">
        <p14:creationId xmlns:p14="http://schemas.microsoft.com/office/powerpoint/2010/main" val="40082704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936B29B1-0BBE-4C0C-8087-A9B0079F290D}"/>
              </a:ext>
            </a:extLst>
          </p:cNvPr>
          <p:cNvSpPr txBox="1"/>
          <p:nvPr/>
        </p:nvSpPr>
        <p:spPr>
          <a:xfrm>
            <a:off x="195532" y="89994"/>
            <a:ext cx="12218610" cy="6160917"/>
          </a:xfrm>
          <a:prstGeom prst="rect">
            <a:avLst/>
          </a:prstGeom>
          <a:noFill/>
        </p:spPr>
        <p:txBody>
          <a:bodyPr wrap="square">
            <a:spAutoFit/>
          </a:bodyPr>
          <a:lstStyle/>
          <a:p>
            <a:pPr marL="1596390" marR="513715" indent="-979805" algn="ctr">
              <a:lnSpc>
                <a:spcPct val="98000"/>
              </a:lnSpc>
              <a:spcBef>
                <a:spcPts val="480"/>
              </a:spcBef>
              <a:spcAft>
                <a:spcPts val="0"/>
              </a:spcAft>
            </a:pPr>
            <a:r>
              <a:rPr lang="en-US" sz="2400" dirty="0">
                <a:solidFill>
                  <a:schemeClr val="bg2">
                    <a:lumMod val="50000"/>
                  </a:schemeClr>
                </a:solidFill>
                <a:latin typeface="Perpetua" panose="02020502060401020303" pitchFamily="18" charset="77"/>
                <a:ea typeface="Noto Sans"/>
                <a:cs typeface="Noto Sans"/>
              </a:rPr>
              <a:t>NOTES FOR PLANNER AND FLORIST  TEAM ONLY </a:t>
            </a:r>
            <a:r>
              <a:rPr lang="en-US" sz="2400" b="1" dirty="0">
                <a:solidFill>
                  <a:schemeClr val="accent5">
                    <a:lumMod val="60000"/>
                    <a:lumOff val="40000"/>
                  </a:schemeClr>
                </a:solidFill>
                <a:latin typeface="Perpetua" panose="02020502060401020303" pitchFamily="18" charset="77"/>
                <a:ea typeface="Noto Sans"/>
                <a:cs typeface="Noto Sans"/>
              </a:rPr>
              <a:t>(FRENCH):</a:t>
            </a: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Décor de la </a:t>
            </a:r>
            <a:r>
              <a:rPr lang="en-US" dirty="0" err="1">
                <a:solidFill>
                  <a:schemeClr val="bg2">
                    <a:lumMod val="50000"/>
                  </a:schemeClr>
                </a:solidFill>
                <a:latin typeface="Perpetua" panose="02020502060401020303" pitchFamily="18" charset="77"/>
                <a:ea typeface="Noto Sans"/>
                <a:cs typeface="Noto Sans"/>
              </a:rPr>
              <a:t>ceremonie</a:t>
            </a: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Bouquet de </a:t>
            </a:r>
            <a:r>
              <a:rPr lang="en-US" dirty="0" err="1">
                <a:solidFill>
                  <a:schemeClr val="bg2">
                    <a:lumMod val="50000"/>
                  </a:schemeClr>
                </a:solidFill>
                <a:latin typeface="Perpetua" panose="02020502060401020303" pitchFamily="18" charset="77"/>
                <a:ea typeface="Noto Sans"/>
                <a:cs typeface="Noto Sans"/>
              </a:rPr>
              <a:t>mariée</a:t>
            </a: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Boutonnière du </a:t>
            </a:r>
            <a:r>
              <a:rPr lang="en-US" dirty="0" err="1">
                <a:solidFill>
                  <a:schemeClr val="bg2">
                    <a:lumMod val="50000"/>
                  </a:schemeClr>
                </a:solidFill>
                <a:latin typeface="Perpetua" panose="02020502060401020303" pitchFamily="18" charset="77"/>
                <a:ea typeface="Noto Sans"/>
                <a:cs typeface="Noto Sans"/>
              </a:rPr>
              <a:t>marié</a:t>
            </a: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9 Boutonnières total = pour 7 garcons </a:t>
            </a:r>
            <a:r>
              <a:rPr lang="en-US" dirty="0" err="1">
                <a:solidFill>
                  <a:schemeClr val="bg2">
                    <a:lumMod val="50000"/>
                  </a:schemeClr>
                </a:solidFill>
                <a:latin typeface="Perpetua" panose="02020502060401020303" pitchFamily="18" charset="77"/>
                <a:ea typeface="Noto Sans"/>
                <a:cs typeface="Noto Sans"/>
              </a:rPr>
              <a:t>d’honneur</a:t>
            </a:r>
            <a:r>
              <a:rPr lang="en-US" dirty="0">
                <a:solidFill>
                  <a:schemeClr val="bg2">
                    <a:lumMod val="50000"/>
                  </a:schemeClr>
                </a:solidFill>
                <a:latin typeface="Perpetua" panose="02020502060401020303" pitchFamily="18" charset="77"/>
                <a:ea typeface="Noto Sans"/>
                <a:cs typeface="Noto Sans"/>
              </a:rPr>
              <a:t> et les 2 papa</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5 Bouquet de demoiselles </a:t>
            </a:r>
            <a:r>
              <a:rPr lang="en-US" dirty="0" err="1">
                <a:solidFill>
                  <a:schemeClr val="bg2">
                    <a:lumMod val="50000"/>
                  </a:schemeClr>
                </a:solidFill>
                <a:latin typeface="Perpetua" panose="02020502060401020303" pitchFamily="18" charset="77"/>
                <a:ea typeface="Noto Sans"/>
                <a:cs typeface="Noto Sans"/>
              </a:rPr>
              <a:t>d'honneur</a:t>
            </a:r>
            <a:r>
              <a:rPr lang="en-US" dirty="0">
                <a:solidFill>
                  <a:schemeClr val="bg2">
                    <a:lumMod val="50000"/>
                  </a:schemeClr>
                </a:solidFill>
                <a:latin typeface="Perpetua" panose="02020502060401020303" pitchFamily="18" charset="77"/>
                <a:ea typeface="Noto Sans"/>
                <a:cs typeface="Noto Sans"/>
              </a:rPr>
              <a:t> </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Bouquet de flower girls</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3 corsages (bracelets) de fleurs pour les 2 </a:t>
            </a:r>
            <a:r>
              <a:rPr lang="en-US" dirty="0" err="1">
                <a:solidFill>
                  <a:schemeClr val="bg2">
                    <a:lumMod val="50000"/>
                  </a:schemeClr>
                </a:solidFill>
                <a:latin typeface="Perpetua" panose="02020502060401020303" pitchFamily="18" charset="77"/>
                <a:ea typeface="Noto Sans"/>
                <a:cs typeface="Noto Sans"/>
              </a:rPr>
              <a:t>mamans</a:t>
            </a:r>
            <a:r>
              <a:rPr lang="en-US" dirty="0">
                <a:solidFill>
                  <a:schemeClr val="bg2">
                    <a:lumMod val="50000"/>
                  </a:schemeClr>
                </a:solidFill>
                <a:latin typeface="Perpetua" panose="02020502060401020303" pitchFamily="18" charset="77"/>
                <a:ea typeface="Noto Sans"/>
                <a:cs typeface="Noto Sans"/>
              </a:rPr>
              <a:t> </a:t>
            </a:r>
            <a:r>
              <a:rPr lang="en-US">
                <a:solidFill>
                  <a:schemeClr val="bg2">
                    <a:lumMod val="50000"/>
                  </a:schemeClr>
                </a:solidFill>
                <a:latin typeface="Perpetua" panose="02020502060401020303" pitchFamily="18" charset="77"/>
                <a:ea typeface="Noto Sans"/>
                <a:cs typeface="Noto Sans"/>
              </a:rPr>
              <a:t>et pour la </a:t>
            </a:r>
            <a:r>
              <a:rPr lang="en-US" dirty="0">
                <a:solidFill>
                  <a:schemeClr val="bg2">
                    <a:lumMod val="50000"/>
                  </a:schemeClr>
                </a:solidFill>
                <a:latin typeface="Perpetua" panose="02020502060401020303" pitchFamily="18" charset="77"/>
                <a:ea typeface="Noto Sans"/>
                <a:cs typeface="Noto Sans"/>
              </a:rPr>
              <a:t>grand mere de la </a:t>
            </a:r>
            <a:r>
              <a:rPr lang="en-US" dirty="0" err="1">
                <a:solidFill>
                  <a:schemeClr val="bg2">
                    <a:lumMod val="50000"/>
                  </a:schemeClr>
                </a:solidFill>
                <a:latin typeface="Perpetua" panose="02020502060401020303" pitchFamily="18" charset="77"/>
                <a:ea typeface="Noto Sans"/>
                <a:cs typeface="Noto Sans"/>
              </a:rPr>
              <a:t>marié</a:t>
            </a: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8 tables ronde (</a:t>
            </a:r>
            <a:r>
              <a:rPr lang="en-US" dirty="0" err="1">
                <a:solidFill>
                  <a:schemeClr val="bg2">
                    <a:lumMod val="50000"/>
                  </a:schemeClr>
                </a:solidFill>
                <a:latin typeface="Perpetua" panose="02020502060401020303" pitchFamily="18" charset="77"/>
                <a:ea typeface="Noto Sans"/>
                <a:cs typeface="Noto Sans"/>
              </a:rPr>
              <a:t>jusqu'à</a:t>
            </a:r>
            <a:r>
              <a:rPr lang="en-US" dirty="0">
                <a:solidFill>
                  <a:schemeClr val="bg2">
                    <a:lumMod val="50000"/>
                  </a:schemeClr>
                </a:solidFill>
                <a:latin typeface="Perpetua" panose="02020502060401020303" pitchFamily="18" charset="77"/>
                <a:ea typeface="Noto Sans"/>
                <a:cs typeface="Noto Sans"/>
              </a:rPr>
              <a:t> 10 </a:t>
            </a:r>
            <a:r>
              <a:rPr lang="en-US" dirty="0" err="1">
                <a:solidFill>
                  <a:schemeClr val="bg2">
                    <a:lumMod val="50000"/>
                  </a:schemeClr>
                </a:solidFill>
                <a:latin typeface="Perpetua" panose="02020502060401020303" pitchFamily="18" charset="77"/>
                <a:ea typeface="Noto Sans"/>
                <a:cs typeface="Noto Sans"/>
              </a:rPr>
              <a:t>invités</a:t>
            </a:r>
            <a:r>
              <a:rPr lang="en-US" dirty="0">
                <a:solidFill>
                  <a:schemeClr val="bg2">
                    <a:lumMod val="50000"/>
                  </a:schemeClr>
                </a:solidFill>
                <a:latin typeface="Perpetua" panose="02020502060401020303" pitchFamily="18" charset="77"/>
                <a:ea typeface="Noto Sans"/>
                <a:cs typeface="Noto Sans"/>
              </a:rPr>
              <a:t> par table) Nombre final a determiner</a:t>
            </a:r>
          </a:p>
          <a:p>
            <a:pPr marL="902335" marR="513715" indent="-285750">
              <a:lnSpc>
                <a:spcPct val="98000"/>
              </a:lnSpc>
              <a:spcBef>
                <a:spcPts val="480"/>
              </a:spcBef>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2 longue tables </a:t>
            </a:r>
            <a:r>
              <a:rPr lang="en-US" dirty="0" err="1">
                <a:solidFill>
                  <a:schemeClr val="bg2">
                    <a:lumMod val="50000"/>
                  </a:schemeClr>
                </a:solidFill>
                <a:latin typeface="Perpetua" panose="02020502060401020303" pitchFamily="18" charset="77"/>
                <a:ea typeface="Noto Sans"/>
                <a:cs typeface="Noto Sans"/>
              </a:rPr>
              <a:t>rectangulaire</a:t>
            </a:r>
            <a:r>
              <a:rPr lang="en-US" dirty="0">
                <a:solidFill>
                  <a:schemeClr val="bg2">
                    <a:lumMod val="50000"/>
                  </a:schemeClr>
                </a:solidFill>
                <a:latin typeface="Perpetua" panose="02020502060401020303" pitchFamily="18" charset="77"/>
                <a:ea typeface="Noto Sans"/>
                <a:cs typeface="Noto Sans"/>
              </a:rPr>
              <a:t> de 28 </a:t>
            </a:r>
            <a:r>
              <a:rPr lang="en-US" dirty="0" err="1">
                <a:solidFill>
                  <a:schemeClr val="bg2">
                    <a:lumMod val="50000"/>
                  </a:schemeClr>
                </a:solidFill>
                <a:latin typeface="Perpetua" panose="02020502060401020303" pitchFamily="18" charset="77"/>
                <a:ea typeface="Noto Sans"/>
                <a:cs typeface="Noto Sans"/>
              </a:rPr>
              <a:t>personnes</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soit</a:t>
            </a:r>
            <a:r>
              <a:rPr lang="en-US" dirty="0">
                <a:solidFill>
                  <a:schemeClr val="bg2">
                    <a:lumMod val="50000"/>
                  </a:schemeClr>
                </a:solidFill>
                <a:latin typeface="Perpetua" panose="02020502060401020303" pitchFamily="18" charset="77"/>
                <a:ea typeface="Noto Sans"/>
                <a:cs typeface="Noto Sans"/>
              </a:rPr>
              <a:t> 14 de </a:t>
            </a:r>
            <a:r>
              <a:rPr lang="en-US" dirty="0" err="1">
                <a:solidFill>
                  <a:schemeClr val="bg2">
                    <a:lumMod val="50000"/>
                  </a:schemeClr>
                </a:solidFill>
                <a:latin typeface="Perpetua" panose="02020502060401020303" pitchFamily="18" charset="77"/>
                <a:ea typeface="Noto Sans"/>
                <a:cs typeface="Noto Sans"/>
              </a:rPr>
              <a:t>chaque</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coté</a:t>
            </a:r>
            <a:r>
              <a:rPr lang="en-US" dirty="0">
                <a:solidFill>
                  <a:schemeClr val="bg2">
                    <a:lumMod val="50000"/>
                  </a:schemeClr>
                </a:solidFill>
                <a:latin typeface="Perpetua" panose="02020502060401020303" pitchFamily="18" charset="77"/>
                <a:ea typeface="Noto Sans"/>
                <a:cs typeface="Noto Sans"/>
              </a:rPr>
              <a:t>)</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6 décor Tables mange </a:t>
            </a:r>
            <a:r>
              <a:rPr lang="en-US" dirty="0" err="1">
                <a:solidFill>
                  <a:schemeClr val="bg2">
                    <a:lumMod val="50000"/>
                  </a:schemeClr>
                </a:solidFill>
                <a:latin typeface="Perpetua" panose="02020502060401020303" pitchFamily="18" charset="77"/>
                <a:ea typeface="Noto Sans"/>
                <a:cs typeface="Noto Sans"/>
              </a:rPr>
              <a:t>debout</a:t>
            </a:r>
            <a:r>
              <a:rPr lang="en-US" dirty="0">
                <a:solidFill>
                  <a:schemeClr val="bg2">
                    <a:lumMod val="50000"/>
                  </a:schemeClr>
                </a:solidFill>
                <a:latin typeface="Perpetua" panose="02020502060401020303" pitchFamily="18" charset="77"/>
                <a:ea typeface="Noto Sans"/>
                <a:cs typeface="Noto Sans"/>
              </a:rPr>
              <a:t> pour </a:t>
            </a:r>
            <a:r>
              <a:rPr lang="en-US" dirty="0" err="1">
                <a:solidFill>
                  <a:schemeClr val="bg2">
                    <a:lumMod val="50000"/>
                  </a:schemeClr>
                </a:solidFill>
                <a:latin typeface="Perpetua" panose="02020502060401020303" pitchFamily="18" charset="77"/>
                <a:ea typeface="Noto Sans"/>
                <a:cs typeface="Noto Sans"/>
              </a:rPr>
              <a:t>l'heure</a:t>
            </a:r>
            <a:r>
              <a:rPr lang="en-US" dirty="0">
                <a:solidFill>
                  <a:schemeClr val="bg2">
                    <a:lumMod val="50000"/>
                  </a:schemeClr>
                </a:solidFill>
                <a:latin typeface="Perpetua" panose="02020502060401020303" pitchFamily="18" charset="77"/>
                <a:ea typeface="Noto Sans"/>
                <a:cs typeface="Noto Sans"/>
              </a:rPr>
              <a:t> du cocktail</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2 Décor de Bars (1 pour le cocktail - 1 pour la </a:t>
            </a:r>
            <a:r>
              <a:rPr lang="en-US" dirty="0" err="1">
                <a:solidFill>
                  <a:schemeClr val="bg2">
                    <a:lumMod val="50000"/>
                  </a:schemeClr>
                </a:solidFill>
                <a:latin typeface="Perpetua" panose="02020502060401020303" pitchFamily="18" charset="77"/>
                <a:ea typeface="Noto Sans"/>
                <a:cs typeface="Noto Sans"/>
              </a:rPr>
              <a:t>réception</a:t>
            </a:r>
            <a:r>
              <a:rPr lang="en-US" dirty="0">
                <a:solidFill>
                  <a:schemeClr val="bg2">
                    <a:lumMod val="50000"/>
                  </a:schemeClr>
                </a:solidFill>
                <a:latin typeface="Perpetua" panose="02020502060401020303" pitchFamily="18" charset="77"/>
                <a:ea typeface="Noto Sans"/>
                <a:cs typeface="Noto Sans"/>
              </a:rPr>
              <a:t>/fête)</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décor pour le welcome sign / </a:t>
            </a:r>
            <a:r>
              <a:rPr lang="en-US" dirty="0" err="1">
                <a:solidFill>
                  <a:schemeClr val="bg2">
                    <a:lumMod val="50000"/>
                  </a:schemeClr>
                </a:solidFill>
                <a:latin typeface="Perpetua" panose="02020502060401020303" pitchFamily="18" charset="77"/>
                <a:ea typeface="Noto Sans"/>
                <a:cs typeface="Noto Sans"/>
              </a:rPr>
              <a:t>panneau</a:t>
            </a:r>
            <a:r>
              <a:rPr lang="en-US" dirty="0">
                <a:solidFill>
                  <a:schemeClr val="bg2">
                    <a:lumMod val="50000"/>
                  </a:schemeClr>
                </a:solidFill>
                <a:latin typeface="Perpetua" panose="02020502060401020303" pitchFamily="18" charset="77"/>
                <a:ea typeface="Noto Sans"/>
                <a:cs typeface="Noto Sans"/>
              </a:rPr>
              <a:t> de </a:t>
            </a:r>
            <a:r>
              <a:rPr lang="en-US" dirty="0" err="1">
                <a:solidFill>
                  <a:schemeClr val="bg2">
                    <a:lumMod val="50000"/>
                  </a:schemeClr>
                </a:solidFill>
                <a:latin typeface="Perpetua" panose="02020502060401020303" pitchFamily="18" charset="77"/>
                <a:ea typeface="Noto Sans"/>
                <a:cs typeface="Noto Sans"/>
              </a:rPr>
              <a:t>bienvenue</a:t>
            </a: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décor pour la Table “Welcome” Table </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Re disposition des fleurs pour la table du Wedding Cake</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décor pour la table buffet de dessert + drape </a:t>
            </a:r>
            <a:r>
              <a:rPr lang="en-US" dirty="0" err="1">
                <a:solidFill>
                  <a:schemeClr val="bg2">
                    <a:lumMod val="50000"/>
                  </a:schemeClr>
                </a:solidFill>
                <a:latin typeface="Perpetua" panose="02020502060401020303" pitchFamily="18" charset="77"/>
                <a:ea typeface="Noto Sans"/>
                <a:cs typeface="Noto Sans"/>
              </a:rPr>
              <a:t>blanc</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comme</a:t>
            </a:r>
            <a:r>
              <a:rPr lang="en-US" dirty="0">
                <a:solidFill>
                  <a:schemeClr val="bg2">
                    <a:lumMod val="50000"/>
                  </a:schemeClr>
                </a:solidFill>
                <a:latin typeface="Perpetua" panose="02020502060401020303" pitchFamily="18" charset="77"/>
                <a:ea typeface="Noto Sans"/>
                <a:cs typeface="Noto Sans"/>
              </a:rPr>
              <a:t> sur la photo</a:t>
            </a:r>
          </a:p>
          <a:p>
            <a:pPr marL="616585" marR="513715">
              <a:lnSpc>
                <a:spcPct val="98000"/>
              </a:lnSpc>
              <a:spcBef>
                <a:spcPts val="480"/>
              </a:spcBef>
              <a:spcAft>
                <a:spcPts val="0"/>
              </a:spcAft>
            </a:pPr>
            <a:r>
              <a:rPr lang="en-US" b="1" dirty="0">
                <a:solidFill>
                  <a:schemeClr val="bg2">
                    <a:lumMod val="50000"/>
                  </a:schemeClr>
                </a:solidFill>
                <a:latin typeface="Perpetua" panose="02020502060401020303" pitchFamily="18" charset="77"/>
                <a:ea typeface="Noto Sans"/>
                <a:cs typeface="Noto Sans"/>
              </a:rPr>
              <a:t>REHEARSAL DINNER </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8 tables – 6-8 petit vase “single flowers” par table – Décor </a:t>
            </a:r>
            <a:r>
              <a:rPr lang="en-US" dirty="0" err="1">
                <a:solidFill>
                  <a:schemeClr val="bg2">
                    <a:lumMod val="50000"/>
                  </a:schemeClr>
                </a:solidFill>
                <a:latin typeface="Perpetua" panose="02020502060401020303" pitchFamily="18" charset="77"/>
                <a:ea typeface="Noto Sans"/>
                <a:cs typeface="Noto Sans"/>
              </a:rPr>
              <a:t>blanc</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differente</a:t>
            </a:r>
            <a:r>
              <a:rPr lang="en-US" dirty="0">
                <a:solidFill>
                  <a:schemeClr val="bg2">
                    <a:lumMod val="50000"/>
                  </a:schemeClr>
                </a:solidFill>
                <a:latin typeface="Perpetua" panose="02020502060401020303" pitchFamily="18" charset="77"/>
                <a:ea typeface="Noto Sans"/>
                <a:cs typeface="Noto Sans"/>
              </a:rPr>
              <a:t> fleurs de </a:t>
            </a:r>
            <a:r>
              <a:rPr lang="en-US" dirty="0" err="1">
                <a:solidFill>
                  <a:schemeClr val="bg2">
                    <a:lumMod val="50000"/>
                  </a:schemeClr>
                </a:solidFill>
                <a:latin typeface="Perpetua" panose="02020502060401020303" pitchFamily="18" charset="77"/>
                <a:ea typeface="Noto Sans"/>
                <a:cs typeface="Noto Sans"/>
              </a:rPr>
              <a:t>saison</a:t>
            </a:r>
            <a:r>
              <a:rPr lang="en-US" dirty="0">
                <a:solidFill>
                  <a:schemeClr val="bg2">
                    <a:lumMod val="50000"/>
                  </a:schemeClr>
                </a:solidFill>
                <a:latin typeface="Perpetua" panose="02020502060401020303" pitchFamily="18" charset="77"/>
                <a:ea typeface="Noto Sans"/>
                <a:cs typeface="Noto Sans"/>
              </a:rPr>
              <a:t> - Comme sur la photo</a:t>
            </a:r>
          </a:p>
        </p:txBody>
      </p:sp>
    </p:spTree>
    <p:extLst>
      <p:ext uri="{BB962C8B-B14F-4D97-AF65-F5344CB8AC3E}">
        <p14:creationId xmlns:p14="http://schemas.microsoft.com/office/powerpoint/2010/main" val="1347272106"/>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19336</TotalTime>
  <Words>1822</Words>
  <Application>Microsoft Macintosh PowerPoint</Application>
  <PresentationFormat>Widescreen</PresentationFormat>
  <Paragraphs>164</Paragraphs>
  <Slides>37</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Calibri Light</vt:lpstr>
      <vt:lpstr>Perpetua</vt:lpstr>
      <vt:lpstr>Wingdings</vt:lpstr>
      <vt:lpstr>Office 2013 - 2022 Theme</vt:lpstr>
      <vt:lpstr>KIARA &amp; SEAN’S WEDDING</vt:lpstr>
      <vt:lpstr>COLOR PALETTE</vt:lpstr>
      <vt:lpstr>CEREMONY DECOR   </vt:lpstr>
      <vt:lpstr>CEREMONY DECOR – OPTION 1   </vt:lpstr>
      <vt:lpstr>CEREMONY DECOR – OPTION 2   </vt:lpstr>
      <vt:lpstr>AISLE DECOR    </vt:lpstr>
      <vt:lpstr>AISLE DECOR – OPTION 2  </vt:lpstr>
      <vt:lpstr>BRIDAL BOUQUET</vt:lpstr>
      <vt:lpstr>MAID OF HONOR &amp;  FLOWER GIRLS BOUQUETS </vt:lpstr>
      <vt:lpstr>COCKTAIL </vt:lpstr>
      <vt:lpstr>COCKTAIL – PART 2 </vt:lpstr>
      <vt:lpstr>BARS DECOR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CAKE TABLE </vt:lpstr>
      <vt:lpstr>DANCEFLOOR</vt:lpstr>
      <vt:lpstr>UP LITHING </vt:lpstr>
      <vt:lpstr>PowerPoint Presentation</vt:lpstr>
      <vt:lpstr>RECEPTION/DINNER SEATING PLAN   </vt:lpstr>
      <vt:lpstr>WELCOME DINNER</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SHERAZ &amp; RONIS WEDDING</dc:title>
  <dc:creator>Sheraaz Aït</dc:creator>
  <cp:lastModifiedBy>Haute Couture Events Wedding and Event planning</cp:lastModifiedBy>
  <cp:revision>113</cp:revision>
  <dcterms:created xsi:type="dcterms:W3CDTF">2020-01-16T20:29:49Z</dcterms:created>
  <dcterms:modified xsi:type="dcterms:W3CDTF">2026-02-17T13:40:51Z</dcterms:modified>
</cp:coreProperties>
</file>