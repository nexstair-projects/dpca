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6" r:id="rId1"/>
  </p:sldMasterIdLst>
  <p:notesMasterIdLst>
    <p:notesMasterId r:id="rId10"/>
  </p:notesMasterIdLst>
  <p:sldIdLst>
    <p:sldId id="256" r:id="rId2"/>
    <p:sldId id="368" r:id="rId3"/>
    <p:sldId id="366" r:id="rId4"/>
    <p:sldId id="386" r:id="rId5"/>
    <p:sldId id="387" r:id="rId6"/>
    <p:sldId id="388" r:id="rId7"/>
    <p:sldId id="290" r:id="rId8"/>
    <p:sldId id="329"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884"/>
    <p:restoredTop sz="93142"/>
  </p:normalViewPr>
  <p:slideViewPr>
    <p:cSldViewPr snapToGrid="0" snapToObjects="1">
      <p:cViewPr varScale="1">
        <p:scale>
          <a:sx n="109" d="100"/>
          <a:sy n="109" d="100"/>
        </p:scale>
        <p:origin x="240" y="1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17/04/2026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922751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87501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04170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47543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8301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266204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758865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1110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2220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55953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4/17/26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31463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4/17/26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59564783"/>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3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GUILHERME &amp; TIAGO’S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JUNE 6TH, 2026</a:t>
            </a:r>
          </a:p>
          <a:p>
            <a:r>
              <a:rPr lang="fr-FR" dirty="0">
                <a:solidFill>
                  <a:schemeClr val="bg2">
                    <a:lumMod val="50000"/>
                  </a:schemeClr>
                </a:solidFill>
                <a:latin typeface="Perpetua" panose="02020502060401020303" pitchFamily="18" charset="77"/>
                <a:ea typeface="Perpetua" charset="0"/>
                <a:cs typeface="Perpetua" charset="0"/>
              </a:rPr>
              <a:t>100 GUESTS</a:t>
            </a:r>
          </a:p>
          <a:p>
            <a:r>
              <a:rPr lang="fr-FR" dirty="0">
                <a:solidFill>
                  <a:schemeClr val="bg2">
                    <a:lumMod val="50000"/>
                  </a:schemeClr>
                </a:solidFill>
                <a:latin typeface="Perpetua" panose="02020502060401020303" pitchFamily="18" charset="77"/>
                <a:ea typeface="Perpetua" charset="0"/>
                <a:cs typeface="Perpetua" charset="0"/>
              </a:rPr>
              <a:t>YACHTS DE PARIS, PARIS</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634889" y="0"/>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634889" y="1724850"/>
            <a:ext cx="5461111" cy="4308872"/>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The wedding welcome sign features a clean and contemporary freestanding design with a soft ivory finish and an understated, elegant layout. The typography is minimal and refined, creating a timeless first impression that feels polished, modern, and effortlessly sophisticated</a:t>
            </a:r>
          </a:p>
          <a:p>
            <a:pPr marL="342900" indent="-342900"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Styled with yellow floral arrangements displayed in tall ceramic vases for a delicate yet impactful effect, accompanied by candles in varying sizes to create a warm, refined, and beautifully layered presentation</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119294" y="291405"/>
            <a:ext cx="4183460" cy="6275190"/>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477332" y="-199445"/>
            <a:ext cx="6374572" cy="6062072"/>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seating chart features a modern and architectural design with softly curved panels in warm neutral tones, creating a clean and elevated visual statement. The layout is thoughtfully structured with refined typography, pairing a delicate script with a minimalist serif font for a timeless and sophisticated look</a:t>
            </a:r>
          </a:p>
          <a:p>
            <a:pPr defTabSz="914400">
              <a:lnSpc>
                <a:spcPct val="90000"/>
              </a:lnSpc>
              <a:spcBef>
                <a:spcPct val="0"/>
              </a:spcBef>
              <a:spcAft>
                <a:spcPts val="600"/>
              </a:spcAft>
            </a:pPr>
            <a:r>
              <a:rPr lang="en-US" sz="3400" dirty="0">
                <a:latin typeface="+mj-lt"/>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322247" y="397963"/>
            <a:ext cx="4041382" cy="6062073"/>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096000" y="613340"/>
            <a:ext cx="5631316" cy="5631316"/>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437341" y="-329184"/>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This wedding table number features an elegant oval design with soft ivory and light-yellow stripes, paired with refined typography for a timeless and elevated look. Displayed on a polished stand, it adds a chic and beautifully curated touch to the overall tablescape</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7453613" y="362712"/>
            <a:ext cx="4301046" cy="6132576"/>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6"/>
            <a:ext cx="5416911" cy="6240505"/>
          </a:xfrm>
          <a:prstGeom prst="rect">
            <a:avLst/>
          </a:prstGeom>
        </p:spPr>
        <p:txBody>
          <a:bodyPr vert="horz" lIns="91440" tIns="45720" rIns="91440" bIns="45720" rtlCol="0" anchor="ctr">
            <a:normAutofit fontScale="85000" lnSpcReduction="10000"/>
          </a:bodyPr>
          <a:lstStyle/>
          <a:p>
            <a:pPr algn="ctr" defTabSz="914400">
              <a:lnSpc>
                <a:spcPct val="90000"/>
              </a:lnSpc>
              <a:spcBef>
                <a:spcPct val="0"/>
              </a:spcBef>
              <a:spcAft>
                <a:spcPts val="600"/>
              </a:spcAft>
            </a:pPr>
            <a:r>
              <a:rPr lang="en-US" sz="57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26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600" dirty="0">
                <a:solidFill>
                  <a:schemeClr val="bg2">
                    <a:lumMod val="50000"/>
                  </a:schemeClr>
                </a:solidFill>
                <a:latin typeface="Perpetua" panose="02020502060401020303" pitchFamily="18" charset="77"/>
              </a:rPr>
              <a:t>This wedding menu features a clean and refined design with soft, minimal typography on crisp white paper. It is paired with a delicate light-yellow napkin and a matching name card tied with a chiffon ribbon, creating a fresh, elegant, and thoughtfully coordinated place setting</a:t>
            </a:r>
          </a:p>
          <a:p>
            <a:pPr algn="ctr" fontAlgn="base"/>
            <a:endParaRPr lang="en-US" sz="2600" dirty="0">
              <a:solidFill>
                <a:schemeClr val="bg2">
                  <a:lumMod val="50000"/>
                </a:schemeClr>
              </a:solidFill>
              <a:latin typeface="Perpetua" panose="02020502060401020303" pitchFamily="18" charset="77"/>
            </a:endParaRPr>
          </a:p>
          <a:p>
            <a:pPr algn="ctr" fontAlgn="base"/>
            <a:r>
              <a:rPr lang="en-US" sz="2600" dirty="0">
                <a:solidFill>
                  <a:srgbClr val="FFC000"/>
                </a:solidFill>
                <a:latin typeface="Perpetua" panose="02020502060401020303" pitchFamily="18" charset="77"/>
              </a:rPr>
              <a:t>Audrey’s note: To ensure visual consistency across the menus, place cards, and table numbers, the same font and color palette will be applied throughout. I would also recommend opting for a lace ribbon rather than satin to better complement the table numbers. Final details to be confirmed with Kiara.</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7388897" y="499311"/>
            <a:ext cx="3906251" cy="5859377"/>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456087"/>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a:t>
            </a:r>
            <a:r>
              <a:rPr lang="en-US" sz="2400">
                <a:solidFill>
                  <a:schemeClr val="bg2">
                    <a:lumMod val="50000"/>
                  </a:schemeClr>
                </a:solidFill>
                <a:latin typeface="Perpetua" panose="02020502060401020303" pitchFamily="18" charset="77"/>
                <a:ea typeface="Noto Sans"/>
                <a:cs typeface="Noto Sans"/>
              </a:rPr>
              <a:t>FOR DESIGNER / IMPRIMEUR</a:t>
            </a:r>
            <a:endParaRPr lang="en-US" dirty="0">
              <a:solidFill>
                <a:schemeClr val="bg2">
                  <a:lumMod val="50000"/>
                </a:schemeClr>
              </a:solidFill>
              <a:latin typeface="Perpetua" panose="02020502060401020303" pitchFamily="18" charset="77"/>
              <a:ea typeface="Noto Sans"/>
              <a:cs typeface="Noto Sans"/>
            </a:endParaRPr>
          </a:p>
        </p:txBody>
      </p:sp>
      <p:sp>
        <p:nvSpPr>
          <p:cNvPr id="2" name="TextBox 1">
            <a:extLst>
              <a:ext uri="{FF2B5EF4-FFF2-40B4-BE49-F238E27FC236}">
                <a16:creationId xmlns:a16="http://schemas.microsoft.com/office/drawing/2014/main" id="{1BDA00D9-73D2-655A-CAAA-79303FE50D3C}"/>
              </a:ext>
            </a:extLst>
          </p:cNvPr>
          <p:cNvSpPr txBox="1"/>
          <p:nvPr/>
        </p:nvSpPr>
        <p:spPr>
          <a:xfrm>
            <a:off x="750278" y="1101969"/>
            <a:ext cx="10843845" cy="1477328"/>
          </a:xfrm>
          <a:prstGeom prst="rect">
            <a:avLst/>
          </a:prstGeom>
          <a:noFill/>
        </p:spPr>
        <p:txBody>
          <a:bodyPr wrap="square" rtlCol="0">
            <a:spAutoFit/>
          </a:bodyPr>
          <a:lstStyle/>
          <a:p>
            <a:pPr marL="285750" indent="-285750">
              <a:buFont typeface="Arial" panose="020B0604020202020204" pitchFamily="34" charset="0"/>
              <a:buChar char="•"/>
            </a:pPr>
            <a:r>
              <a:rPr lang="en-US" dirty="0">
                <a:solidFill>
                  <a:schemeClr val="bg2">
                    <a:lumMod val="25000"/>
                  </a:schemeClr>
                </a:solidFill>
                <a:latin typeface="Perpetua" panose="02020502060401020303" pitchFamily="18" charset="77"/>
              </a:rPr>
              <a:t>100 menus</a:t>
            </a:r>
          </a:p>
          <a:p>
            <a:pPr marL="285750" indent="-285750">
              <a:buFont typeface="Arial" panose="020B0604020202020204" pitchFamily="34" charset="0"/>
              <a:buChar char="•"/>
            </a:pPr>
            <a:r>
              <a:rPr lang="en-US" dirty="0">
                <a:solidFill>
                  <a:schemeClr val="bg2">
                    <a:lumMod val="25000"/>
                  </a:schemeClr>
                </a:solidFill>
                <a:latin typeface="Perpetua" panose="02020502060401020303" pitchFamily="18" charset="77"/>
              </a:rPr>
              <a:t>10 </a:t>
            </a:r>
            <a:r>
              <a:rPr lang="en-US" dirty="0" err="1">
                <a:solidFill>
                  <a:schemeClr val="bg2">
                    <a:lumMod val="25000"/>
                  </a:schemeClr>
                </a:solidFill>
                <a:latin typeface="Perpetua" panose="02020502060401020303" pitchFamily="18" charset="77"/>
              </a:rPr>
              <a:t>numero</a:t>
            </a:r>
            <a:r>
              <a:rPr lang="en-US" dirty="0">
                <a:solidFill>
                  <a:schemeClr val="bg2">
                    <a:lumMod val="25000"/>
                  </a:schemeClr>
                </a:solidFill>
                <a:latin typeface="Perpetua" panose="02020502060401020303" pitchFamily="18" charset="77"/>
              </a:rPr>
              <a:t> de tables</a:t>
            </a:r>
          </a:p>
          <a:p>
            <a:pPr marL="285750" indent="-285750">
              <a:buFont typeface="Arial" panose="020B0604020202020204" pitchFamily="34" charset="0"/>
              <a:buChar char="•"/>
            </a:pPr>
            <a:r>
              <a:rPr lang="en-US" dirty="0">
                <a:solidFill>
                  <a:schemeClr val="bg2">
                    <a:lumMod val="25000"/>
                  </a:schemeClr>
                </a:solidFill>
                <a:latin typeface="Perpetua" panose="02020502060401020303" pitchFamily="18" charset="77"/>
              </a:rPr>
              <a:t>100 place cards – wax seal </a:t>
            </a:r>
            <a:r>
              <a:rPr lang="en-US" dirty="0" err="1">
                <a:solidFill>
                  <a:schemeClr val="bg2">
                    <a:lumMod val="25000"/>
                  </a:schemeClr>
                </a:solidFill>
                <a:latin typeface="Perpetua" panose="02020502060401020303" pitchFamily="18" charset="77"/>
              </a:rPr>
              <a:t>personnalisé</a:t>
            </a:r>
            <a:endParaRPr lang="en-US" dirty="0">
              <a:solidFill>
                <a:schemeClr val="bg2">
                  <a:lumMod val="25000"/>
                </a:schemeClr>
              </a:solidFill>
              <a:latin typeface="Perpetua" panose="02020502060401020303" pitchFamily="18" charset="77"/>
            </a:endParaRPr>
          </a:p>
          <a:p>
            <a:pPr marL="285750" indent="-285750">
              <a:buFont typeface="Arial" panose="020B0604020202020204" pitchFamily="34" charset="0"/>
              <a:buChar char="•"/>
            </a:pPr>
            <a:r>
              <a:rPr lang="en-US" dirty="0">
                <a:solidFill>
                  <a:schemeClr val="bg2">
                    <a:lumMod val="25000"/>
                  </a:schemeClr>
                </a:solidFill>
                <a:latin typeface="Perpetua" panose="02020502060401020303" pitchFamily="18" charset="77"/>
              </a:rPr>
              <a:t>Seating Chart </a:t>
            </a:r>
          </a:p>
          <a:p>
            <a:pPr marL="285750" indent="-285750">
              <a:buFont typeface="Arial" panose="020B0604020202020204" pitchFamily="34" charset="0"/>
              <a:buChar char="•"/>
            </a:pPr>
            <a:r>
              <a:rPr lang="en-US" dirty="0">
                <a:solidFill>
                  <a:schemeClr val="bg2">
                    <a:lumMod val="25000"/>
                  </a:schemeClr>
                </a:solidFill>
                <a:latin typeface="Perpetua" panose="02020502060401020303" pitchFamily="18" charset="77"/>
              </a:rPr>
              <a:t>1 welcome sign (pas </a:t>
            </a:r>
            <a:r>
              <a:rPr lang="en-US" dirty="0" err="1">
                <a:solidFill>
                  <a:schemeClr val="bg2">
                    <a:lumMod val="25000"/>
                  </a:schemeClr>
                </a:solidFill>
                <a:latin typeface="Perpetua" panose="02020502060401020303" pitchFamily="18" charset="77"/>
              </a:rPr>
              <a:t>besoin</a:t>
            </a:r>
            <a:r>
              <a:rPr lang="en-US" dirty="0">
                <a:solidFill>
                  <a:schemeClr val="bg2">
                    <a:lumMod val="25000"/>
                  </a:schemeClr>
                </a:solidFill>
                <a:latin typeface="Perpetua" panose="02020502060401020303" pitchFamily="18" charset="77"/>
              </a:rPr>
              <a:t> de fleurs, </a:t>
            </a:r>
            <a:r>
              <a:rPr lang="en-US" dirty="0" err="1">
                <a:solidFill>
                  <a:schemeClr val="bg2">
                    <a:lumMod val="25000"/>
                  </a:schemeClr>
                </a:solidFill>
                <a:latin typeface="Perpetua" panose="02020502060401020303" pitchFamily="18" charset="77"/>
              </a:rPr>
              <a:t>mais</a:t>
            </a:r>
            <a:r>
              <a:rPr lang="en-US" dirty="0">
                <a:solidFill>
                  <a:schemeClr val="bg2">
                    <a:lumMod val="25000"/>
                  </a:schemeClr>
                </a:solidFill>
                <a:latin typeface="Perpetua" panose="02020502060401020303" pitchFamily="18" charset="77"/>
              </a:rPr>
              <a:t> </a:t>
            </a:r>
            <a:r>
              <a:rPr lang="en-US" dirty="0" err="1">
                <a:solidFill>
                  <a:schemeClr val="bg2">
                    <a:lumMod val="25000"/>
                  </a:schemeClr>
                </a:solidFill>
                <a:latin typeface="Perpetua" panose="02020502060401020303" pitchFamily="18" charset="77"/>
              </a:rPr>
              <a:t>besoin</a:t>
            </a:r>
            <a:r>
              <a:rPr lang="en-US" dirty="0">
                <a:solidFill>
                  <a:schemeClr val="bg2">
                    <a:lumMod val="25000"/>
                  </a:schemeClr>
                </a:solidFill>
                <a:latin typeface="Perpetua" panose="02020502060401020303" pitchFamily="18" charset="77"/>
              </a:rPr>
              <a:t> des 2 petites structures blanches de </a:t>
            </a:r>
            <a:r>
              <a:rPr lang="en-US" dirty="0" err="1">
                <a:solidFill>
                  <a:schemeClr val="bg2">
                    <a:lumMod val="25000"/>
                  </a:schemeClr>
                </a:solidFill>
                <a:latin typeface="Perpetua" panose="02020502060401020303" pitchFamily="18" charset="77"/>
              </a:rPr>
              <a:t>chaque</a:t>
            </a:r>
            <a:r>
              <a:rPr lang="en-US" dirty="0">
                <a:solidFill>
                  <a:schemeClr val="bg2">
                    <a:lumMod val="25000"/>
                  </a:schemeClr>
                </a:solidFill>
                <a:latin typeface="Perpetua" panose="02020502060401020303" pitchFamily="18" charset="77"/>
              </a:rPr>
              <a:t> </a:t>
            </a:r>
            <a:r>
              <a:rPr lang="en-US" dirty="0" err="1">
                <a:solidFill>
                  <a:schemeClr val="bg2">
                    <a:lumMod val="25000"/>
                  </a:schemeClr>
                </a:solidFill>
                <a:latin typeface="Perpetua" panose="02020502060401020303" pitchFamily="18" charset="77"/>
              </a:rPr>
              <a:t>coté</a:t>
            </a:r>
            <a:r>
              <a:rPr lang="en-US" dirty="0"/>
              <a:t>)</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19624</TotalTime>
  <Words>526</Words>
  <Application>Microsoft Macintosh PowerPoint</Application>
  <PresentationFormat>Widescreen</PresentationFormat>
  <Paragraphs>45</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Perpetua</vt:lpstr>
      <vt:lpstr>Office 2013 - 2022 Theme</vt:lpstr>
      <vt:lpstr>GUILHERME &amp; TIAGO’S WEDDING</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114</cp:revision>
  <dcterms:created xsi:type="dcterms:W3CDTF">2020-01-16T20:29:49Z</dcterms:created>
  <dcterms:modified xsi:type="dcterms:W3CDTF">2026-04-17T18:31:49Z</dcterms:modified>
</cp:coreProperties>
</file>