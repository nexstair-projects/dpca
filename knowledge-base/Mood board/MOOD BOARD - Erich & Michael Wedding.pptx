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22" r:id="rId1"/>
  </p:sldMasterIdLst>
  <p:notesMasterIdLst>
    <p:notesMasterId r:id="rId28"/>
  </p:notesMasterIdLst>
  <p:sldIdLst>
    <p:sldId id="256" r:id="rId2"/>
    <p:sldId id="378" r:id="rId3"/>
    <p:sldId id="258" r:id="rId4"/>
    <p:sldId id="383" r:id="rId5"/>
    <p:sldId id="265" r:id="rId6"/>
    <p:sldId id="307" r:id="rId7"/>
    <p:sldId id="337" r:id="rId8"/>
    <p:sldId id="368" r:id="rId9"/>
    <p:sldId id="366" r:id="rId10"/>
    <p:sldId id="386" r:id="rId11"/>
    <p:sldId id="387" r:id="rId12"/>
    <p:sldId id="388" r:id="rId13"/>
    <p:sldId id="385" r:id="rId14"/>
    <p:sldId id="370" r:id="rId15"/>
    <p:sldId id="361" r:id="rId16"/>
    <p:sldId id="345" r:id="rId17"/>
    <p:sldId id="410" r:id="rId18"/>
    <p:sldId id="350" r:id="rId19"/>
    <p:sldId id="363" r:id="rId20"/>
    <p:sldId id="364" r:id="rId21"/>
    <p:sldId id="406" r:id="rId22"/>
    <p:sldId id="407" r:id="rId23"/>
    <p:sldId id="408" r:id="rId24"/>
    <p:sldId id="409" r:id="rId25"/>
    <p:sldId id="290" r:id="rId26"/>
    <p:sldId id="329" r:id="rId2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6EE"/>
    <a:srgbClr val="FEF1FF"/>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6238"/>
    <p:restoredTop sz="93133"/>
  </p:normalViewPr>
  <p:slideViewPr>
    <p:cSldViewPr snapToGrid="0" snapToObjects="1">
      <p:cViewPr varScale="1">
        <p:scale>
          <a:sx n="104" d="100"/>
          <a:sy n="104" d="100"/>
        </p:scale>
        <p:origin x="240" y="38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4AE4590-D35A-8142-86AA-90D125960F78}" type="datetimeFigureOut">
              <a:rPr lang="fr-FR" smtClean="0"/>
              <a:t>25/03/2026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D7486C1-5F9D-AA45-B7ED-A387EFD3B1ED}" type="slidenum">
              <a:rPr lang="fr-FR" smtClean="0"/>
              <a:t>‹#›</a:t>
            </a:fld>
            <a:endParaRPr lang="fr-FR"/>
          </a:p>
        </p:txBody>
      </p:sp>
    </p:spTree>
    <p:extLst>
      <p:ext uri="{BB962C8B-B14F-4D97-AF65-F5344CB8AC3E}">
        <p14:creationId xmlns:p14="http://schemas.microsoft.com/office/powerpoint/2010/main" val="362582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7486C1-5F9D-AA45-B7ED-A387EFD3B1ED}" type="slidenum">
              <a:rPr lang="fr-FR" smtClean="0"/>
              <a:t>5</a:t>
            </a:fld>
            <a:endParaRPr lang="fr-FR"/>
          </a:p>
        </p:txBody>
      </p:sp>
    </p:spTree>
    <p:extLst>
      <p:ext uri="{BB962C8B-B14F-4D97-AF65-F5344CB8AC3E}">
        <p14:creationId xmlns:p14="http://schemas.microsoft.com/office/powerpoint/2010/main" val="5095259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0D7486C1-5F9D-AA45-B7ED-A387EFD3B1ED}" type="slidenum">
              <a:rPr lang="fr-FR" smtClean="0"/>
              <a:t>6</a:t>
            </a:fld>
            <a:endParaRPr lang="fr-FR"/>
          </a:p>
        </p:txBody>
      </p:sp>
    </p:spTree>
    <p:extLst>
      <p:ext uri="{BB962C8B-B14F-4D97-AF65-F5344CB8AC3E}">
        <p14:creationId xmlns:p14="http://schemas.microsoft.com/office/powerpoint/2010/main" val="31689439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7486C1-5F9D-AA45-B7ED-A387EFD3B1ED}" type="slidenum">
              <a:rPr lang="fr-FR" smtClean="0"/>
              <a:t>18</a:t>
            </a:fld>
            <a:endParaRPr lang="fr-FR"/>
          </a:p>
        </p:txBody>
      </p:sp>
    </p:spTree>
    <p:extLst>
      <p:ext uri="{BB962C8B-B14F-4D97-AF65-F5344CB8AC3E}">
        <p14:creationId xmlns:p14="http://schemas.microsoft.com/office/powerpoint/2010/main" val="27906203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E" dirty="0"/>
          </a:p>
        </p:txBody>
      </p:sp>
      <p:sp>
        <p:nvSpPr>
          <p:cNvPr id="4" name="Slide Number Placeholder 3"/>
          <p:cNvSpPr>
            <a:spLocks noGrp="1"/>
          </p:cNvSpPr>
          <p:nvPr>
            <p:ph type="sldNum" sz="quarter" idx="5"/>
          </p:nvPr>
        </p:nvSpPr>
        <p:spPr/>
        <p:txBody>
          <a:bodyPr/>
          <a:lstStyle/>
          <a:p>
            <a:fld id="{0D7486C1-5F9D-AA45-B7ED-A387EFD3B1ED}" type="slidenum">
              <a:rPr lang="fr-FR" smtClean="0"/>
              <a:t>24</a:t>
            </a:fld>
            <a:endParaRPr lang="fr-FR"/>
          </a:p>
        </p:txBody>
      </p:sp>
    </p:spTree>
    <p:extLst>
      <p:ext uri="{BB962C8B-B14F-4D97-AF65-F5344CB8AC3E}">
        <p14:creationId xmlns:p14="http://schemas.microsoft.com/office/powerpoint/2010/main" val="408814210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D7486C1-5F9D-AA45-B7ED-A387EFD3B1ED}" type="slidenum">
              <a:rPr lang="fr-FR" smtClean="0"/>
              <a:t>26</a:t>
            </a:fld>
            <a:endParaRPr lang="fr-FR"/>
          </a:p>
        </p:txBody>
      </p:sp>
    </p:spTree>
    <p:extLst>
      <p:ext uri="{BB962C8B-B14F-4D97-AF65-F5344CB8AC3E}">
        <p14:creationId xmlns:p14="http://schemas.microsoft.com/office/powerpoint/2010/main" val="3765020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5001493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42449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843785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99999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010121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9233353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2628947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022443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462637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654217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3/25/26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7756752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3/25/26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148445094"/>
      </p:ext>
    </p:extLst>
  </p:cSld>
  <p:clrMap bg1="lt1" tx1="dk1" bg2="lt2" tx2="dk2" accent1="accent1" accent2="accent2" accent3="accent3" accent4="accent4" accent5="accent5" accent6="accent6" hlink="hlink" folHlink="folHlink"/>
  <p:sldLayoutIdLst>
    <p:sldLayoutId id="2147484023" r:id="rId1"/>
    <p:sldLayoutId id="2147484024" r:id="rId2"/>
    <p:sldLayoutId id="2147484025" r:id="rId3"/>
    <p:sldLayoutId id="2147484026" r:id="rId4"/>
    <p:sldLayoutId id="2147484027" r:id="rId5"/>
    <p:sldLayoutId id="2147484028" r:id="rId6"/>
    <p:sldLayoutId id="2147484029" r:id="rId7"/>
    <p:sldLayoutId id="2147484030" r:id="rId8"/>
    <p:sldLayoutId id="2147484031" r:id="rId9"/>
    <p:sldLayoutId id="2147484032" r:id="rId10"/>
    <p:sldLayoutId id="214748403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jpg"/><Relationship Id="rId4" Type="http://schemas.openxmlformats.org/officeDocument/2006/relationships/image" Target="../media/image4.jpg"/></Relationships>
</file>

<file path=ppt/slides/_rels/slide6.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7.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ctrTitle"/>
          </p:nvPr>
        </p:nvSpPr>
        <p:spPr>
          <a:xfrm>
            <a:off x="1524000" y="-71437"/>
            <a:ext cx="9144000" cy="2387600"/>
          </a:xfrm>
        </p:spPr>
        <p:txBody>
          <a:bodyPr/>
          <a:lstStyle/>
          <a:p>
            <a:r>
              <a:rPr lang="fr-FR" dirty="0">
                <a:solidFill>
                  <a:schemeClr val="bg2">
                    <a:lumMod val="50000"/>
                  </a:schemeClr>
                </a:solidFill>
                <a:latin typeface="Perpetua" panose="02020502060401020303" pitchFamily="18" charset="77"/>
              </a:rPr>
              <a:t>ERICH &amp; MICHAEL’S</a:t>
            </a:r>
            <a:br>
              <a:rPr lang="fr-FR" dirty="0">
                <a:solidFill>
                  <a:schemeClr val="bg2">
                    <a:lumMod val="50000"/>
                  </a:schemeClr>
                </a:solidFill>
                <a:latin typeface="Perpetua" panose="02020502060401020303" pitchFamily="18" charset="77"/>
              </a:rPr>
            </a:br>
            <a:r>
              <a:rPr lang="fr-FR" dirty="0">
                <a:solidFill>
                  <a:schemeClr val="bg2">
                    <a:lumMod val="50000"/>
                  </a:schemeClr>
                </a:solidFill>
                <a:latin typeface="Perpetua" panose="02020502060401020303" pitchFamily="18" charset="77"/>
              </a:rPr>
              <a:t>WEDDING</a:t>
            </a:r>
          </a:p>
        </p:txBody>
      </p:sp>
      <p:sp>
        <p:nvSpPr>
          <p:cNvPr id="3" name="Sous-titre 2"/>
          <p:cNvSpPr>
            <a:spLocks noGrp="1"/>
          </p:cNvSpPr>
          <p:nvPr>
            <p:ph type="subTitle" idx="1"/>
          </p:nvPr>
        </p:nvSpPr>
        <p:spPr>
          <a:xfrm>
            <a:off x="478138" y="3429000"/>
            <a:ext cx="10807323" cy="3419474"/>
          </a:xfrm>
        </p:spPr>
        <p:txBody>
          <a:bodyPr>
            <a:normAutofit/>
          </a:bodyPr>
          <a:lstStyle/>
          <a:p>
            <a:r>
              <a:rPr lang="fr-FR" dirty="0">
                <a:solidFill>
                  <a:schemeClr val="bg2">
                    <a:lumMod val="50000"/>
                  </a:schemeClr>
                </a:solidFill>
                <a:latin typeface="Perpetua" panose="02020502060401020303" pitchFamily="18" charset="77"/>
                <a:ea typeface="Perpetua" charset="0"/>
                <a:cs typeface="Perpetua" charset="0"/>
              </a:rPr>
              <a:t>MAY 23RD, 2026</a:t>
            </a:r>
          </a:p>
          <a:p>
            <a:r>
              <a:rPr lang="fr-FR" dirty="0">
                <a:solidFill>
                  <a:schemeClr val="bg2">
                    <a:lumMod val="50000"/>
                  </a:schemeClr>
                </a:solidFill>
                <a:latin typeface="Perpetua" panose="02020502060401020303" pitchFamily="18" charset="77"/>
                <a:ea typeface="Perpetua" charset="0"/>
                <a:cs typeface="Perpetua" charset="0"/>
              </a:rPr>
              <a:t>100 GUESTS</a:t>
            </a:r>
          </a:p>
          <a:p>
            <a:r>
              <a:rPr lang="fr-FR" dirty="0">
                <a:solidFill>
                  <a:schemeClr val="bg2">
                    <a:lumMod val="50000"/>
                  </a:schemeClr>
                </a:solidFill>
                <a:latin typeface="Perpetua" panose="02020502060401020303" pitchFamily="18" charset="77"/>
                <a:ea typeface="Perpetua" charset="0"/>
                <a:cs typeface="Perpetua" charset="0"/>
              </a:rPr>
              <a:t>CHÂTEAU DE SAINT-MARTIN DU TERTRE</a:t>
            </a:r>
          </a:p>
          <a:p>
            <a:endParaRPr lang="fr-FR" sz="1200" dirty="0">
              <a:solidFill>
                <a:schemeClr val="bg2">
                  <a:lumMod val="50000"/>
                </a:schemeClr>
              </a:solidFill>
              <a:latin typeface="Perpetua" panose="02020502060401020303" pitchFamily="18" charset="77"/>
            </a:endParaRPr>
          </a:p>
          <a:p>
            <a:r>
              <a:rPr lang="fr-FR" sz="2800" dirty="0">
                <a:solidFill>
                  <a:schemeClr val="bg2">
                    <a:lumMod val="50000"/>
                  </a:schemeClr>
                </a:solidFill>
                <a:latin typeface="Perpetua" panose="02020502060401020303" pitchFamily="18" charset="77"/>
              </a:rPr>
              <a:t>WEDDING MOOD BOARD</a:t>
            </a:r>
          </a:p>
          <a:p>
            <a:endParaRPr lang="fr-FR" dirty="0"/>
          </a:p>
        </p:txBody>
      </p:sp>
    </p:spTree>
    <p:extLst>
      <p:ext uri="{BB962C8B-B14F-4D97-AF65-F5344CB8AC3E}">
        <p14:creationId xmlns:p14="http://schemas.microsoft.com/office/powerpoint/2010/main" val="12388018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5825F492-105E-E0D9-6CCE-2D71240C594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85BE95AB-5C88-4B29-CD3D-306C617B3063}"/>
              </a:ext>
            </a:extLst>
          </p:cNvPr>
          <p:cNvSpPr>
            <a:spLocks noGrp="1"/>
          </p:cNvSpPr>
          <p:nvPr>
            <p:ph type="ctrTitle"/>
          </p:nvPr>
        </p:nvSpPr>
        <p:spPr>
          <a:xfrm>
            <a:off x="1523999" y="-228355"/>
            <a:ext cx="9144000" cy="1482725"/>
          </a:xfrm>
        </p:spPr>
        <p:txBody>
          <a:bodyPr/>
          <a:lstStyle/>
          <a:p>
            <a:r>
              <a:rPr lang="fr-FR" dirty="0">
                <a:solidFill>
                  <a:schemeClr val="bg2">
                    <a:lumMod val="50000"/>
                  </a:schemeClr>
                </a:solidFill>
                <a:latin typeface="Perpetua" panose="02020502060401020303" pitchFamily="18" charset="77"/>
              </a:rPr>
              <a:t>COLOR PALETTE</a:t>
            </a:r>
          </a:p>
        </p:txBody>
      </p:sp>
      <p:sp>
        <p:nvSpPr>
          <p:cNvPr id="3" name="Sous-titre 2">
            <a:extLst>
              <a:ext uri="{FF2B5EF4-FFF2-40B4-BE49-F238E27FC236}">
                <a16:creationId xmlns:a16="http://schemas.microsoft.com/office/drawing/2014/main" id="{DF1D652F-6489-69DF-0620-175C6914946E}"/>
              </a:ext>
            </a:extLst>
          </p:cNvPr>
          <p:cNvSpPr>
            <a:spLocks noGrp="1"/>
          </p:cNvSpPr>
          <p:nvPr>
            <p:ph type="subTitle" idx="1"/>
          </p:nvPr>
        </p:nvSpPr>
        <p:spPr>
          <a:xfrm>
            <a:off x="366607" y="2232409"/>
            <a:ext cx="11458783" cy="3083536"/>
          </a:xfrm>
        </p:spPr>
        <p:txBody>
          <a:bodyPr>
            <a:normAutofit/>
          </a:bodyPr>
          <a:lstStyle/>
          <a:p>
            <a:endParaRPr lang="fr-FR" sz="2000" dirty="0">
              <a:solidFill>
                <a:schemeClr val="bg2">
                  <a:lumMod val="50000"/>
                </a:schemeClr>
              </a:solidFill>
              <a:latin typeface="Perpetua" panose="02020502060401020303" pitchFamily="18" charset="77"/>
              <a:ea typeface="Perpetua" charset="0"/>
              <a:cs typeface="Perpetua" charset="0"/>
            </a:endParaRPr>
          </a:p>
          <a:p>
            <a:r>
              <a:rPr lang="fr-FR" sz="2000" u="sng" dirty="0">
                <a:solidFill>
                  <a:schemeClr val="bg2">
                    <a:lumMod val="50000"/>
                  </a:schemeClr>
                </a:solidFill>
                <a:latin typeface="Perpetua" panose="02020502060401020303" pitchFamily="18" charset="77"/>
                <a:ea typeface="Perpetua" charset="0"/>
                <a:cs typeface="Perpetua" charset="0"/>
              </a:rPr>
              <a:t>MAY 23RD, 2026: </a:t>
            </a:r>
          </a:p>
          <a:p>
            <a:r>
              <a:rPr lang="fr-FR" sz="1800" b="1" dirty="0">
                <a:solidFill>
                  <a:schemeClr val="bg2">
                    <a:lumMod val="50000"/>
                  </a:schemeClr>
                </a:solidFill>
                <a:latin typeface="Perpetua" panose="02020502060401020303" pitchFamily="18" charset="77"/>
                <a:ea typeface="Perpetua" charset="0"/>
                <a:cs typeface="Perpetua" charset="0"/>
              </a:rPr>
              <a:t>CEREMONY: </a:t>
            </a:r>
            <a:r>
              <a:rPr lang="fr-FR" sz="1800" dirty="0">
                <a:solidFill>
                  <a:schemeClr val="bg2">
                    <a:lumMod val="50000"/>
                  </a:schemeClr>
                </a:solidFill>
                <a:latin typeface="Perpetua" panose="02020502060401020303" pitchFamily="18" charset="77"/>
                <a:ea typeface="Perpetua" charset="0"/>
                <a:cs typeface="Perpetua" charset="0"/>
              </a:rPr>
              <a:t>WHITE/GREENERY</a:t>
            </a:r>
          </a:p>
          <a:p>
            <a:r>
              <a:rPr lang="fr-FR" sz="1800" b="1" dirty="0">
                <a:solidFill>
                  <a:schemeClr val="bg2">
                    <a:lumMod val="50000"/>
                  </a:schemeClr>
                </a:solidFill>
                <a:latin typeface="Perpetua" panose="02020502060401020303" pitchFamily="18" charset="77"/>
                <a:ea typeface="Perpetua" charset="0"/>
                <a:cs typeface="Perpetua" charset="0"/>
              </a:rPr>
              <a:t>COCKTAIL &amp; RECEPTION/DINNER: </a:t>
            </a:r>
            <a:r>
              <a:rPr lang="fr-FR" sz="1800" dirty="0">
                <a:solidFill>
                  <a:schemeClr val="bg2">
                    <a:lumMod val="50000"/>
                  </a:schemeClr>
                </a:solidFill>
                <a:latin typeface="Perpetua" panose="02020502060401020303" pitchFamily="18" charset="77"/>
                <a:ea typeface="Perpetua" charset="0"/>
                <a:cs typeface="Perpetua" charset="0"/>
              </a:rPr>
              <a:t>WHITE/GREENERY</a:t>
            </a:r>
          </a:p>
          <a:p>
            <a:r>
              <a:rPr lang="fr-FR" sz="1800" b="1" dirty="0">
                <a:solidFill>
                  <a:schemeClr val="bg2">
                    <a:lumMod val="50000"/>
                  </a:schemeClr>
                </a:solidFill>
                <a:latin typeface="Perpetua" panose="02020502060401020303" pitchFamily="18" charset="77"/>
                <a:ea typeface="Perpetua" charset="0"/>
                <a:cs typeface="Perpetua" charset="0"/>
              </a:rPr>
              <a:t>WELCOME PARTY: </a:t>
            </a:r>
            <a:r>
              <a:rPr lang="fr-FR" sz="1800" dirty="0">
                <a:solidFill>
                  <a:schemeClr val="bg2">
                    <a:lumMod val="50000"/>
                  </a:schemeClr>
                </a:solidFill>
                <a:latin typeface="Perpetua" panose="02020502060401020303" pitchFamily="18" charset="77"/>
                <a:ea typeface="Perpetua" charset="0"/>
                <a:cs typeface="Perpetua" charset="0"/>
              </a:rPr>
              <a:t>WHITE/GREENERY</a:t>
            </a:r>
          </a:p>
          <a:p>
            <a:r>
              <a:rPr lang="en-US" sz="1800" b="1" dirty="0">
                <a:solidFill>
                  <a:schemeClr val="bg2">
                    <a:lumMod val="50000"/>
                  </a:schemeClr>
                </a:solidFill>
                <a:latin typeface="Perpetua" panose="02020502060401020303" pitchFamily="18" charset="77"/>
              </a:rPr>
              <a:t>BRUNCH: </a:t>
            </a:r>
            <a:r>
              <a:rPr lang="fr-FR" sz="1800" dirty="0">
                <a:solidFill>
                  <a:schemeClr val="bg2">
                    <a:lumMod val="50000"/>
                  </a:schemeClr>
                </a:solidFill>
                <a:latin typeface="Perpetua" panose="02020502060401020303" pitchFamily="18" charset="77"/>
                <a:ea typeface="Perpetua" charset="0"/>
                <a:cs typeface="Perpetua" charset="0"/>
              </a:rPr>
              <a:t>WHITE</a:t>
            </a:r>
          </a:p>
        </p:txBody>
      </p:sp>
    </p:spTree>
    <p:extLst>
      <p:ext uri="{BB962C8B-B14F-4D97-AF65-F5344CB8AC3E}">
        <p14:creationId xmlns:p14="http://schemas.microsoft.com/office/powerpoint/2010/main" val="70330993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621816" y="961947"/>
            <a:ext cx="3686174" cy="1322888"/>
          </a:xfrm>
        </p:spPr>
        <p:txBody>
          <a:bodyPr>
            <a:normAutofit/>
          </a:bodyPr>
          <a:lstStyle/>
          <a:p>
            <a:r>
              <a:rPr lang="fr-FR" sz="3200" dirty="0">
                <a:solidFill>
                  <a:schemeClr val="bg2">
                    <a:lumMod val="50000"/>
                  </a:schemeClr>
                </a:solidFill>
                <a:latin typeface="Perpetua" panose="02020502060401020303" pitchFamily="18" charset="77"/>
              </a:rPr>
              <a:t>CEREMONY DECOR </a:t>
            </a:r>
            <a:br>
              <a:rPr lang="fr-FR" sz="2400" i="1" dirty="0">
                <a:latin typeface="Perpetua" panose="02020502060401020303" pitchFamily="18" charset="77"/>
              </a:rPr>
            </a:br>
            <a:br>
              <a:rPr lang="fr-FR" sz="2400" dirty="0">
                <a:latin typeface="Perpetua" panose="02020502060401020303" pitchFamily="18" charset="77"/>
              </a:rPr>
            </a:br>
            <a:endParaRPr lang="fr-FR" sz="2400" b="1" i="1" dirty="0">
              <a:latin typeface="Perpetua" panose="02020502060401020303" pitchFamily="18" charset="77"/>
            </a:endParaRPr>
          </a:p>
        </p:txBody>
      </p:sp>
      <p:sp>
        <p:nvSpPr>
          <p:cNvPr id="10" name="Content Placeholder 9">
            <a:extLst>
              <a:ext uri="{FF2B5EF4-FFF2-40B4-BE49-F238E27FC236}">
                <a16:creationId xmlns:a16="http://schemas.microsoft.com/office/drawing/2014/main" id="{54886570-2773-479B-B710-D0ADE12BEB19}"/>
              </a:ext>
            </a:extLst>
          </p:cNvPr>
          <p:cNvSpPr>
            <a:spLocks noGrp="1"/>
          </p:cNvSpPr>
          <p:nvPr>
            <p:ph idx="1"/>
          </p:nvPr>
        </p:nvSpPr>
        <p:spPr>
          <a:xfrm>
            <a:off x="346158" y="3256407"/>
            <a:ext cx="4237490" cy="1175730"/>
          </a:xfrm>
        </p:spPr>
        <p:txBody>
          <a:bodyPr>
            <a:normAutofit/>
          </a:bodyPr>
          <a:lstStyle/>
          <a:p>
            <a:pPr marL="0" indent="0" algn="ctr">
              <a:buNone/>
            </a:pPr>
            <a:r>
              <a:rPr lang="en-US" sz="2400" dirty="0">
                <a:solidFill>
                  <a:schemeClr val="bg2">
                    <a:lumMod val="50000"/>
                  </a:schemeClr>
                </a:solidFill>
                <a:latin typeface="Perpetua" panose="02020502060401020303" pitchFamily="18" charset="77"/>
              </a:rPr>
              <a:t>The ceremony will take place at Château de Saint-Martin du </a:t>
            </a:r>
            <a:r>
              <a:rPr lang="en-US" sz="2400" dirty="0" err="1">
                <a:solidFill>
                  <a:schemeClr val="bg2">
                    <a:lumMod val="50000"/>
                  </a:schemeClr>
                </a:solidFill>
                <a:latin typeface="Perpetua" panose="02020502060401020303" pitchFamily="18" charset="77"/>
              </a:rPr>
              <a:t>Tertre</a:t>
            </a:r>
            <a:endParaRPr lang="en-US" sz="2400" dirty="0">
              <a:solidFill>
                <a:schemeClr val="bg2">
                  <a:lumMod val="50000"/>
                </a:schemeClr>
              </a:solidFill>
              <a:latin typeface="Perpetua" panose="02020502060401020303" pitchFamily="18" charset="77"/>
            </a:endParaRPr>
          </a:p>
          <a:p>
            <a:pPr>
              <a:buNone/>
            </a:pPr>
            <a:endParaRPr lang="en-US" sz="1800" dirty="0">
              <a:solidFill>
                <a:schemeClr val="bg2">
                  <a:lumMod val="50000"/>
                </a:schemeClr>
              </a:solidFill>
              <a:latin typeface="Perpetua" panose="02020502060401020303" pitchFamily="18" charset="77"/>
            </a:endParaRPr>
          </a:p>
          <a:p>
            <a:pPr>
              <a:buNone/>
            </a:pPr>
            <a:endParaRPr lang="en-US" sz="1800" dirty="0">
              <a:solidFill>
                <a:schemeClr val="bg2">
                  <a:lumMod val="50000"/>
                </a:schemeClr>
              </a:solidFill>
              <a:latin typeface="Perpetua" panose="02020502060401020303" pitchFamily="18" charset="77"/>
            </a:endParaRPr>
          </a:p>
        </p:txBody>
      </p:sp>
      <p:pic>
        <p:nvPicPr>
          <p:cNvPr id="4" name="Picture 3" descr="A large building with lights on&#10;&#10;AI-generated content may be incorrect.">
            <a:extLst>
              <a:ext uri="{FF2B5EF4-FFF2-40B4-BE49-F238E27FC236}">
                <a16:creationId xmlns:a16="http://schemas.microsoft.com/office/drawing/2014/main" id="{D4E8AF83-1195-2D51-EDA2-83A208277FDE}"/>
              </a:ext>
            </a:extLst>
          </p:cNvPr>
          <p:cNvPicPr>
            <a:picLocks noChangeAspect="1"/>
          </p:cNvPicPr>
          <p:nvPr/>
        </p:nvPicPr>
        <p:blipFill>
          <a:blip r:embed="rId2"/>
          <a:stretch>
            <a:fillRect/>
          </a:stretch>
        </p:blipFill>
        <p:spPr>
          <a:xfrm>
            <a:off x="4980223" y="1677566"/>
            <a:ext cx="6865619" cy="3502867"/>
          </a:xfrm>
          <a:prstGeom prst="rect">
            <a:avLst/>
          </a:prstGeom>
        </p:spPr>
      </p:pic>
    </p:spTree>
    <p:extLst>
      <p:ext uri="{BB962C8B-B14F-4D97-AF65-F5344CB8AC3E}">
        <p14:creationId xmlns:p14="http://schemas.microsoft.com/office/powerpoint/2010/main" val="174183153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3C54D27-C850-ECF9-8290-038F57B8606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B5C3DF00-291C-59D9-3D2F-AA74A39B32C2}"/>
              </a:ext>
            </a:extLst>
          </p:cNvPr>
          <p:cNvSpPr>
            <a:spLocks noGrp="1"/>
          </p:cNvSpPr>
          <p:nvPr>
            <p:ph type="title"/>
          </p:nvPr>
        </p:nvSpPr>
        <p:spPr>
          <a:xfrm>
            <a:off x="1638664" y="530359"/>
            <a:ext cx="3686174" cy="1322888"/>
          </a:xfrm>
        </p:spPr>
        <p:txBody>
          <a:bodyPr>
            <a:normAutofit/>
          </a:bodyPr>
          <a:lstStyle/>
          <a:p>
            <a:pPr algn="ctr"/>
            <a:r>
              <a:rPr lang="fr-FR" sz="3100" dirty="0">
                <a:solidFill>
                  <a:schemeClr val="bg2">
                    <a:lumMod val="50000"/>
                  </a:schemeClr>
                </a:solidFill>
                <a:latin typeface="Perpetua" panose="02020502060401020303" pitchFamily="18" charset="77"/>
              </a:rPr>
              <a:t>ALTAR DECOR </a:t>
            </a:r>
            <a:br>
              <a:rPr lang="fr-FR" sz="2100" i="1" dirty="0">
                <a:latin typeface="Perpetua" panose="02020502060401020303" pitchFamily="18" charset="77"/>
              </a:rPr>
            </a:br>
            <a:br>
              <a:rPr lang="fr-FR" sz="2100" dirty="0">
                <a:latin typeface="Perpetua" panose="02020502060401020303" pitchFamily="18" charset="77"/>
              </a:rPr>
            </a:br>
            <a:endParaRPr lang="fr-FR" sz="2100" b="1" i="1" dirty="0">
              <a:latin typeface="Perpetua" panose="02020502060401020303" pitchFamily="18" charset="77"/>
            </a:endParaRPr>
          </a:p>
        </p:txBody>
      </p:sp>
      <p:sp>
        <p:nvSpPr>
          <p:cNvPr id="10" name="Content Placeholder 9">
            <a:extLst>
              <a:ext uri="{FF2B5EF4-FFF2-40B4-BE49-F238E27FC236}">
                <a16:creationId xmlns:a16="http://schemas.microsoft.com/office/drawing/2014/main" id="{43B354DD-EFF8-EEE9-1D20-2EDAA6E36630}"/>
              </a:ext>
            </a:extLst>
          </p:cNvPr>
          <p:cNvSpPr>
            <a:spLocks noGrp="1"/>
          </p:cNvSpPr>
          <p:nvPr>
            <p:ph idx="1"/>
          </p:nvPr>
        </p:nvSpPr>
        <p:spPr>
          <a:xfrm>
            <a:off x="1116238" y="1853247"/>
            <a:ext cx="4731026" cy="3838194"/>
          </a:xfrm>
        </p:spPr>
        <p:txBody>
          <a:bodyPr>
            <a:normAutofit lnSpcReduction="10000"/>
          </a:bodyPr>
          <a:lstStyle/>
          <a:p>
            <a:r>
              <a:rPr lang="en-US" sz="2200" dirty="0">
                <a:solidFill>
                  <a:schemeClr val="bg2">
                    <a:lumMod val="50000"/>
                  </a:schemeClr>
                </a:solidFill>
                <a:latin typeface="Perpetua" panose="02020502060401020303" pitchFamily="18" charset="77"/>
              </a:rPr>
              <a:t>A white runner will be laid along the aisle, leading to the altar </a:t>
            </a:r>
          </a:p>
          <a:p>
            <a:pPr marL="0" indent="0">
              <a:buNone/>
            </a:pPr>
            <a:endParaRPr lang="en-US" sz="2200" dirty="0">
              <a:solidFill>
                <a:schemeClr val="bg2">
                  <a:lumMod val="50000"/>
                </a:schemeClr>
              </a:solidFill>
              <a:latin typeface="Perpetua" panose="02020502060401020303" pitchFamily="18" charset="77"/>
            </a:endParaRPr>
          </a:p>
          <a:p>
            <a:pPr fontAlgn="base"/>
            <a:r>
              <a:rPr lang="en-US" sz="2200" dirty="0">
                <a:solidFill>
                  <a:schemeClr val="bg2">
                    <a:lumMod val="50000"/>
                  </a:schemeClr>
                </a:solidFill>
                <a:latin typeface="Perpetua" panose="02020502060401020303" pitchFamily="18" charset="77"/>
              </a:rPr>
              <a:t>White floral arrangements will be positioned at the front of the altar on each side, elegantly framing the ceremony space</a:t>
            </a:r>
          </a:p>
          <a:p>
            <a:pPr marL="0" indent="0" fontAlgn="base">
              <a:buNone/>
            </a:pPr>
            <a:endParaRPr lang="en-US" sz="2200" dirty="0">
              <a:solidFill>
                <a:schemeClr val="bg2">
                  <a:lumMod val="50000"/>
                </a:schemeClr>
              </a:solidFill>
              <a:latin typeface="Perpetua" panose="02020502060401020303" pitchFamily="18" charset="77"/>
            </a:endParaRPr>
          </a:p>
          <a:p>
            <a:pPr fontAlgn="base"/>
            <a:r>
              <a:rPr lang="en-US" sz="2200" dirty="0">
                <a:solidFill>
                  <a:schemeClr val="bg2">
                    <a:lumMod val="50000"/>
                  </a:schemeClr>
                </a:solidFill>
                <a:latin typeface="Perpetua" panose="02020502060401020303" pitchFamily="18" charset="77"/>
              </a:rPr>
              <a:t>Guest chairs will be elegantly arranged in alignment with the reference image, creating a harmonious and refined seating layout</a:t>
            </a:r>
          </a:p>
        </p:txBody>
      </p:sp>
      <p:pic>
        <p:nvPicPr>
          <p:cNvPr id="12" name="Picture 11">
            <a:extLst>
              <a:ext uri="{FF2B5EF4-FFF2-40B4-BE49-F238E27FC236}">
                <a16:creationId xmlns:a16="http://schemas.microsoft.com/office/drawing/2014/main" id="{892A865E-3242-FACC-E73E-412114DB5E8E}"/>
              </a:ext>
            </a:extLst>
          </p:cNvPr>
          <p:cNvPicPr>
            <a:picLocks noChangeAspect="1"/>
          </p:cNvPicPr>
          <p:nvPr/>
        </p:nvPicPr>
        <p:blipFill>
          <a:blip r:embed="rId2"/>
          <a:srcRect l="2896" t="433" r="1674" b="9190"/>
          <a:stretch>
            <a:fillRect/>
          </a:stretch>
        </p:blipFill>
        <p:spPr>
          <a:xfrm>
            <a:off x="7482569" y="176934"/>
            <a:ext cx="3864429" cy="6504131"/>
          </a:xfrm>
          <a:prstGeom prst="rect">
            <a:avLst/>
          </a:prstGeom>
        </p:spPr>
      </p:pic>
    </p:spTree>
    <p:extLst>
      <p:ext uri="{BB962C8B-B14F-4D97-AF65-F5344CB8AC3E}">
        <p14:creationId xmlns:p14="http://schemas.microsoft.com/office/powerpoint/2010/main" val="40008109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634717" y="162831"/>
            <a:ext cx="4274607" cy="777054"/>
          </a:xfrm>
        </p:spPr>
        <p:txBody>
          <a:bodyPr anchor="b">
            <a:normAutofit/>
          </a:bodyPr>
          <a:lstStyle/>
          <a:p>
            <a:pPr algn="ctr"/>
            <a:r>
              <a:rPr lang="fr-FR" dirty="0">
                <a:solidFill>
                  <a:schemeClr val="bg2">
                    <a:lumMod val="50000"/>
                  </a:schemeClr>
                </a:solidFill>
                <a:latin typeface="Perpetua" panose="02020502060401020303" pitchFamily="18" charset="77"/>
              </a:rPr>
              <a:t>COCKTAIL </a:t>
            </a:r>
          </a:p>
        </p:txBody>
      </p:sp>
      <p:pic>
        <p:nvPicPr>
          <p:cNvPr id="6" name="Picture 5">
            <a:extLst>
              <a:ext uri="{FF2B5EF4-FFF2-40B4-BE49-F238E27FC236}">
                <a16:creationId xmlns:a16="http://schemas.microsoft.com/office/drawing/2014/main" id="{148177AA-1910-0A6C-CF4E-3AE5056684DE}"/>
              </a:ext>
            </a:extLst>
          </p:cNvPr>
          <p:cNvPicPr>
            <a:picLocks noChangeAspect="1"/>
          </p:cNvPicPr>
          <p:nvPr/>
        </p:nvPicPr>
        <p:blipFill>
          <a:blip r:embed="rId3"/>
          <a:srcRect/>
          <a:stretch/>
        </p:blipFill>
        <p:spPr>
          <a:xfrm>
            <a:off x="5573396" y="782538"/>
            <a:ext cx="3528616" cy="5292924"/>
          </a:xfrm>
          <a:prstGeom prst="rect">
            <a:avLst/>
          </a:prstGeom>
        </p:spPr>
      </p:pic>
      <p:pic>
        <p:nvPicPr>
          <p:cNvPr id="4" name="Picture 3">
            <a:extLst>
              <a:ext uri="{FF2B5EF4-FFF2-40B4-BE49-F238E27FC236}">
                <a16:creationId xmlns:a16="http://schemas.microsoft.com/office/drawing/2014/main" id="{35B94C32-4B36-E760-F3F9-D542AACDEE5E}"/>
              </a:ext>
            </a:extLst>
          </p:cNvPr>
          <p:cNvPicPr>
            <a:picLocks noChangeAspect="1"/>
          </p:cNvPicPr>
          <p:nvPr/>
        </p:nvPicPr>
        <p:blipFill>
          <a:blip r:embed="rId4"/>
          <a:srcRect t="9085" b="9085"/>
          <a:stretch/>
        </p:blipFill>
        <p:spPr>
          <a:xfrm>
            <a:off x="8943517" y="3429000"/>
            <a:ext cx="2622273" cy="3218689"/>
          </a:xfrm>
          <a:prstGeom prst="rect">
            <a:avLst/>
          </a:prstGeom>
        </p:spPr>
      </p:pic>
      <p:sp>
        <p:nvSpPr>
          <p:cNvPr id="5" name="TextBox 4">
            <a:extLst>
              <a:ext uri="{FF2B5EF4-FFF2-40B4-BE49-F238E27FC236}">
                <a16:creationId xmlns:a16="http://schemas.microsoft.com/office/drawing/2014/main" id="{E7561B38-99EA-2083-AF35-2AE30F39508D}"/>
              </a:ext>
            </a:extLst>
          </p:cNvPr>
          <p:cNvSpPr txBox="1"/>
          <p:nvPr/>
        </p:nvSpPr>
        <p:spPr>
          <a:xfrm>
            <a:off x="834622" y="1294166"/>
            <a:ext cx="3874799" cy="5047536"/>
          </a:xfrm>
          <a:prstGeom prst="rect">
            <a:avLst/>
          </a:prstGeom>
          <a:noFill/>
        </p:spPr>
        <p:txBody>
          <a:bodyPr wrap="square" rtlCol="0">
            <a:spAutoFit/>
          </a:bodyPr>
          <a:lstStyle/>
          <a:p>
            <a:pPr marL="342900" indent="-342900">
              <a:buFont typeface="Arial" panose="020B0604020202020204" pitchFamily="34" charset="0"/>
              <a:buChar char="•"/>
            </a:pPr>
            <a:r>
              <a:rPr lang="en-US" sz="2000" dirty="0">
                <a:solidFill>
                  <a:schemeClr val="bg2">
                    <a:lumMod val="50000"/>
                  </a:schemeClr>
                </a:solidFill>
                <a:latin typeface="Perpetua" panose="02020502060401020303" pitchFamily="18" charset="77"/>
              </a:rPr>
              <a:t>A carefully curated arrangement of lounge tables, accented with elegant white drapery, will offer guests an inviting space to unwind</a:t>
            </a:r>
          </a:p>
          <a:p>
            <a:endParaRPr lang="en-US" sz="2000" dirty="0">
              <a:solidFill>
                <a:schemeClr val="bg2">
                  <a:lumMod val="50000"/>
                </a:schemeClr>
              </a:solidFill>
              <a:latin typeface="Perpetua" panose="02020502060401020303" pitchFamily="18" charset="77"/>
            </a:endParaRPr>
          </a:p>
          <a:p>
            <a:pPr marL="342900" indent="-342900">
              <a:buFont typeface="Arial" panose="020B0604020202020204" pitchFamily="34" charset="0"/>
              <a:buChar char="•"/>
            </a:pPr>
            <a:r>
              <a:rPr lang="en-US" sz="2000" dirty="0">
                <a:solidFill>
                  <a:schemeClr val="bg2">
                    <a:lumMod val="50000"/>
                  </a:schemeClr>
                </a:solidFill>
                <a:latin typeface="Perpetua" panose="02020502060401020303" pitchFamily="18" charset="77"/>
              </a:rPr>
              <a:t>Each table will feature delicate white floral arrangements, presented in small crystal vases</a:t>
            </a:r>
          </a:p>
          <a:p>
            <a:endParaRPr lang="en-US" sz="2000" dirty="0">
              <a:solidFill>
                <a:schemeClr val="bg2">
                  <a:lumMod val="50000"/>
                </a:schemeClr>
              </a:solidFill>
              <a:latin typeface="Perpetua" panose="02020502060401020303" pitchFamily="18" charset="77"/>
            </a:endParaRPr>
          </a:p>
          <a:p>
            <a:pPr marL="342900" indent="-342900">
              <a:buFont typeface="Arial" panose="020B0604020202020204" pitchFamily="34" charset="0"/>
              <a:buChar char="•"/>
            </a:pPr>
            <a:r>
              <a:rPr lang="en-US" sz="2000" dirty="0">
                <a:solidFill>
                  <a:schemeClr val="bg2">
                    <a:lumMod val="50000"/>
                  </a:schemeClr>
                </a:solidFill>
                <a:latin typeface="Perpetua" panose="02020502060401020303" pitchFamily="18" charset="77"/>
              </a:rPr>
              <a:t>A champagne pyramid will be set up and available for guests to enjoy</a:t>
            </a:r>
          </a:p>
          <a:p>
            <a:endParaRPr lang="en-US" sz="2000" dirty="0">
              <a:solidFill>
                <a:schemeClr val="bg2">
                  <a:lumMod val="50000"/>
                </a:schemeClr>
              </a:solidFill>
              <a:latin typeface="Perpetua" panose="02020502060401020303" pitchFamily="18" charset="77"/>
            </a:endParaRPr>
          </a:p>
          <a:p>
            <a:pPr marL="342900" indent="-342900">
              <a:buFont typeface="Arial" panose="020B0604020202020204" pitchFamily="34" charset="0"/>
              <a:buChar char="•"/>
            </a:pPr>
            <a:r>
              <a:rPr lang="en-US" sz="2000" dirty="0">
                <a:solidFill>
                  <a:schemeClr val="bg2">
                    <a:lumMod val="50000"/>
                  </a:schemeClr>
                </a:solidFill>
                <a:latin typeface="Perpetua" panose="02020502060401020303" pitchFamily="18" charset="77"/>
              </a:rPr>
              <a:t>Guestbooks will be displayed and available for all guests, as shown in the reference image</a:t>
            </a:r>
            <a:endParaRPr lang="en-AE" sz="2000" dirty="0">
              <a:solidFill>
                <a:schemeClr val="bg2">
                  <a:lumMod val="50000"/>
                </a:schemeClr>
              </a:solidFill>
              <a:latin typeface="Perpetua" panose="02020502060401020303" pitchFamily="18" charset="77"/>
            </a:endParaRPr>
          </a:p>
          <a:p>
            <a:endParaRPr lang="en-AE" sz="2200" dirty="0">
              <a:solidFill>
                <a:schemeClr val="bg2">
                  <a:lumMod val="50000"/>
                </a:schemeClr>
              </a:solidFill>
              <a:latin typeface="Perpetua" panose="02020502060401020303" pitchFamily="18" charset="77"/>
            </a:endParaRPr>
          </a:p>
        </p:txBody>
      </p:sp>
      <p:pic>
        <p:nvPicPr>
          <p:cNvPr id="7" name="Picture 6" descr="A table with a white tablecloth and a white tablecloth&#10;&#10;AI-generated content may be incorrect.">
            <a:extLst>
              <a:ext uri="{FF2B5EF4-FFF2-40B4-BE49-F238E27FC236}">
                <a16:creationId xmlns:a16="http://schemas.microsoft.com/office/drawing/2014/main" id="{6D695A7A-F9A8-C60F-F195-47BA494E4A5E}"/>
              </a:ext>
            </a:extLst>
          </p:cNvPr>
          <p:cNvPicPr>
            <a:picLocks noChangeAspect="1"/>
          </p:cNvPicPr>
          <p:nvPr/>
        </p:nvPicPr>
        <p:blipFill>
          <a:blip r:embed="rId5"/>
          <a:srcRect t="31727"/>
          <a:stretch>
            <a:fillRect/>
          </a:stretch>
        </p:blipFill>
        <p:spPr>
          <a:xfrm>
            <a:off x="9198150" y="551358"/>
            <a:ext cx="2670454" cy="2733971"/>
          </a:xfrm>
          <a:prstGeom prst="rect">
            <a:avLst/>
          </a:prstGeom>
        </p:spPr>
      </p:pic>
    </p:spTree>
    <p:extLst>
      <p:ext uri="{BB962C8B-B14F-4D97-AF65-F5344CB8AC3E}">
        <p14:creationId xmlns:p14="http://schemas.microsoft.com/office/powerpoint/2010/main" val="14291473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72FA18-925E-890A-530B-26C9D3F8D9A2}"/>
              </a:ext>
            </a:extLst>
          </p:cNvPr>
          <p:cNvSpPr>
            <a:spLocks noGrp="1"/>
          </p:cNvSpPr>
          <p:nvPr>
            <p:ph type="title"/>
          </p:nvPr>
        </p:nvSpPr>
        <p:spPr>
          <a:xfrm>
            <a:off x="1309553" y="173786"/>
            <a:ext cx="4786447" cy="786247"/>
          </a:xfrm>
        </p:spPr>
        <p:txBody>
          <a:bodyPr vert="horz" lIns="91440" tIns="45720" rIns="91440" bIns="45720" rtlCol="0" anchor="b">
            <a:normAutofit fontScale="90000"/>
          </a:bodyPr>
          <a:lstStyle/>
          <a:p>
            <a:r>
              <a:rPr lang="en-US" sz="4000" dirty="0">
                <a:solidFill>
                  <a:schemeClr val="bg2">
                    <a:lumMod val="50000"/>
                  </a:schemeClr>
                </a:solidFill>
                <a:latin typeface="Perpetua" panose="02020502060401020303" pitchFamily="18" charset="77"/>
              </a:rPr>
              <a:t>BARS RENTAL &amp; DECOR</a:t>
            </a:r>
          </a:p>
        </p:txBody>
      </p:sp>
      <p:sp>
        <p:nvSpPr>
          <p:cNvPr id="6" name="TextBox 5">
            <a:extLst>
              <a:ext uri="{FF2B5EF4-FFF2-40B4-BE49-F238E27FC236}">
                <a16:creationId xmlns:a16="http://schemas.microsoft.com/office/drawing/2014/main" id="{CEE297F3-E010-D773-C6C2-DAD7F14B25E8}"/>
              </a:ext>
            </a:extLst>
          </p:cNvPr>
          <p:cNvSpPr txBox="1"/>
          <p:nvPr/>
        </p:nvSpPr>
        <p:spPr>
          <a:xfrm>
            <a:off x="1309552" y="1334603"/>
            <a:ext cx="4786447" cy="5349611"/>
          </a:xfrm>
          <a:prstGeom prst="rect">
            <a:avLst/>
          </a:prstGeom>
        </p:spPr>
        <p:txBody>
          <a:bodyPr vert="horz" lIns="91440" tIns="45720" rIns="91440" bIns="45720" rtlCol="0">
            <a:normAutofit/>
          </a:bodyPr>
          <a:lstStyle/>
          <a:p>
            <a:pPr marL="457200" indent="-457200">
              <a:buFont typeface="Arial" panose="020B0604020202020204" pitchFamily="34" charset="0"/>
              <a:buChar char="•"/>
            </a:pPr>
            <a:r>
              <a:rPr lang="en-US" sz="2200" dirty="0">
                <a:solidFill>
                  <a:schemeClr val="bg2">
                    <a:lumMod val="50000"/>
                  </a:schemeClr>
                </a:solidFill>
                <a:latin typeface="Perpetua" panose="02020502060401020303" pitchFamily="18" charset="77"/>
              </a:rPr>
              <a:t>A refined white bar, inspired by the provided reference image, will anchor the cocktail space, complemented by one floral arrangement placed at the base and another displayed atop the bar in antique white vases</a:t>
            </a:r>
          </a:p>
          <a:p>
            <a:endParaRPr lang="en-US" sz="2200" dirty="0">
              <a:solidFill>
                <a:schemeClr val="bg2">
                  <a:lumMod val="50000"/>
                </a:schemeClr>
              </a:solidFill>
              <a:latin typeface="Perpetua" panose="02020502060401020303" pitchFamily="18" charset="77"/>
            </a:endParaRPr>
          </a:p>
          <a:p>
            <a:pPr marL="457200" indent="-457200">
              <a:buFont typeface="Arial" panose="020B0604020202020204" pitchFamily="34" charset="0"/>
              <a:buChar char="•"/>
            </a:pPr>
            <a:r>
              <a:rPr lang="en-US" sz="2200" dirty="0">
                <a:solidFill>
                  <a:schemeClr val="bg2">
                    <a:lumMod val="50000"/>
                  </a:schemeClr>
                </a:solidFill>
                <a:latin typeface="Perpetua" panose="02020502060401020303" pitchFamily="18" charset="77"/>
              </a:rPr>
              <a:t>A bespoke banner will be designed and printed, showcasing the selected beverages</a:t>
            </a:r>
          </a:p>
          <a:p>
            <a:endParaRPr lang="en-US" sz="2200" dirty="0">
              <a:solidFill>
                <a:schemeClr val="bg2">
                  <a:lumMod val="50000"/>
                </a:schemeClr>
              </a:solidFill>
              <a:latin typeface="Perpetua" panose="02020502060401020303" pitchFamily="18" charset="77"/>
            </a:endParaRPr>
          </a:p>
          <a:p>
            <a:r>
              <a:rPr lang="en-US" sz="2200" dirty="0">
                <a:solidFill>
                  <a:schemeClr val="bg2">
                    <a:lumMod val="50000"/>
                  </a:schemeClr>
                </a:solidFill>
                <a:latin typeface="Perpetua" panose="02020502060401020303" pitchFamily="18" charset="77"/>
              </a:rPr>
              <a:t>The décor will echo the reference imagery, styled in harmony with the color </a:t>
            </a:r>
            <a:r>
              <a:rPr lang="en-US" sz="2200" dirty="0">
                <a:solidFill>
                  <a:srgbClr val="FFC000"/>
                </a:solidFill>
                <a:latin typeface="Perpetua" panose="02020502060401020303" pitchFamily="18" charset="77"/>
              </a:rPr>
              <a:t>palette detailed on slide #2</a:t>
            </a:r>
          </a:p>
          <a:p>
            <a:endParaRPr lang="en-US" sz="3400" dirty="0">
              <a:solidFill>
                <a:schemeClr val="accent6"/>
              </a:solidFill>
              <a:latin typeface="Perpetua" panose="02020502060401020303" pitchFamily="18" charset="77"/>
            </a:endParaRPr>
          </a:p>
          <a:p>
            <a:endParaRPr lang="en-US" dirty="0">
              <a:highlight>
                <a:srgbClr val="FFFF00"/>
              </a:highlight>
            </a:endParaRPr>
          </a:p>
          <a:p>
            <a:pPr defTabSz="914400">
              <a:lnSpc>
                <a:spcPct val="90000"/>
              </a:lnSpc>
              <a:spcAft>
                <a:spcPts val="600"/>
              </a:spcAft>
            </a:pPr>
            <a:endParaRPr lang="en-US" sz="2800" dirty="0">
              <a:solidFill>
                <a:schemeClr val="accent5">
                  <a:lumMod val="60000"/>
                  <a:lumOff val="40000"/>
                </a:schemeClr>
              </a:solidFill>
              <a:latin typeface="Perpetua" panose="02020502060401020303" pitchFamily="18" charset="77"/>
            </a:endParaRPr>
          </a:p>
          <a:p>
            <a:pPr defTabSz="914400">
              <a:lnSpc>
                <a:spcPct val="90000"/>
              </a:lnSpc>
              <a:spcAft>
                <a:spcPts val="600"/>
              </a:spcAft>
            </a:pPr>
            <a:endParaRPr lang="en-US" sz="2800" dirty="0">
              <a:solidFill>
                <a:schemeClr val="accent5">
                  <a:lumMod val="60000"/>
                  <a:lumOff val="40000"/>
                </a:schemeClr>
              </a:solidFill>
              <a:latin typeface="Perpetua" panose="02020502060401020303" pitchFamily="18" charset="77"/>
            </a:endParaRPr>
          </a:p>
          <a:p>
            <a:pPr defTabSz="914400">
              <a:lnSpc>
                <a:spcPct val="90000"/>
              </a:lnSpc>
              <a:spcAft>
                <a:spcPts val="600"/>
              </a:spcAft>
            </a:pPr>
            <a:endParaRPr lang="en-US" sz="2800" dirty="0">
              <a:solidFill>
                <a:schemeClr val="accent5">
                  <a:lumMod val="60000"/>
                  <a:lumOff val="40000"/>
                </a:schemeClr>
              </a:solidFill>
              <a:latin typeface="Perpetua" panose="02020502060401020303" pitchFamily="18" charset="77"/>
            </a:endParaRPr>
          </a:p>
        </p:txBody>
      </p:sp>
      <p:pic>
        <p:nvPicPr>
          <p:cNvPr id="7" name="Picture 6">
            <a:extLst>
              <a:ext uri="{FF2B5EF4-FFF2-40B4-BE49-F238E27FC236}">
                <a16:creationId xmlns:a16="http://schemas.microsoft.com/office/drawing/2014/main" id="{B23847F9-96A5-CD78-85D9-B972897C7070}"/>
              </a:ext>
            </a:extLst>
          </p:cNvPr>
          <p:cNvPicPr>
            <a:picLocks noChangeAspect="1"/>
          </p:cNvPicPr>
          <p:nvPr/>
        </p:nvPicPr>
        <p:blipFill>
          <a:blip r:embed="rId3"/>
          <a:srcRect l="3292" r="3292"/>
          <a:stretch/>
        </p:blipFill>
        <p:spPr>
          <a:xfrm>
            <a:off x="7912149" y="267674"/>
            <a:ext cx="3986156" cy="6300436"/>
          </a:xfrm>
          <a:prstGeom prst="rect">
            <a:avLst/>
          </a:prstGeom>
        </p:spPr>
      </p:pic>
    </p:spTree>
    <p:extLst>
      <p:ext uri="{BB962C8B-B14F-4D97-AF65-F5344CB8AC3E}">
        <p14:creationId xmlns:p14="http://schemas.microsoft.com/office/powerpoint/2010/main" val="35762231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880819" y="1984513"/>
            <a:ext cx="10430360" cy="1772093"/>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300" dirty="0">
                <a:solidFill>
                  <a:schemeClr val="bg2">
                    <a:lumMod val="50000"/>
                  </a:schemeClr>
                </a:solidFill>
                <a:latin typeface="Perpetua" panose="02020502060401020303" pitchFamily="18" charset="77"/>
                <a:ea typeface="+mj-ea"/>
                <a:cs typeface="+mj-cs"/>
              </a:rPr>
              <a:t>SIGNS</a:t>
            </a:r>
          </a:p>
          <a:p>
            <a:pPr algn="ctr" defTabSz="914400">
              <a:lnSpc>
                <a:spcPct val="90000"/>
              </a:lnSpc>
              <a:spcBef>
                <a:spcPct val="0"/>
              </a:spcBef>
              <a:spcAft>
                <a:spcPts val="600"/>
              </a:spcAft>
            </a:pPr>
            <a:endParaRPr lang="en-US" sz="39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300" dirty="0">
              <a:solidFill>
                <a:schemeClr val="bg2">
                  <a:lumMod val="50000"/>
                </a:schemeClr>
              </a:solidFill>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a:extLst>
              <a:ext uri="{FF2B5EF4-FFF2-40B4-BE49-F238E27FC236}">
                <a16:creationId xmlns:a16="http://schemas.microsoft.com/office/drawing/2014/main" id="{05BBDDB4-38D2-A2FB-3EB4-2851CC366C1F}"/>
              </a:ext>
            </a:extLst>
          </p:cNvPr>
          <p:cNvSpPr txBox="1"/>
          <p:nvPr/>
        </p:nvSpPr>
        <p:spPr>
          <a:xfrm>
            <a:off x="2775283" y="3429000"/>
            <a:ext cx="6641431" cy="1446550"/>
          </a:xfrm>
          <a:prstGeom prst="rect">
            <a:avLst/>
          </a:prstGeom>
          <a:noFill/>
        </p:spPr>
        <p:txBody>
          <a:bodyPr wrap="square" rtlCol="0">
            <a:spAutoFit/>
          </a:bodyPr>
          <a:lstStyle/>
          <a:p>
            <a:pPr algn="ctr"/>
            <a:r>
              <a:rPr lang="en-AE" sz="2200" dirty="0">
                <a:solidFill>
                  <a:srgbClr val="FFC000"/>
                </a:solidFill>
                <a:latin typeface="Perpetua" panose="02020502060401020303" pitchFamily="18" charset="77"/>
              </a:rPr>
              <a:t>Audrey’s note: To create an harmony between the differents signage </a:t>
            </a:r>
            <a:r>
              <a:rPr lang="en-US" sz="2200" dirty="0">
                <a:solidFill>
                  <a:srgbClr val="FFC000"/>
                </a:solidFill>
                <a:latin typeface="Perpetua" panose="02020502060401020303" pitchFamily="18" charset="77"/>
              </a:rPr>
              <a:t>I</a:t>
            </a:r>
            <a:r>
              <a:rPr lang="en-AE" sz="2200" dirty="0">
                <a:solidFill>
                  <a:srgbClr val="FFC000"/>
                </a:solidFill>
                <a:latin typeface="Perpetua" panose="02020502060401020303" pitchFamily="18" charset="77"/>
              </a:rPr>
              <a:t> recommend using the same font style and color (as much as possible) – TBC </a:t>
            </a:r>
            <a:r>
              <a:rPr lang="en-AE" sz="2200">
                <a:solidFill>
                  <a:srgbClr val="FFC000"/>
                </a:solidFill>
                <a:latin typeface="Perpetua" panose="02020502060401020303" pitchFamily="18" charset="77"/>
              </a:rPr>
              <a:t>with Erich or Michael </a:t>
            </a:r>
            <a:r>
              <a:rPr lang="en-AE" sz="2200" dirty="0">
                <a:solidFill>
                  <a:srgbClr val="FFC000"/>
                </a:solidFill>
                <a:latin typeface="Perpetua" panose="02020502060401020303" pitchFamily="18" charset="77"/>
              </a:rPr>
              <a:t>a design proof will be sent.</a:t>
            </a:r>
          </a:p>
        </p:txBody>
      </p:sp>
    </p:spTree>
    <p:extLst>
      <p:ext uri="{BB962C8B-B14F-4D97-AF65-F5344CB8AC3E}">
        <p14:creationId xmlns:p14="http://schemas.microsoft.com/office/powerpoint/2010/main" val="3655280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D67F88A-43EC-97AE-5876-EF4C9222A427}"/>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94649F76-675B-243D-FFBE-BDED9DD6FF27}"/>
              </a:ext>
            </a:extLst>
          </p:cNvPr>
          <p:cNvSpPr txBox="1"/>
          <p:nvPr/>
        </p:nvSpPr>
        <p:spPr>
          <a:xfrm>
            <a:off x="208601" y="-91883"/>
            <a:ext cx="5251316" cy="180730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Welcome Sign &amp; Décor </a:t>
            </a:r>
            <a:endParaRPr lang="en-US" sz="44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sp>
        <p:nvSpPr>
          <p:cNvPr id="14" name="TextBox 13">
            <a:extLst>
              <a:ext uri="{FF2B5EF4-FFF2-40B4-BE49-F238E27FC236}">
                <a16:creationId xmlns:a16="http://schemas.microsoft.com/office/drawing/2014/main" id="{7CEFE24F-026B-31E1-2D62-A79AE5350BBE}"/>
              </a:ext>
            </a:extLst>
          </p:cNvPr>
          <p:cNvSpPr txBox="1"/>
          <p:nvPr/>
        </p:nvSpPr>
        <p:spPr>
          <a:xfrm>
            <a:off x="506039" y="2322133"/>
            <a:ext cx="5461111" cy="1446550"/>
          </a:xfrm>
          <a:prstGeom prst="rect">
            <a:avLst/>
          </a:prstGeom>
          <a:noFill/>
        </p:spPr>
        <p:txBody>
          <a:bodyPr wrap="square" rtlCol="0">
            <a:spAutoFit/>
          </a:bodyPr>
          <a:lstStyle/>
          <a:p>
            <a:pPr marL="342900" indent="-342900" fontAlgn="base">
              <a:buFont typeface="Arial" panose="020B0604020202020204" pitchFamily="34" charset="0"/>
              <a:buChar char="•"/>
            </a:pPr>
            <a:r>
              <a:rPr lang="en-US" sz="2200" dirty="0">
                <a:solidFill>
                  <a:schemeClr val="bg2">
                    <a:lumMod val="50000"/>
                  </a:schemeClr>
                </a:solidFill>
                <a:latin typeface="Perpetua" panose="02020502060401020303" pitchFamily="18" charset="77"/>
              </a:rPr>
              <a:t>A Baroque-style gold mirror will elegantly showcase the groom and groom’s names in white script, alongside the wedding date, radiating timeless sophistication and refined elegance</a:t>
            </a:r>
          </a:p>
        </p:txBody>
      </p:sp>
      <p:pic>
        <p:nvPicPr>
          <p:cNvPr id="7" name="Picture 6">
            <a:extLst>
              <a:ext uri="{FF2B5EF4-FFF2-40B4-BE49-F238E27FC236}">
                <a16:creationId xmlns:a16="http://schemas.microsoft.com/office/drawing/2014/main" id="{F53FD14D-8517-01F0-11CF-A697DCAC159C}"/>
              </a:ext>
            </a:extLst>
          </p:cNvPr>
          <p:cNvPicPr>
            <a:picLocks noChangeAspect="1"/>
          </p:cNvPicPr>
          <p:nvPr/>
        </p:nvPicPr>
        <p:blipFill>
          <a:blip r:embed="rId2"/>
          <a:srcRect/>
          <a:stretch/>
        </p:blipFill>
        <p:spPr>
          <a:xfrm>
            <a:off x="7086163" y="289260"/>
            <a:ext cx="4190115" cy="6279479"/>
          </a:xfrm>
          <a:prstGeom prst="rect">
            <a:avLst/>
          </a:prstGeom>
        </p:spPr>
      </p:pic>
    </p:spTree>
    <p:extLst>
      <p:ext uri="{BB962C8B-B14F-4D97-AF65-F5344CB8AC3E}">
        <p14:creationId xmlns:p14="http://schemas.microsoft.com/office/powerpoint/2010/main" val="10020021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898230" y="397964"/>
            <a:ext cx="4555837" cy="6062072"/>
          </a:xfrm>
          <a:prstGeom prst="rect">
            <a:avLst/>
          </a:prstGeom>
        </p:spPr>
        <p:txBody>
          <a:bodyPr vert="horz" lIns="91440" tIns="45720" rIns="91440" bIns="45720" rtlCol="0" anchor="ctr">
            <a:normAutofit fontScale="92500" lnSpcReduction="10000"/>
          </a:bodyPr>
          <a:lstStyle/>
          <a:p>
            <a:pPr algn="ctr" defTabSz="914400">
              <a:lnSpc>
                <a:spcPct val="90000"/>
              </a:lnSpc>
              <a:spcBef>
                <a:spcPct val="0"/>
              </a:spcBef>
              <a:spcAft>
                <a:spcPts val="600"/>
              </a:spcAft>
            </a:pPr>
            <a:r>
              <a:rPr lang="en-US" sz="4800" dirty="0">
                <a:solidFill>
                  <a:schemeClr val="bg2">
                    <a:lumMod val="50000"/>
                  </a:schemeClr>
                </a:solidFill>
                <a:latin typeface="Perpetua" panose="02020502060401020303" pitchFamily="18" charset="77"/>
                <a:ea typeface="+mj-ea"/>
                <a:cs typeface="+mj-cs"/>
              </a:rPr>
              <a:t>Seating Chart</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3100" dirty="0">
              <a:solidFill>
                <a:schemeClr val="bg2">
                  <a:lumMod val="50000"/>
                </a:schemeClr>
              </a:solidFill>
              <a:latin typeface="Perpetua" panose="02020502060401020303" pitchFamily="18" charset="77"/>
              <a:ea typeface="+mj-ea"/>
              <a:cs typeface="+mj-cs"/>
            </a:endParaRPr>
          </a:p>
          <a:p>
            <a:pPr marL="457200" indent="-457200">
              <a:buFont typeface="Arial" panose="020B0604020202020204" pitchFamily="34" charset="0"/>
              <a:buChar char="•"/>
            </a:pPr>
            <a:r>
              <a:rPr lang="en-US" sz="2400" dirty="0">
                <a:solidFill>
                  <a:schemeClr val="bg2">
                    <a:lumMod val="50000"/>
                  </a:schemeClr>
                </a:solidFill>
                <a:latin typeface="Perpetua" panose="02020502060401020303" pitchFamily="18" charset="77"/>
              </a:rPr>
              <a:t>A large rectangular mirror with a gold frame will display the seating chart, featuring white script typography elegantly presenting each table number and guest names</a:t>
            </a:r>
          </a:p>
          <a:p>
            <a:endParaRPr lang="en-US" sz="2400" dirty="0">
              <a:solidFill>
                <a:schemeClr val="bg2">
                  <a:lumMod val="50000"/>
                </a:schemeClr>
              </a:solidFill>
              <a:latin typeface="Perpetua" panose="02020502060401020303" pitchFamily="18" charset="77"/>
            </a:endParaRPr>
          </a:p>
          <a:p>
            <a:pPr marL="457200" indent="-457200">
              <a:buFont typeface="Arial" panose="020B0604020202020204" pitchFamily="34" charset="0"/>
              <a:buChar char="•"/>
            </a:pPr>
            <a:r>
              <a:rPr lang="en-US" sz="2400" dirty="0">
                <a:solidFill>
                  <a:schemeClr val="bg2">
                    <a:lumMod val="50000"/>
                  </a:schemeClr>
                </a:solidFill>
                <a:latin typeface="Perpetua" panose="02020502060401020303" pitchFamily="18" charset="77"/>
              </a:rPr>
              <a:t>A medium-sized floral arrangement will be displayed at the base of the seating chart, accompanied by candles of varying heights, with décor reflecting the reference imagery and styled in harmony with the color </a:t>
            </a:r>
            <a:r>
              <a:rPr lang="en-US" sz="2400" dirty="0">
                <a:solidFill>
                  <a:srgbClr val="FFC000"/>
                </a:solidFill>
                <a:latin typeface="Perpetua" panose="02020502060401020303" pitchFamily="18" charset="77"/>
              </a:rPr>
              <a:t>palette detailed on slide #2</a:t>
            </a:r>
            <a:r>
              <a:rPr lang="en-US" sz="2400" dirty="0">
                <a:solidFill>
                  <a:srgbClr val="FFC000"/>
                </a:solidFill>
                <a:latin typeface="Perpetua" panose="02020502060401020303" pitchFamily="18" charset="77"/>
                <a:ea typeface="+mj-ea"/>
                <a:cs typeface="+mj-cs"/>
              </a:rPr>
              <a:t> </a:t>
            </a:r>
          </a:p>
        </p:txBody>
      </p:sp>
      <p:pic>
        <p:nvPicPr>
          <p:cNvPr id="16" name="Picture 15">
            <a:extLst>
              <a:ext uri="{FF2B5EF4-FFF2-40B4-BE49-F238E27FC236}">
                <a16:creationId xmlns:a16="http://schemas.microsoft.com/office/drawing/2014/main" id="{B5E9A1CD-8BA4-83C5-944E-020157EB4A3F}"/>
              </a:ext>
            </a:extLst>
          </p:cNvPr>
          <p:cNvPicPr>
            <a:picLocks noChangeAspect="1"/>
          </p:cNvPicPr>
          <p:nvPr/>
        </p:nvPicPr>
        <p:blipFill>
          <a:blip r:embed="rId2"/>
          <a:srcRect/>
          <a:stretch/>
        </p:blipFill>
        <p:spPr>
          <a:xfrm>
            <a:off x="7064373" y="289427"/>
            <a:ext cx="3533219" cy="6279146"/>
          </a:xfrm>
          <a:prstGeom prst="rect">
            <a:avLst/>
          </a:prstGeom>
        </p:spPr>
      </p:pic>
    </p:spTree>
    <p:extLst>
      <p:ext uri="{BB962C8B-B14F-4D97-AF65-F5344CB8AC3E}">
        <p14:creationId xmlns:p14="http://schemas.microsoft.com/office/powerpoint/2010/main" val="35346229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B49F8F6B-B294-ABC9-9842-A2EC89BD7111}"/>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58828DE-0A81-97F9-162E-A4A83B82B235}"/>
              </a:ext>
            </a:extLst>
          </p:cNvPr>
          <p:cNvSpPr txBox="1"/>
          <p:nvPr/>
        </p:nvSpPr>
        <p:spPr>
          <a:xfrm>
            <a:off x="922929" y="268355"/>
            <a:ext cx="4453743" cy="6321287"/>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Place Cards</a:t>
            </a:r>
          </a:p>
          <a:p>
            <a:pPr algn="ctr" defTabSz="914400">
              <a:lnSpc>
                <a:spcPct val="90000"/>
              </a:lnSpc>
              <a:spcBef>
                <a:spcPct val="0"/>
              </a:spcBef>
              <a:spcAft>
                <a:spcPts val="600"/>
              </a:spcAft>
            </a:pPr>
            <a:r>
              <a:rPr lang="en-US" sz="3600" i="1" dirty="0">
                <a:solidFill>
                  <a:srgbClr val="FFC000"/>
                </a:solidFill>
                <a:latin typeface="Perpetua" panose="02020502060401020303" pitchFamily="18" charset="77"/>
                <a:ea typeface="+mj-ea"/>
                <a:cs typeface="+mj-cs"/>
              </a:rPr>
              <a:t>Audrey’s Note: </a:t>
            </a:r>
          </a:p>
          <a:p>
            <a:pPr algn="ctr" defTabSz="914400">
              <a:lnSpc>
                <a:spcPct val="90000"/>
              </a:lnSpc>
              <a:spcBef>
                <a:spcPct val="0"/>
              </a:spcBef>
              <a:spcAft>
                <a:spcPts val="600"/>
              </a:spcAft>
            </a:pPr>
            <a:endParaRPr lang="en-US" sz="4400" i="1"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r>
              <a:rPr lang="en-US" sz="2200" dirty="0">
                <a:solidFill>
                  <a:schemeClr val="bg2">
                    <a:lumMod val="50000"/>
                  </a:schemeClr>
                </a:solidFill>
                <a:latin typeface="Perpetua" panose="02020502060401020303" pitchFamily="18" charset="77"/>
              </a:rPr>
              <a:t>Please note that place cards are required by the catering staff regardless of round or rectangular tables. For weddings with more than 100 guests, place cards must be placed on each table with assigned seating, showing each guest’s full name, table number, and a meal icon/allergy note to guide the staff.</a:t>
            </a:r>
            <a:endParaRPr lang="en-US" sz="2200" i="1"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r>
              <a:rPr lang="en-US" sz="3400" dirty="0">
                <a:latin typeface="+mj-lt"/>
                <a:ea typeface="+mj-ea"/>
                <a:cs typeface="+mj-cs"/>
              </a:rPr>
              <a:t> </a:t>
            </a:r>
          </a:p>
        </p:txBody>
      </p:sp>
      <p:pic>
        <p:nvPicPr>
          <p:cNvPr id="3" name="Picture 2">
            <a:extLst>
              <a:ext uri="{FF2B5EF4-FFF2-40B4-BE49-F238E27FC236}">
                <a16:creationId xmlns:a16="http://schemas.microsoft.com/office/drawing/2014/main" id="{80BD6E25-2C67-B0A9-5AC2-44EC7EF84917}"/>
              </a:ext>
            </a:extLst>
          </p:cNvPr>
          <p:cNvPicPr>
            <a:picLocks noChangeAspect="1"/>
          </p:cNvPicPr>
          <p:nvPr/>
        </p:nvPicPr>
        <p:blipFill>
          <a:blip r:embed="rId2"/>
          <a:srcRect/>
          <a:stretch/>
        </p:blipFill>
        <p:spPr>
          <a:xfrm>
            <a:off x="6882595" y="334892"/>
            <a:ext cx="4125476" cy="6188214"/>
          </a:xfrm>
          <a:prstGeom prst="rect">
            <a:avLst/>
          </a:prstGeom>
        </p:spPr>
      </p:pic>
    </p:spTree>
    <p:extLst>
      <p:ext uri="{BB962C8B-B14F-4D97-AF65-F5344CB8AC3E}">
        <p14:creationId xmlns:p14="http://schemas.microsoft.com/office/powerpoint/2010/main" val="36174177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337C5453-EF1A-B806-4E83-A4778DCE2EDB}"/>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4FD6A3D0-071B-27FE-1A63-2E2F52A1C602}"/>
              </a:ext>
            </a:extLst>
          </p:cNvPr>
          <p:cNvSpPr txBox="1"/>
          <p:nvPr/>
        </p:nvSpPr>
        <p:spPr>
          <a:xfrm>
            <a:off x="142641" y="-524256"/>
            <a:ext cx="6136239" cy="5636415"/>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Table numbers</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marL="342900" indent="-342900" algn="ctr" defTabSz="914400">
              <a:lnSpc>
                <a:spcPct val="90000"/>
              </a:lnSpc>
              <a:spcBef>
                <a:spcPct val="0"/>
              </a:spcBef>
              <a:spcAft>
                <a:spcPts val="600"/>
              </a:spcAft>
              <a:buFont typeface="Arial" panose="020B0604020202020204" pitchFamily="34" charset="0"/>
              <a:buChar char="•"/>
            </a:pPr>
            <a:r>
              <a:rPr lang="en-US" sz="2200" dirty="0">
                <a:solidFill>
                  <a:schemeClr val="bg2">
                    <a:lumMod val="50000"/>
                  </a:schemeClr>
                </a:solidFill>
                <a:latin typeface="Perpetua" panose="02020502060401020303" pitchFamily="18" charset="77"/>
              </a:rPr>
              <a:t>A refined rectangular design with a rounded top, printed on warm white paper and adorned with delicate light brown floral motifs and dark brown script typography, will be elegantly presented on a wooden holder.</a:t>
            </a:r>
          </a:p>
        </p:txBody>
      </p:sp>
      <p:pic>
        <p:nvPicPr>
          <p:cNvPr id="4" name="Picture 3">
            <a:extLst>
              <a:ext uri="{FF2B5EF4-FFF2-40B4-BE49-F238E27FC236}">
                <a16:creationId xmlns:a16="http://schemas.microsoft.com/office/drawing/2014/main" id="{40D030C9-5843-CFC5-A305-20C724FD7C4E}"/>
              </a:ext>
            </a:extLst>
          </p:cNvPr>
          <p:cNvPicPr>
            <a:picLocks noChangeAspect="1"/>
          </p:cNvPicPr>
          <p:nvPr/>
        </p:nvPicPr>
        <p:blipFill>
          <a:blip r:embed="rId2"/>
          <a:srcRect/>
          <a:stretch/>
        </p:blipFill>
        <p:spPr>
          <a:xfrm>
            <a:off x="6449568" y="701013"/>
            <a:ext cx="5455974" cy="5455974"/>
          </a:xfrm>
          <a:prstGeom prst="rect">
            <a:avLst/>
          </a:prstGeom>
        </p:spPr>
      </p:pic>
    </p:spTree>
    <p:extLst>
      <p:ext uri="{BB962C8B-B14F-4D97-AF65-F5344CB8AC3E}">
        <p14:creationId xmlns:p14="http://schemas.microsoft.com/office/powerpoint/2010/main" val="42791348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1D819984-0BCB-B705-8381-EF87FBA47F9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34B3B833-1225-75CC-5980-D6B4AEB7ADE2}"/>
              </a:ext>
            </a:extLst>
          </p:cNvPr>
          <p:cNvSpPr txBox="1"/>
          <p:nvPr/>
        </p:nvSpPr>
        <p:spPr>
          <a:xfrm>
            <a:off x="279900" y="206477"/>
            <a:ext cx="5416911" cy="4748784"/>
          </a:xfrm>
          <a:prstGeom prst="rect">
            <a:avLst/>
          </a:prstGeom>
        </p:spPr>
        <p:txBody>
          <a:bodyPr vert="horz" lIns="91440" tIns="45720" rIns="91440" bIns="45720" rtlCol="0" anchor="ctr">
            <a:normAutofit/>
          </a:bodyPr>
          <a:lstStyle/>
          <a:p>
            <a:pPr algn="ctr" defTabSz="914400">
              <a:lnSpc>
                <a:spcPct val="90000"/>
              </a:lnSpc>
              <a:spcBef>
                <a:spcPct val="0"/>
              </a:spcBef>
              <a:spcAft>
                <a:spcPts val="600"/>
              </a:spcAft>
            </a:pPr>
            <a:r>
              <a:rPr lang="en-US" sz="4400" dirty="0">
                <a:solidFill>
                  <a:schemeClr val="bg2">
                    <a:lumMod val="50000"/>
                  </a:schemeClr>
                </a:solidFill>
                <a:latin typeface="Perpetua" panose="02020502060401020303" pitchFamily="18" charset="77"/>
                <a:ea typeface="+mj-ea"/>
                <a:cs typeface="+mj-cs"/>
              </a:rPr>
              <a:t>Menus</a:t>
            </a: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400" dirty="0">
              <a:solidFill>
                <a:schemeClr val="bg2">
                  <a:lumMod val="50000"/>
                </a:schemeClr>
              </a:solidFill>
              <a:latin typeface="Perpetua" panose="02020502060401020303" pitchFamily="18" charset="77"/>
              <a:ea typeface="+mj-ea"/>
              <a:cs typeface="+mj-cs"/>
            </a:endParaRPr>
          </a:p>
          <a:p>
            <a:pPr marL="342900" indent="-342900" algn="ctr" fontAlgn="base">
              <a:buFont typeface="Arial" panose="020B0604020202020204" pitchFamily="34" charset="0"/>
              <a:buChar char="•"/>
            </a:pPr>
            <a:r>
              <a:rPr lang="en-US" sz="2200" dirty="0">
                <a:solidFill>
                  <a:schemeClr val="bg2">
                    <a:lumMod val="50000"/>
                  </a:schemeClr>
                </a:solidFill>
                <a:latin typeface="Perpetua" panose="02020502060401020303" pitchFamily="18" charset="77"/>
              </a:rPr>
              <a:t>A large rectangular design with a rounded top, crafted from smooth, thick white matte paper, adorned with elegant dark script typography and finished with a gold wax stamp, creating a refined and harmonious statement</a:t>
            </a:r>
          </a:p>
        </p:txBody>
      </p:sp>
      <p:pic>
        <p:nvPicPr>
          <p:cNvPr id="3" name="Picture 2">
            <a:extLst>
              <a:ext uri="{FF2B5EF4-FFF2-40B4-BE49-F238E27FC236}">
                <a16:creationId xmlns:a16="http://schemas.microsoft.com/office/drawing/2014/main" id="{3576634B-03A1-B7AD-3AD9-CE62143D01D6}"/>
              </a:ext>
            </a:extLst>
          </p:cNvPr>
          <p:cNvPicPr>
            <a:picLocks noChangeAspect="1"/>
          </p:cNvPicPr>
          <p:nvPr/>
        </p:nvPicPr>
        <p:blipFill>
          <a:blip r:embed="rId2"/>
          <a:srcRect/>
          <a:stretch/>
        </p:blipFill>
        <p:spPr>
          <a:xfrm>
            <a:off x="6857703" y="358140"/>
            <a:ext cx="4609170" cy="6141720"/>
          </a:xfrm>
          <a:prstGeom prst="rect">
            <a:avLst/>
          </a:prstGeom>
        </p:spPr>
      </p:pic>
    </p:spTree>
    <p:extLst>
      <p:ext uri="{BB962C8B-B14F-4D97-AF65-F5344CB8AC3E}">
        <p14:creationId xmlns:p14="http://schemas.microsoft.com/office/powerpoint/2010/main" val="2829549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6CAF78E-16A2-5A6B-CAA3-7D9B508FD07A}"/>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5E1D080B-C004-9F13-2CC3-E7237812A99E}"/>
              </a:ext>
            </a:extLst>
          </p:cNvPr>
          <p:cNvSpPr txBox="1"/>
          <p:nvPr/>
        </p:nvSpPr>
        <p:spPr>
          <a:xfrm>
            <a:off x="880820" y="3101394"/>
            <a:ext cx="10430360" cy="1772093"/>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4300" dirty="0">
                <a:solidFill>
                  <a:schemeClr val="bg2">
                    <a:lumMod val="50000"/>
                  </a:schemeClr>
                </a:solidFill>
                <a:latin typeface="Perpetua" panose="02020502060401020303" pitchFamily="18" charset="77"/>
                <a:ea typeface="+mj-ea"/>
                <a:cs typeface="+mj-cs"/>
              </a:rPr>
              <a:t>RECEPTION DÉCOR</a:t>
            </a:r>
            <a:endParaRPr lang="en-US" sz="3900" dirty="0">
              <a:solidFill>
                <a:schemeClr val="bg2">
                  <a:lumMod val="50000"/>
                </a:schemeClr>
              </a:solidFill>
              <a:latin typeface="Perpetua" panose="02020502060401020303" pitchFamily="18" charset="77"/>
              <a:ea typeface="+mj-ea"/>
              <a:cs typeface="+mj-cs"/>
            </a:endParaRPr>
          </a:p>
          <a:p>
            <a:pPr algn="ctr" defTabSz="914400">
              <a:lnSpc>
                <a:spcPct val="90000"/>
              </a:lnSpc>
              <a:spcBef>
                <a:spcPct val="0"/>
              </a:spcBef>
              <a:spcAft>
                <a:spcPts val="600"/>
              </a:spcAft>
            </a:pPr>
            <a:endParaRPr lang="en-US" sz="4300" dirty="0">
              <a:solidFill>
                <a:schemeClr val="bg2">
                  <a:lumMod val="50000"/>
                </a:schemeClr>
              </a:solidFill>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D99914F7-B682-FF91-5514-2539C1F87929}"/>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2083329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366164" y="195447"/>
            <a:ext cx="6108878" cy="139750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3900" dirty="0">
                <a:solidFill>
                  <a:schemeClr val="bg2">
                    <a:lumMod val="50000"/>
                  </a:schemeClr>
                </a:solidFill>
                <a:latin typeface="Perpetua" panose="02020502060401020303" pitchFamily="18" charset="77"/>
                <a:ea typeface="+mj-ea"/>
                <a:cs typeface="+mj-cs"/>
              </a:rPr>
              <a:t>Rectangular Tables</a:t>
            </a:r>
            <a:endParaRPr lang="en-US" sz="3900" i="1" dirty="0">
              <a:solidFill>
                <a:schemeClr val="bg2">
                  <a:lumMod val="50000"/>
                </a:schemeClr>
              </a:solidFill>
              <a:highlight>
                <a:srgbClr val="FFFF00"/>
              </a:highlight>
              <a:latin typeface="Perpetua" panose="02020502060401020303" pitchFamily="18" charset="77"/>
              <a:ea typeface="+mj-ea"/>
              <a:cs typeface="+mj-cs"/>
            </a:endParaRPr>
          </a:p>
        </p:txBody>
      </p:sp>
      <p:sp>
        <p:nvSpPr>
          <p:cNvPr id="23" name="Content Placeholder 12">
            <a:extLst>
              <a:ext uri="{FF2B5EF4-FFF2-40B4-BE49-F238E27FC236}">
                <a16:creationId xmlns:a16="http://schemas.microsoft.com/office/drawing/2014/main" id="{8DA31A9E-CDA1-4831-8EA8-D8D912D3B933}"/>
              </a:ext>
            </a:extLst>
          </p:cNvPr>
          <p:cNvSpPr>
            <a:spLocks noGrp="1"/>
          </p:cNvSpPr>
          <p:nvPr>
            <p:ph idx="1"/>
          </p:nvPr>
        </p:nvSpPr>
        <p:spPr>
          <a:xfrm>
            <a:off x="745206" y="2136760"/>
            <a:ext cx="5350793" cy="2584479"/>
          </a:xfrm>
        </p:spPr>
        <p:txBody>
          <a:bodyPr vert="horz" lIns="91440" tIns="45720" rIns="91440" bIns="45720" rtlCol="0">
            <a:noAutofit/>
          </a:bodyPr>
          <a:lstStyle/>
          <a:p>
            <a:pPr algn="ctr"/>
            <a:r>
              <a:rPr lang="en-US" sz="2200" dirty="0">
                <a:solidFill>
                  <a:schemeClr val="bg2">
                    <a:lumMod val="50000"/>
                  </a:schemeClr>
                </a:solidFill>
                <a:latin typeface="Perpetua" panose="02020502060401020303" pitchFamily="18" charset="77"/>
              </a:rPr>
              <a:t>For the rectangular table décor, the aesthetic remains light, airy, and romantic. Each table will feature multiple medium-low floral arrangements, elegantly arranged from end to end in small crystal vases and surrounded by tall gold taper candles, creating a warm, timeless, and effortlessly sophisticated ambiance</a:t>
            </a:r>
            <a:endParaRPr lang="en-US" sz="2200" b="0" i="0" dirty="0">
              <a:solidFill>
                <a:schemeClr val="bg2">
                  <a:lumMod val="50000"/>
                </a:schemeClr>
              </a:solidFill>
              <a:effectLst/>
              <a:latin typeface="Perpetua" panose="02020502060401020303" pitchFamily="18" charset="77"/>
            </a:endParaRPr>
          </a:p>
        </p:txBody>
      </p:sp>
      <p:pic>
        <p:nvPicPr>
          <p:cNvPr id="4" name="Picture 3">
            <a:extLst>
              <a:ext uri="{FF2B5EF4-FFF2-40B4-BE49-F238E27FC236}">
                <a16:creationId xmlns:a16="http://schemas.microsoft.com/office/drawing/2014/main" id="{BA257427-4C71-4B05-0579-C603DB05E2A3}"/>
              </a:ext>
            </a:extLst>
          </p:cNvPr>
          <p:cNvPicPr>
            <a:picLocks noChangeAspect="1"/>
          </p:cNvPicPr>
          <p:nvPr/>
        </p:nvPicPr>
        <p:blipFill>
          <a:blip r:embed="rId2"/>
          <a:srcRect/>
          <a:stretch/>
        </p:blipFill>
        <p:spPr>
          <a:xfrm>
            <a:off x="7594781" y="254269"/>
            <a:ext cx="4231055" cy="6349462"/>
          </a:xfrm>
          <a:prstGeom prst="rect">
            <a:avLst/>
          </a:prstGeom>
        </p:spPr>
      </p:pic>
    </p:spTree>
    <p:extLst>
      <p:ext uri="{BB962C8B-B14F-4D97-AF65-F5344CB8AC3E}">
        <p14:creationId xmlns:p14="http://schemas.microsoft.com/office/powerpoint/2010/main" val="93896289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2176346" y="2521042"/>
            <a:ext cx="7839307" cy="2474047"/>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5400" dirty="0">
                <a:solidFill>
                  <a:schemeClr val="bg2">
                    <a:lumMod val="50000"/>
                  </a:schemeClr>
                </a:solidFill>
                <a:latin typeface="Perpetua" panose="02020502060401020303" pitchFamily="18" charset="77"/>
                <a:ea typeface="+mj-ea"/>
                <a:cs typeface="+mj-cs"/>
              </a:rPr>
              <a:t>RENTALS</a:t>
            </a:r>
            <a:endParaRPr lang="en-US" sz="5400" i="1" dirty="0">
              <a:solidFill>
                <a:schemeClr val="bg2">
                  <a:lumMod val="50000"/>
                </a:schemeClr>
              </a:solidFill>
              <a:highlight>
                <a:srgbClr val="FFFF00"/>
              </a:highlight>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445736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88626" y="327611"/>
            <a:ext cx="4966776" cy="733545"/>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3900" dirty="0">
                <a:solidFill>
                  <a:schemeClr val="bg2">
                    <a:lumMod val="50000"/>
                  </a:schemeClr>
                </a:solidFill>
                <a:latin typeface="Perpetua" panose="02020502060401020303" pitchFamily="18" charset="77"/>
                <a:ea typeface="+mj-ea"/>
                <a:cs typeface="+mj-cs"/>
              </a:rPr>
              <a:t>TABLEWARE</a:t>
            </a:r>
          </a:p>
          <a:p>
            <a:pPr defTabSz="914400">
              <a:lnSpc>
                <a:spcPct val="90000"/>
              </a:lnSpc>
              <a:spcBef>
                <a:spcPct val="0"/>
              </a:spcBef>
              <a:spcAft>
                <a:spcPts val="600"/>
              </a:spcAft>
            </a:pPr>
            <a:endParaRPr lang="en-US" sz="3900"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p:txBody>
      </p:sp>
      <p:sp>
        <p:nvSpPr>
          <p:cNvPr id="23" name="Content Placeholder 12">
            <a:extLst>
              <a:ext uri="{FF2B5EF4-FFF2-40B4-BE49-F238E27FC236}">
                <a16:creationId xmlns:a16="http://schemas.microsoft.com/office/drawing/2014/main" id="{8DA31A9E-CDA1-4831-8EA8-D8D912D3B933}"/>
              </a:ext>
            </a:extLst>
          </p:cNvPr>
          <p:cNvSpPr>
            <a:spLocks noGrp="1"/>
          </p:cNvSpPr>
          <p:nvPr>
            <p:ph idx="1"/>
          </p:nvPr>
        </p:nvSpPr>
        <p:spPr>
          <a:xfrm>
            <a:off x="9164538" y="7434541"/>
            <a:ext cx="5518645" cy="4415589"/>
          </a:xfrm>
        </p:spPr>
        <p:txBody>
          <a:bodyPr vert="horz" lIns="91440" tIns="45720" rIns="91440" bIns="45720" rtlCol="0">
            <a:noAutofit/>
          </a:bodyPr>
          <a:lstStyle/>
          <a:p>
            <a:pPr marL="0" indent="0" algn="l">
              <a:buNone/>
            </a:pPr>
            <a:endParaRPr lang="en-US" sz="2000" dirty="0">
              <a:solidFill>
                <a:schemeClr val="bg2">
                  <a:lumMod val="50000"/>
                </a:schemeClr>
              </a:solidFill>
              <a:latin typeface="Perpetua" panose="02020502060401020303" pitchFamily="18" charset="77"/>
            </a:endParaRPr>
          </a:p>
          <a:p>
            <a:pPr marL="0" indent="0" algn="l">
              <a:buNone/>
            </a:pPr>
            <a:endParaRPr lang="en-US" sz="2000" dirty="0">
              <a:solidFill>
                <a:schemeClr val="bg2">
                  <a:lumMod val="50000"/>
                </a:schemeClr>
              </a:solidFill>
              <a:latin typeface="Perpetua" panose="02020502060401020303" pitchFamily="18" charset="77"/>
            </a:endParaRPr>
          </a:p>
        </p:txBody>
      </p:sp>
      <p:sp>
        <p:nvSpPr>
          <p:cNvPr id="14" name="TextBox 13">
            <a:extLst>
              <a:ext uri="{FF2B5EF4-FFF2-40B4-BE49-F238E27FC236}">
                <a16:creationId xmlns:a16="http://schemas.microsoft.com/office/drawing/2014/main" id="{C4E91E1E-1CFE-DC5B-40A8-D186EB235688}"/>
              </a:ext>
            </a:extLst>
          </p:cNvPr>
          <p:cNvSpPr txBox="1"/>
          <p:nvPr/>
        </p:nvSpPr>
        <p:spPr>
          <a:xfrm>
            <a:off x="450940" y="1826170"/>
            <a:ext cx="4427210" cy="3139321"/>
          </a:xfrm>
          <a:prstGeom prst="rect">
            <a:avLst/>
          </a:prstGeom>
          <a:noFill/>
        </p:spPr>
        <p:txBody>
          <a:bodyPr wrap="square" rtlCol="0">
            <a:spAutoFit/>
          </a:bodyPr>
          <a:lstStyle/>
          <a:p>
            <a:pPr marL="342900" indent="-342900">
              <a:buFont typeface="Arial" panose="020B0604020202020204" pitchFamily="34" charset="0"/>
              <a:buChar char="•"/>
            </a:pPr>
            <a:r>
              <a:rPr lang="en-US" sz="2200" dirty="0">
                <a:solidFill>
                  <a:schemeClr val="bg2">
                    <a:lumMod val="50000"/>
                  </a:schemeClr>
                </a:solidFill>
                <a:latin typeface="Perpetua" panose="02020502060401020303" pitchFamily="18" charset="77"/>
              </a:rPr>
              <a:t>Ivory or gold rimmed charger plates will be selected based on rental availability, carefully chosen to match the reference image provided by the bride. Vintage gold flatware will complement the table setting, paired with delicate crystal glassware featuring gold rims and white napkins for a refined and harmonious touch</a:t>
            </a:r>
          </a:p>
        </p:txBody>
      </p:sp>
      <p:pic>
        <p:nvPicPr>
          <p:cNvPr id="8" name="Picture 7">
            <a:extLst>
              <a:ext uri="{FF2B5EF4-FFF2-40B4-BE49-F238E27FC236}">
                <a16:creationId xmlns:a16="http://schemas.microsoft.com/office/drawing/2014/main" id="{4D04E7A1-4A91-4426-9C3D-5A4672B5A606}"/>
              </a:ext>
            </a:extLst>
          </p:cNvPr>
          <p:cNvPicPr>
            <a:picLocks noChangeAspect="1"/>
          </p:cNvPicPr>
          <p:nvPr/>
        </p:nvPicPr>
        <p:blipFill>
          <a:blip r:embed="rId2"/>
          <a:srcRect l="4922" t="44119" r="3095" b="3166"/>
          <a:stretch>
            <a:fillRect/>
          </a:stretch>
        </p:blipFill>
        <p:spPr>
          <a:xfrm>
            <a:off x="8681019" y="3729277"/>
            <a:ext cx="3258485" cy="2801112"/>
          </a:xfrm>
          <a:prstGeom prst="rect">
            <a:avLst/>
          </a:prstGeom>
        </p:spPr>
      </p:pic>
      <p:pic>
        <p:nvPicPr>
          <p:cNvPr id="11" name="Picture 10" descr="A gold cutlery set with a knife spoon and fork&#10;&#10;Description automatically generated">
            <a:extLst>
              <a:ext uri="{FF2B5EF4-FFF2-40B4-BE49-F238E27FC236}">
                <a16:creationId xmlns:a16="http://schemas.microsoft.com/office/drawing/2014/main" id="{47607031-061C-723A-60E3-1B7448948028}"/>
              </a:ext>
            </a:extLst>
          </p:cNvPr>
          <p:cNvPicPr>
            <a:picLocks noChangeAspect="1"/>
          </p:cNvPicPr>
          <p:nvPr/>
        </p:nvPicPr>
        <p:blipFill>
          <a:blip r:embed="rId3"/>
          <a:stretch>
            <a:fillRect/>
          </a:stretch>
        </p:blipFill>
        <p:spPr>
          <a:xfrm>
            <a:off x="8893164" y="327611"/>
            <a:ext cx="2758735" cy="2878432"/>
          </a:xfrm>
          <a:prstGeom prst="rect">
            <a:avLst/>
          </a:prstGeom>
        </p:spPr>
      </p:pic>
      <p:pic>
        <p:nvPicPr>
          <p:cNvPr id="4" name="Picture 3" descr="A stack of white plates&#10;&#10;AI-generated content may be incorrect.">
            <a:extLst>
              <a:ext uri="{FF2B5EF4-FFF2-40B4-BE49-F238E27FC236}">
                <a16:creationId xmlns:a16="http://schemas.microsoft.com/office/drawing/2014/main" id="{0AF2DA3B-F198-5DCC-9761-0DE6AD07285A}"/>
              </a:ext>
            </a:extLst>
          </p:cNvPr>
          <p:cNvPicPr>
            <a:picLocks noChangeAspect="1"/>
          </p:cNvPicPr>
          <p:nvPr/>
        </p:nvPicPr>
        <p:blipFill>
          <a:blip r:embed="rId4"/>
          <a:stretch>
            <a:fillRect/>
          </a:stretch>
        </p:blipFill>
        <p:spPr>
          <a:xfrm>
            <a:off x="5324243" y="327612"/>
            <a:ext cx="2771823" cy="2878432"/>
          </a:xfrm>
          <a:prstGeom prst="rect">
            <a:avLst/>
          </a:prstGeom>
        </p:spPr>
      </p:pic>
      <p:pic>
        <p:nvPicPr>
          <p:cNvPr id="5" name="Picture 4" descr="A group of empty wine glasses&#10;&#10;Description automatically generated">
            <a:extLst>
              <a:ext uri="{FF2B5EF4-FFF2-40B4-BE49-F238E27FC236}">
                <a16:creationId xmlns:a16="http://schemas.microsoft.com/office/drawing/2014/main" id="{BF9EEEC1-43CF-5D8B-0397-68288CF6783C}"/>
              </a:ext>
            </a:extLst>
          </p:cNvPr>
          <p:cNvPicPr>
            <a:picLocks noChangeAspect="1"/>
          </p:cNvPicPr>
          <p:nvPr/>
        </p:nvPicPr>
        <p:blipFill>
          <a:blip r:embed="rId5"/>
          <a:stretch>
            <a:fillRect/>
          </a:stretch>
        </p:blipFill>
        <p:spPr>
          <a:xfrm>
            <a:off x="6096000" y="3327277"/>
            <a:ext cx="2312827" cy="3395033"/>
          </a:xfrm>
          <a:prstGeom prst="rect">
            <a:avLst/>
          </a:prstGeom>
        </p:spPr>
      </p:pic>
    </p:spTree>
    <p:extLst>
      <p:ext uri="{BB962C8B-B14F-4D97-AF65-F5344CB8AC3E}">
        <p14:creationId xmlns:p14="http://schemas.microsoft.com/office/powerpoint/2010/main" val="303211890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75C877A5-77C2-52EB-E0D8-7EB3723E7358}"/>
            </a:ext>
          </a:extLst>
        </p:cNvPr>
        <p:cNvGrpSpPr/>
        <p:nvPr/>
      </p:nvGrpSpPr>
      <p:grpSpPr>
        <a:xfrm>
          <a:off x="0" y="0"/>
          <a:ext cx="0" cy="0"/>
          <a:chOff x="0" y="0"/>
          <a:chExt cx="0" cy="0"/>
        </a:xfrm>
      </p:grpSpPr>
      <p:sp>
        <p:nvSpPr>
          <p:cNvPr id="9" name="TextBox 8">
            <a:extLst>
              <a:ext uri="{FF2B5EF4-FFF2-40B4-BE49-F238E27FC236}">
                <a16:creationId xmlns:a16="http://schemas.microsoft.com/office/drawing/2014/main" id="{873F2233-21ED-AE91-74D9-BD4E092B6FA5}"/>
              </a:ext>
            </a:extLst>
          </p:cNvPr>
          <p:cNvSpPr txBox="1"/>
          <p:nvPr/>
        </p:nvSpPr>
        <p:spPr>
          <a:xfrm>
            <a:off x="450940" y="327611"/>
            <a:ext cx="6184626" cy="2220517"/>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3900" dirty="0">
                <a:solidFill>
                  <a:schemeClr val="bg2">
                    <a:lumMod val="50000"/>
                  </a:schemeClr>
                </a:solidFill>
                <a:latin typeface="Perpetua" panose="02020502060401020303" pitchFamily="18" charset="77"/>
              </a:rPr>
              <a:t>CHAIRS FOR CEREMONY AND </a:t>
            </a:r>
          </a:p>
          <a:p>
            <a:pPr algn="ctr" defTabSz="914400">
              <a:lnSpc>
                <a:spcPct val="90000"/>
              </a:lnSpc>
              <a:spcBef>
                <a:spcPct val="0"/>
              </a:spcBef>
              <a:spcAft>
                <a:spcPts val="600"/>
              </a:spcAft>
            </a:pPr>
            <a:r>
              <a:rPr lang="en-US" sz="3900" dirty="0">
                <a:solidFill>
                  <a:schemeClr val="bg2">
                    <a:lumMod val="50000"/>
                  </a:schemeClr>
                </a:solidFill>
                <a:latin typeface="Perpetua" panose="02020502060401020303" pitchFamily="18" charset="77"/>
              </a:rPr>
              <a:t>RECEPTION</a:t>
            </a:r>
            <a:endParaRPr lang="en-US" sz="3900" dirty="0">
              <a:solidFill>
                <a:schemeClr val="bg2">
                  <a:lumMod val="50000"/>
                </a:schemeClr>
              </a:solidFill>
              <a:latin typeface="Perpetua" panose="02020502060401020303" pitchFamily="18" charset="77"/>
              <a:sym typeface="Wingdings" pitchFamily="2" charset="2"/>
            </a:endParaRPr>
          </a:p>
          <a:p>
            <a:pPr defTabSz="914400">
              <a:lnSpc>
                <a:spcPct val="90000"/>
              </a:lnSpc>
              <a:spcBef>
                <a:spcPct val="0"/>
              </a:spcBef>
              <a:spcAft>
                <a:spcPts val="600"/>
              </a:spcAft>
            </a:pPr>
            <a:endParaRPr lang="en-US" sz="3900" dirty="0">
              <a:solidFill>
                <a:schemeClr val="bg2">
                  <a:lumMod val="50000"/>
                </a:schemeClr>
              </a:solidFill>
              <a:latin typeface="Perpetua" panose="02020502060401020303" pitchFamily="18" charset="77"/>
              <a:ea typeface="+mj-ea"/>
              <a:cs typeface="+mj-cs"/>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a:p>
            <a:pPr defTabSz="914400">
              <a:lnSpc>
                <a:spcPct val="90000"/>
              </a:lnSpc>
              <a:spcBef>
                <a:spcPct val="0"/>
              </a:spcBef>
              <a:spcAft>
                <a:spcPts val="600"/>
              </a:spcAft>
            </a:pPr>
            <a:endParaRPr lang="en-US" sz="2400" dirty="0">
              <a:solidFill>
                <a:schemeClr val="bg2">
                  <a:lumMod val="50000"/>
                </a:schemeClr>
              </a:solidFill>
              <a:latin typeface="Perpetua" panose="02020502060401020303" pitchFamily="18" charset="77"/>
              <a:ea typeface="+mj-ea"/>
              <a:cs typeface="+mj-cs"/>
              <a:sym typeface="Wingdings" pitchFamily="2" charset="2"/>
            </a:endParaRPr>
          </a:p>
        </p:txBody>
      </p:sp>
      <p:sp>
        <p:nvSpPr>
          <p:cNvPr id="23" name="Content Placeholder 12">
            <a:extLst>
              <a:ext uri="{FF2B5EF4-FFF2-40B4-BE49-F238E27FC236}">
                <a16:creationId xmlns:a16="http://schemas.microsoft.com/office/drawing/2014/main" id="{486DDD0F-535B-EB3F-66FE-FCE4E38C0323}"/>
              </a:ext>
            </a:extLst>
          </p:cNvPr>
          <p:cNvSpPr>
            <a:spLocks noGrp="1"/>
          </p:cNvSpPr>
          <p:nvPr>
            <p:ph idx="1"/>
          </p:nvPr>
        </p:nvSpPr>
        <p:spPr>
          <a:xfrm>
            <a:off x="9164538" y="7434541"/>
            <a:ext cx="5518645" cy="4415589"/>
          </a:xfrm>
        </p:spPr>
        <p:txBody>
          <a:bodyPr vert="horz" lIns="91440" tIns="45720" rIns="91440" bIns="45720" rtlCol="0">
            <a:noAutofit/>
          </a:bodyPr>
          <a:lstStyle/>
          <a:p>
            <a:pPr marL="0" indent="0" algn="l">
              <a:buNone/>
            </a:pPr>
            <a:endParaRPr lang="en-US" sz="2000" dirty="0">
              <a:solidFill>
                <a:schemeClr val="bg2">
                  <a:lumMod val="50000"/>
                </a:schemeClr>
              </a:solidFill>
              <a:latin typeface="Perpetua" panose="02020502060401020303" pitchFamily="18" charset="77"/>
            </a:endParaRPr>
          </a:p>
          <a:p>
            <a:pPr marL="0" indent="0" algn="l">
              <a:buNone/>
            </a:pPr>
            <a:endParaRPr lang="en-US" sz="2000" dirty="0">
              <a:solidFill>
                <a:schemeClr val="bg2">
                  <a:lumMod val="50000"/>
                </a:schemeClr>
              </a:solidFill>
              <a:latin typeface="Perpetua" panose="02020502060401020303" pitchFamily="18" charset="77"/>
            </a:endParaRPr>
          </a:p>
        </p:txBody>
      </p:sp>
      <p:sp>
        <p:nvSpPr>
          <p:cNvPr id="14" name="TextBox 13">
            <a:extLst>
              <a:ext uri="{FF2B5EF4-FFF2-40B4-BE49-F238E27FC236}">
                <a16:creationId xmlns:a16="http://schemas.microsoft.com/office/drawing/2014/main" id="{61610713-5FC9-D044-4951-D1D953F056DF}"/>
              </a:ext>
            </a:extLst>
          </p:cNvPr>
          <p:cNvSpPr txBox="1"/>
          <p:nvPr/>
        </p:nvSpPr>
        <p:spPr>
          <a:xfrm>
            <a:off x="1329648" y="3429000"/>
            <a:ext cx="4427210" cy="769441"/>
          </a:xfrm>
          <a:prstGeom prst="rect">
            <a:avLst/>
          </a:prstGeom>
          <a:noFill/>
        </p:spPr>
        <p:txBody>
          <a:bodyPr wrap="square" rtlCol="0">
            <a:spAutoFit/>
          </a:bodyPr>
          <a:lstStyle/>
          <a:p>
            <a:pPr algn="ctr"/>
            <a:r>
              <a:rPr lang="en-US" sz="2200" dirty="0">
                <a:solidFill>
                  <a:schemeClr val="bg2">
                    <a:lumMod val="50000"/>
                  </a:schemeClr>
                </a:solidFill>
                <a:latin typeface="Perpetua" panose="02020502060401020303" pitchFamily="18" charset="77"/>
              </a:rPr>
              <a:t>WOODEN - Louis Chairs</a:t>
            </a:r>
          </a:p>
          <a:p>
            <a:endParaRPr lang="en-US" sz="2200" dirty="0">
              <a:solidFill>
                <a:schemeClr val="bg2">
                  <a:lumMod val="50000"/>
                </a:schemeClr>
              </a:solidFill>
              <a:latin typeface="Perpetua" panose="02020502060401020303" pitchFamily="18" charset="77"/>
            </a:endParaRPr>
          </a:p>
        </p:txBody>
      </p:sp>
      <p:pic>
        <p:nvPicPr>
          <p:cNvPr id="3" name="Picture 2">
            <a:extLst>
              <a:ext uri="{FF2B5EF4-FFF2-40B4-BE49-F238E27FC236}">
                <a16:creationId xmlns:a16="http://schemas.microsoft.com/office/drawing/2014/main" id="{10949536-84FA-2D42-AD5A-D2CBCE46349F}"/>
              </a:ext>
            </a:extLst>
          </p:cNvPr>
          <p:cNvPicPr>
            <a:picLocks noChangeAspect="1"/>
          </p:cNvPicPr>
          <p:nvPr/>
        </p:nvPicPr>
        <p:blipFill>
          <a:blip r:embed="rId2"/>
          <a:stretch>
            <a:fillRect/>
          </a:stretch>
        </p:blipFill>
        <p:spPr>
          <a:xfrm>
            <a:off x="7712117" y="688790"/>
            <a:ext cx="3496898" cy="5564245"/>
          </a:xfrm>
          <a:prstGeom prst="rect">
            <a:avLst/>
          </a:prstGeom>
        </p:spPr>
      </p:pic>
    </p:spTree>
    <p:extLst>
      <p:ext uri="{BB962C8B-B14F-4D97-AF65-F5344CB8AC3E}">
        <p14:creationId xmlns:p14="http://schemas.microsoft.com/office/powerpoint/2010/main" val="31560228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1976290" y="222152"/>
            <a:ext cx="8236368" cy="707172"/>
          </a:xfrm>
        </p:spPr>
        <p:txBody>
          <a:bodyPr vert="horz" lIns="91440" tIns="45720" rIns="91440" bIns="45720" rtlCol="0" anchor="ctr">
            <a:normAutofit fontScale="90000"/>
          </a:bodyPr>
          <a:lstStyle/>
          <a:p>
            <a:pPr algn="ctr"/>
            <a:r>
              <a:rPr lang="en-US" sz="3100" dirty="0">
                <a:solidFill>
                  <a:schemeClr val="bg2">
                    <a:lumMod val="50000"/>
                  </a:schemeClr>
                </a:solidFill>
                <a:latin typeface="Perpetua" panose="02020502060401020303" pitchFamily="18" charset="77"/>
              </a:rPr>
              <a:t>UP LITHING</a:t>
            </a:r>
            <a:br>
              <a:rPr lang="en-US" sz="2400" kern="1200" dirty="0">
                <a:solidFill>
                  <a:schemeClr val="bg2">
                    <a:lumMod val="50000"/>
                  </a:schemeClr>
                </a:solidFill>
                <a:latin typeface="Perpetua" panose="02020502060401020303" pitchFamily="18" charset="77"/>
              </a:rPr>
            </a:br>
            <a:endParaRPr lang="en-US" sz="2400" kern="1200" dirty="0">
              <a:solidFill>
                <a:schemeClr val="bg2">
                  <a:lumMod val="50000"/>
                </a:schemeClr>
              </a:solidFill>
              <a:latin typeface="Perpetua" panose="02020502060401020303" pitchFamily="18" charset="77"/>
            </a:endParaRPr>
          </a:p>
        </p:txBody>
      </p:sp>
      <p:pic>
        <p:nvPicPr>
          <p:cNvPr id="5" name="Picture 4" descr="A room with tables and chairs&#10;&#10;Description automatically generated">
            <a:extLst>
              <a:ext uri="{FF2B5EF4-FFF2-40B4-BE49-F238E27FC236}">
                <a16:creationId xmlns:a16="http://schemas.microsoft.com/office/drawing/2014/main" id="{3FDF27F5-3EE5-6566-CBCC-8CD661A37A91}"/>
              </a:ext>
            </a:extLst>
          </p:cNvPr>
          <p:cNvPicPr>
            <a:picLocks noChangeAspect="1"/>
          </p:cNvPicPr>
          <p:nvPr/>
        </p:nvPicPr>
        <p:blipFill>
          <a:blip r:embed="rId3"/>
          <a:stretch>
            <a:fillRect/>
          </a:stretch>
        </p:blipFill>
        <p:spPr>
          <a:xfrm>
            <a:off x="175398" y="2347783"/>
            <a:ext cx="4001186" cy="4417347"/>
          </a:xfrm>
          <a:prstGeom prst="rect">
            <a:avLst/>
          </a:prstGeom>
        </p:spPr>
      </p:pic>
      <p:pic>
        <p:nvPicPr>
          <p:cNvPr id="8" name="Picture 7" descr="A room with tables and chairs&#10;&#10;Description automatically generated">
            <a:extLst>
              <a:ext uri="{FF2B5EF4-FFF2-40B4-BE49-F238E27FC236}">
                <a16:creationId xmlns:a16="http://schemas.microsoft.com/office/drawing/2014/main" id="{1059039F-3AAB-9322-24E8-EFAA74642592}"/>
              </a:ext>
            </a:extLst>
          </p:cNvPr>
          <p:cNvPicPr>
            <a:picLocks noChangeAspect="1"/>
          </p:cNvPicPr>
          <p:nvPr/>
        </p:nvPicPr>
        <p:blipFill>
          <a:blip r:embed="rId4"/>
          <a:stretch>
            <a:fillRect/>
          </a:stretch>
        </p:blipFill>
        <p:spPr>
          <a:xfrm>
            <a:off x="4270860" y="2347784"/>
            <a:ext cx="3647229" cy="4417347"/>
          </a:xfrm>
          <a:prstGeom prst="rect">
            <a:avLst/>
          </a:prstGeom>
        </p:spPr>
      </p:pic>
      <p:pic>
        <p:nvPicPr>
          <p:cNvPr id="11" name="Picture 10" descr="A room with tables and chairs and chandeliers&#10;&#10;Description automatically generated">
            <a:extLst>
              <a:ext uri="{FF2B5EF4-FFF2-40B4-BE49-F238E27FC236}">
                <a16:creationId xmlns:a16="http://schemas.microsoft.com/office/drawing/2014/main" id="{097B2804-FC64-B84B-63AF-03C9D019D845}"/>
              </a:ext>
            </a:extLst>
          </p:cNvPr>
          <p:cNvPicPr>
            <a:picLocks noChangeAspect="1"/>
          </p:cNvPicPr>
          <p:nvPr/>
        </p:nvPicPr>
        <p:blipFill>
          <a:blip r:embed="rId5"/>
          <a:stretch>
            <a:fillRect/>
          </a:stretch>
        </p:blipFill>
        <p:spPr>
          <a:xfrm>
            <a:off x="8012365" y="2347782"/>
            <a:ext cx="3880956" cy="4417348"/>
          </a:xfrm>
          <a:prstGeom prst="rect">
            <a:avLst/>
          </a:prstGeom>
        </p:spPr>
      </p:pic>
      <p:sp>
        <p:nvSpPr>
          <p:cNvPr id="12" name="TextBox 11">
            <a:extLst>
              <a:ext uri="{FF2B5EF4-FFF2-40B4-BE49-F238E27FC236}">
                <a16:creationId xmlns:a16="http://schemas.microsoft.com/office/drawing/2014/main" id="{C2C98D09-40D2-B9B2-95E6-7A89724F0D53}"/>
              </a:ext>
            </a:extLst>
          </p:cNvPr>
          <p:cNvSpPr txBox="1"/>
          <p:nvPr/>
        </p:nvSpPr>
        <p:spPr>
          <a:xfrm>
            <a:off x="469557" y="999381"/>
            <a:ext cx="11423764" cy="1015663"/>
          </a:xfrm>
          <a:prstGeom prst="rect">
            <a:avLst/>
          </a:prstGeom>
          <a:noFill/>
        </p:spPr>
        <p:txBody>
          <a:bodyPr wrap="square" rtlCol="0">
            <a:spAutoFit/>
          </a:bodyPr>
          <a:lstStyle/>
          <a:p>
            <a:pPr algn="ctr"/>
            <a:r>
              <a:rPr lang="en-US" sz="2000" dirty="0">
                <a:solidFill>
                  <a:schemeClr val="accent5">
                    <a:lumMod val="60000"/>
                    <a:lumOff val="40000"/>
                  </a:schemeClr>
                </a:solidFill>
                <a:latin typeface="Perpetua" panose="02020502060401020303" pitchFamily="18" charset="77"/>
              </a:rPr>
              <a:t>Audrey’s Note: </a:t>
            </a:r>
            <a:r>
              <a:rPr lang="en-US" sz="2000" dirty="0">
                <a:solidFill>
                  <a:schemeClr val="bg2">
                    <a:lumMod val="50000"/>
                  </a:schemeClr>
                </a:solidFill>
                <a:latin typeface="Perpetua" panose="02020502060401020303" pitchFamily="18" charset="77"/>
              </a:rPr>
              <a:t>I highly recommend considering uplighting for your décor. It has a remarkable ability to enhance the overall ambiance by highlighting key elements and adding warmth to the space. Uplighting can truly transform your event, creating a captivating and inviting atmosphere that your guests will love.</a:t>
            </a:r>
          </a:p>
        </p:txBody>
      </p:sp>
    </p:spTree>
    <p:extLst>
      <p:ext uri="{BB962C8B-B14F-4D97-AF65-F5344CB8AC3E}">
        <p14:creationId xmlns:p14="http://schemas.microsoft.com/office/powerpoint/2010/main" val="242845448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9" name="TextBox 8">
            <a:extLst>
              <a:ext uri="{FF2B5EF4-FFF2-40B4-BE49-F238E27FC236}">
                <a16:creationId xmlns:a16="http://schemas.microsoft.com/office/drawing/2014/main" id="{85533AD3-3D3F-438B-9829-15B20A4B953F}"/>
              </a:ext>
            </a:extLst>
          </p:cNvPr>
          <p:cNvSpPr txBox="1"/>
          <p:nvPr/>
        </p:nvSpPr>
        <p:spPr>
          <a:xfrm>
            <a:off x="2176346" y="2774863"/>
            <a:ext cx="7839307" cy="2474047"/>
          </a:xfrm>
          <a:prstGeom prst="rect">
            <a:avLst/>
          </a:prstGeom>
        </p:spPr>
        <p:txBody>
          <a:bodyPr vert="horz" lIns="91440" tIns="45720" rIns="91440" bIns="45720" rtlCol="0" anchor="t">
            <a:normAutofit/>
          </a:bodyPr>
          <a:lstStyle/>
          <a:p>
            <a:pPr algn="ctr" defTabSz="914400">
              <a:lnSpc>
                <a:spcPct val="90000"/>
              </a:lnSpc>
              <a:spcBef>
                <a:spcPct val="0"/>
              </a:spcBef>
              <a:spcAft>
                <a:spcPts val="600"/>
              </a:spcAft>
            </a:pPr>
            <a:r>
              <a:rPr lang="en-US" sz="5400" dirty="0">
                <a:solidFill>
                  <a:schemeClr val="bg2">
                    <a:lumMod val="50000"/>
                  </a:schemeClr>
                </a:solidFill>
                <a:latin typeface="Perpetua" panose="02020502060401020303" pitchFamily="18" charset="77"/>
                <a:ea typeface="+mj-ea"/>
                <a:cs typeface="+mj-cs"/>
              </a:rPr>
              <a:t>FLOOR PLANS</a:t>
            </a:r>
            <a:endParaRPr lang="en-US" sz="5400" i="1" dirty="0">
              <a:solidFill>
                <a:schemeClr val="bg2">
                  <a:lumMod val="50000"/>
                </a:schemeClr>
              </a:solidFill>
              <a:highlight>
                <a:srgbClr val="FFFF00"/>
              </a:highlight>
              <a:latin typeface="Perpetua" panose="02020502060401020303" pitchFamily="18" charset="77"/>
              <a:ea typeface="+mj-ea"/>
              <a:cs typeface="+mj-cs"/>
            </a:endParaRPr>
          </a:p>
        </p:txBody>
      </p:sp>
      <p:sp>
        <p:nvSpPr>
          <p:cNvPr id="4" name="Rectangle 3">
            <a:extLst>
              <a:ext uri="{FF2B5EF4-FFF2-40B4-BE49-F238E27FC236}">
                <a16:creationId xmlns:a16="http://schemas.microsoft.com/office/drawing/2014/main" id="{3D02A48E-6E94-21CC-4916-BC7F46DBD9BB}"/>
              </a:ext>
            </a:extLst>
          </p:cNvPr>
          <p:cNvSpPr/>
          <p:nvPr/>
        </p:nvSpPr>
        <p:spPr>
          <a:xfrm>
            <a:off x="776409" y="228600"/>
            <a:ext cx="914400" cy="914400"/>
          </a:xfrm>
          <a:prstGeom prst="rect">
            <a:avLst/>
          </a:prstGeom>
          <a:solidFill>
            <a:schemeClr val="bg2"/>
          </a:solidFill>
          <a:ln>
            <a:solidFill>
              <a:schemeClr val="bg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78854226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re 1"/>
          <p:cNvSpPr>
            <a:spLocks noGrp="1"/>
          </p:cNvSpPr>
          <p:nvPr>
            <p:ph type="title"/>
          </p:nvPr>
        </p:nvSpPr>
        <p:spPr>
          <a:xfrm>
            <a:off x="212658" y="627994"/>
            <a:ext cx="11763633" cy="1070212"/>
          </a:xfrm>
        </p:spPr>
        <p:txBody>
          <a:bodyPr vert="horz" lIns="91440" tIns="45720" rIns="91440" bIns="45720" rtlCol="0" anchor="ctr">
            <a:normAutofit fontScale="90000"/>
          </a:bodyPr>
          <a:lstStyle/>
          <a:p>
            <a:pPr algn="ctr"/>
            <a:r>
              <a:rPr lang="en-US" sz="3100" kern="1200" dirty="0">
                <a:solidFill>
                  <a:schemeClr val="bg2">
                    <a:lumMod val="50000"/>
                  </a:schemeClr>
                </a:solidFill>
                <a:latin typeface="Perpetua" panose="02020502060401020303" pitchFamily="18" charset="77"/>
              </a:rPr>
              <a:t>RECEPTION/DINNER </a:t>
            </a:r>
            <a:r>
              <a:rPr lang="en-US" sz="3100" dirty="0">
                <a:solidFill>
                  <a:schemeClr val="bg2">
                    <a:lumMod val="50000"/>
                  </a:schemeClr>
                </a:solidFill>
                <a:latin typeface="Perpetua" panose="02020502060401020303" pitchFamily="18" charset="77"/>
              </a:rPr>
              <a:t>SEATING</a:t>
            </a:r>
            <a:r>
              <a:rPr lang="en-US" sz="3100" kern="1200" dirty="0">
                <a:solidFill>
                  <a:schemeClr val="bg2">
                    <a:lumMod val="50000"/>
                  </a:schemeClr>
                </a:solidFill>
                <a:latin typeface="Perpetua" panose="02020502060401020303" pitchFamily="18" charset="77"/>
              </a:rPr>
              <a:t> PLAN </a:t>
            </a:r>
            <a:br>
              <a:rPr lang="en-US" sz="2200" kern="1200" dirty="0">
                <a:solidFill>
                  <a:schemeClr val="bg2">
                    <a:lumMod val="50000"/>
                  </a:schemeClr>
                </a:solidFill>
                <a:latin typeface="Perpetua" panose="02020502060401020303" pitchFamily="18" charset="77"/>
              </a:rPr>
            </a:br>
            <a:br>
              <a:rPr lang="en-US" sz="2200" kern="1200" dirty="0">
                <a:solidFill>
                  <a:schemeClr val="bg2">
                    <a:lumMod val="50000"/>
                  </a:schemeClr>
                </a:solidFill>
                <a:latin typeface="Perpetua" panose="02020502060401020303" pitchFamily="18" charset="77"/>
              </a:rPr>
            </a:br>
            <a:endParaRPr lang="en-US" sz="2400" kern="1200" dirty="0">
              <a:solidFill>
                <a:schemeClr val="bg2">
                  <a:lumMod val="50000"/>
                </a:schemeClr>
              </a:solidFill>
              <a:latin typeface="Perpetua" panose="02020502060401020303" pitchFamily="18" charset="77"/>
            </a:endParaRPr>
          </a:p>
        </p:txBody>
      </p:sp>
      <p:sp>
        <p:nvSpPr>
          <p:cNvPr id="3" name="TextBox 2">
            <a:extLst>
              <a:ext uri="{FF2B5EF4-FFF2-40B4-BE49-F238E27FC236}">
                <a16:creationId xmlns:a16="http://schemas.microsoft.com/office/drawing/2014/main" id="{51969A44-C599-31EC-B25E-CC741AD59839}"/>
              </a:ext>
            </a:extLst>
          </p:cNvPr>
          <p:cNvSpPr txBox="1"/>
          <p:nvPr/>
        </p:nvSpPr>
        <p:spPr>
          <a:xfrm>
            <a:off x="1394458" y="3198167"/>
            <a:ext cx="9400032" cy="461665"/>
          </a:xfrm>
          <a:prstGeom prst="rect">
            <a:avLst/>
          </a:prstGeom>
          <a:noFill/>
        </p:spPr>
        <p:txBody>
          <a:bodyPr wrap="square" rtlCol="0">
            <a:spAutoFit/>
          </a:bodyPr>
          <a:lstStyle/>
          <a:p>
            <a:pPr algn="ctr"/>
            <a:r>
              <a:rPr lang="en-US" sz="2400" dirty="0">
                <a:solidFill>
                  <a:schemeClr val="bg2">
                    <a:lumMod val="50000"/>
                  </a:schemeClr>
                </a:solidFill>
                <a:latin typeface="Perpetua" panose="02020502060401020303" pitchFamily="18" charset="77"/>
              </a:rPr>
              <a:t>The finalized floor plan will be shared upon confirmation of the final guest list</a:t>
            </a:r>
            <a:endParaRPr lang="en-AE" sz="2400" dirty="0"/>
          </a:p>
        </p:txBody>
      </p:sp>
    </p:spTree>
    <p:extLst>
      <p:ext uri="{BB962C8B-B14F-4D97-AF65-F5344CB8AC3E}">
        <p14:creationId xmlns:p14="http://schemas.microsoft.com/office/powerpoint/2010/main" val="37161175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8FCB5AAB-A7F2-B398-E2D6-A34B5E85A56B}"/>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7096AE7-BE3E-206B-3544-3C4F02CE4750}"/>
              </a:ext>
            </a:extLst>
          </p:cNvPr>
          <p:cNvSpPr>
            <a:spLocks noGrp="1"/>
          </p:cNvSpPr>
          <p:nvPr>
            <p:ph type="title"/>
          </p:nvPr>
        </p:nvSpPr>
        <p:spPr>
          <a:xfrm>
            <a:off x="214183" y="1517481"/>
            <a:ext cx="11763633" cy="1070212"/>
          </a:xfrm>
        </p:spPr>
        <p:txBody>
          <a:bodyPr vert="horz" lIns="91440" tIns="45720" rIns="91440" bIns="45720" rtlCol="0" anchor="ctr">
            <a:normAutofit/>
          </a:bodyPr>
          <a:lstStyle/>
          <a:p>
            <a:pPr algn="ctr"/>
            <a:r>
              <a:rPr lang="en-AE" sz="5400" dirty="0">
                <a:solidFill>
                  <a:schemeClr val="bg2">
                    <a:lumMod val="50000"/>
                  </a:schemeClr>
                </a:solidFill>
                <a:latin typeface="Perpetua" panose="02020502060401020303" pitchFamily="18" charset="77"/>
              </a:rPr>
              <a:t>WELCOME DINNER</a:t>
            </a:r>
            <a:endParaRPr lang="en-US" sz="5400" kern="1200" dirty="0">
              <a:solidFill>
                <a:schemeClr val="bg2">
                  <a:lumMod val="50000"/>
                </a:schemeClr>
              </a:solidFill>
              <a:latin typeface="Perpetua" panose="02020502060401020303" pitchFamily="18" charset="77"/>
            </a:endParaRPr>
          </a:p>
        </p:txBody>
      </p:sp>
      <p:sp>
        <p:nvSpPr>
          <p:cNvPr id="3" name="TextBox 2">
            <a:extLst>
              <a:ext uri="{FF2B5EF4-FFF2-40B4-BE49-F238E27FC236}">
                <a16:creationId xmlns:a16="http://schemas.microsoft.com/office/drawing/2014/main" id="{E8799350-9A95-2BAB-E931-52C2ACFD4296}"/>
              </a:ext>
            </a:extLst>
          </p:cNvPr>
          <p:cNvSpPr txBox="1"/>
          <p:nvPr/>
        </p:nvSpPr>
        <p:spPr>
          <a:xfrm>
            <a:off x="4474433" y="3429000"/>
            <a:ext cx="3243132" cy="430887"/>
          </a:xfrm>
          <a:prstGeom prst="rect">
            <a:avLst/>
          </a:prstGeom>
          <a:noFill/>
        </p:spPr>
        <p:txBody>
          <a:bodyPr wrap="none" rtlCol="0">
            <a:spAutoFit/>
          </a:bodyPr>
          <a:lstStyle/>
          <a:p>
            <a:pPr algn="ctr"/>
            <a:r>
              <a:rPr lang="en-US" sz="2200" dirty="0">
                <a:solidFill>
                  <a:schemeClr val="bg2">
                    <a:lumMod val="50000"/>
                  </a:schemeClr>
                </a:solidFill>
                <a:latin typeface="Perpetua" panose="02020502060401020303" pitchFamily="18" charset="77"/>
              </a:rPr>
              <a:t>TBD depending on the venue.</a:t>
            </a:r>
          </a:p>
        </p:txBody>
      </p:sp>
    </p:spTree>
    <p:extLst>
      <p:ext uri="{BB962C8B-B14F-4D97-AF65-F5344CB8AC3E}">
        <p14:creationId xmlns:p14="http://schemas.microsoft.com/office/powerpoint/2010/main" val="2518699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F528CC28-B585-532D-588F-898CCA26761F}"/>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093660F3-3EBF-CEC7-3701-E36FF8BCEB11}"/>
              </a:ext>
            </a:extLst>
          </p:cNvPr>
          <p:cNvSpPr>
            <a:spLocks noGrp="1"/>
          </p:cNvSpPr>
          <p:nvPr>
            <p:ph type="title"/>
          </p:nvPr>
        </p:nvSpPr>
        <p:spPr>
          <a:xfrm>
            <a:off x="384871" y="478536"/>
            <a:ext cx="5272217" cy="5900928"/>
          </a:xfrm>
        </p:spPr>
        <p:txBody>
          <a:bodyPr vert="horz" lIns="91440" tIns="45720" rIns="91440" bIns="45720" rtlCol="0" anchor="ctr">
            <a:normAutofit/>
          </a:bodyPr>
          <a:lstStyle/>
          <a:p>
            <a:pPr marL="342900" indent="-342900" algn="ctr">
              <a:buFont typeface="Arial" panose="020B0604020202020204" pitchFamily="34" charset="0"/>
              <a:buChar char="•"/>
            </a:pPr>
            <a:r>
              <a:rPr lang="en-US" sz="2200" dirty="0">
                <a:solidFill>
                  <a:schemeClr val="bg2">
                    <a:lumMod val="50000"/>
                  </a:schemeClr>
                </a:solidFill>
                <a:latin typeface="Perpetua" panose="02020502060401020303" pitchFamily="18" charset="77"/>
              </a:rPr>
              <a:t>(COCKTAIL STYLE) - Each table will feature a white floral arrangement, complemented by clusters of white taper candles at varying heights, evoking a light, refined, and effortlessly elegant atmosphere</a:t>
            </a:r>
            <a:endParaRPr lang="en-US" sz="2200" kern="1200" dirty="0">
              <a:solidFill>
                <a:schemeClr val="bg2">
                  <a:lumMod val="50000"/>
                </a:schemeClr>
              </a:solidFill>
              <a:latin typeface="Perpetua" panose="02020502060401020303" pitchFamily="18" charset="77"/>
            </a:endParaRPr>
          </a:p>
        </p:txBody>
      </p:sp>
      <p:pic>
        <p:nvPicPr>
          <p:cNvPr id="4" name="Picture 3">
            <a:extLst>
              <a:ext uri="{FF2B5EF4-FFF2-40B4-BE49-F238E27FC236}">
                <a16:creationId xmlns:a16="http://schemas.microsoft.com/office/drawing/2014/main" id="{577E1385-A35D-AA45-491E-ED31056D2F5C}"/>
              </a:ext>
            </a:extLst>
          </p:cNvPr>
          <p:cNvPicPr>
            <a:picLocks noChangeAspect="1"/>
          </p:cNvPicPr>
          <p:nvPr/>
        </p:nvPicPr>
        <p:blipFill>
          <a:blip r:embed="rId2"/>
          <a:srcRect l="3290" r="2067" b="2685"/>
          <a:stretch>
            <a:fillRect/>
          </a:stretch>
        </p:blipFill>
        <p:spPr>
          <a:xfrm>
            <a:off x="6790943" y="394820"/>
            <a:ext cx="4718305" cy="6068360"/>
          </a:xfrm>
          <a:prstGeom prst="rect">
            <a:avLst/>
          </a:prstGeom>
        </p:spPr>
      </p:pic>
    </p:spTree>
    <p:extLst>
      <p:ext uri="{BB962C8B-B14F-4D97-AF65-F5344CB8AC3E}">
        <p14:creationId xmlns:p14="http://schemas.microsoft.com/office/powerpoint/2010/main" val="27355749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C8F9A87-91C9-356E-7059-E2D237328950}"/>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5EEEAA05-8DD6-041E-E1C8-07B9096C1671}"/>
              </a:ext>
            </a:extLst>
          </p:cNvPr>
          <p:cNvSpPr>
            <a:spLocks noGrp="1"/>
          </p:cNvSpPr>
          <p:nvPr>
            <p:ph type="title"/>
          </p:nvPr>
        </p:nvSpPr>
        <p:spPr>
          <a:xfrm>
            <a:off x="3569618" y="1260027"/>
            <a:ext cx="5052761" cy="1642872"/>
          </a:xfrm>
        </p:spPr>
        <p:txBody>
          <a:bodyPr vert="horz" lIns="91440" tIns="45720" rIns="91440" bIns="45720" rtlCol="0" anchor="ctr">
            <a:normAutofit/>
          </a:bodyPr>
          <a:lstStyle/>
          <a:p>
            <a:pPr algn="ctr"/>
            <a:r>
              <a:rPr lang="en-AE" sz="5400" dirty="0">
                <a:solidFill>
                  <a:schemeClr val="bg2">
                    <a:lumMod val="50000"/>
                  </a:schemeClr>
                </a:solidFill>
                <a:latin typeface="Perpetua" panose="02020502060401020303" pitchFamily="18" charset="77"/>
              </a:rPr>
              <a:t>BRUNCH</a:t>
            </a:r>
            <a:endParaRPr lang="en-US" sz="5400" kern="1200" dirty="0">
              <a:solidFill>
                <a:schemeClr val="bg2">
                  <a:lumMod val="50000"/>
                </a:schemeClr>
              </a:solidFill>
              <a:latin typeface="Perpetua" panose="02020502060401020303" pitchFamily="18" charset="77"/>
            </a:endParaRPr>
          </a:p>
        </p:txBody>
      </p:sp>
      <p:sp>
        <p:nvSpPr>
          <p:cNvPr id="3" name="TextBox 2">
            <a:extLst>
              <a:ext uri="{FF2B5EF4-FFF2-40B4-BE49-F238E27FC236}">
                <a16:creationId xmlns:a16="http://schemas.microsoft.com/office/drawing/2014/main" id="{12C9BD61-FAE8-FD8A-1787-A39C7DF07142}"/>
              </a:ext>
            </a:extLst>
          </p:cNvPr>
          <p:cNvSpPr txBox="1"/>
          <p:nvPr/>
        </p:nvSpPr>
        <p:spPr>
          <a:xfrm>
            <a:off x="4474432" y="3429000"/>
            <a:ext cx="3243132" cy="707886"/>
          </a:xfrm>
          <a:prstGeom prst="rect">
            <a:avLst/>
          </a:prstGeom>
          <a:noFill/>
        </p:spPr>
        <p:txBody>
          <a:bodyPr wrap="none" rtlCol="0">
            <a:spAutoFit/>
          </a:bodyPr>
          <a:lstStyle/>
          <a:p>
            <a:pPr algn="ctr"/>
            <a:r>
              <a:rPr lang="en-US" sz="2200" dirty="0">
                <a:solidFill>
                  <a:schemeClr val="bg2">
                    <a:lumMod val="50000"/>
                  </a:schemeClr>
                </a:solidFill>
                <a:latin typeface="Perpetua" panose="02020502060401020303" pitchFamily="18" charset="77"/>
              </a:rPr>
              <a:t>TBD depending on the venue.</a:t>
            </a:r>
          </a:p>
          <a:p>
            <a:endParaRPr lang="en-AE" dirty="0"/>
          </a:p>
        </p:txBody>
      </p:sp>
    </p:spTree>
    <p:extLst>
      <p:ext uri="{BB962C8B-B14F-4D97-AF65-F5344CB8AC3E}">
        <p14:creationId xmlns:p14="http://schemas.microsoft.com/office/powerpoint/2010/main" val="231894565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974EF543-29F2-E3FD-EF3D-947E87740DF8}"/>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A08AC46E-EB18-0433-A724-5CB1D6A14A31}"/>
              </a:ext>
            </a:extLst>
          </p:cNvPr>
          <p:cNvSpPr>
            <a:spLocks noGrp="1"/>
          </p:cNvSpPr>
          <p:nvPr>
            <p:ph type="title"/>
          </p:nvPr>
        </p:nvSpPr>
        <p:spPr>
          <a:xfrm>
            <a:off x="570387" y="502158"/>
            <a:ext cx="4964781" cy="5853684"/>
          </a:xfrm>
        </p:spPr>
        <p:txBody>
          <a:bodyPr vert="horz" lIns="91440" tIns="45720" rIns="91440" bIns="45720" rtlCol="0" anchor="ctr">
            <a:normAutofit/>
          </a:bodyPr>
          <a:lstStyle/>
          <a:p>
            <a:pPr marL="342900" indent="-342900" algn="ctr">
              <a:buFont typeface="Arial" panose="020B0604020202020204" pitchFamily="34" charset="0"/>
              <a:buChar char="•"/>
            </a:pPr>
            <a:r>
              <a:rPr lang="en-US" sz="2200" dirty="0">
                <a:solidFill>
                  <a:schemeClr val="bg2">
                    <a:lumMod val="50000"/>
                  </a:schemeClr>
                </a:solidFill>
                <a:latin typeface="Perpetua" panose="02020502060401020303" pitchFamily="18" charset="77"/>
              </a:rPr>
              <a:t>White roses floral arrangements will be placed on each table, displayed in small crystal vases and complemented by votive candles, creating a warm, sophisticated, and effortlessly elegant ambiance</a:t>
            </a:r>
            <a:endParaRPr lang="en-US" sz="2200" kern="1200" dirty="0">
              <a:solidFill>
                <a:schemeClr val="bg2">
                  <a:lumMod val="50000"/>
                </a:schemeClr>
              </a:solidFill>
              <a:latin typeface="Perpetua" panose="02020502060401020303" pitchFamily="18" charset="77"/>
            </a:endParaRPr>
          </a:p>
        </p:txBody>
      </p:sp>
      <p:pic>
        <p:nvPicPr>
          <p:cNvPr id="4" name="Picture 3">
            <a:extLst>
              <a:ext uri="{FF2B5EF4-FFF2-40B4-BE49-F238E27FC236}">
                <a16:creationId xmlns:a16="http://schemas.microsoft.com/office/drawing/2014/main" id="{1806B3F7-5E70-2397-2D64-9B94C818A292}"/>
              </a:ext>
            </a:extLst>
          </p:cNvPr>
          <p:cNvPicPr>
            <a:picLocks noChangeAspect="1"/>
          </p:cNvPicPr>
          <p:nvPr/>
        </p:nvPicPr>
        <p:blipFill>
          <a:blip r:embed="rId3"/>
          <a:srcRect/>
          <a:stretch/>
        </p:blipFill>
        <p:spPr>
          <a:xfrm>
            <a:off x="7070979" y="777002"/>
            <a:ext cx="4243197" cy="5303996"/>
          </a:xfrm>
          <a:prstGeom prst="rect">
            <a:avLst/>
          </a:prstGeom>
        </p:spPr>
      </p:pic>
    </p:spTree>
    <p:extLst>
      <p:ext uri="{BB962C8B-B14F-4D97-AF65-F5344CB8AC3E}">
        <p14:creationId xmlns:p14="http://schemas.microsoft.com/office/powerpoint/2010/main" val="11940259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687805" y="1349957"/>
            <a:ext cx="10816390" cy="4576125"/>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4000" dirty="0">
                <a:solidFill>
                  <a:schemeClr val="bg2">
                    <a:lumMod val="50000"/>
                  </a:schemeClr>
                </a:solidFill>
                <a:effectLst/>
                <a:latin typeface="Perpetua" panose="02020502060401020303" pitchFamily="18" charset="77"/>
                <a:ea typeface="Noto Sans"/>
                <a:cs typeface="Noto Sans"/>
              </a:rPr>
              <a:t>We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can’</a:t>
            </a:r>
            <a:r>
              <a:rPr lang="en-US" sz="4000" dirty="0">
                <a:solidFill>
                  <a:schemeClr val="bg2">
                    <a:lumMod val="50000"/>
                  </a:schemeClr>
                </a:solidFill>
                <a:effectLst/>
                <a:latin typeface="Perpetua" panose="02020502060401020303" pitchFamily="18" charset="77"/>
                <a:ea typeface="Noto Sans"/>
                <a:cs typeface="Noto Sans"/>
              </a:rPr>
              <a:t>t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wai</a:t>
            </a:r>
            <a:r>
              <a:rPr lang="en-US" sz="4000" dirty="0">
                <a:solidFill>
                  <a:schemeClr val="bg2">
                    <a:lumMod val="50000"/>
                  </a:schemeClr>
                </a:solidFill>
                <a:effectLst/>
                <a:latin typeface="Perpetua" panose="02020502060401020303" pitchFamily="18" charset="77"/>
                <a:ea typeface="Noto Sans"/>
                <a:cs typeface="Noto Sans"/>
              </a:rPr>
              <a:t>t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t</a:t>
            </a:r>
            <a:r>
              <a:rPr lang="en-US" sz="4000" dirty="0">
                <a:solidFill>
                  <a:schemeClr val="bg2">
                    <a:lumMod val="50000"/>
                  </a:schemeClr>
                </a:solidFill>
                <a:effectLst/>
                <a:latin typeface="Perpetua" panose="02020502060401020303" pitchFamily="18" charset="77"/>
                <a:ea typeface="Noto Sans"/>
                <a:cs typeface="Noto Sans"/>
              </a:rPr>
              <a:t>o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brin</a:t>
            </a:r>
            <a:r>
              <a:rPr lang="en-US" sz="4000" dirty="0">
                <a:solidFill>
                  <a:schemeClr val="bg2">
                    <a:lumMod val="50000"/>
                  </a:schemeClr>
                </a:solidFill>
                <a:effectLst/>
                <a:latin typeface="Perpetua" panose="02020502060401020303" pitchFamily="18" charset="77"/>
                <a:ea typeface="Noto Sans"/>
                <a:cs typeface="Noto Sans"/>
              </a:rPr>
              <a:t>g </a:t>
            </a:r>
            <a:r>
              <a:rPr lang="en-US" sz="4000" spc="-5" dirty="0">
                <a:solidFill>
                  <a:schemeClr val="bg2">
                    <a:lumMod val="50000"/>
                  </a:schemeClr>
                </a:solidFill>
                <a:effectLst/>
                <a:latin typeface="Perpetua" panose="02020502060401020303" pitchFamily="18" charset="77"/>
                <a:ea typeface="Noto Sans"/>
                <a:cs typeface="Noto Sans"/>
              </a:rPr>
              <a:t>you</a:t>
            </a:r>
            <a:r>
              <a:rPr lang="en-US" sz="4000" dirty="0">
                <a:solidFill>
                  <a:schemeClr val="bg2">
                    <a:lumMod val="50000"/>
                  </a:schemeClr>
                </a:solidFill>
                <a:effectLst/>
                <a:latin typeface="Perpetua" panose="02020502060401020303" pitchFamily="18" charset="77"/>
                <a:ea typeface="Noto Sans"/>
                <a:cs typeface="Noto Sans"/>
              </a:rPr>
              <a:t>r </a:t>
            </a:r>
            <a:r>
              <a:rPr lang="en-US" sz="4000" spc="-5" dirty="0">
                <a:solidFill>
                  <a:schemeClr val="bg2">
                    <a:lumMod val="50000"/>
                  </a:schemeClr>
                </a:solidFill>
                <a:effectLst/>
                <a:latin typeface="Perpetua" panose="02020502060401020303" pitchFamily="18" charset="77"/>
                <a:ea typeface="Noto Sans"/>
                <a:cs typeface="Noto Sans"/>
              </a:rPr>
              <a:t>visio</a:t>
            </a:r>
            <a:r>
              <a:rPr lang="en-US" sz="4000" dirty="0">
                <a:solidFill>
                  <a:schemeClr val="bg2">
                    <a:lumMod val="50000"/>
                  </a:schemeClr>
                </a:solidFill>
                <a:effectLst/>
                <a:latin typeface="Perpetua" panose="02020502060401020303" pitchFamily="18" charset="77"/>
                <a:ea typeface="Noto Sans"/>
                <a:cs typeface="Noto Sans"/>
              </a:rPr>
              <a:t>n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t</a:t>
            </a:r>
            <a:r>
              <a:rPr lang="en-US" sz="4000" dirty="0">
                <a:solidFill>
                  <a:schemeClr val="bg2">
                    <a:lumMod val="50000"/>
                  </a:schemeClr>
                </a:solidFill>
                <a:effectLst/>
                <a:latin typeface="Perpetua" panose="02020502060401020303" pitchFamily="18" charset="77"/>
                <a:ea typeface="Noto Sans"/>
                <a:cs typeface="Noto Sans"/>
              </a:rPr>
              <a:t>o </a:t>
            </a:r>
            <a:r>
              <a:rPr lang="en-US" sz="4000" spc="-970" dirty="0">
                <a:solidFill>
                  <a:schemeClr val="bg2">
                    <a:lumMod val="50000"/>
                  </a:schemeClr>
                </a:solidFill>
                <a:effectLst/>
                <a:latin typeface="Perpetua" panose="02020502060401020303" pitchFamily="18" charset="77"/>
                <a:ea typeface="Noto Sans"/>
                <a:cs typeface="Noto Sans"/>
              </a:rPr>
              <a:t> </a:t>
            </a:r>
            <a:r>
              <a:rPr lang="en-US" sz="4000" spc="-5" dirty="0">
                <a:solidFill>
                  <a:schemeClr val="bg2">
                    <a:lumMod val="50000"/>
                  </a:schemeClr>
                </a:solidFill>
                <a:effectLst/>
                <a:latin typeface="Perpetua" panose="02020502060401020303" pitchFamily="18" charset="77"/>
                <a:ea typeface="Noto Sans"/>
                <a:cs typeface="Noto Sans"/>
              </a:rPr>
              <a:t>life</a:t>
            </a:r>
            <a:r>
              <a:rPr lang="en-US" sz="4000" dirty="0">
                <a:solidFill>
                  <a:schemeClr val="bg2">
                    <a:lumMod val="50000"/>
                  </a:schemeClr>
                </a:solidFill>
                <a:effectLst/>
                <a:latin typeface="Perpetua" panose="02020502060401020303" pitchFamily="18" charset="77"/>
                <a:ea typeface="Noto Sans"/>
                <a:cs typeface="Noto Sans"/>
              </a:rPr>
              <a:t>!</a:t>
            </a:r>
          </a:p>
          <a:p>
            <a:pPr marL="0" marR="0">
              <a:spcBef>
                <a:spcPts val="0"/>
              </a:spcBef>
              <a:spcAft>
                <a:spcPts val="0"/>
              </a:spcAft>
            </a:pPr>
            <a:r>
              <a:rPr lang="en-US" sz="1600" b="0" dirty="0">
                <a:solidFill>
                  <a:schemeClr val="bg2">
                    <a:lumMod val="50000"/>
                  </a:schemeClr>
                </a:solidFill>
                <a:effectLst/>
                <a:latin typeface="Perpetua" panose="02020502060401020303" pitchFamily="18" charset="77"/>
                <a:ea typeface="Noto Sans"/>
                <a:cs typeface="Noto Sans"/>
              </a:rPr>
              <a:t> </a:t>
            </a:r>
            <a:endParaRPr lang="en-US" sz="1600" b="1" dirty="0">
              <a:solidFill>
                <a:schemeClr val="bg2">
                  <a:lumMod val="50000"/>
                </a:schemeClr>
              </a:solidFill>
              <a:effectLst/>
              <a:latin typeface="Perpetua" panose="02020502060401020303" pitchFamily="18" charset="77"/>
              <a:ea typeface="Noto Sans"/>
              <a:cs typeface="Noto Sans"/>
            </a:endParaRPr>
          </a:p>
          <a:p>
            <a:pPr marL="0" marR="0">
              <a:spcBef>
                <a:spcPts val="0"/>
              </a:spcBef>
              <a:spcAft>
                <a:spcPts val="0"/>
              </a:spcAft>
            </a:pPr>
            <a:r>
              <a:rPr lang="en-US" sz="1600" b="0" dirty="0">
                <a:solidFill>
                  <a:schemeClr val="bg2">
                    <a:lumMod val="50000"/>
                  </a:schemeClr>
                </a:solidFill>
                <a:effectLst/>
                <a:latin typeface="Perpetua" panose="02020502060401020303" pitchFamily="18" charset="77"/>
                <a:ea typeface="Noto Sans"/>
                <a:cs typeface="Noto Sans"/>
              </a:rPr>
              <a:t> </a:t>
            </a:r>
            <a:endParaRPr lang="en-US" sz="1600" b="1" dirty="0">
              <a:solidFill>
                <a:schemeClr val="bg2">
                  <a:lumMod val="50000"/>
                </a:schemeClr>
              </a:solidFill>
              <a:effectLst/>
              <a:latin typeface="Perpetua" panose="02020502060401020303" pitchFamily="18" charset="77"/>
              <a:ea typeface="Noto Sans"/>
              <a:cs typeface="Noto Sans"/>
            </a:endParaRPr>
          </a:p>
          <a:p>
            <a:pPr marL="0" marR="0" algn="ctr">
              <a:spcBef>
                <a:spcPts val="40"/>
              </a:spcBef>
              <a:spcAft>
                <a:spcPts val="0"/>
              </a:spcAft>
            </a:pPr>
            <a:r>
              <a:rPr lang="en-US" sz="1600" b="0" dirty="0">
                <a:solidFill>
                  <a:schemeClr val="bg2">
                    <a:lumMod val="50000"/>
                  </a:schemeClr>
                </a:solidFill>
                <a:effectLst/>
                <a:latin typeface="Perpetua" panose="02020502060401020303" pitchFamily="18" charset="77"/>
                <a:ea typeface="Noto Sans"/>
                <a:cs typeface="Noto Sans"/>
              </a:rPr>
              <a:t> </a:t>
            </a:r>
            <a:endParaRPr lang="en-US" sz="1600" b="1" dirty="0">
              <a:solidFill>
                <a:schemeClr val="bg2">
                  <a:lumMod val="50000"/>
                </a:schemeClr>
              </a:solidFill>
              <a:effectLst/>
              <a:latin typeface="Perpetua" panose="02020502060401020303" pitchFamily="18" charset="77"/>
              <a:ea typeface="Noto Sans"/>
              <a:cs typeface="Noto Sans"/>
            </a:endParaRPr>
          </a:p>
          <a:p>
            <a:pPr marL="845185" marR="681355" algn="ctr">
              <a:lnSpc>
                <a:spcPct val="102000"/>
              </a:lnSpc>
              <a:spcBef>
                <a:spcPts val="525"/>
              </a:spcBef>
              <a:spcAft>
                <a:spcPts val="0"/>
              </a:spcAft>
            </a:pPr>
            <a:r>
              <a:rPr lang="en-US" sz="2400" dirty="0">
                <a:solidFill>
                  <a:schemeClr val="bg2">
                    <a:lumMod val="50000"/>
                  </a:schemeClr>
                </a:solidFill>
                <a:effectLst/>
                <a:latin typeface="Perpetua" panose="02020502060401020303" pitchFamily="18" charset="77"/>
                <a:ea typeface="Noto Sans"/>
                <a:cs typeface="Noto Sans"/>
              </a:rPr>
              <a:t>The concepts (written and images) in this proposal are symbolic of the design inspiration we intend to bring to life for your event. Due to the characteristics of perishable items (flowers), there can be situations that may emerge that are completely out of our control. </a:t>
            </a:r>
            <a:endParaRPr lang="en-US" sz="2400" dirty="0">
              <a:solidFill>
                <a:schemeClr val="bg2">
                  <a:lumMod val="50000"/>
                </a:schemeClr>
              </a:solidFill>
              <a:latin typeface="Perpetua" panose="02020502060401020303" pitchFamily="18" charset="77"/>
              <a:ea typeface="Noto Sans"/>
              <a:cs typeface="Noto Sans"/>
            </a:endParaRPr>
          </a:p>
          <a:p>
            <a:pPr marL="845185" marR="681355" algn="ctr">
              <a:lnSpc>
                <a:spcPct val="102000"/>
              </a:lnSpc>
              <a:spcBef>
                <a:spcPts val="525"/>
              </a:spcBef>
              <a:spcAft>
                <a:spcPts val="0"/>
              </a:spcAft>
            </a:pPr>
            <a:endParaRPr lang="en-US" sz="2400" dirty="0">
              <a:solidFill>
                <a:schemeClr val="bg2">
                  <a:lumMod val="50000"/>
                </a:schemeClr>
              </a:solidFill>
              <a:effectLst/>
              <a:latin typeface="Perpetua" panose="02020502060401020303" pitchFamily="18" charset="77"/>
              <a:ea typeface="Noto Sans"/>
              <a:cs typeface="Noto Sans"/>
            </a:endParaRPr>
          </a:p>
          <a:p>
            <a:pPr marL="839470" marR="675005" indent="-635" algn="ctr">
              <a:lnSpc>
                <a:spcPct val="102000"/>
              </a:lnSpc>
              <a:spcBef>
                <a:spcPts val="5"/>
              </a:spcBef>
              <a:spcAft>
                <a:spcPts val="0"/>
              </a:spcAft>
            </a:pPr>
            <a:r>
              <a:rPr lang="en-US" sz="2400" dirty="0">
                <a:solidFill>
                  <a:schemeClr val="bg2">
                    <a:lumMod val="50000"/>
                  </a:schemeClr>
                </a:solidFill>
                <a:effectLst/>
                <a:latin typeface="Perpetua" panose="02020502060401020303" pitchFamily="18" charset="77"/>
                <a:ea typeface="Noto Sans"/>
                <a:cs typeface="Noto Sans"/>
              </a:rPr>
              <a:t>To protect the integrity of our creativity, we kindly ask that you do not share the details of this proposal with other vendors bidding for your event. This was made just for </a:t>
            </a:r>
            <a:r>
              <a:rPr lang="en-US" sz="2400" i="1" dirty="0">
                <a:solidFill>
                  <a:schemeClr val="bg2">
                    <a:lumMod val="50000"/>
                  </a:schemeClr>
                </a:solidFill>
                <a:effectLst/>
                <a:latin typeface="Perpetua" panose="02020502060401020303" pitchFamily="18" charset="77"/>
                <a:ea typeface="Noto Sans"/>
                <a:cs typeface="Noto Sans"/>
              </a:rPr>
              <a:t>you</a:t>
            </a:r>
            <a:r>
              <a:rPr lang="en-US" sz="2400" dirty="0">
                <a:solidFill>
                  <a:schemeClr val="bg2">
                    <a:lumMod val="50000"/>
                  </a:schemeClr>
                </a:solidFill>
                <a:effectLst/>
                <a:latin typeface="Perpetua" panose="02020502060401020303" pitchFamily="18" charset="77"/>
                <a:ea typeface="Noto Sans"/>
                <a:cs typeface="Noto Sans"/>
              </a:rPr>
              <a:t>. However, please feel free to share this with your family.</a:t>
            </a:r>
          </a:p>
        </p:txBody>
      </p:sp>
    </p:spTree>
    <p:extLst>
      <p:ext uri="{BB962C8B-B14F-4D97-AF65-F5344CB8AC3E}">
        <p14:creationId xmlns:p14="http://schemas.microsoft.com/office/powerpoint/2010/main" val="400827044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6" name="TextBox 25">
            <a:extLst>
              <a:ext uri="{FF2B5EF4-FFF2-40B4-BE49-F238E27FC236}">
                <a16:creationId xmlns:a16="http://schemas.microsoft.com/office/drawing/2014/main" id="{936B29B1-0BBE-4C0C-8087-A9B0079F290D}"/>
              </a:ext>
            </a:extLst>
          </p:cNvPr>
          <p:cNvSpPr txBox="1"/>
          <p:nvPr/>
        </p:nvSpPr>
        <p:spPr>
          <a:xfrm>
            <a:off x="195532" y="89994"/>
            <a:ext cx="10925549" cy="6809365"/>
          </a:xfrm>
          <a:prstGeom prst="rect">
            <a:avLst/>
          </a:prstGeom>
          <a:noFill/>
        </p:spPr>
        <p:txBody>
          <a:bodyPr wrap="square">
            <a:spAutoFit/>
          </a:bodyPr>
          <a:lstStyle/>
          <a:p>
            <a:pPr marL="1596390" marR="513715" indent="-979805" algn="ctr">
              <a:lnSpc>
                <a:spcPct val="98000"/>
              </a:lnSpc>
              <a:spcBef>
                <a:spcPts val="480"/>
              </a:spcBef>
              <a:spcAft>
                <a:spcPts val="0"/>
              </a:spcAft>
            </a:pPr>
            <a:r>
              <a:rPr lang="en-US" sz="2400" dirty="0">
                <a:solidFill>
                  <a:schemeClr val="bg2">
                    <a:lumMod val="50000"/>
                  </a:schemeClr>
                </a:solidFill>
                <a:latin typeface="Perpetua" panose="02020502060401020303" pitchFamily="18" charset="77"/>
                <a:ea typeface="Noto Sans"/>
                <a:cs typeface="Noto Sans"/>
              </a:rPr>
              <a:t>NOTES FOR PLANNER AND FLORIST  TEAM ONLY </a:t>
            </a:r>
            <a:r>
              <a:rPr lang="en-US" sz="2400" b="1" dirty="0">
                <a:solidFill>
                  <a:schemeClr val="accent5">
                    <a:lumMod val="60000"/>
                    <a:lumOff val="40000"/>
                  </a:schemeClr>
                </a:solidFill>
                <a:latin typeface="Perpetua" panose="02020502060401020303" pitchFamily="18" charset="77"/>
                <a:ea typeface="Noto Sans"/>
                <a:cs typeface="Noto Sans"/>
              </a:rPr>
              <a:t>(FRENCH):</a:t>
            </a:r>
            <a:br>
              <a:rPr lang="en-US" sz="2400" b="1" dirty="0">
                <a:solidFill>
                  <a:schemeClr val="accent5">
                    <a:lumMod val="60000"/>
                    <a:lumOff val="40000"/>
                  </a:schemeClr>
                </a:solidFill>
                <a:latin typeface="Perpetua" panose="02020502060401020303" pitchFamily="18" charset="77"/>
                <a:ea typeface="Noto Sans"/>
                <a:cs typeface="Noto Sans"/>
              </a:rPr>
            </a:br>
            <a:br>
              <a:rPr lang="en-US" sz="2400" b="1" dirty="0">
                <a:solidFill>
                  <a:schemeClr val="accent5">
                    <a:lumMod val="60000"/>
                    <a:lumOff val="40000"/>
                  </a:schemeClr>
                </a:solidFill>
                <a:latin typeface="Perpetua" panose="02020502060401020303" pitchFamily="18" charset="77"/>
                <a:ea typeface="Noto Sans"/>
                <a:cs typeface="Noto Sans"/>
              </a:rPr>
            </a:b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Décor de la </a:t>
            </a:r>
            <a:r>
              <a:rPr lang="en-US" dirty="0" err="1">
                <a:solidFill>
                  <a:schemeClr val="bg2">
                    <a:lumMod val="50000"/>
                  </a:schemeClr>
                </a:solidFill>
                <a:latin typeface="Perpetua" panose="02020502060401020303" pitchFamily="18" charset="77"/>
                <a:ea typeface="Noto Sans"/>
                <a:cs typeface="Noto Sans"/>
              </a:rPr>
              <a:t>ceremonie</a:t>
            </a:r>
            <a:r>
              <a:rPr lang="en-US" dirty="0">
                <a:solidFill>
                  <a:schemeClr val="bg2">
                    <a:lumMod val="50000"/>
                  </a:schemeClr>
                </a:solidFill>
                <a:latin typeface="Perpetua" panose="02020502060401020303" pitchFamily="18" charset="77"/>
                <a:ea typeface="Noto Sans"/>
                <a:cs typeface="Noto Sans"/>
              </a:rPr>
              <a:t> </a:t>
            </a:r>
          </a:p>
          <a:p>
            <a:pPr marL="902335" marR="513715" indent="-285750">
              <a:lnSpc>
                <a:spcPct val="98000"/>
              </a:lnSpc>
              <a:spcBef>
                <a:spcPts val="480"/>
              </a:spcBef>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4 longue tables </a:t>
            </a:r>
            <a:r>
              <a:rPr lang="en-US" dirty="0" err="1">
                <a:solidFill>
                  <a:schemeClr val="bg2">
                    <a:lumMod val="50000"/>
                  </a:schemeClr>
                </a:solidFill>
                <a:latin typeface="Perpetua" panose="02020502060401020303" pitchFamily="18" charset="77"/>
                <a:ea typeface="Noto Sans"/>
                <a:cs typeface="Noto Sans"/>
              </a:rPr>
              <a:t>rectangulaire</a:t>
            </a:r>
            <a:r>
              <a:rPr lang="en-US" dirty="0">
                <a:solidFill>
                  <a:schemeClr val="bg2">
                    <a:lumMod val="50000"/>
                  </a:schemeClr>
                </a:solidFill>
                <a:latin typeface="Perpetua" panose="02020502060401020303" pitchFamily="18" charset="77"/>
                <a:ea typeface="Noto Sans"/>
                <a:cs typeface="Noto Sans"/>
              </a:rPr>
              <a:t> de 26/28 </a:t>
            </a:r>
            <a:r>
              <a:rPr lang="en-US" dirty="0" err="1">
                <a:solidFill>
                  <a:schemeClr val="bg2">
                    <a:lumMod val="50000"/>
                  </a:schemeClr>
                </a:solidFill>
                <a:latin typeface="Perpetua" panose="02020502060401020303" pitchFamily="18" charset="77"/>
                <a:ea typeface="Noto Sans"/>
                <a:cs typeface="Noto Sans"/>
              </a:rPr>
              <a:t>personnes</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soit</a:t>
            </a:r>
            <a:r>
              <a:rPr lang="en-US" dirty="0">
                <a:solidFill>
                  <a:schemeClr val="bg2">
                    <a:lumMod val="50000"/>
                  </a:schemeClr>
                </a:solidFill>
                <a:latin typeface="Perpetua" panose="02020502060401020303" pitchFamily="18" charset="77"/>
                <a:ea typeface="Noto Sans"/>
                <a:cs typeface="Noto Sans"/>
              </a:rPr>
              <a:t> 13/14 de </a:t>
            </a:r>
            <a:r>
              <a:rPr lang="en-US" dirty="0" err="1">
                <a:solidFill>
                  <a:schemeClr val="bg2">
                    <a:lumMod val="50000"/>
                  </a:schemeClr>
                </a:solidFill>
                <a:latin typeface="Perpetua" panose="02020502060401020303" pitchFamily="18" charset="77"/>
                <a:ea typeface="Noto Sans"/>
                <a:cs typeface="Noto Sans"/>
              </a:rPr>
              <a:t>chaque</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coté</a:t>
            </a:r>
            <a:r>
              <a:rPr lang="en-US" dirty="0">
                <a:solidFill>
                  <a:schemeClr val="bg2">
                    <a:lumMod val="50000"/>
                  </a:schemeClr>
                </a:solidFill>
                <a:latin typeface="Perpetua" panose="02020502060401020303" pitchFamily="18" charset="77"/>
                <a:ea typeface="Noto Sans"/>
                <a:cs typeface="Noto Sans"/>
              </a:rPr>
              <a:t>)</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8 décor Tables mange </a:t>
            </a:r>
            <a:r>
              <a:rPr lang="en-US" dirty="0" err="1">
                <a:solidFill>
                  <a:schemeClr val="bg2">
                    <a:lumMod val="50000"/>
                  </a:schemeClr>
                </a:solidFill>
                <a:latin typeface="Perpetua" panose="02020502060401020303" pitchFamily="18" charset="77"/>
                <a:ea typeface="Noto Sans"/>
                <a:cs typeface="Noto Sans"/>
              </a:rPr>
              <a:t>debout</a:t>
            </a:r>
            <a:r>
              <a:rPr lang="en-US" dirty="0">
                <a:solidFill>
                  <a:schemeClr val="bg2">
                    <a:lumMod val="50000"/>
                  </a:schemeClr>
                </a:solidFill>
                <a:latin typeface="Perpetua" panose="02020502060401020303" pitchFamily="18" charset="77"/>
                <a:ea typeface="Noto Sans"/>
                <a:cs typeface="Noto Sans"/>
              </a:rPr>
              <a:t> pour </a:t>
            </a:r>
            <a:r>
              <a:rPr lang="en-US" dirty="0" err="1">
                <a:solidFill>
                  <a:schemeClr val="bg2">
                    <a:lumMod val="50000"/>
                  </a:schemeClr>
                </a:solidFill>
                <a:latin typeface="Perpetua" panose="02020502060401020303" pitchFamily="18" charset="77"/>
                <a:ea typeface="Noto Sans"/>
                <a:cs typeface="Noto Sans"/>
              </a:rPr>
              <a:t>l'heure</a:t>
            </a:r>
            <a:r>
              <a:rPr lang="en-US" dirty="0">
                <a:solidFill>
                  <a:schemeClr val="bg2">
                    <a:lumMod val="50000"/>
                  </a:schemeClr>
                </a:solidFill>
                <a:latin typeface="Perpetua" panose="02020502060401020303" pitchFamily="18" charset="77"/>
                <a:ea typeface="Noto Sans"/>
                <a:cs typeface="Noto Sans"/>
              </a:rPr>
              <a:t> du cocktail</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2 Décor de Bars (1 pour le cocktail - 1 pour la </a:t>
            </a:r>
            <a:r>
              <a:rPr lang="en-US" dirty="0" err="1">
                <a:solidFill>
                  <a:schemeClr val="bg2">
                    <a:lumMod val="50000"/>
                  </a:schemeClr>
                </a:solidFill>
                <a:latin typeface="Perpetua" panose="02020502060401020303" pitchFamily="18" charset="77"/>
                <a:ea typeface="Noto Sans"/>
                <a:cs typeface="Noto Sans"/>
              </a:rPr>
              <a:t>réception</a:t>
            </a:r>
            <a:r>
              <a:rPr lang="en-US" dirty="0">
                <a:solidFill>
                  <a:schemeClr val="bg2">
                    <a:lumMod val="50000"/>
                  </a:schemeClr>
                </a:solidFill>
                <a:latin typeface="Perpetua" panose="02020502060401020303" pitchFamily="18" charset="77"/>
                <a:ea typeface="Noto Sans"/>
                <a:cs typeface="Noto Sans"/>
              </a:rPr>
              <a:t>/fête)</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décor pour le welcome sign / </a:t>
            </a:r>
            <a:r>
              <a:rPr lang="en-US" dirty="0" err="1">
                <a:solidFill>
                  <a:schemeClr val="bg2">
                    <a:lumMod val="50000"/>
                  </a:schemeClr>
                </a:solidFill>
                <a:latin typeface="Perpetua" panose="02020502060401020303" pitchFamily="18" charset="77"/>
                <a:ea typeface="Noto Sans"/>
                <a:cs typeface="Noto Sans"/>
              </a:rPr>
              <a:t>panneau</a:t>
            </a:r>
            <a:r>
              <a:rPr lang="en-US" dirty="0">
                <a:solidFill>
                  <a:schemeClr val="bg2">
                    <a:lumMod val="50000"/>
                  </a:schemeClr>
                </a:solidFill>
                <a:latin typeface="Perpetua" panose="02020502060401020303" pitchFamily="18" charset="77"/>
                <a:ea typeface="Noto Sans"/>
                <a:cs typeface="Noto Sans"/>
              </a:rPr>
              <a:t> de </a:t>
            </a:r>
            <a:r>
              <a:rPr lang="en-US" dirty="0" err="1">
                <a:solidFill>
                  <a:schemeClr val="bg2">
                    <a:lumMod val="50000"/>
                  </a:schemeClr>
                </a:solidFill>
                <a:latin typeface="Perpetua" panose="02020502060401020303" pitchFamily="18" charset="77"/>
                <a:ea typeface="Noto Sans"/>
                <a:cs typeface="Noto Sans"/>
              </a:rPr>
              <a:t>bienvenue</a:t>
            </a:r>
            <a:endParaRPr lang="en-US"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1 décor pour la Table “Welcome” Table (ceci </a:t>
            </a:r>
            <a:r>
              <a:rPr lang="en-US" dirty="0" err="1">
                <a:solidFill>
                  <a:schemeClr val="bg2">
                    <a:lumMod val="50000"/>
                  </a:schemeClr>
                </a:solidFill>
                <a:latin typeface="Perpetua" panose="02020502060401020303" pitchFamily="18" charset="77"/>
                <a:ea typeface="Noto Sans"/>
                <a:cs typeface="Noto Sans"/>
              </a:rPr>
              <a:t>n’est</a:t>
            </a:r>
            <a:r>
              <a:rPr lang="en-US" dirty="0">
                <a:solidFill>
                  <a:schemeClr val="bg2">
                    <a:lumMod val="50000"/>
                  </a:schemeClr>
                </a:solidFill>
                <a:latin typeface="Perpetua" panose="02020502060401020303" pitchFamily="18" charset="77"/>
                <a:ea typeface="Noto Sans"/>
                <a:cs typeface="Noto Sans"/>
              </a:rPr>
              <a:t> pas mis dans le mood board </a:t>
            </a:r>
            <a:r>
              <a:rPr lang="en-US" dirty="0" err="1">
                <a:solidFill>
                  <a:schemeClr val="bg2">
                    <a:lumMod val="50000"/>
                  </a:schemeClr>
                </a:solidFill>
                <a:latin typeface="Perpetua" panose="02020502060401020303" pitchFamily="18" charset="77"/>
                <a:ea typeface="Noto Sans"/>
                <a:cs typeface="Noto Sans"/>
              </a:rPr>
              <a:t>mais</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j’aimerai</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leur</a:t>
            </a:r>
            <a:r>
              <a:rPr lang="en-US" dirty="0">
                <a:solidFill>
                  <a:schemeClr val="bg2">
                    <a:lumMod val="50000"/>
                  </a:schemeClr>
                </a:solidFill>
                <a:latin typeface="Perpetua" panose="02020502060401020303" pitchFamily="18" charset="77"/>
                <a:ea typeface="Noto Sans"/>
                <a:cs typeface="Noto Sans"/>
              </a:rPr>
              <a:t> presenter </a:t>
            </a:r>
            <a:r>
              <a:rPr lang="en-US" dirty="0" err="1">
                <a:solidFill>
                  <a:schemeClr val="bg2">
                    <a:lumMod val="50000"/>
                  </a:schemeClr>
                </a:solidFill>
                <a:latin typeface="Perpetua" panose="02020502060401020303" pitchFamily="18" charset="77"/>
                <a:ea typeface="Noto Sans"/>
                <a:cs typeface="Noto Sans"/>
              </a:rPr>
              <a:t>une</a:t>
            </a:r>
            <a:r>
              <a:rPr lang="en-US" dirty="0">
                <a:solidFill>
                  <a:schemeClr val="bg2">
                    <a:lumMod val="50000"/>
                  </a:schemeClr>
                </a:solidFill>
                <a:latin typeface="Perpetua" panose="02020502060401020303" pitchFamily="18" charset="77"/>
                <a:ea typeface="Noto Sans"/>
                <a:cs typeface="Noto Sans"/>
              </a:rPr>
              <a:t> option)</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Re disposition des fleurs pour la table du Wedding Cake</a:t>
            </a:r>
          </a:p>
          <a:p>
            <a:pPr marL="616585" marR="513715">
              <a:lnSpc>
                <a:spcPct val="98000"/>
              </a:lnSpc>
              <a:spcBef>
                <a:spcPts val="480"/>
              </a:spcBef>
              <a:spcAft>
                <a:spcPts val="0"/>
              </a:spcAft>
            </a:pPr>
            <a:endParaRPr lang="en-US" b="1" dirty="0">
              <a:solidFill>
                <a:schemeClr val="bg2">
                  <a:lumMod val="50000"/>
                </a:schemeClr>
              </a:solidFill>
              <a:latin typeface="Perpetua" panose="02020502060401020303" pitchFamily="18" charset="77"/>
              <a:ea typeface="Noto Sans"/>
              <a:cs typeface="Noto Sans"/>
            </a:endParaRPr>
          </a:p>
          <a:p>
            <a:pPr marL="616585" marR="513715">
              <a:lnSpc>
                <a:spcPct val="98000"/>
              </a:lnSpc>
              <a:spcBef>
                <a:spcPts val="480"/>
              </a:spcBef>
              <a:spcAft>
                <a:spcPts val="0"/>
              </a:spcAft>
            </a:pPr>
            <a:r>
              <a:rPr lang="en-US" b="1" dirty="0">
                <a:solidFill>
                  <a:schemeClr val="bg2">
                    <a:lumMod val="50000"/>
                  </a:schemeClr>
                </a:solidFill>
                <a:latin typeface="Perpetua" panose="02020502060401020303" pitchFamily="18" charset="77"/>
                <a:ea typeface="Noto Sans"/>
                <a:cs typeface="Noto Sans"/>
              </a:rPr>
              <a:t>REHEARSAL DINNER </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8 tables cocktail avec le meme genre de compo </a:t>
            </a:r>
            <a:r>
              <a:rPr lang="en-US" dirty="0" err="1">
                <a:solidFill>
                  <a:schemeClr val="bg2">
                    <a:lumMod val="50000"/>
                  </a:schemeClr>
                </a:solidFill>
                <a:latin typeface="Perpetua" panose="02020502060401020303" pitchFamily="18" charset="77"/>
                <a:ea typeface="Noto Sans"/>
                <a:cs typeface="Noto Sans"/>
              </a:rPr>
              <a:t>que</a:t>
            </a:r>
            <a:r>
              <a:rPr lang="en-US" dirty="0">
                <a:solidFill>
                  <a:schemeClr val="bg2">
                    <a:lumMod val="50000"/>
                  </a:schemeClr>
                </a:solidFill>
                <a:latin typeface="Perpetua" panose="02020502060401020303" pitchFamily="18" charset="77"/>
                <a:ea typeface="Noto Sans"/>
                <a:cs typeface="Noto Sans"/>
              </a:rPr>
              <a:t> sur la photo</a:t>
            </a:r>
            <a:br>
              <a:rPr lang="en-US" dirty="0">
                <a:solidFill>
                  <a:schemeClr val="bg2">
                    <a:lumMod val="50000"/>
                  </a:schemeClr>
                </a:solidFill>
                <a:latin typeface="Perpetua" panose="02020502060401020303" pitchFamily="18" charset="77"/>
                <a:ea typeface="Noto Sans"/>
                <a:cs typeface="Noto Sans"/>
              </a:rPr>
            </a:br>
            <a:endParaRPr lang="en-US" b="1" dirty="0">
              <a:solidFill>
                <a:schemeClr val="bg2">
                  <a:lumMod val="50000"/>
                </a:schemeClr>
              </a:solidFill>
              <a:latin typeface="Perpetua" panose="02020502060401020303" pitchFamily="18" charset="77"/>
              <a:ea typeface="Noto Sans"/>
              <a:cs typeface="Noto Sans"/>
            </a:endParaRPr>
          </a:p>
          <a:p>
            <a:pPr marL="902335" marR="513715" indent="-285750">
              <a:lnSpc>
                <a:spcPct val="98000"/>
              </a:lnSpc>
              <a:spcBef>
                <a:spcPts val="480"/>
              </a:spcBef>
              <a:spcAft>
                <a:spcPts val="0"/>
              </a:spcAft>
              <a:buFont typeface="Arial" panose="020B0604020202020204" pitchFamily="34" charset="0"/>
              <a:buChar char="•"/>
            </a:pPr>
            <a:r>
              <a:rPr lang="en-US" b="1" dirty="0">
                <a:solidFill>
                  <a:schemeClr val="bg2">
                    <a:lumMod val="50000"/>
                  </a:schemeClr>
                </a:solidFill>
                <a:latin typeface="Perpetua" panose="02020502060401020303" pitchFamily="18" charset="77"/>
                <a:ea typeface="Noto Sans"/>
                <a:cs typeface="Noto Sans"/>
              </a:rPr>
              <a:t>BRUNCH</a:t>
            </a:r>
            <a:br>
              <a:rPr lang="en-US" b="1" dirty="0">
                <a:solidFill>
                  <a:schemeClr val="bg2">
                    <a:lumMod val="50000"/>
                  </a:schemeClr>
                </a:solidFill>
                <a:latin typeface="Perpetua" panose="02020502060401020303" pitchFamily="18" charset="77"/>
                <a:ea typeface="Noto Sans"/>
                <a:cs typeface="Noto Sans"/>
              </a:rPr>
            </a:br>
            <a:br>
              <a:rPr lang="en-US" dirty="0">
                <a:solidFill>
                  <a:schemeClr val="bg2">
                    <a:lumMod val="50000"/>
                  </a:schemeClr>
                </a:solidFill>
                <a:latin typeface="Perpetua" panose="02020502060401020303" pitchFamily="18" charset="77"/>
                <a:ea typeface="Noto Sans"/>
                <a:cs typeface="Noto Sans"/>
              </a:rPr>
            </a:br>
            <a:r>
              <a:rPr lang="en-US" dirty="0">
                <a:solidFill>
                  <a:schemeClr val="bg2">
                    <a:lumMod val="50000"/>
                  </a:schemeClr>
                </a:solidFill>
                <a:latin typeface="Perpetua" panose="02020502060401020303" pitchFamily="18" charset="77"/>
                <a:ea typeface="Noto Sans"/>
                <a:cs typeface="Noto Sans"/>
              </a:rPr>
              <a:t>Proposer </a:t>
            </a:r>
            <a:r>
              <a:rPr lang="en-US" dirty="0" err="1">
                <a:solidFill>
                  <a:schemeClr val="bg2">
                    <a:lumMod val="50000"/>
                  </a:schemeClr>
                </a:solidFill>
                <a:latin typeface="Perpetua" panose="02020502060401020303" pitchFamily="18" charset="77"/>
                <a:ea typeface="Noto Sans"/>
                <a:cs typeface="Noto Sans"/>
              </a:rPr>
              <a:t>une</a:t>
            </a:r>
            <a:r>
              <a:rPr lang="en-US" dirty="0">
                <a:solidFill>
                  <a:schemeClr val="bg2">
                    <a:lumMod val="50000"/>
                  </a:schemeClr>
                </a:solidFill>
                <a:latin typeface="Perpetua" panose="02020502060401020303" pitchFamily="18" charset="77"/>
                <a:ea typeface="Noto Sans"/>
                <a:cs typeface="Noto Sans"/>
              </a:rPr>
              <a:t> option avec 8 table mange </a:t>
            </a:r>
            <a:r>
              <a:rPr lang="en-US" dirty="0" err="1">
                <a:solidFill>
                  <a:schemeClr val="bg2">
                    <a:lumMod val="50000"/>
                  </a:schemeClr>
                </a:solidFill>
                <a:latin typeface="Perpetua" panose="02020502060401020303" pitchFamily="18" charset="77"/>
                <a:ea typeface="Noto Sans"/>
                <a:cs typeface="Noto Sans"/>
              </a:rPr>
              <a:t>debout</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comme</a:t>
            </a:r>
            <a:r>
              <a:rPr lang="en-US" dirty="0">
                <a:solidFill>
                  <a:schemeClr val="bg2">
                    <a:lumMod val="50000"/>
                  </a:schemeClr>
                </a:solidFill>
                <a:latin typeface="Perpetua" panose="02020502060401020303" pitchFamily="18" charset="77"/>
                <a:ea typeface="Noto Sans"/>
                <a:cs typeface="Noto Sans"/>
              </a:rPr>
              <a:t> sur la photo</a:t>
            </a:r>
          </a:p>
          <a:p>
            <a:pPr marL="902335" marR="513715" indent="-285750">
              <a:lnSpc>
                <a:spcPct val="98000"/>
              </a:lnSpc>
              <a:spcBef>
                <a:spcPts val="480"/>
              </a:spcBef>
              <a:spcAft>
                <a:spcPts val="0"/>
              </a:spcAft>
              <a:buFont typeface="Arial" panose="020B0604020202020204" pitchFamily="34" charset="0"/>
              <a:buChar char="•"/>
            </a:pPr>
            <a:r>
              <a:rPr lang="en-US" dirty="0">
                <a:solidFill>
                  <a:schemeClr val="bg2">
                    <a:lumMod val="50000"/>
                  </a:schemeClr>
                </a:solidFill>
                <a:latin typeface="Perpetua" panose="02020502060401020303" pitchFamily="18" charset="77"/>
                <a:ea typeface="Noto Sans"/>
                <a:cs typeface="Noto Sans"/>
              </a:rPr>
              <a:t>Proposer </a:t>
            </a:r>
            <a:r>
              <a:rPr lang="en-US" dirty="0" err="1">
                <a:solidFill>
                  <a:schemeClr val="bg2">
                    <a:lumMod val="50000"/>
                  </a:schemeClr>
                </a:solidFill>
                <a:latin typeface="Perpetua" panose="02020502060401020303" pitchFamily="18" charset="77"/>
                <a:ea typeface="Noto Sans"/>
                <a:cs typeface="Noto Sans"/>
              </a:rPr>
              <a:t>une</a:t>
            </a:r>
            <a:r>
              <a:rPr lang="en-US" dirty="0">
                <a:solidFill>
                  <a:schemeClr val="bg2">
                    <a:lumMod val="50000"/>
                  </a:schemeClr>
                </a:solidFill>
                <a:latin typeface="Perpetua" panose="02020502060401020303" pitchFamily="18" charset="77"/>
                <a:ea typeface="Noto Sans"/>
                <a:cs typeface="Noto Sans"/>
              </a:rPr>
              <a:t> option de </a:t>
            </a:r>
            <a:r>
              <a:rPr lang="en-US" dirty="0" err="1">
                <a:solidFill>
                  <a:schemeClr val="bg2">
                    <a:lumMod val="50000"/>
                  </a:schemeClr>
                </a:solidFill>
                <a:latin typeface="Perpetua" panose="02020502060401020303" pitchFamily="18" charset="77"/>
                <a:ea typeface="Noto Sans"/>
                <a:cs typeface="Noto Sans"/>
              </a:rPr>
              <a:t>redisposer</a:t>
            </a:r>
            <a:r>
              <a:rPr lang="en-US" dirty="0">
                <a:solidFill>
                  <a:schemeClr val="bg2">
                    <a:lumMod val="50000"/>
                  </a:schemeClr>
                </a:solidFill>
                <a:latin typeface="Perpetua" panose="02020502060401020303" pitchFamily="18" charset="77"/>
                <a:ea typeface="Noto Sans"/>
                <a:cs typeface="Noto Sans"/>
              </a:rPr>
              <a:t> les fleurs de </a:t>
            </a:r>
            <a:r>
              <a:rPr lang="en-US" dirty="0" err="1">
                <a:solidFill>
                  <a:schemeClr val="bg2">
                    <a:lumMod val="50000"/>
                  </a:schemeClr>
                </a:solidFill>
                <a:latin typeface="Perpetua" panose="02020502060401020303" pitchFamily="18" charset="77"/>
                <a:ea typeface="Noto Sans"/>
                <a:cs typeface="Noto Sans"/>
              </a:rPr>
              <a:t>l’aveille</a:t>
            </a:r>
            <a:r>
              <a:rPr lang="en-US" dirty="0">
                <a:solidFill>
                  <a:schemeClr val="bg2">
                    <a:lumMod val="50000"/>
                  </a:schemeClr>
                </a:solidFill>
                <a:latin typeface="Perpetua" panose="02020502060401020303" pitchFamily="18" charset="77"/>
                <a:ea typeface="Noto Sans"/>
                <a:cs typeface="Noto Sans"/>
              </a:rPr>
              <a:t> – </a:t>
            </a:r>
            <a:r>
              <a:rPr lang="en-US" dirty="0" err="1">
                <a:solidFill>
                  <a:schemeClr val="bg2">
                    <a:lumMod val="50000"/>
                  </a:schemeClr>
                </a:solidFill>
                <a:latin typeface="Perpetua" panose="02020502060401020303" pitchFamily="18" charset="77"/>
                <a:ea typeface="Noto Sans"/>
                <a:cs typeface="Noto Sans"/>
              </a:rPr>
              <a:t>cout</a:t>
            </a:r>
            <a:r>
              <a:rPr lang="en-US" dirty="0">
                <a:solidFill>
                  <a:schemeClr val="bg2">
                    <a:lumMod val="50000"/>
                  </a:schemeClr>
                </a:solidFill>
                <a:latin typeface="Perpetua" panose="02020502060401020303" pitchFamily="18" charset="77"/>
                <a:ea typeface="Noto Sans"/>
                <a:cs typeface="Noto Sans"/>
              </a:rPr>
              <a:t> </a:t>
            </a:r>
            <a:r>
              <a:rPr lang="en-US" dirty="0" err="1">
                <a:solidFill>
                  <a:schemeClr val="bg2">
                    <a:lumMod val="50000"/>
                  </a:schemeClr>
                </a:solidFill>
                <a:latin typeface="Perpetua" panose="02020502060401020303" pitchFamily="18" charset="77"/>
                <a:ea typeface="Noto Sans"/>
                <a:cs typeface="Noto Sans"/>
              </a:rPr>
              <a:t>supplementaire</a:t>
            </a:r>
            <a:endParaRPr lang="en-US" dirty="0">
              <a:solidFill>
                <a:schemeClr val="bg2">
                  <a:lumMod val="50000"/>
                </a:schemeClr>
              </a:solidFill>
              <a:latin typeface="Perpetua" panose="02020502060401020303" pitchFamily="18" charset="77"/>
              <a:ea typeface="Noto Sans"/>
              <a:cs typeface="Noto Sans"/>
            </a:endParaRPr>
          </a:p>
          <a:p>
            <a:pPr marL="616585" marR="513715">
              <a:lnSpc>
                <a:spcPct val="98000"/>
              </a:lnSpc>
              <a:spcBef>
                <a:spcPts val="480"/>
              </a:spcBef>
              <a:spcAft>
                <a:spcPts val="0"/>
              </a:spcAft>
            </a:pPr>
            <a:br>
              <a:rPr lang="en-US" dirty="0">
                <a:solidFill>
                  <a:schemeClr val="bg2">
                    <a:lumMod val="50000"/>
                  </a:schemeClr>
                </a:solidFill>
                <a:latin typeface="Perpetua" panose="02020502060401020303" pitchFamily="18" charset="77"/>
                <a:ea typeface="Noto Sans"/>
                <a:cs typeface="Noto Sans"/>
              </a:rPr>
            </a:br>
            <a:endParaRPr lang="en-US" dirty="0">
              <a:solidFill>
                <a:schemeClr val="bg2">
                  <a:lumMod val="50000"/>
                </a:schemeClr>
              </a:solidFill>
              <a:latin typeface="Perpetua" panose="02020502060401020303" pitchFamily="18" charset="77"/>
              <a:ea typeface="Noto Sans"/>
              <a:cs typeface="Noto Sans"/>
            </a:endParaRPr>
          </a:p>
        </p:txBody>
      </p:sp>
    </p:spTree>
    <p:extLst>
      <p:ext uri="{BB962C8B-B14F-4D97-AF65-F5344CB8AC3E}">
        <p14:creationId xmlns:p14="http://schemas.microsoft.com/office/powerpoint/2010/main" val="1347272106"/>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2.xml><?xml version="1.0" encoding="utf-8"?>
<a:theme xmlns:a="http://schemas.openxmlformats.org/drawingml/2006/main" name="Thème Office">
  <a:themeElements>
    <a:clrScheme name="Bureau">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Bureau">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ureau">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19671</TotalTime>
  <Words>1089</Words>
  <Application>Microsoft Macintosh PowerPoint</Application>
  <PresentationFormat>Widescreen</PresentationFormat>
  <Paragraphs>112</Paragraphs>
  <Slides>26</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26</vt:i4>
      </vt:variant>
    </vt:vector>
  </HeadingPairs>
  <TitlesOfParts>
    <vt:vector size="31" baseType="lpstr">
      <vt:lpstr>Arial</vt:lpstr>
      <vt:lpstr>Calibri</vt:lpstr>
      <vt:lpstr>Calibri Light</vt:lpstr>
      <vt:lpstr>Perpetua</vt:lpstr>
      <vt:lpstr>Office 2013 - 2022 Theme</vt:lpstr>
      <vt:lpstr>ERICH &amp; MICHAEL’S WEDDING</vt:lpstr>
      <vt:lpstr>COLOR PALETTE</vt:lpstr>
      <vt:lpstr>CEREMONY DECOR   </vt:lpstr>
      <vt:lpstr>ALTAR DECOR   </vt:lpstr>
      <vt:lpstr>COCKTAIL </vt:lpstr>
      <vt:lpstr>BARS RENTAL &amp; DECOR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UP LITHING </vt:lpstr>
      <vt:lpstr>PowerPoint Presentation</vt:lpstr>
      <vt:lpstr>RECEPTION/DINNER SEATING PLAN   </vt:lpstr>
      <vt:lpstr>WELCOME DINNER</vt:lpstr>
      <vt:lpstr>(COCKTAIL STYLE) - Each table will feature a white floral arrangement, complemented by clusters of white taper candles at varying heights, evoking a light, refined, and effortlessly elegant atmosphere</vt:lpstr>
      <vt:lpstr>BRUNCH</vt:lpstr>
      <vt:lpstr>White roses floral arrangements will be placed on each table, displayed in small crystal vases and complemented by votive candles, creating a warm, sophisticated, and effortlessly elegant ambiance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SHERAZ &amp; RONIS WEDDING</dc:title>
  <dc:creator>Sheraaz Aït</dc:creator>
  <cp:lastModifiedBy>Haute Couture Events Wedding and Event planning</cp:lastModifiedBy>
  <cp:revision>123</cp:revision>
  <dcterms:created xsi:type="dcterms:W3CDTF">2020-01-16T20:29:49Z</dcterms:created>
  <dcterms:modified xsi:type="dcterms:W3CDTF">2026-03-25T10:02:33Z</dcterms:modified>
</cp:coreProperties>
</file>