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6" r:id="rId1"/>
  </p:sldMasterIdLst>
  <p:notesMasterIdLst>
    <p:notesMasterId r:id="rId12"/>
  </p:notesMasterIdLst>
  <p:sldIdLst>
    <p:sldId id="256" r:id="rId2"/>
    <p:sldId id="337" r:id="rId3"/>
    <p:sldId id="368" r:id="rId4"/>
    <p:sldId id="366" r:id="rId5"/>
    <p:sldId id="386" r:id="rId6"/>
    <p:sldId id="387" r:id="rId7"/>
    <p:sldId id="388" r:id="rId8"/>
    <p:sldId id="406" r:id="rId9"/>
    <p:sldId id="407" r:id="rId10"/>
    <p:sldId id="329"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6EE"/>
    <a:srgbClr val="FEF1FF"/>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2ED171-5C47-5D46-8C2B-2B618B865F1B}" v="4" dt="2026-02-15T09:46:31.9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0546"/>
    <p:restoredTop sz="93162"/>
  </p:normalViewPr>
  <p:slideViewPr>
    <p:cSldViewPr snapToGrid="0" snapToObjects="1">
      <p:cViewPr varScale="1">
        <p:scale>
          <a:sx n="101" d="100"/>
          <a:sy n="101" d="100"/>
        </p:scale>
        <p:origin x="224" y="376"/>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AE4590-D35A-8142-86AA-90D125960F78}" type="datetimeFigureOut">
              <a:rPr lang="fr-FR" smtClean="0"/>
              <a:t>06/04/2026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7486C1-5F9D-AA45-B7ED-A387EFD3B1ED}" type="slidenum">
              <a:rPr lang="fr-FR" smtClean="0"/>
              <a:t>‹#›</a:t>
            </a:fld>
            <a:endParaRPr lang="fr-FR"/>
          </a:p>
        </p:txBody>
      </p:sp>
    </p:spTree>
    <p:extLst>
      <p:ext uri="{BB962C8B-B14F-4D97-AF65-F5344CB8AC3E}">
        <p14:creationId xmlns:p14="http://schemas.microsoft.com/office/powerpoint/2010/main" val="362582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922751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875017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40417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4/6/26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475438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4/6/26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83017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4/6/26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26620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4/6/26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758865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4/6/26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01110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4/6/26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2208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55953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314632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4/6/26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59564783"/>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31" r:id="rId5"/>
    <p:sldLayoutId id="2147483932" r:id="rId6"/>
    <p:sldLayoutId id="2147483933" r:id="rId7"/>
    <p:sldLayoutId id="2147483934" r:id="rId8"/>
    <p:sldLayoutId id="2147483935" r:id="rId9"/>
    <p:sldLayoutId id="2147483936" r:id="rId10"/>
    <p:sldLayoutId id="214748393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71437"/>
            <a:ext cx="9144000" cy="2387600"/>
          </a:xfrm>
        </p:spPr>
        <p:txBody>
          <a:bodyPr/>
          <a:lstStyle/>
          <a:p>
            <a:r>
              <a:rPr lang="fr-FR" dirty="0">
                <a:solidFill>
                  <a:schemeClr val="bg2">
                    <a:lumMod val="50000"/>
                  </a:schemeClr>
                </a:solidFill>
                <a:latin typeface="Perpetua" panose="02020502060401020303" pitchFamily="18" charset="77"/>
              </a:rPr>
              <a:t>KIARA &amp; SEAN’S</a:t>
            </a:r>
            <a:br>
              <a:rPr lang="fr-FR" dirty="0">
                <a:solidFill>
                  <a:schemeClr val="bg2">
                    <a:lumMod val="50000"/>
                  </a:schemeClr>
                </a:solidFill>
                <a:latin typeface="Perpetua" panose="02020502060401020303" pitchFamily="18" charset="77"/>
              </a:rPr>
            </a:br>
            <a:r>
              <a:rPr lang="fr-FR" dirty="0">
                <a:solidFill>
                  <a:schemeClr val="bg2">
                    <a:lumMod val="50000"/>
                  </a:schemeClr>
                </a:solidFill>
                <a:latin typeface="Perpetua" panose="02020502060401020303" pitchFamily="18" charset="77"/>
              </a:rPr>
              <a:t>WEDDING</a:t>
            </a:r>
          </a:p>
        </p:txBody>
      </p:sp>
      <p:sp>
        <p:nvSpPr>
          <p:cNvPr id="3" name="Sous-titre 2"/>
          <p:cNvSpPr>
            <a:spLocks noGrp="1"/>
          </p:cNvSpPr>
          <p:nvPr>
            <p:ph type="subTitle" idx="1"/>
          </p:nvPr>
        </p:nvSpPr>
        <p:spPr>
          <a:xfrm>
            <a:off x="478138" y="3429000"/>
            <a:ext cx="10807323" cy="3419474"/>
          </a:xfrm>
        </p:spPr>
        <p:txBody>
          <a:bodyPr>
            <a:normAutofit/>
          </a:bodyPr>
          <a:lstStyle/>
          <a:p>
            <a:r>
              <a:rPr lang="fr-FR" dirty="0">
                <a:solidFill>
                  <a:schemeClr val="bg2">
                    <a:lumMod val="50000"/>
                  </a:schemeClr>
                </a:solidFill>
                <a:latin typeface="Perpetua" panose="02020502060401020303" pitchFamily="18" charset="77"/>
                <a:ea typeface="Perpetua" charset="0"/>
                <a:cs typeface="Perpetua" charset="0"/>
              </a:rPr>
              <a:t>MAY 25TH, 2026</a:t>
            </a:r>
          </a:p>
          <a:p>
            <a:r>
              <a:rPr lang="fr-FR" dirty="0">
                <a:solidFill>
                  <a:schemeClr val="bg2">
                    <a:lumMod val="50000"/>
                  </a:schemeClr>
                </a:solidFill>
                <a:latin typeface="Perpetua" panose="02020502060401020303" pitchFamily="18" charset="77"/>
                <a:ea typeface="Perpetua" charset="0"/>
                <a:cs typeface="Perpetua" charset="0"/>
              </a:rPr>
              <a:t>80 GUESTS</a:t>
            </a:r>
          </a:p>
          <a:p>
            <a:r>
              <a:rPr lang="fr-FR" dirty="0">
                <a:solidFill>
                  <a:schemeClr val="bg2">
                    <a:lumMod val="50000"/>
                  </a:schemeClr>
                </a:solidFill>
                <a:latin typeface="Perpetua" panose="02020502060401020303" pitchFamily="18" charset="77"/>
                <a:ea typeface="Perpetua" charset="0"/>
                <a:cs typeface="Perpetua" charset="0"/>
              </a:rPr>
              <a:t>SHANGRI-LA, PARIS</a:t>
            </a:r>
          </a:p>
          <a:p>
            <a:endParaRPr lang="fr-FR" sz="1200" dirty="0">
              <a:solidFill>
                <a:schemeClr val="bg2">
                  <a:lumMod val="50000"/>
                </a:schemeClr>
              </a:solidFill>
              <a:latin typeface="Perpetua" panose="02020502060401020303" pitchFamily="18" charset="77"/>
            </a:endParaRPr>
          </a:p>
          <a:p>
            <a:r>
              <a:rPr lang="fr-FR" sz="2800" dirty="0">
                <a:solidFill>
                  <a:schemeClr val="bg2">
                    <a:lumMod val="50000"/>
                  </a:schemeClr>
                </a:solidFill>
                <a:latin typeface="Perpetua" panose="02020502060401020303" pitchFamily="18" charset="77"/>
              </a:rPr>
              <a:t>WEDDING MOOD BOARD</a:t>
            </a:r>
          </a:p>
          <a:p>
            <a:endParaRPr lang="fr-FR" dirty="0"/>
          </a:p>
        </p:txBody>
      </p:sp>
    </p:spTree>
    <p:extLst>
      <p:ext uri="{BB962C8B-B14F-4D97-AF65-F5344CB8AC3E}">
        <p14:creationId xmlns:p14="http://schemas.microsoft.com/office/powerpoint/2010/main" val="12388018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880820" y="3101394"/>
            <a:ext cx="10430360" cy="1772093"/>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4300" dirty="0">
                <a:solidFill>
                  <a:schemeClr val="bg2">
                    <a:lumMod val="50000"/>
                  </a:schemeClr>
                </a:solidFill>
                <a:latin typeface="Perpetua" panose="02020502060401020303" pitchFamily="18" charset="77"/>
                <a:ea typeface="+mj-ea"/>
                <a:cs typeface="+mj-cs"/>
              </a:rPr>
              <a:t>SIGNS</a:t>
            </a:r>
          </a:p>
          <a:p>
            <a:pPr algn="ctr" defTabSz="914400">
              <a:lnSpc>
                <a:spcPct val="90000"/>
              </a:lnSpc>
              <a:spcBef>
                <a:spcPct val="0"/>
              </a:spcBef>
              <a:spcAft>
                <a:spcPts val="600"/>
              </a:spcAft>
            </a:pPr>
            <a:endParaRPr lang="en-US" sz="39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300" dirty="0">
              <a:solidFill>
                <a:schemeClr val="bg2">
                  <a:lumMod val="50000"/>
                </a:schemeClr>
              </a:solidFill>
              <a:latin typeface="Perpetua" panose="02020502060401020303" pitchFamily="18" charset="77"/>
              <a:ea typeface="+mj-ea"/>
              <a:cs typeface="+mj-cs"/>
            </a:endParaRPr>
          </a:p>
        </p:txBody>
      </p:sp>
      <p:sp>
        <p:nvSpPr>
          <p:cNvPr id="4" name="Rectangle 3">
            <a:extLst>
              <a:ext uri="{FF2B5EF4-FFF2-40B4-BE49-F238E27FC236}">
                <a16:creationId xmlns:a16="http://schemas.microsoft.com/office/drawing/2014/main" id="{3D02A48E-6E94-21CC-4916-BC7F46DBD9BB}"/>
              </a:ext>
            </a:extLst>
          </p:cNvPr>
          <p:cNvSpPr/>
          <p:nvPr/>
        </p:nvSpPr>
        <p:spPr>
          <a:xfrm>
            <a:off x="776409" y="228600"/>
            <a:ext cx="914400" cy="91440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5528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D67F88A-43EC-97AE-5876-EF4C9222A427}"/>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4649F76-675B-243D-FFBE-BDED9DD6FF27}"/>
              </a:ext>
            </a:extLst>
          </p:cNvPr>
          <p:cNvSpPr txBox="1"/>
          <p:nvPr/>
        </p:nvSpPr>
        <p:spPr>
          <a:xfrm>
            <a:off x="634889" y="0"/>
            <a:ext cx="5251316" cy="1807305"/>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Welcome Sign &amp; Décor </a:t>
            </a:r>
            <a:endParaRPr lang="en-US" sz="4400" i="1" dirty="0">
              <a:solidFill>
                <a:schemeClr val="bg2">
                  <a:lumMod val="50000"/>
                </a:schemeClr>
              </a:solidFill>
              <a:latin typeface="Perpetua" panose="02020502060401020303" pitchFamily="18" charset="77"/>
              <a:ea typeface="+mj-ea"/>
              <a:cs typeface="+mj-cs"/>
            </a:endParaRPr>
          </a:p>
          <a:p>
            <a:pPr defTabSz="914400">
              <a:lnSpc>
                <a:spcPct val="90000"/>
              </a:lnSpc>
              <a:spcBef>
                <a:spcPct val="0"/>
              </a:spcBef>
              <a:spcAft>
                <a:spcPts val="600"/>
              </a:spcAft>
            </a:pPr>
            <a:r>
              <a:rPr lang="en-US" sz="3400" dirty="0">
                <a:latin typeface="+mj-lt"/>
                <a:ea typeface="+mj-ea"/>
                <a:cs typeface="+mj-cs"/>
              </a:rPr>
              <a:t> </a:t>
            </a:r>
          </a:p>
        </p:txBody>
      </p:sp>
      <p:sp>
        <p:nvSpPr>
          <p:cNvPr id="14" name="TextBox 13">
            <a:extLst>
              <a:ext uri="{FF2B5EF4-FFF2-40B4-BE49-F238E27FC236}">
                <a16:creationId xmlns:a16="http://schemas.microsoft.com/office/drawing/2014/main" id="{7CEFE24F-026B-31E1-2D62-A79AE5350BBE}"/>
              </a:ext>
            </a:extLst>
          </p:cNvPr>
          <p:cNvSpPr txBox="1"/>
          <p:nvPr/>
        </p:nvSpPr>
        <p:spPr>
          <a:xfrm>
            <a:off x="634889" y="1875545"/>
            <a:ext cx="5461111" cy="3477875"/>
          </a:xfrm>
          <a:prstGeom prst="rect">
            <a:avLst/>
          </a:prstGeom>
          <a:noFill/>
        </p:spPr>
        <p:txBody>
          <a:bodyPr wrap="square" rtlCol="0">
            <a:spAutoFit/>
          </a:bodyPr>
          <a:lstStyle/>
          <a:p>
            <a:pPr marL="342900" indent="-342900" fontAlgn="base">
              <a:buFont typeface="Arial" panose="020B0604020202020204" pitchFamily="34" charset="0"/>
              <a:buChar char="•"/>
            </a:pPr>
            <a:r>
              <a:rPr lang="en-US" sz="2200" dirty="0">
                <a:solidFill>
                  <a:schemeClr val="bg2">
                    <a:lumMod val="50000"/>
                  </a:schemeClr>
                </a:solidFill>
                <a:latin typeface="Perpetua" panose="02020502060401020303" pitchFamily="18" charset="77"/>
              </a:rPr>
              <a:t>A Baroque-style gold mirror will showcase the bride and groom’s names in luminous gold script, paired with the wedding date in refined dark brown typography, exuding sophistication and timeless elegance</a:t>
            </a:r>
          </a:p>
          <a:p>
            <a:pPr marL="342900" indent="-342900" fontAlgn="base">
              <a:buFont typeface="Arial" panose="020B0604020202020204" pitchFamily="34" charset="0"/>
              <a:buChar char="•"/>
            </a:pPr>
            <a:endParaRPr lang="en-US" sz="2200" dirty="0">
              <a:solidFill>
                <a:schemeClr val="bg2">
                  <a:lumMod val="50000"/>
                </a:schemeClr>
              </a:solidFill>
              <a:latin typeface="Perpetua" panose="02020502060401020303" pitchFamily="18" charset="77"/>
            </a:endParaRPr>
          </a:p>
          <a:p>
            <a:pPr fontAlgn="base"/>
            <a:r>
              <a:rPr lang="en-US" sz="2200" dirty="0">
                <a:solidFill>
                  <a:srgbClr val="FF0000"/>
                </a:solidFill>
                <a:highlight>
                  <a:srgbClr val="FFFF00"/>
                </a:highlight>
                <a:latin typeface="Perpetua" panose="02020502060401020303" pitchFamily="18" charset="77"/>
              </a:rPr>
              <a:t>The gold frame will be a distinct variation from the reference image, providing a bespoke and sophisticated touch while preserving the overall elegance of the design</a:t>
            </a:r>
          </a:p>
        </p:txBody>
      </p:sp>
      <p:pic>
        <p:nvPicPr>
          <p:cNvPr id="7" name="Picture 6">
            <a:extLst>
              <a:ext uri="{FF2B5EF4-FFF2-40B4-BE49-F238E27FC236}">
                <a16:creationId xmlns:a16="http://schemas.microsoft.com/office/drawing/2014/main" id="{F53FD14D-8517-01F0-11CF-A697DCAC159C}"/>
              </a:ext>
            </a:extLst>
          </p:cNvPr>
          <p:cNvPicPr>
            <a:picLocks noChangeAspect="1"/>
          </p:cNvPicPr>
          <p:nvPr/>
        </p:nvPicPr>
        <p:blipFill>
          <a:blip r:embed="rId2"/>
          <a:srcRect/>
          <a:stretch/>
        </p:blipFill>
        <p:spPr>
          <a:xfrm>
            <a:off x="7119294" y="284988"/>
            <a:ext cx="4183460" cy="6288024"/>
          </a:xfrm>
          <a:prstGeom prst="rect">
            <a:avLst/>
          </a:prstGeom>
        </p:spPr>
      </p:pic>
    </p:spTree>
    <p:extLst>
      <p:ext uri="{BB962C8B-B14F-4D97-AF65-F5344CB8AC3E}">
        <p14:creationId xmlns:p14="http://schemas.microsoft.com/office/powerpoint/2010/main" val="10020021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196916" y="397963"/>
            <a:ext cx="4555837" cy="6062072"/>
          </a:xfrm>
          <a:prstGeom prst="rect">
            <a:avLst/>
          </a:prstGeom>
        </p:spPr>
        <p:txBody>
          <a:bodyPr vert="horz" lIns="91440" tIns="45720" rIns="91440" bIns="45720" rtlCol="0" anchor="ctr">
            <a:normAutofit fontScale="92500" lnSpcReduction="10000"/>
          </a:bodyPr>
          <a:lstStyle/>
          <a:p>
            <a:pPr algn="ctr" defTabSz="914400">
              <a:lnSpc>
                <a:spcPct val="90000"/>
              </a:lnSpc>
              <a:spcBef>
                <a:spcPct val="0"/>
              </a:spcBef>
              <a:spcAft>
                <a:spcPts val="600"/>
              </a:spcAft>
            </a:pPr>
            <a:r>
              <a:rPr lang="en-US" sz="4800" dirty="0">
                <a:solidFill>
                  <a:schemeClr val="bg2">
                    <a:lumMod val="50000"/>
                  </a:schemeClr>
                </a:solidFill>
                <a:latin typeface="Perpetua" panose="02020502060401020303" pitchFamily="18" charset="77"/>
                <a:ea typeface="+mj-ea"/>
                <a:cs typeface="+mj-cs"/>
              </a:rPr>
              <a:t>Seating Chart</a:t>
            </a: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3100" dirty="0">
              <a:solidFill>
                <a:schemeClr val="bg2">
                  <a:lumMod val="50000"/>
                </a:schemeClr>
              </a:solidFill>
              <a:latin typeface="Perpetua" panose="02020502060401020303" pitchFamily="18" charset="77"/>
              <a:ea typeface="+mj-ea"/>
              <a:cs typeface="+mj-cs"/>
            </a:endParaRPr>
          </a:p>
          <a:p>
            <a:pPr marL="457200" indent="-457200">
              <a:buFont typeface="Arial" panose="020B0604020202020204" pitchFamily="34" charset="0"/>
              <a:buChar char="•"/>
            </a:pPr>
            <a:r>
              <a:rPr lang="en-US" sz="2400" dirty="0">
                <a:solidFill>
                  <a:schemeClr val="bg2">
                    <a:lumMod val="50000"/>
                  </a:schemeClr>
                </a:solidFill>
                <a:latin typeface="Perpetua" panose="02020502060401020303" pitchFamily="18" charset="77"/>
              </a:rPr>
              <a:t>A large rectangular gold-framed mirror will display the seating chart, featuring wax-sealed, gold-stamped cards elegantly presenting each table number and guests’ names</a:t>
            </a:r>
          </a:p>
          <a:p>
            <a:endParaRPr lang="en-US" sz="2400" dirty="0">
              <a:solidFill>
                <a:schemeClr val="bg2">
                  <a:lumMod val="50000"/>
                </a:schemeClr>
              </a:solidFill>
              <a:latin typeface="Perpetua" panose="02020502060401020303" pitchFamily="18" charset="77"/>
            </a:endParaRPr>
          </a:p>
          <a:p>
            <a:pPr marL="457200" indent="-457200">
              <a:buFont typeface="Arial" panose="020B0604020202020204" pitchFamily="34" charset="0"/>
              <a:buChar char="•"/>
            </a:pPr>
            <a:r>
              <a:rPr lang="en-US" sz="2400" dirty="0">
                <a:solidFill>
                  <a:schemeClr val="bg2">
                    <a:lumMod val="50000"/>
                  </a:schemeClr>
                </a:solidFill>
                <a:latin typeface="Perpetua" panose="02020502060401020303" pitchFamily="18" charset="77"/>
              </a:rPr>
              <a:t>A medium-sized floral arrangement will be displayed at the base of the seating chart, with décor echoing the reference imagery and styled in harmony with the color </a:t>
            </a:r>
            <a:r>
              <a:rPr lang="en-US" sz="2400" dirty="0">
                <a:solidFill>
                  <a:srgbClr val="FFC000"/>
                </a:solidFill>
                <a:latin typeface="Perpetua" panose="02020502060401020303" pitchFamily="18" charset="77"/>
              </a:rPr>
              <a:t>palette detailed on slide #2</a:t>
            </a:r>
            <a:endParaRPr lang="en-US" sz="2400" i="1" dirty="0">
              <a:solidFill>
                <a:schemeClr val="bg2">
                  <a:lumMod val="50000"/>
                </a:schemeClr>
              </a:solidFill>
              <a:latin typeface="Perpetua" panose="02020502060401020303" pitchFamily="18" charset="77"/>
              <a:ea typeface="+mj-ea"/>
              <a:cs typeface="+mj-cs"/>
            </a:endParaRPr>
          </a:p>
          <a:p>
            <a:pPr defTabSz="914400">
              <a:lnSpc>
                <a:spcPct val="90000"/>
              </a:lnSpc>
              <a:spcBef>
                <a:spcPct val="0"/>
              </a:spcBef>
              <a:spcAft>
                <a:spcPts val="600"/>
              </a:spcAft>
            </a:pPr>
            <a:r>
              <a:rPr lang="en-US" sz="3400" dirty="0">
                <a:latin typeface="+mj-lt"/>
                <a:ea typeface="+mj-ea"/>
                <a:cs typeface="+mj-cs"/>
              </a:rPr>
              <a:t> </a:t>
            </a:r>
          </a:p>
        </p:txBody>
      </p:sp>
      <p:pic>
        <p:nvPicPr>
          <p:cNvPr id="16" name="Picture 15">
            <a:extLst>
              <a:ext uri="{FF2B5EF4-FFF2-40B4-BE49-F238E27FC236}">
                <a16:creationId xmlns:a16="http://schemas.microsoft.com/office/drawing/2014/main" id="{B5E9A1CD-8BA4-83C5-944E-020157EB4A3F}"/>
              </a:ext>
            </a:extLst>
          </p:cNvPr>
          <p:cNvPicPr>
            <a:picLocks noChangeAspect="1"/>
          </p:cNvPicPr>
          <p:nvPr/>
        </p:nvPicPr>
        <p:blipFill>
          <a:blip r:embed="rId2"/>
          <a:srcRect/>
          <a:stretch/>
        </p:blipFill>
        <p:spPr>
          <a:xfrm>
            <a:off x="6881504" y="397963"/>
            <a:ext cx="4045045" cy="6062073"/>
          </a:xfrm>
          <a:prstGeom prst="rect">
            <a:avLst/>
          </a:prstGeom>
        </p:spPr>
      </p:pic>
    </p:spTree>
    <p:extLst>
      <p:ext uri="{BB962C8B-B14F-4D97-AF65-F5344CB8AC3E}">
        <p14:creationId xmlns:p14="http://schemas.microsoft.com/office/powerpoint/2010/main" val="35346229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49F8F6B-B294-ABC9-9842-A2EC89BD711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358828DE-0A81-97F9-162E-A4A83B82B235}"/>
              </a:ext>
            </a:extLst>
          </p:cNvPr>
          <p:cNvSpPr txBox="1"/>
          <p:nvPr/>
        </p:nvSpPr>
        <p:spPr>
          <a:xfrm>
            <a:off x="922929" y="268355"/>
            <a:ext cx="4453743" cy="6321287"/>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Place Cards</a:t>
            </a:r>
          </a:p>
          <a:p>
            <a:pPr algn="ctr" defTabSz="914400">
              <a:lnSpc>
                <a:spcPct val="90000"/>
              </a:lnSpc>
              <a:spcBef>
                <a:spcPct val="0"/>
              </a:spcBef>
              <a:spcAft>
                <a:spcPts val="600"/>
              </a:spcAft>
            </a:pPr>
            <a:r>
              <a:rPr lang="en-US" sz="3600" i="1" dirty="0">
                <a:solidFill>
                  <a:srgbClr val="FFC000"/>
                </a:solidFill>
                <a:latin typeface="Perpetua" panose="02020502060401020303" pitchFamily="18" charset="77"/>
                <a:ea typeface="+mj-ea"/>
                <a:cs typeface="+mj-cs"/>
              </a:rPr>
              <a:t>Audrey’s Note: </a:t>
            </a:r>
          </a:p>
          <a:p>
            <a:pPr algn="ctr" defTabSz="914400">
              <a:lnSpc>
                <a:spcPct val="90000"/>
              </a:lnSpc>
              <a:spcBef>
                <a:spcPct val="0"/>
              </a:spcBef>
              <a:spcAft>
                <a:spcPts val="600"/>
              </a:spcAft>
            </a:pPr>
            <a:endParaRPr lang="en-US" sz="4400" i="1"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r>
              <a:rPr lang="en-US" sz="2200" dirty="0">
                <a:solidFill>
                  <a:schemeClr val="bg2">
                    <a:lumMod val="50000"/>
                  </a:schemeClr>
                </a:solidFill>
                <a:latin typeface="Perpetua" panose="02020502060401020303" pitchFamily="18" charset="77"/>
              </a:rPr>
              <a:t>Please note that place cards are required by the catering staff regardless of round or rectangular tables. For weddings with more than 100 guests, place cards must be placed on each table with assigned seating, showing each guest’s full name, table number, and a meal icon/allergy note to guide the staff.</a:t>
            </a:r>
            <a:endParaRPr lang="en-US" sz="2200" i="1" dirty="0">
              <a:solidFill>
                <a:schemeClr val="bg2">
                  <a:lumMod val="50000"/>
                </a:schemeClr>
              </a:solidFill>
              <a:latin typeface="Perpetua" panose="02020502060401020303" pitchFamily="18" charset="77"/>
              <a:ea typeface="+mj-ea"/>
              <a:cs typeface="+mj-cs"/>
            </a:endParaRPr>
          </a:p>
          <a:p>
            <a:pPr defTabSz="914400">
              <a:lnSpc>
                <a:spcPct val="90000"/>
              </a:lnSpc>
              <a:spcBef>
                <a:spcPct val="0"/>
              </a:spcBef>
              <a:spcAft>
                <a:spcPts val="600"/>
              </a:spcAft>
            </a:pPr>
            <a:r>
              <a:rPr lang="en-US" sz="3400" dirty="0">
                <a:latin typeface="+mj-lt"/>
                <a:ea typeface="+mj-ea"/>
                <a:cs typeface="+mj-cs"/>
              </a:rPr>
              <a:t> </a:t>
            </a:r>
          </a:p>
        </p:txBody>
      </p:sp>
      <p:pic>
        <p:nvPicPr>
          <p:cNvPr id="3" name="Picture 2">
            <a:extLst>
              <a:ext uri="{FF2B5EF4-FFF2-40B4-BE49-F238E27FC236}">
                <a16:creationId xmlns:a16="http://schemas.microsoft.com/office/drawing/2014/main" id="{80BD6E25-2C67-B0A9-5AC2-44EC7EF84917}"/>
              </a:ext>
            </a:extLst>
          </p:cNvPr>
          <p:cNvPicPr>
            <a:picLocks noChangeAspect="1"/>
          </p:cNvPicPr>
          <p:nvPr/>
        </p:nvPicPr>
        <p:blipFill>
          <a:blip r:embed="rId2"/>
          <a:srcRect/>
          <a:stretch/>
        </p:blipFill>
        <p:spPr>
          <a:xfrm>
            <a:off x="7425268" y="334890"/>
            <a:ext cx="3843803" cy="6188215"/>
          </a:xfrm>
          <a:prstGeom prst="rect">
            <a:avLst/>
          </a:prstGeom>
        </p:spPr>
      </p:pic>
    </p:spTree>
    <p:extLst>
      <p:ext uri="{BB962C8B-B14F-4D97-AF65-F5344CB8AC3E}">
        <p14:creationId xmlns:p14="http://schemas.microsoft.com/office/powerpoint/2010/main" val="3617417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37C5453-EF1A-B806-4E83-A4778DCE2EDB}"/>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FD6A3D0-071B-27FE-1A63-2E2F52A1C602}"/>
              </a:ext>
            </a:extLst>
          </p:cNvPr>
          <p:cNvSpPr txBox="1"/>
          <p:nvPr/>
        </p:nvSpPr>
        <p:spPr>
          <a:xfrm>
            <a:off x="142641" y="-422656"/>
            <a:ext cx="6136239" cy="5636415"/>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Table numbers</a:t>
            </a: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marL="342900" indent="-342900" algn="ctr" defTabSz="914400">
              <a:lnSpc>
                <a:spcPct val="90000"/>
              </a:lnSpc>
              <a:spcBef>
                <a:spcPct val="0"/>
              </a:spcBef>
              <a:spcAft>
                <a:spcPts val="600"/>
              </a:spcAft>
              <a:buFont typeface="Arial" panose="020B0604020202020204" pitchFamily="34" charset="0"/>
              <a:buChar char="•"/>
            </a:pPr>
            <a:r>
              <a:rPr lang="en-US" sz="2200" dirty="0">
                <a:solidFill>
                  <a:schemeClr val="bg2">
                    <a:lumMod val="50000"/>
                  </a:schemeClr>
                </a:solidFill>
                <a:latin typeface="Perpetua" panose="02020502060401020303" pitchFamily="18" charset="77"/>
              </a:rPr>
              <a:t>A sophisticated rectangular design, printed on warm white paper and enhanced with delicate lace detailing and elegant script typography, will be gracefully displayed on a gold holder, exuding understated elegance</a:t>
            </a:r>
          </a:p>
        </p:txBody>
      </p:sp>
      <p:pic>
        <p:nvPicPr>
          <p:cNvPr id="4" name="Picture 3">
            <a:extLst>
              <a:ext uri="{FF2B5EF4-FFF2-40B4-BE49-F238E27FC236}">
                <a16:creationId xmlns:a16="http://schemas.microsoft.com/office/drawing/2014/main" id="{40D030C9-5843-CFC5-A305-20C724FD7C4E}"/>
              </a:ext>
            </a:extLst>
          </p:cNvPr>
          <p:cNvPicPr>
            <a:picLocks noChangeAspect="1"/>
          </p:cNvPicPr>
          <p:nvPr/>
        </p:nvPicPr>
        <p:blipFill>
          <a:blip r:embed="rId2"/>
          <a:srcRect/>
          <a:stretch/>
        </p:blipFill>
        <p:spPr>
          <a:xfrm>
            <a:off x="7047890" y="1059988"/>
            <a:ext cx="4273511" cy="4738023"/>
          </a:xfrm>
          <a:prstGeom prst="rect">
            <a:avLst/>
          </a:prstGeom>
        </p:spPr>
      </p:pic>
    </p:spTree>
    <p:extLst>
      <p:ext uri="{BB962C8B-B14F-4D97-AF65-F5344CB8AC3E}">
        <p14:creationId xmlns:p14="http://schemas.microsoft.com/office/powerpoint/2010/main" val="42791348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D819984-0BCB-B705-8381-EF87FBA47F9A}"/>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34B3B833-1225-75CC-5980-D6B4AEB7ADE2}"/>
              </a:ext>
            </a:extLst>
          </p:cNvPr>
          <p:cNvSpPr txBox="1"/>
          <p:nvPr/>
        </p:nvSpPr>
        <p:spPr>
          <a:xfrm>
            <a:off x="279900" y="206476"/>
            <a:ext cx="5416911" cy="6240505"/>
          </a:xfrm>
          <a:prstGeom prst="rect">
            <a:avLst/>
          </a:prstGeom>
        </p:spPr>
        <p:txBody>
          <a:bodyPr vert="horz" lIns="91440" tIns="45720" rIns="91440" bIns="45720" rtlCol="0" anchor="ctr">
            <a:normAutofit fontScale="85000" lnSpcReduction="10000"/>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Menus</a:t>
            </a: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3100" dirty="0">
              <a:solidFill>
                <a:schemeClr val="bg2">
                  <a:lumMod val="50000"/>
                </a:schemeClr>
              </a:solidFill>
              <a:latin typeface="Perpetua" panose="02020502060401020303" pitchFamily="18" charset="77"/>
              <a:ea typeface="+mj-ea"/>
              <a:cs typeface="+mj-cs"/>
            </a:endParaRPr>
          </a:p>
          <a:p>
            <a:pPr marL="342900" indent="-342900" algn="ctr" fontAlgn="base">
              <a:buFont typeface="Arial" panose="020B0604020202020204" pitchFamily="34" charset="0"/>
              <a:buChar char="•"/>
            </a:pPr>
            <a:r>
              <a:rPr lang="en-US" sz="3100" dirty="0">
                <a:solidFill>
                  <a:schemeClr val="bg2">
                    <a:lumMod val="50000"/>
                  </a:schemeClr>
                </a:solidFill>
                <a:latin typeface="Perpetua" panose="02020502060401020303" pitchFamily="18" charset="77"/>
              </a:rPr>
              <a:t>An oval-format menu, adorned with a delicate light background card beneath and featuring elegant dark green script typography at its center, accented with a light pink ribbon, exuding refined and harmonious sophistication</a:t>
            </a:r>
          </a:p>
          <a:p>
            <a:pPr algn="ctr" fontAlgn="base"/>
            <a:endParaRPr lang="en-US" sz="3100" dirty="0">
              <a:solidFill>
                <a:schemeClr val="bg2">
                  <a:lumMod val="50000"/>
                </a:schemeClr>
              </a:solidFill>
              <a:latin typeface="Perpetua" panose="02020502060401020303" pitchFamily="18" charset="77"/>
            </a:endParaRPr>
          </a:p>
          <a:p>
            <a:pPr algn="ctr" fontAlgn="base"/>
            <a:endParaRPr lang="en-US" sz="2400" dirty="0">
              <a:solidFill>
                <a:schemeClr val="accent2">
                  <a:lumMod val="75000"/>
                </a:schemeClr>
              </a:solidFill>
              <a:latin typeface="Perpetua" panose="02020502060401020303" pitchFamily="18" charset="77"/>
            </a:endParaRPr>
          </a:p>
          <a:p>
            <a:pPr algn="ctr" fontAlgn="base"/>
            <a:r>
              <a:rPr lang="en-US" sz="2400" dirty="0">
                <a:solidFill>
                  <a:schemeClr val="accent2">
                    <a:lumMod val="75000"/>
                  </a:schemeClr>
                </a:solidFill>
                <a:latin typeface="Perpetua" panose="02020502060401020303" pitchFamily="18" charset="77"/>
              </a:rPr>
              <a:t>Audrey’s note: For the menu the Bride would like something with a more simple background paper vs the busy floral design. </a:t>
            </a:r>
          </a:p>
          <a:p>
            <a:pPr algn="ctr" fontAlgn="base"/>
            <a:endParaRPr lang="en-US" sz="3100" dirty="0">
              <a:solidFill>
                <a:srgbClr val="FFC000"/>
              </a:solidFill>
              <a:latin typeface="Perpetua" panose="02020502060401020303" pitchFamily="18" charset="77"/>
            </a:endParaRPr>
          </a:p>
        </p:txBody>
      </p:sp>
      <p:pic>
        <p:nvPicPr>
          <p:cNvPr id="3" name="Picture 2">
            <a:extLst>
              <a:ext uri="{FF2B5EF4-FFF2-40B4-BE49-F238E27FC236}">
                <a16:creationId xmlns:a16="http://schemas.microsoft.com/office/drawing/2014/main" id="{3576634B-03A1-B7AD-3AD9-CE62143D01D6}"/>
              </a:ext>
            </a:extLst>
          </p:cNvPr>
          <p:cNvPicPr>
            <a:picLocks noChangeAspect="1"/>
          </p:cNvPicPr>
          <p:nvPr/>
        </p:nvPicPr>
        <p:blipFill>
          <a:blip r:embed="rId2"/>
          <a:srcRect/>
          <a:stretch/>
        </p:blipFill>
        <p:spPr>
          <a:xfrm>
            <a:off x="6495191" y="499311"/>
            <a:ext cx="4913376" cy="5859377"/>
          </a:xfrm>
          <a:prstGeom prst="rect">
            <a:avLst/>
          </a:prstGeom>
        </p:spPr>
      </p:pic>
    </p:spTree>
    <p:extLst>
      <p:ext uri="{BB962C8B-B14F-4D97-AF65-F5344CB8AC3E}">
        <p14:creationId xmlns:p14="http://schemas.microsoft.com/office/powerpoint/2010/main" val="28295492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9EA3572-05ED-C681-CA50-BEAC8036F51E}"/>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E5E32C0C-2DAF-24A0-B29C-8A8A031B33C4}"/>
              </a:ext>
            </a:extLst>
          </p:cNvPr>
          <p:cNvSpPr txBox="1"/>
          <p:nvPr/>
        </p:nvSpPr>
        <p:spPr>
          <a:xfrm>
            <a:off x="279900" y="206476"/>
            <a:ext cx="5416911" cy="6240505"/>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QR Code Sign</a:t>
            </a: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r>
              <a:rPr lang="en-US" sz="3100" dirty="0">
                <a:solidFill>
                  <a:schemeClr val="bg2">
                    <a:lumMod val="50000"/>
                  </a:schemeClr>
                </a:solidFill>
                <a:latin typeface="Perpetua" panose="02020502060401020303" pitchFamily="18" charset="77"/>
                <a:ea typeface="+mj-ea"/>
                <a:cs typeface="+mj-cs"/>
              </a:rPr>
              <a:t>Simple aesthetic as picture</a:t>
            </a:r>
            <a:endParaRPr lang="en-US" sz="3100" dirty="0">
              <a:solidFill>
                <a:srgbClr val="FFC000"/>
              </a:solidFill>
              <a:latin typeface="Perpetua" panose="02020502060401020303" pitchFamily="18" charset="77"/>
            </a:endParaRPr>
          </a:p>
        </p:txBody>
      </p:sp>
      <p:pic>
        <p:nvPicPr>
          <p:cNvPr id="2" name="Picture 1" descr="A qr code on a card&#10;&#10;AI-generated content may be incorrect.">
            <a:extLst>
              <a:ext uri="{FF2B5EF4-FFF2-40B4-BE49-F238E27FC236}">
                <a16:creationId xmlns:a16="http://schemas.microsoft.com/office/drawing/2014/main" id="{C590912C-F1F4-A33F-7400-4C4F5F1BFAF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68896" y="1250577"/>
            <a:ext cx="4108703" cy="5003094"/>
          </a:xfrm>
          <a:prstGeom prst="rect">
            <a:avLst/>
          </a:prstGeom>
        </p:spPr>
      </p:pic>
    </p:spTree>
    <p:extLst>
      <p:ext uri="{BB962C8B-B14F-4D97-AF65-F5344CB8AC3E}">
        <p14:creationId xmlns:p14="http://schemas.microsoft.com/office/powerpoint/2010/main" val="18870195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65E0412-A1BA-3659-93F6-57A17AAD6AD5}"/>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0AA1DA1-99EF-9FD9-261D-B9AEBDFB8BEC}"/>
              </a:ext>
            </a:extLst>
          </p:cNvPr>
          <p:cNvSpPr txBox="1"/>
          <p:nvPr/>
        </p:nvSpPr>
        <p:spPr>
          <a:xfrm>
            <a:off x="560251" y="214712"/>
            <a:ext cx="5416911" cy="6240505"/>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Satin bows on plates</a:t>
            </a: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r>
              <a:rPr lang="en-US" sz="3100" dirty="0">
                <a:solidFill>
                  <a:schemeClr val="bg2">
                    <a:lumMod val="50000"/>
                  </a:schemeClr>
                </a:solidFill>
                <a:latin typeface="Perpetua" panose="02020502060401020303" pitchFamily="18" charset="77"/>
                <a:ea typeface="+mj-ea"/>
                <a:cs typeface="+mj-cs"/>
              </a:rPr>
              <a:t>as picture – Light Pink color but satin material</a:t>
            </a:r>
            <a:endParaRPr lang="en-US" sz="3100" dirty="0">
              <a:solidFill>
                <a:srgbClr val="FFC000"/>
              </a:solidFill>
              <a:latin typeface="Perpetua" panose="02020502060401020303" pitchFamily="18" charset="77"/>
            </a:endParaRPr>
          </a:p>
        </p:txBody>
      </p:sp>
      <p:pic>
        <p:nvPicPr>
          <p:cNvPr id="4" name="Picture 3" descr="A table set for a dinner party&#10;&#10;AI-generated content may be incorrect.">
            <a:extLst>
              <a:ext uri="{FF2B5EF4-FFF2-40B4-BE49-F238E27FC236}">
                <a16:creationId xmlns:a16="http://schemas.microsoft.com/office/drawing/2014/main" id="{F583FAAF-C6AB-0B86-2002-CDD2B6498F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83562" y="214712"/>
            <a:ext cx="4360638" cy="6171730"/>
          </a:xfrm>
          <a:prstGeom prst="rect">
            <a:avLst/>
          </a:prstGeom>
        </p:spPr>
      </p:pic>
    </p:spTree>
    <p:extLst>
      <p:ext uri="{BB962C8B-B14F-4D97-AF65-F5344CB8AC3E}">
        <p14:creationId xmlns:p14="http://schemas.microsoft.com/office/powerpoint/2010/main" val="36909464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6" name="TextBox 25">
            <a:extLst>
              <a:ext uri="{FF2B5EF4-FFF2-40B4-BE49-F238E27FC236}">
                <a16:creationId xmlns:a16="http://schemas.microsoft.com/office/drawing/2014/main" id="{936B29B1-0BBE-4C0C-8087-A9B0079F290D}"/>
              </a:ext>
            </a:extLst>
          </p:cNvPr>
          <p:cNvSpPr txBox="1"/>
          <p:nvPr/>
        </p:nvSpPr>
        <p:spPr>
          <a:xfrm>
            <a:off x="195532" y="89994"/>
            <a:ext cx="12218610" cy="3476080"/>
          </a:xfrm>
          <a:prstGeom prst="rect">
            <a:avLst/>
          </a:prstGeom>
          <a:noFill/>
        </p:spPr>
        <p:txBody>
          <a:bodyPr wrap="square">
            <a:spAutoFit/>
          </a:bodyPr>
          <a:lstStyle/>
          <a:p>
            <a:pPr marL="1596390" marR="513715" indent="-979805" algn="ctr">
              <a:lnSpc>
                <a:spcPct val="98000"/>
              </a:lnSpc>
              <a:spcBef>
                <a:spcPts val="480"/>
              </a:spcBef>
              <a:spcAft>
                <a:spcPts val="0"/>
              </a:spcAft>
            </a:pPr>
            <a:r>
              <a:rPr lang="en-US" sz="2400" dirty="0">
                <a:solidFill>
                  <a:schemeClr val="bg2">
                    <a:lumMod val="50000"/>
                  </a:schemeClr>
                </a:solidFill>
                <a:latin typeface="Perpetua" panose="02020502060401020303" pitchFamily="18" charset="77"/>
                <a:ea typeface="Noto Sans"/>
                <a:cs typeface="Noto Sans"/>
              </a:rPr>
              <a:t>NOTES FOR PLANNER AND FLORIST  TEAM ONLY </a:t>
            </a:r>
            <a:r>
              <a:rPr lang="en-US" sz="2400" b="1" dirty="0">
                <a:solidFill>
                  <a:schemeClr val="accent5">
                    <a:lumMod val="60000"/>
                    <a:lumOff val="40000"/>
                  </a:schemeClr>
                </a:solidFill>
                <a:latin typeface="Perpetua" panose="02020502060401020303" pitchFamily="18" charset="77"/>
                <a:ea typeface="Noto Sans"/>
                <a:cs typeface="Noto Sans"/>
              </a:rPr>
              <a:t>(</a:t>
            </a:r>
            <a:r>
              <a:rPr lang="en-US" sz="2400" b="1">
                <a:solidFill>
                  <a:schemeClr val="accent5">
                    <a:lumMod val="60000"/>
                    <a:lumOff val="40000"/>
                  </a:schemeClr>
                </a:solidFill>
                <a:latin typeface="Perpetua" panose="02020502060401020303" pitchFamily="18" charset="77"/>
                <a:ea typeface="Noto Sans"/>
                <a:cs typeface="Noto Sans"/>
              </a:rPr>
              <a:t>FRENCH):</a:t>
            </a:r>
          </a:p>
          <a:p>
            <a:pPr marL="1596390" marR="513715" indent="-979805" algn="ctr">
              <a:lnSpc>
                <a:spcPct val="98000"/>
              </a:lnSpc>
              <a:spcBef>
                <a:spcPts val="480"/>
              </a:spcBef>
              <a:spcAft>
                <a:spcPts val="0"/>
              </a:spcAft>
            </a:pPr>
            <a:endParaRPr lang="en-US" dirty="0">
              <a:solidFill>
                <a:schemeClr val="bg2">
                  <a:lumMod val="50000"/>
                </a:schemeClr>
              </a:solidFill>
              <a:latin typeface="Perpetua" panose="02020502060401020303" pitchFamily="18" charset="77"/>
              <a:ea typeface="Noto Sans"/>
              <a:cs typeface="Noto Sans"/>
            </a:endParaRP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70 MENUS</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70 PLACE CARDS AVEC WAX SEAL NON PERSONNALISÉ, MAIS SIMILAIRE A LA PHOTO</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7 NUMEROS DE TABLE + LEUR SUPPORTS</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7 CARTES TABLES POUR LE MIRROIR + WAX SEAL NON PERSONNALISÉ</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7 QR CODE DESIGN</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70 NOEUDS EN SATIN ROSE A DISPOSER DANS LES ASSIETTES</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 WELCOME SIGN AVEC UN MIRROIR  DORÉ SIMILAIRE + CHEVALET DORE SIMILAIRE</a:t>
            </a:r>
          </a:p>
          <a:p>
            <a:pPr marL="616585" marR="513715">
              <a:lnSpc>
                <a:spcPct val="98000"/>
              </a:lnSpc>
              <a:spcBef>
                <a:spcPts val="480"/>
              </a:spcBef>
              <a:spcAft>
                <a:spcPts val="0"/>
              </a:spcAft>
            </a:pPr>
            <a:endParaRPr lang="en-US" dirty="0">
              <a:solidFill>
                <a:schemeClr val="bg2">
                  <a:lumMod val="50000"/>
                </a:schemeClr>
              </a:solidFill>
              <a:latin typeface="Perpetua" panose="02020502060401020303" pitchFamily="18" charset="77"/>
              <a:ea typeface="Noto Sans"/>
              <a:cs typeface="Noto Sans"/>
            </a:endParaRPr>
          </a:p>
        </p:txBody>
      </p:sp>
    </p:spTree>
    <p:extLst>
      <p:ext uri="{BB962C8B-B14F-4D97-AF65-F5344CB8AC3E}">
        <p14:creationId xmlns:p14="http://schemas.microsoft.com/office/powerpoint/2010/main" val="1347272106"/>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ureau">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19350</TotalTime>
  <Words>393</Words>
  <Application>Microsoft Macintosh PowerPoint</Application>
  <PresentationFormat>Widescreen</PresentationFormat>
  <Paragraphs>56</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Perpetua</vt:lpstr>
      <vt:lpstr>Office 2013 - 2022 Theme</vt:lpstr>
      <vt:lpstr>KIARA &amp; SEAN’S WEDDING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SHERAZ &amp; RONIS WEDDING</dc:title>
  <dc:creator>Sheraaz Aït</dc:creator>
  <cp:lastModifiedBy>Haute Couture Events Wedding and Event planning</cp:lastModifiedBy>
  <cp:revision>115</cp:revision>
  <dcterms:created xsi:type="dcterms:W3CDTF">2020-01-16T20:29:49Z</dcterms:created>
  <dcterms:modified xsi:type="dcterms:W3CDTF">2026-04-05T22:03:01Z</dcterms:modified>
</cp:coreProperties>
</file>