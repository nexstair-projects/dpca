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2" r:id="rId1"/>
  </p:sldMasterIdLst>
  <p:notesMasterIdLst>
    <p:notesMasterId r:id="rId12"/>
  </p:notesMasterIdLst>
  <p:sldIdLst>
    <p:sldId id="256" r:id="rId2"/>
    <p:sldId id="378" r:id="rId3"/>
    <p:sldId id="337" r:id="rId4"/>
    <p:sldId id="307" r:id="rId5"/>
    <p:sldId id="368" r:id="rId6"/>
    <p:sldId id="366" r:id="rId7"/>
    <p:sldId id="386" r:id="rId8"/>
    <p:sldId id="387" r:id="rId9"/>
    <p:sldId id="388" r:id="rId10"/>
    <p:sldId id="32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238"/>
    <p:restoredTop sz="93133"/>
  </p:normalViewPr>
  <p:slideViewPr>
    <p:cSldViewPr snapToGrid="0" snapToObjects="1">
      <p:cViewPr>
        <p:scale>
          <a:sx n="97" d="100"/>
          <a:sy n="97" d="100"/>
        </p:scale>
        <p:origin x="504" y="52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25/03/2026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4</a:t>
            </a:fld>
            <a:endParaRPr lang="fr-FR"/>
          </a:p>
        </p:txBody>
      </p:sp>
    </p:spTree>
    <p:extLst>
      <p:ext uri="{BB962C8B-B14F-4D97-AF65-F5344CB8AC3E}">
        <p14:creationId xmlns:p14="http://schemas.microsoft.com/office/powerpoint/2010/main" val="3168943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10</a:t>
            </a:fld>
            <a:endParaRPr lang="fr-FR"/>
          </a:p>
        </p:txBody>
      </p:sp>
    </p:spTree>
    <p:extLst>
      <p:ext uri="{BB962C8B-B14F-4D97-AF65-F5344CB8AC3E}">
        <p14:creationId xmlns:p14="http://schemas.microsoft.com/office/powerpoint/2010/main" val="376502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0149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2449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437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9999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101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233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289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2244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263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4217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7567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3/25/26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8445094"/>
      </p:ext>
    </p:extLst>
  </p:cSld>
  <p:clrMap bg1="lt1" tx1="dk1" bg2="lt2" tx2="dk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ERICH &amp; MICHAEL’S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23RD, 2026</a:t>
            </a:r>
          </a:p>
          <a:p>
            <a:r>
              <a:rPr lang="fr-FR" dirty="0">
                <a:solidFill>
                  <a:schemeClr val="bg2">
                    <a:lumMod val="50000"/>
                  </a:schemeClr>
                </a:solidFill>
                <a:latin typeface="Perpetua" panose="02020502060401020303" pitchFamily="18" charset="77"/>
                <a:ea typeface="Perpetua" charset="0"/>
                <a:cs typeface="Perpetua" charset="0"/>
              </a:rPr>
              <a:t>100 GUESTS</a:t>
            </a:r>
          </a:p>
          <a:p>
            <a:r>
              <a:rPr lang="fr-FR" dirty="0">
                <a:solidFill>
                  <a:schemeClr val="bg2">
                    <a:lumMod val="50000"/>
                  </a:schemeClr>
                </a:solidFill>
                <a:latin typeface="Perpetua" panose="02020502060401020303" pitchFamily="18" charset="77"/>
                <a:ea typeface="Perpetua" charset="0"/>
                <a:cs typeface="Perpetua" charset="0"/>
              </a:rPr>
              <a:t>CHÂTEAU DE SAINT-MARTIN DU TERTRE</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dirty="0">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7" y="2232409"/>
            <a:ext cx="11458783" cy="3083536"/>
          </a:xfrm>
        </p:spPr>
        <p:txBody>
          <a:bodyPr>
            <a:normAutofit/>
          </a:bodyPr>
          <a:lstStyle/>
          <a:p>
            <a:endParaRPr lang="fr-FR" sz="2000" dirty="0">
              <a:solidFill>
                <a:schemeClr val="bg2">
                  <a:lumMod val="50000"/>
                </a:schemeClr>
              </a:solidFill>
              <a:latin typeface="Perpetua" panose="02020502060401020303" pitchFamily="18" charset="77"/>
              <a:ea typeface="Perpetua" charset="0"/>
              <a:cs typeface="Perpetua" charset="0"/>
            </a:endParaRPr>
          </a:p>
          <a:p>
            <a:r>
              <a:rPr lang="fr-FR" sz="2000" u="sng" dirty="0">
                <a:solidFill>
                  <a:schemeClr val="bg2">
                    <a:lumMod val="50000"/>
                  </a:schemeClr>
                </a:solidFill>
                <a:latin typeface="Perpetua" panose="02020502060401020303" pitchFamily="18" charset="77"/>
                <a:ea typeface="Perpetua" charset="0"/>
                <a:cs typeface="Perpetua" charset="0"/>
              </a:rPr>
              <a:t>MAY 23RD, 2026: </a:t>
            </a:r>
          </a:p>
          <a:p>
            <a:r>
              <a:rPr lang="fr-FR" sz="1800" b="1" dirty="0">
                <a:solidFill>
                  <a:schemeClr val="bg2">
                    <a:lumMod val="50000"/>
                  </a:schemeClr>
                </a:solidFill>
                <a:latin typeface="Perpetua" panose="02020502060401020303" pitchFamily="18" charset="77"/>
                <a:ea typeface="Perpetua" charset="0"/>
                <a:cs typeface="Perpetua" charset="0"/>
              </a:rPr>
              <a:t>CEREMONY: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fr-FR" sz="1800" b="1" dirty="0">
                <a:solidFill>
                  <a:schemeClr val="bg2">
                    <a:lumMod val="50000"/>
                  </a:schemeClr>
                </a:solidFill>
                <a:latin typeface="Perpetua" panose="02020502060401020303" pitchFamily="18" charset="77"/>
                <a:ea typeface="Perpetua" charset="0"/>
                <a:cs typeface="Perpetua" charset="0"/>
              </a:rPr>
              <a:t>COCKTAIL &amp; RECEPTION/DINNER: </a:t>
            </a:r>
            <a:r>
              <a:rPr lang="fr-FR" sz="1800" dirty="0">
                <a:solidFill>
                  <a:schemeClr val="bg2">
                    <a:lumMod val="50000"/>
                  </a:schemeClr>
                </a:solidFill>
                <a:latin typeface="Perpetua" panose="02020502060401020303" pitchFamily="18" charset="77"/>
                <a:ea typeface="Perpetua" charset="0"/>
                <a:cs typeface="Perpetua" charset="0"/>
              </a:rPr>
              <a:t>WHITE</a:t>
            </a:r>
            <a:r>
              <a:rPr lang="fr-FR" sz="1800">
                <a:solidFill>
                  <a:schemeClr val="bg2">
                    <a:lumMod val="50000"/>
                  </a:schemeClr>
                </a:solidFill>
                <a:latin typeface="Perpetua" panose="02020502060401020303" pitchFamily="18" charset="77"/>
                <a:ea typeface="Perpetua" charset="0"/>
                <a:cs typeface="Perpetua" charset="0"/>
              </a:rPr>
              <a:t>/GREENERY</a:t>
            </a:r>
            <a:endParaRPr lang="fr-FR" sz="1800" dirty="0">
              <a:solidFill>
                <a:schemeClr val="bg2">
                  <a:lumMod val="50000"/>
                </a:schemeClr>
              </a:solidFill>
              <a:latin typeface="Perpetua" panose="02020502060401020303" pitchFamily="18" charset="77"/>
              <a:ea typeface="Perpetua" charset="0"/>
              <a:cs typeface="Perpetua" charset="0"/>
            </a:endParaRP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446550"/>
          </a:xfrm>
          <a:prstGeom prst="rect">
            <a:avLst/>
          </a:prstGeom>
          <a:noFill/>
        </p:spPr>
        <p:txBody>
          <a:bodyPr wrap="square" rtlCol="0">
            <a:spAutoFit/>
          </a:bodyPr>
          <a:lstStyle/>
          <a:p>
            <a:pPr algn="ctr"/>
            <a:r>
              <a:rPr lang="en-AE" sz="2200" dirty="0">
                <a:solidFill>
                  <a:srgbClr val="FFC000"/>
                </a:solidFill>
                <a:latin typeface="Perpetua" panose="02020502060401020303" pitchFamily="18" charset="77"/>
              </a:rPr>
              <a:t>Audrey’s note: To create an harmony between the differents signage </a:t>
            </a:r>
            <a:r>
              <a:rPr lang="en-US" sz="2200" dirty="0">
                <a:solidFill>
                  <a:srgbClr val="FFC000"/>
                </a:solidFill>
                <a:latin typeface="Perpetua" panose="02020502060401020303" pitchFamily="18" charset="77"/>
              </a:rPr>
              <a:t>I</a:t>
            </a:r>
            <a:r>
              <a:rPr lang="en-AE" sz="2200" dirty="0">
                <a:solidFill>
                  <a:srgbClr val="FFC000"/>
                </a:solidFill>
                <a:latin typeface="Perpetua" panose="02020502060401020303" pitchFamily="18" charset="77"/>
              </a:rPr>
              <a:t> recommend using the same font style and color (as much as possible) – TBC </a:t>
            </a:r>
            <a:r>
              <a:rPr lang="en-AE" sz="2200">
                <a:solidFill>
                  <a:srgbClr val="FFC000"/>
                </a:solidFill>
                <a:latin typeface="Perpetua" panose="02020502060401020303" pitchFamily="18" charset="77"/>
              </a:rPr>
              <a:t>with Erich or Michael </a:t>
            </a:r>
            <a:r>
              <a:rPr lang="en-AE" sz="2200" dirty="0">
                <a:solidFill>
                  <a:srgbClr val="FFC000"/>
                </a:solidFill>
                <a:latin typeface="Perpetua" panose="02020502060401020303" pitchFamily="18" charset="77"/>
              </a:rPr>
              <a:t>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1361955" y="319559"/>
            <a:ext cx="4786447" cy="786247"/>
          </a:xfrm>
        </p:spPr>
        <p:txBody>
          <a:bodyPr vert="horz" lIns="91440" tIns="45720" rIns="91440" bIns="45720" rtlCol="0" anchor="b">
            <a:normAutofit/>
          </a:bodyPr>
          <a:lstStyle/>
          <a:p>
            <a:r>
              <a:rPr lang="en-US" sz="4000" dirty="0">
                <a:solidFill>
                  <a:schemeClr val="bg2">
                    <a:lumMod val="50000"/>
                  </a:schemeClr>
                </a:solidFill>
                <a:latin typeface="Perpetua" panose="02020502060401020303" pitchFamily="18" charset="77"/>
              </a:rPr>
              <a:t>BARS MENU</a:t>
            </a:r>
          </a:p>
        </p:txBody>
      </p:sp>
      <p:sp>
        <p:nvSpPr>
          <p:cNvPr id="6" name="TextBox 5">
            <a:extLst>
              <a:ext uri="{FF2B5EF4-FFF2-40B4-BE49-F238E27FC236}">
                <a16:creationId xmlns:a16="http://schemas.microsoft.com/office/drawing/2014/main" id="{CEE297F3-E010-D773-C6C2-DAD7F14B25E8}"/>
              </a:ext>
            </a:extLst>
          </p:cNvPr>
          <p:cNvSpPr txBox="1"/>
          <p:nvPr/>
        </p:nvSpPr>
        <p:spPr>
          <a:xfrm>
            <a:off x="527673" y="1334603"/>
            <a:ext cx="4786447" cy="5349611"/>
          </a:xfrm>
          <a:prstGeom prst="rect">
            <a:avLst/>
          </a:prstGeom>
        </p:spPr>
        <p:txBody>
          <a:bodyPr vert="horz" lIns="91440" tIns="45720" rIns="91440" bIns="45720" rtlCol="0">
            <a:normAutofit/>
          </a:bodyPr>
          <a:lstStyle/>
          <a:p>
            <a:endParaRPr lang="en-US" sz="22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200" dirty="0">
                <a:solidFill>
                  <a:schemeClr val="bg2">
                    <a:lumMod val="50000"/>
                  </a:schemeClr>
                </a:solidFill>
                <a:latin typeface="Perpetua" panose="02020502060401020303" pitchFamily="18" charset="77"/>
              </a:rPr>
              <a:t>A bespoke banner will be designed and printed, showcasing the selected beverages</a:t>
            </a:r>
          </a:p>
          <a:p>
            <a:endParaRPr lang="en-US" sz="2200" dirty="0">
              <a:solidFill>
                <a:schemeClr val="bg2">
                  <a:lumMod val="50000"/>
                </a:schemeClr>
              </a:solidFill>
              <a:latin typeface="Perpetua" panose="02020502060401020303" pitchFamily="18" charset="77"/>
            </a:endParaRPr>
          </a:p>
          <a:p>
            <a:r>
              <a:rPr lang="en-US" sz="2200" dirty="0">
                <a:solidFill>
                  <a:schemeClr val="bg2">
                    <a:lumMod val="50000"/>
                  </a:schemeClr>
                </a:solidFill>
                <a:latin typeface="Perpetua" panose="02020502060401020303" pitchFamily="18" charset="77"/>
              </a:rPr>
              <a:t>The décor will echo the reference imagery, styled in harmony with the color </a:t>
            </a:r>
            <a:r>
              <a:rPr lang="en-US" sz="22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B23847F9-96A5-CD78-85D9-B972897C7070}"/>
              </a:ext>
            </a:extLst>
          </p:cNvPr>
          <p:cNvPicPr>
            <a:picLocks noChangeAspect="1"/>
          </p:cNvPicPr>
          <p:nvPr/>
        </p:nvPicPr>
        <p:blipFill>
          <a:blip r:embed="rId3"/>
          <a:srcRect l="3292" r="3292"/>
          <a:stretch/>
        </p:blipFill>
        <p:spPr>
          <a:xfrm>
            <a:off x="8707279" y="839515"/>
            <a:ext cx="3276627" cy="5178969"/>
          </a:xfrm>
          <a:prstGeom prst="rect">
            <a:avLst/>
          </a:prstGeom>
        </p:spPr>
      </p:pic>
      <p:pic>
        <p:nvPicPr>
          <p:cNvPr id="4" name="Picture 3" descr="A white sign with a white cloth on top of a white counter with flowers&#10;&#10;AI-generated content may be incorrect.">
            <a:extLst>
              <a:ext uri="{FF2B5EF4-FFF2-40B4-BE49-F238E27FC236}">
                <a16:creationId xmlns:a16="http://schemas.microsoft.com/office/drawing/2014/main" id="{AEAB86FD-D236-4032-36D7-36E631629B52}"/>
              </a:ext>
            </a:extLst>
          </p:cNvPr>
          <p:cNvPicPr>
            <a:picLocks noChangeAspect="1"/>
          </p:cNvPicPr>
          <p:nvPr/>
        </p:nvPicPr>
        <p:blipFill>
          <a:blip r:embed="rId4"/>
          <a:stretch>
            <a:fillRect/>
          </a:stretch>
        </p:blipFill>
        <p:spPr>
          <a:xfrm>
            <a:off x="5645427" y="108109"/>
            <a:ext cx="4426225" cy="6576106"/>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208601" y="-91883"/>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322133"/>
            <a:ext cx="5461111" cy="1446550"/>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Baroque-style gold mirror will elegantly showcase the groom and groom’s names in white script, alongside the wedding date, radiating timeless sophistication and refined elegance</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086163" y="289260"/>
            <a:ext cx="4190115" cy="6279479"/>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mirror with a gold frame will display the seating chart, featuring white script typography elegantly presenting each table number and guest names</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accompanied by candles of varying heights, with décor reflecting the reference imagery and styled in harmony with the color </a:t>
            </a:r>
            <a:r>
              <a:rPr lang="en-US" sz="2400" dirty="0">
                <a:solidFill>
                  <a:srgbClr val="FFC000"/>
                </a:solidFill>
                <a:latin typeface="Perpetua" panose="02020502060401020303" pitchFamily="18" charset="77"/>
              </a:rPr>
              <a:t>palette detailed on slide #2</a:t>
            </a:r>
            <a:r>
              <a:rPr lang="en-US" sz="2400" dirty="0">
                <a:solidFill>
                  <a:srgbClr val="FFC000"/>
                </a:solidFill>
                <a:latin typeface="Perpetua" panose="02020502060401020303" pitchFamily="18" charset="77"/>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064373" y="289427"/>
            <a:ext cx="3533219" cy="6279146"/>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882595" y="334892"/>
            <a:ext cx="4125476" cy="6188214"/>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refined rectangular design with a rounded top, printed on warm white paper and adorned with delicate light brown floral motifs and dark brown script typography, will be elegantly presented on a wooden holder.</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6449568" y="701013"/>
            <a:ext cx="5455974" cy="5455974"/>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large rectangular design with a rounded top, crafted from smooth, thick white matte paper, adorned with elegant dark script typography and finished with a gold wax stamp, creating a refined and harmonious statement</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857703" y="358140"/>
            <a:ext cx="4609170" cy="6141720"/>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0925549" cy="5595186"/>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POUR DESIGNER/IMPRIMEUR:</a:t>
            </a:r>
            <a:br>
              <a:rPr lang="en-US" sz="2400" b="1" dirty="0">
                <a:solidFill>
                  <a:schemeClr val="accent5">
                    <a:lumMod val="60000"/>
                    <a:lumOff val="40000"/>
                  </a:schemeClr>
                </a:solidFill>
                <a:latin typeface="Perpetua" panose="02020502060401020303" pitchFamily="18" charset="77"/>
                <a:ea typeface="Noto Sans"/>
                <a:cs typeface="Noto Sans"/>
              </a:rPr>
            </a:br>
            <a:br>
              <a:rPr lang="en-US" sz="2400" b="1" dirty="0">
                <a:solidFill>
                  <a:schemeClr val="accent5">
                    <a:lumMod val="60000"/>
                    <a:lumOff val="40000"/>
                  </a:schemeClr>
                </a:solidFill>
                <a:latin typeface="Perpetua" panose="02020502060401020303" pitchFamily="18" charset="77"/>
                <a:ea typeface="Noto Sans"/>
                <a:cs typeface="Noto Sans"/>
              </a:rPr>
            </a:b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4 </a:t>
            </a:r>
            <a:r>
              <a:rPr lang="en-US" dirty="0" err="1">
                <a:solidFill>
                  <a:schemeClr val="bg2">
                    <a:lumMod val="50000"/>
                  </a:schemeClr>
                </a:solidFill>
                <a:latin typeface="Perpetua" panose="02020502060401020303" pitchFamily="18" charset="77"/>
                <a:ea typeface="Noto Sans"/>
                <a:cs typeface="Noto Sans"/>
              </a:rPr>
              <a:t>Numeros</a:t>
            </a:r>
            <a:r>
              <a:rPr lang="en-US" dirty="0">
                <a:solidFill>
                  <a:schemeClr val="bg2">
                    <a:lumMod val="50000"/>
                  </a:schemeClr>
                </a:solidFill>
                <a:latin typeface="Perpetua" panose="02020502060401020303" pitchFamily="18" charset="77"/>
                <a:ea typeface="Noto Sans"/>
                <a:cs typeface="Noto Sans"/>
              </a:rPr>
              <a:t> de tables (1-2-3-4)</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Bars signs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Tu </a:t>
            </a:r>
            <a:r>
              <a:rPr lang="en-US" dirty="0" err="1">
                <a:solidFill>
                  <a:schemeClr val="bg2">
                    <a:lumMod val="50000"/>
                  </a:schemeClr>
                </a:solidFill>
                <a:latin typeface="Perpetua" panose="02020502060401020303" pitchFamily="18" charset="77"/>
                <a:ea typeface="Noto Sans"/>
                <a:cs typeface="Noto Sans"/>
              </a:rPr>
              <a:t>peux</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aussi</a:t>
            </a:r>
            <a:r>
              <a:rPr lang="en-US" dirty="0">
                <a:solidFill>
                  <a:schemeClr val="bg2">
                    <a:lumMod val="50000"/>
                  </a:schemeClr>
                </a:solidFill>
                <a:latin typeface="Perpetua" panose="02020502060401020303" pitchFamily="18" charset="77"/>
                <a:ea typeface="Noto Sans"/>
                <a:cs typeface="Noto Sans"/>
              </a:rPr>
              <a:t> proposer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option plus simple avec un cadre doré a poser sur le bar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welcome sign + </a:t>
            </a:r>
            <a:r>
              <a:rPr lang="en-US" dirty="0" err="1">
                <a:solidFill>
                  <a:schemeClr val="bg2">
                    <a:lumMod val="50000"/>
                  </a:schemeClr>
                </a:solidFill>
                <a:latin typeface="Perpetua" panose="02020502060401020303" pitchFamily="18" charset="77"/>
                <a:ea typeface="Noto Sans"/>
                <a:cs typeface="Noto Sans"/>
              </a:rPr>
              <a:t>mirroir</a:t>
            </a:r>
            <a:r>
              <a:rPr lang="en-US" dirty="0">
                <a:solidFill>
                  <a:schemeClr val="bg2">
                    <a:lumMod val="50000"/>
                  </a:schemeClr>
                </a:solidFill>
                <a:latin typeface="Perpetua" panose="02020502060401020303" pitchFamily="18" charset="77"/>
                <a:ea typeface="Noto Sans"/>
                <a:cs typeface="Noto Sans"/>
              </a:rPr>
              <a:t> a </a:t>
            </a:r>
            <a:r>
              <a:rPr lang="en-US" dirty="0" err="1">
                <a:solidFill>
                  <a:schemeClr val="bg2">
                    <a:lumMod val="50000"/>
                  </a:schemeClr>
                </a:solidFill>
                <a:latin typeface="Perpetua" panose="02020502060401020303" pitchFamily="18" charset="77"/>
                <a:ea typeface="Noto Sans"/>
                <a:cs typeface="Noto Sans"/>
              </a:rPr>
              <a:t>fournir</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Tu </a:t>
            </a:r>
            <a:r>
              <a:rPr lang="en-US" dirty="0" err="1">
                <a:solidFill>
                  <a:schemeClr val="bg2">
                    <a:lumMod val="50000"/>
                  </a:schemeClr>
                </a:solidFill>
                <a:latin typeface="Perpetua" panose="02020502060401020303" pitchFamily="18" charset="77"/>
                <a:ea typeface="Noto Sans"/>
                <a:cs typeface="Noto Sans"/>
              </a:rPr>
              <a:t>peux</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aussi</a:t>
            </a:r>
            <a:r>
              <a:rPr lang="en-US" dirty="0">
                <a:solidFill>
                  <a:schemeClr val="bg2">
                    <a:lumMod val="50000"/>
                  </a:schemeClr>
                </a:solidFill>
                <a:latin typeface="Perpetua" panose="02020502060401020303" pitchFamily="18" charset="77"/>
                <a:ea typeface="Noto Sans"/>
                <a:cs typeface="Noto Sans"/>
              </a:rPr>
              <a:t> proposer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2ieme option avec le plus petit </a:t>
            </a:r>
            <a:r>
              <a:rPr lang="en-US" dirty="0" err="1">
                <a:solidFill>
                  <a:schemeClr val="bg2">
                    <a:lumMod val="50000"/>
                  </a:schemeClr>
                </a:solidFill>
                <a:latin typeface="Perpetua" panose="02020502060401020303" pitchFamily="18" charset="77"/>
                <a:ea typeface="Noto Sans"/>
                <a:cs typeface="Noto Sans"/>
              </a:rPr>
              <a:t>mirroir</a:t>
            </a:r>
            <a:r>
              <a:rPr lang="en-US" dirty="0">
                <a:solidFill>
                  <a:schemeClr val="bg2">
                    <a:lumMod val="50000"/>
                  </a:schemeClr>
                </a:solidFill>
                <a:latin typeface="Perpetua" panose="02020502060401020303" pitchFamily="18" charset="77"/>
                <a:ea typeface="Noto Sans"/>
                <a:cs typeface="Noto Sans"/>
              </a:rPr>
              <a:t> baroque par example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Seating chart avec </a:t>
            </a:r>
            <a:r>
              <a:rPr lang="en-US" dirty="0" err="1">
                <a:solidFill>
                  <a:schemeClr val="bg2">
                    <a:lumMod val="50000"/>
                  </a:schemeClr>
                </a:solidFill>
                <a:latin typeface="Perpetua" panose="02020502060401020303" pitchFamily="18" charset="77"/>
                <a:ea typeface="Noto Sans"/>
                <a:cs typeface="Noto Sans"/>
              </a:rPr>
              <a:t>mirroir</a:t>
            </a:r>
            <a:r>
              <a:rPr lang="en-US" dirty="0">
                <a:solidFill>
                  <a:schemeClr val="bg2">
                    <a:lumMod val="50000"/>
                  </a:schemeClr>
                </a:solidFill>
                <a:latin typeface="Perpetua" panose="02020502060401020303" pitchFamily="18" charset="77"/>
                <a:ea typeface="Noto Sans"/>
                <a:cs typeface="Noto Sans"/>
              </a:rPr>
              <a:t> a </a:t>
            </a:r>
            <a:r>
              <a:rPr lang="en-US" dirty="0" err="1">
                <a:solidFill>
                  <a:schemeClr val="bg2">
                    <a:lumMod val="50000"/>
                  </a:schemeClr>
                </a:solidFill>
                <a:latin typeface="Perpetua" panose="02020502060401020303" pitchFamily="18" charset="77"/>
                <a:ea typeface="Noto Sans"/>
                <a:cs typeface="Noto Sans"/>
              </a:rPr>
              <a:t>fournir</a:t>
            </a:r>
            <a:r>
              <a:rPr lang="en-US" dirty="0">
                <a:solidFill>
                  <a:schemeClr val="bg2">
                    <a:lumMod val="50000"/>
                  </a:schemeClr>
                </a:solidFill>
                <a:latin typeface="Perpetua" panose="02020502060401020303" pitchFamily="18" charset="77"/>
                <a:ea typeface="Noto Sans"/>
                <a:cs typeface="Noto Sans"/>
              </a:rPr>
              <a:t> – </a:t>
            </a:r>
            <a:r>
              <a:rPr lang="en-US" dirty="0" err="1">
                <a:solidFill>
                  <a:schemeClr val="bg2">
                    <a:lumMod val="50000"/>
                  </a:schemeClr>
                </a:solidFill>
                <a:latin typeface="Perpetua" panose="02020502060401020303" pitchFamily="18" charset="77"/>
                <a:ea typeface="Noto Sans"/>
                <a:cs typeface="Noto Sans"/>
              </a:rPr>
              <a:t>ordre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alphabetique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Tu </a:t>
            </a:r>
            <a:r>
              <a:rPr lang="en-US" dirty="0" err="1">
                <a:solidFill>
                  <a:schemeClr val="bg2">
                    <a:lumMod val="50000"/>
                  </a:schemeClr>
                </a:solidFill>
                <a:latin typeface="Perpetua" panose="02020502060401020303" pitchFamily="18" charset="77"/>
                <a:ea typeface="Noto Sans"/>
                <a:cs typeface="Noto Sans"/>
              </a:rPr>
              <a:t>peux</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aussi</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propsoer</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2ieme option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l’aveille</a:t>
            </a:r>
            <a:r>
              <a:rPr lang="en-US" dirty="0">
                <a:solidFill>
                  <a:schemeClr val="bg2">
                    <a:lumMod val="50000"/>
                  </a:schemeClr>
                </a:solidFill>
                <a:latin typeface="Perpetua" panose="02020502060401020303" pitchFamily="18" charset="77"/>
                <a:ea typeface="Noto Sans"/>
                <a:cs typeface="Noto Sans"/>
              </a:rPr>
              <a:t> de Veronica et colin (suspend avec la structure doré - </a:t>
            </a:r>
            <a:r>
              <a:rPr lang="en-US" dirty="0" err="1">
                <a:solidFill>
                  <a:schemeClr val="bg2">
                    <a:lumMod val="50000"/>
                  </a:schemeClr>
                </a:solidFill>
                <a:latin typeface="Perpetua" panose="02020502060401020303" pitchFamily="18" charset="77"/>
                <a:ea typeface="Noto Sans"/>
                <a:cs typeface="Noto Sans"/>
              </a:rPr>
              <a:t>dailleur</a:t>
            </a:r>
            <a:r>
              <a:rPr lang="en-US" dirty="0">
                <a:solidFill>
                  <a:schemeClr val="bg2">
                    <a:lumMod val="50000"/>
                  </a:schemeClr>
                </a:solidFill>
                <a:latin typeface="Perpetua" panose="02020502060401020303" pitchFamily="18" charset="77"/>
                <a:ea typeface="Noto Sans"/>
                <a:cs typeface="Noto Sans"/>
              </a:rPr>
              <a:t> je </a:t>
            </a:r>
            <a:r>
              <a:rPr lang="en-US" dirty="0" err="1">
                <a:solidFill>
                  <a:schemeClr val="bg2">
                    <a:lumMod val="50000"/>
                  </a:schemeClr>
                </a:solidFill>
                <a:latin typeface="Perpetua" panose="02020502060401020303" pitchFamily="18" charset="77"/>
                <a:ea typeface="Noto Sans"/>
                <a:cs typeface="Noto Sans"/>
              </a:rPr>
              <a:t>pense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te</a:t>
            </a:r>
            <a:r>
              <a:rPr lang="en-US" dirty="0">
                <a:solidFill>
                  <a:schemeClr val="bg2">
                    <a:lumMod val="50000"/>
                  </a:schemeClr>
                </a:solidFill>
                <a:latin typeface="Perpetua" panose="02020502060401020303" pitchFamily="18" charset="77"/>
                <a:ea typeface="Noto Sans"/>
                <a:cs typeface="Noto Sans"/>
              </a:rPr>
              <a:t> donner la </a:t>
            </a:r>
            <a:r>
              <a:rPr lang="en-US" dirty="0" err="1">
                <a:solidFill>
                  <a:schemeClr val="bg2">
                    <a:lumMod val="50000"/>
                  </a:schemeClr>
                </a:solidFill>
                <a:latin typeface="Perpetua" panose="02020502060401020303" pitchFamily="18" charset="77"/>
                <a:ea typeface="Noto Sans"/>
                <a:cs typeface="Noto Sans"/>
              </a:rPr>
              <a:t>mienne</a:t>
            </a:r>
            <a:r>
              <a:rPr lang="en-US" dirty="0">
                <a:solidFill>
                  <a:schemeClr val="bg2">
                    <a:lumMod val="50000"/>
                  </a:schemeClr>
                </a:solidFill>
                <a:latin typeface="Perpetua" panose="02020502060401020303" pitchFamily="18" charset="77"/>
                <a:ea typeface="Noto Sans"/>
                <a:cs typeface="Noto Sans"/>
              </a:rPr>
              <a:t> car je ne </a:t>
            </a:r>
            <a:r>
              <a:rPr lang="en-US" dirty="0" err="1">
                <a:solidFill>
                  <a:schemeClr val="bg2">
                    <a:lumMod val="50000"/>
                  </a:schemeClr>
                </a:solidFill>
                <a:latin typeface="Perpetua" panose="02020502060401020303" pitchFamily="18" charset="77"/>
                <a:ea typeface="Noto Sans"/>
                <a:cs typeface="Noto Sans"/>
              </a:rPr>
              <a:t>m’en</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sert</a:t>
            </a:r>
            <a:r>
              <a:rPr lang="en-US" dirty="0">
                <a:solidFill>
                  <a:schemeClr val="bg2">
                    <a:lumMod val="50000"/>
                  </a:schemeClr>
                </a:solidFill>
                <a:latin typeface="Perpetua" panose="02020502060401020303" pitchFamily="18" charset="77"/>
                <a:ea typeface="Noto Sans"/>
                <a:cs typeface="Noto Sans"/>
              </a:rPr>
              <a:t> pas et </a:t>
            </a:r>
            <a:r>
              <a:rPr lang="en-US" dirty="0" err="1">
                <a:solidFill>
                  <a:schemeClr val="bg2">
                    <a:lumMod val="50000"/>
                  </a:schemeClr>
                </a:solidFill>
                <a:latin typeface="Perpetua" panose="02020502060401020303" pitchFamily="18" charset="77"/>
                <a:ea typeface="Noto Sans"/>
                <a:cs typeface="Noto Sans"/>
              </a:rPr>
              <a:t>cela</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pourra</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t’etre</a:t>
            </a:r>
            <a:r>
              <a:rPr lang="en-US" dirty="0">
                <a:solidFill>
                  <a:schemeClr val="bg2">
                    <a:lumMod val="50000"/>
                  </a:schemeClr>
                </a:solidFill>
                <a:latin typeface="Perpetua" panose="02020502060401020303" pitchFamily="18" charset="77"/>
                <a:ea typeface="Noto Sans"/>
                <a:cs typeface="Noto Sans"/>
              </a:rPr>
              <a:t> utile dis moi </a:t>
            </a:r>
            <a:r>
              <a:rPr lang="en-US" dirty="0" err="1">
                <a:solidFill>
                  <a:schemeClr val="bg2">
                    <a:lumMod val="50000"/>
                  </a:schemeClr>
                </a:solidFill>
                <a:latin typeface="Perpetua" panose="02020502060401020303" pitchFamily="18" charset="77"/>
                <a:ea typeface="Noto Sans"/>
                <a:cs typeface="Noto Sans"/>
              </a:rPr>
              <a:t>si</a:t>
            </a:r>
            <a:r>
              <a:rPr lang="en-US" dirty="0">
                <a:solidFill>
                  <a:schemeClr val="bg2">
                    <a:lumMod val="50000"/>
                  </a:schemeClr>
                </a:solidFill>
                <a:latin typeface="Perpetua" panose="02020502060401020303" pitchFamily="18" charset="77"/>
                <a:ea typeface="Noto Sans"/>
                <a:cs typeface="Noto Sans"/>
              </a:rPr>
              <a:t> ca </a:t>
            </a:r>
            <a:r>
              <a:rPr lang="en-US" dirty="0" err="1">
                <a:solidFill>
                  <a:schemeClr val="bg2">
                    <a:lumMod val="50000"/>
                  </a:schemeClr>
                </a:solidFill>
                <a:latin typeface="Perpetua" panose="02020502060401020303" pitchFamily="18" charset="77"/>
                <a:ea typeface="Noto Sans"/>
                <a:cs typeface="Noto Sans"/>
              </a:rPr>
              <a:t>te</a:t>
            </a:r>
            <a:r>
              <a:rPr lang="en-US" dirty="0">
                <a:solidFill>
                  <a:schemeClr val="bg2">
                    <a:lumMod val="50000"/>
                  </a:schemeClr>
                </a:solidFill>
                <a:latin typeface="Perpetua" panose="02020502060401020303" pitchFamily="18" charset="77"/>
                <a:ea typeface="Noto Sans"/>
                <a:cs typeface="Noto Sans"/>
              </a:rPr>
              <a:t> vas et je </a:t>
            </a:r>
            <a:r>
              <a:rPr lang="en-US" dirty="0" err="1">
                <a:solidFill>
                  <a:schemeClr val="bg2">
                    <a:lumMod val="50000"/>
                  </a:schemeClr>
                </a:solidFill>
                <a:latin typeface="Perpetua" panose="02020502060401020303" pitchFamily="18" charset="77"/>
                <a:ea typeface="Noto Sans"/>
                <a:cs typeface="Noto Sans"/>
              </a:rPr>
              <a:t>te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l’a</a:t>
            </a:r>
            <a:r>
              <a:rPr lang="en-US" dirty="0">
                <a:solidFill>
                  <a:schemeClr val="bg2">
                    <a:lumMod val="50000"/>
                  </a:schemeClr>
                </a:solidFill>
                <a:latin typeface="Perpetua" panose="02020502060401020303" pitchFamily="18" charset="77"/>
                <a:ea typeface="Noto Sans"/>
                <a:cs typeface="Noto Sans"/>
              </a:rPr>
              <a:t> fait </a:t>
            </a:r>
            <a:r>
              <a:rPr lang="en-US" dirty="0" err="1">
                <a:solidFill>
                  <a:schemeClr val="bg2">
                    <a:lumMod val="50000"/>
                  </a:schemeClr>
                </a:solidFill>
                <a:latin typeface="Perpetua" panose="02020502060401020303" pitchFamily="18" charset="77"/>
                <a:ea typeface="Noto Sans"/>
                <a:cs typeface="Noto Sans"/>
              </a:rPr>
              <a:t>ramener</a:t>
            </a:r>
            <a:r>
              <a:rPr lang="en-US" dirty="0">
                <a:solidFill>
                  <a:schemeClr val="bg2">
                    <a:lumMod val="50000"/>
                  </a:schemeClr>
                </a:solidFill>
                <a:latin typeface="Perpetua" panose="02020502060401020303" pitchFamily="18" charset="77"/>
                <a:ea typeface="Noto Sans"/>
                <a:cs typeface="Noto Sans"/>
              </a:rPr>
              <a:t> au prochain marriage”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108 place cards ‘</a:t>
            </a:r>
            <a:r>
              <a:rPr lang="en-US" dirty="0" err="1">
                <a:solidFill>
                  <a:schemeClr val="bg2">
                    <a:lumMod val="50000"/>
                  </a:schemeClr>
                </a:solidFill>
                <a:latin typeface="Perpetua" panose="02020502060401020303" pitchFamily="18" charset="77"/>
                <a:ea typeface="Noto Sans"/>
                <a:cs typeface="Noto Sans"/>
              </a:rPr>
              <a:t>cuilleres</a:t>
            </a:r>
            <a:r>
              <a:rPr lang="en-US" dirty="0">
                <a:solidFill>
                  <a:schemeClr val="bg2">
                    <a:lumMod val="50000"/>
                  </a:schemeClr>
                </a:solidFill>
                <a:latin typeface="Perpetua" panose="02020502060401020303" pitchFamily="18" charset="77"/>
                <a:ea typeface="Noto Sans"/>
                <a:cs typeface="Noto Sans"/>
              </a:rPr>
              <a:t> nacre caviar”</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108 place cards simple, avec le meme style et couleur </a:t>
            </a:r>
            <a:r>
              <a:rPr lang="en-US" dirty="0" err="1">
                <a:solidFill>
                  <a:schemeClr val="bg2">
                    <a:lumMod val="50000"/>
                  </a:schemeClr>
                </a:solidFill>
                <a:latin typeface="Perpetua" panose="02020502060401020303" pitchFamily="18" charset="77"/>
                <a:ea typeface="Noto Sans"/>
                <a:cs typeface="Noto Sans"/>
              </a:rPr>
              <a:t>que</a:t>
            </a:r>
            <a:r>
              <a:rPr lang="en-US" dirty="0">
                <a:solidFill>
                  <a:schemeClr val="bg2">
                    <a:lumMod val="50000"/>
                  </a:schemeClr>
                </a:solidFill>
                <a:latin typeface="Perpetua" panose="02020502060401020303" pitchFamily="18" charset="77"/>
                <a:ea typeface="Noto Sans"/>
                <a:cs typeface="Noto Sans"/>
              </a:rPr>
              <a:t> les </a:t>
            </a:r>
            <a:r>
              <a:rPr lang="en-US" dirty="0" err="1">
                <a:solidFill>
                  <a:schemeClr val="bg2">
                    <a:lumMod val="50000"/>
                  </a:schemeClr>
                </a:solidFill>
                <a:latin typeface="Perpetua" panose="02020502060401020303" pitchFamily="18" charset="77"/>
                <a:ea typeface="Noto Sans"/>
                <a:cs typeface="Noto Sans"/>
              </a:rPr>
              <a:t>numero</a:t>
            </a:r>
            <a:r>
              <a:rPr lang="en-US" dirty="0">
                <a:solidFill>
                  <a:schemeClr val="bg2">
                    <a:lumMod val="50000"/>
                  </a:schemeClr>
                </a:solidFill>
                <a:latin typeface="Perpetua" panose="02020502060401020303" pitchFamily="18" charset="77"/>
                <a:ea typeface="Noto Sans"/>
                <a:cs typeface="Noto Sans"/>
              </a:rPr>
              <a:t> de table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108 menus ( </a:t>
            </a:r>
            <a:r>
              <a:rPr lang="en-US" dirty="0" err="1">
                <a:solidFill>
                  <a:schemeClr val="bg2">
                    <a:lumMod val="50000"/>
                  </a:schemeClr>
                </a:solidFill>
                <a:latin typeface="Perpetua" panose="02020502060401020303" pitchFamily="18" charset="77"/>
                <a:ea typeface="Noto Sans"/>
                <a:cs typeface="Noto Sans"/>
              </a:rPr>
              <a:t>tous</a:t>
            </a:r>
            <a:r>
              <a:rPr lang="en-US" dirty="0">
                <a:solidFill>
                  <a:schemeClr val="bg2">
                    <a:lumMod val="50000"/>
                  </a:schemeClr>
                </a:solidFill>
                <a:latin typeface="Perpetua" panose="02020502060401020303" pitchFamily="18" charset="77"/>
                <a:ea typeface="Noto Sans"/>
                <a:cs typeface="Noto Sans"/>
              </a:rPr>
              <a:t> les style </a:t>
            </a:r>
            <a:r>
              <a:rPr lang="en-US" dirty="0" err="1">
                <a:solidFill>
                  <a:schemeClr val="bg2">
                    <a:lumMod val="50000"/>
                  </a:schemeClr>
                </a:solidFill>
                <a:latin typeface="Perpetua" panose="02020502060401020303" pitchFamily="18" charset="77"/>
                <a:ea typeface="Noto Sans"/>
                <a:cs typeface="Noto Sans"/>
              </a:rPr>
              <a:t>doivent</a:t>
            </a:r>
            <a:r>
              <a:rPr lang="en-US" dirty="0">
                <a:solidFill>
                  <a:schemeClr val="bg2">
                    <a:lumMod val="50000"/>
                  </a:schemeClr>
                </a:solidFill>
                <a:latin typeface="Perpetua" panose="02020502060401020303" pitchFamily="18" charset="77"/>
                <a:ea typeface="Noto Sans"/>
                <a:cs typeface="Noto Sans"/>
              </a:rPr>
              <a:t> la </a:t>
            </a:r>
            <a:r>
              <a:rPr lang="en-US" dirty="0" err="1">
                <a:solidFill>
                  <a:schemeClr val="bg2">
                    <a:lumMod val="50000"/>
                  </a:schemeClr>
                </a:solidFill>
                <a:latin typeface="Perpetua" panose="02020502060401020303" pitchFamily="18" charset="77"/>
                <a:ea typeface="Noto Sans"/>
                <a:cs typeface="Noto Sans"/>
              </a:rPr>
              <a:t>aussi</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concorder</a:t>
            </a:r>
            <a:r>
              <a:rPr lang="en-US" dirty="0">
                <a:solidFill>
                  <a:schemeClr val="bg2">
                    <a:lumMod val="50000"/>
                  </a:schemeClr>
                </a:solidFill>
                <a:latin typeface="Perpetua" panose="02020502060401020303" pitchFamily="18" charset="77"/>
                <a:ea typeface="Noto Sans"/>
                <a:cs typeface="Noto Sans"/>
              </a:rPr>
              <a:t>)</a:t>
            </a:r>
          </a:p>
          <a:p>
            <a:pPr marL="616585" marR="513715">
              <a:lnSpc>
                <a:spcPct val="98000"/>
              </a:lnSpc>
              <a:spcBef>
                <a:spcPts val="480"/>
              </a:spcBef>
              <a:spcAft>
                <a:spcPts val="0"/>
              </a:spcAft>
            </a:pPr>
            <a:br>
              <a:rPr lang="en-US" dirty="0">
                <a:solidFill>
                  <a:schemeClr val="bg2">
                    <a:lumMod val="50000"/>
                  </a:schemeClr>
                </a:solidFill>
                <a:latin typeface="Perpetua" panose="02020502060401020303" pitchFamily="18" charset="77"/>
                <a:ea typeface="Noto Sans"/>
                <a:cs typeface="Noto Sans"/>
              </a:rPr>
            </a:br>
            <a:endParaRPr lang="en-US" dirty="0">
              <a:solidFill>
                <a:schemeClr val="bg2">
                  <a:lumMod val="50000"/>
                </a:schemeClr>
              </a:solidFill>
              <a:latin typeface="Perpetua" panose="02020502060401020303" pitchFamily="18" charset="77"/>
              <a:ea typeface="Noto Sans"/>
              <a:cs typeface="Noto Sans"/>
            </a:endParaRP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19680</TotalTime>
  <Words>530</Words>
  <Application>Microsoft Macintosh PowerPoint</Application>
  <PresentationFormat>Widescreen</PresentationFormat>
  <Paragraphs>57</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Perpetua</vt:lpstr>
      <vt:lpstr>Office 2013 - 2022 Theme</vt:lpstr>
      <vt:lpstr>ERICH &amp; MICHAEL’S WEDDING</vt:lpstr>
      <vt:lpstr>COLOR PALETTE</vt:lpstr>
      <vt:lpstr>PowerPoint Presentation</vt:lpstr>
      <vt:lpstr>BARS MENU</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124</cp:revision>
  <dcterms:created xsi:type="dcterms:W3CDTF">2020-01-16T20:29:49Z</dcterms:created>
  <dcterms:modified xsi:type="dcterms:W3CDTF">2026-03-25T10:15:12Z</dcterms:modified>
</cp:coreProperties>
</file>