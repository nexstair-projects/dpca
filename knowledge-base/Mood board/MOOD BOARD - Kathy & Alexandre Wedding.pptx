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8" r:id="rId1"/>
  </p:sldMasterIdLst>
  <p:notesMasterIdLst>
    <p:notesMasterId r:id="rId33"/>
  </p:notesMasterIdLst>
  <p:sldIdLst>
    <p:sldId id="256" r:id="rId2"/>
    <p:sldId id="378" r:id="rId3"/>
    <p:sldId id="258" r:id="rId4"/>
    <p:sldId id="383" r:id="rId5"/>
    <p:sldId id="395" r:id="rId6"/>
    <p:sldId id="333" r:id="rId7"/>
    <p:sldId id="263" r:id="rId8"/>
    <p:sldId id="384" r:id="rId9"/>
    <p:sldId id="410" r:id="rId10"/>
    <p:sldId id="265" r:id="rId11"/>
    <p:sldId id="307" r:id="rId12"/>
    <p:sldId id="337" r:id="rId13"/>
    <p:sldId id="368" r:id="rId14"/>
    <p:sldId id="366" r:id="rId15"/>
    <p:sldId id="386" r:id="rId16"/>
    <p:sldId id="387" r:id="rId17"/>
    <p:sldId id="388" r:id="rId18"/>
    <p:sldId id="385" r:id="rId19"/>
    <p:sldId id="369" r:id="rId20"/>
    <p:sldId id="391" r:id="rId21"/>
    <p:sldId id="370" r:id="rId22"/>
    <p:sldId id="361" r:id="rId23"/>
    <p:sldId id="345" r:id="rId24"/>
    <p:sldId id="315" r:id="rId25"/>
    <p:sldId id="350" r:id="rId26"/>
    <p:sldId id="363" r:id="rId27"/>
    <p:sldId id="364" r:id="rId28"/>
    <p:sldId id="406" r:id="rId29"/>
    <p:sldId id="407" r:id="rId30"/>
    <p:sldId id="290" r:id="rId31"/>
    <p:sldId id="329"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BEABD7-0711-E741-9CAF-77D62C808000}" v="1" dt="2026-02-15T09:24:14.4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207"/>
    <p:restoredTop sz="93074"/>
  </p:normalViewPr>
  <p:slideViewPr>
    <p:cSldViewPr snapToGrid="0" snapToObjects="1">
      <p:cViewPr varScale="1">
        <p:scale>
          <a:sx n="104" d="100"/>
          <a:sy n="104" d="100"/>
        </p:scale>
        <p:origin x="240" y="36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15/02/2026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0D7486C1-5F9D-AA45-B7ED-A387EFD3B1ED}" type="slidenum">
              <a:rPr lang="fr-FR" smtClean="0"/>
              <a:t>5</a:t>
            </a:fld>
            <a:endParaRPr lang="fr-FR"/>
          </a:p>
        </p:txBody>
      </p:sp>
    </p:spTree>
    <p:extLst>
      <p:ext uri="{BB962C8B-B14F-4D97-AF65-F5344CB8AC3E}">
        <p14:creationId xmlns:p14="http://schemas.microsoft.com/office/powerpoint/2010/main" val="1513184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7486C1-5F9D-AA45-B7ED-A387EFD3B1ED}" type="slidenum">
              <a:rPr lang="fr-FR" smtClean="0"/>
              <a:t>10</a:t>
            </a:fld>
            <a:endParaRPr lang="fr-FR"/>
          </a:p>
        </p:txBody>
      </p:sp>
    </p:spTree>
    <p:extLst>
      <p:ext uri="{BB962C8B-B14F-4D97-AF65-F5344CB8AC3E}">
        <p14:creationId xmlns:p14="http://schemas.microsoft.com/office/powerpoint/2010/main" val="509525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0D7486C1-5F9D-AA45-B7ED-A387EFD3B1ED}" type="slidenum">
              <a:rPr lang="fr-FR" smtClean="0"/>
              <a:t>11</a:t>
            </a:fld>
            <a:endParaRPr lang="fr-FR"/>
          </a:p>
        </p:txBody>
      </p:sp>
    </p:spTree>
    <p:extLst>
      <p:ext uri="{BB962C8B-B14F-4D97-AF65-F5344CB8AC3E}">
        <p14:creationId xmlns:p14="http://schemas.microsoft.com/office/powerpoint/2010/main" val="3168943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0D7486C1-5F9D-AA45-B7ED-A387EFD3B1ED}" type="slidenum">
              <a:rPr lang="fr-FR" smtClean="0"/>
              <a:t>20</a:t>
            </a:fld>
            <a:endParaRPr lang="fr-FR"/>
          </a:p>
        </p:txBody>
      </p:sp>
    </p:spTree>
    <p:extLst>
      <p:ext uri="{BB962C8B-B14F-4D97-AF65-F5344CB8AC3E}">
        <p14:creationId xmlns:p14="http://schemas.microsoft.com/office/powerpoint/2010/main" val="592690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7486C1-5F9D-AA45-B7ED-A387EFD3B1ED}" type="slidenum">
              <a:rPr lang="fr-FR" smtClean="0"/>
              <a:t>25</a:t>
            </a:fld>
            <a:endParaRPr lang="fr-FR"/>
          </a:p>
        </p:txBody>
      </p:sp>
    </p:spTree>
    <p:extLst>
      <p:ext uri="{BB962C8B-B14F-4D97-AF65-F5344CB8AC3E}">
        <p14:creationId xmlns:p14="http://schemas.microsoft.com/office/powerpoint/2010/main" val="2790620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1921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38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0412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267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6909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0956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0709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96506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7867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014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863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2/15/26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2357245"/>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dirty="0">
                <a:solidFill>
                  <a:schemeClr val="bg2">
                    <a:lumMod val="50000"/>
                  </a:schemeClr>
                </a:solidFill>
                <a:latin typeface="Perpetua" panose="02020502060401020303" pitchFamily="18" charset="77"/>
              </a:rPr>
              <a:t>KATHY &amp; ALEXANDRE’S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478138" y="3429000"/>
            <a:ext cx="10807323" cy="3419474"/>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MAY 9TH, 2026</a:t>
            </a:r>
          </a:p>
          <a:p>
            <a:r>
              <a:rPr lang="fr-FR">
                <a:solidFill>
                  <a:schemeClr val="bg2">
                    <a:lumMod val="50000"/>
                  </a:schemeClr>
                </a:solidFill>
                <a:latin typeface="Perpetua" panose="02020502060401020303" pitchFamily="18" charset="77"/>
                <a:ea typeface="Perpetua" charset="0"/>
                <a:cs typeface="Perpetua" charset="0"/>
              </a:rPr>
              <a:t>120 </a:t>
            </a:r>
            <a:r>
              <a:rPr lang="fr-FR" dirty="0">
                <a:solidFill>
                  <a:schemeClr val="bg2">
                    <a:lumMod val="50000"/>
                  </a:schemeClr>
                </a:solidFill>
                <a:latin typeface="Perpetua" panose="02020502060401020303" pitchFamily="18" charset="77"/>
                <a:ea typeface="Perpetua" charset="0"/>
                <a:cs typeface="Perpetua" charset="0"/>
              </a:rPr>
              <a:t>GUESTS</a:t>
            </a:r>
          </a:p>
          <a:p>
            <a:r>
              <a:rPr lang="fr-FR" dirty="0">
                <a:solidFill>
                  <a:schemeClr val="bg2">
                    <a:lumMod val="50000"/>
                  </a:schemeClr>
                </a:solidFill>
                <a:latin typeface="Perpetua" panose="02020502060401020303" pitchFamily="18" charset="77"/>
                <a:ea typeface="Perpetua" charset="0"/>
                <a:cs typeface="Perpetua" charset="0"/>
              </a:rPr>
              <a:t>CERCLE DE L’UNION INTÉRALLIÉE</a:t>
            </a: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825F492-105E-E0D9-6CCE-2D71240C59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BE95AB-5C88-4B29-CD3D-306C617B3063}"/>
              </a:ext>
            </a:extLst>
          </p:cNvPr>
          <p:cNvSpPr>
            <a:spLocks noGrp="1"/>
          </p:cNvSpPr>
          <p:nvPr>
            <p:ph type="ctrTitle"/>
          </p:nvPr>
        </p:nvSpPr>
        <p:spPr>
          <a:xfrm>
            <a:off x="1523999" y="-228355"/>
            <a:ext cx="9144000" cy="1482725"/>
          </a:xfrm>
        </p:spPr>
        <p:txBody>
          <a:bodyPr/>
          <a:lstStyle/>
          <a:p>
            <a:r>
              <a:rPr lang="fr-FR" dirty="0">
                <a:solidFill>
                  <a:schemeClr val="bg2">
                    <a:lumMod val="50000"/>
                  </a:schemeClr>
                </a:solidFill>
                <a:latin typeface="Perpetua" panose="02020502060401020303" pitchFamily="18" charset="77"/>
              </a:rPr>
              <a:t>COLOR PALETTE</a:t>
            </a:r>
          </a:p>
        </p:txBody>
      </p:sp>
      <p:sp>
        <p:nvSpPr>
          <p:cNvPr id="3" name="Sous-titre 2">
            <a:extLst>
              <a:ext uri="{FF2B5EF4-FFF2-40B4-BE49-F238E27FC236}">
                <a16:creationId xmlns:a16="http://schemas.microsoft.com/office/drawing/2014/main" id="{DF1D652F-6489-69DF-0620-175C6914946E}"/>
              </a:ext>
            </a:extLst>
          </p:cNvPr>
          <p:cNvSpPr>
            <a:spLocks noGrp="1"/>
          </p:cNvSpPr>
          <p:nvPr>
            <p:ph type="subTitle" idx="1"/>
          </p:nvPr>
        </p:nvSpPr>
        <p:spPr>
          <a:xfrm>
            <a:off x="366608" y="2602523"/>
            <a:ext cx="11458783" cy="3083536"/>
          </a:xfrm>
        </p:spPr>
        <p:txBody>
          <a:bodyPr>
            <a:normAutofit/>
          </a:bodyPr>
          <a:lstStyle/>
          <a:p>
            <a:endParaRPr lang="fr-FR" sz="2000" dirty="0">
              <a:solidFill>
                <a:schemeClr val="bg2">
                  <a:lumMod val="50000"/>
                </a:schemeClr>
              </a:solidFill>
              <a:latin typeface="Perpetua" panose="02020502060401020303" pitchFamily="18" charset="77"/>
              <a:ea typeface="Perpetua" charset="0"/>
              <a:cs typeface="Perpetua" charset="0"/>
            </a:endParaRPr>
          </a:p>
          <a:p>
            <a:r>
              <a:rPr lang="fr-FR" sz="2000" u="sng" dirty="0">
                <a:solidFill>
                  <a:schemeClr val="bg2">
                    <a:lumMod val="50000"/>
                  </a:schemeClr>
                </a:solidFill>
                <a:latin typeface="Perpetua" panose="02020502060401020303" pitchFamily="18" charset="77"/>
                <a:ea typeface="Perpetua" charset="0"/>
                <a:cs typeface="Perpetua" charset="0"/>
              </a:rPr>
              <a:t>MAY 9TH, 2026: </a:t>
            </a:r>
          </a:p>
          <a:p>
            <a:r>
              <a:rPr lang="fr-FR" sz="1800" b="1" dirty="0">
                <a:solidFill>
                  <a:schemeClr val="bg2">
                    <a:lumMod val="50000"/>
                  </a:schemeClr>
                </a:solidFill>
                <a:latin typeface="Perpetua" panose="02020502060401020303" pitchFamily="18" charset="77"/>
                <a:ea typeface="Perpetua" charset="0"/>
                <a:cs typeface="Perpetua" charset="0"/>
              </a:rPr>
              <a:t>CHURCH CEREMONY: </a:t>
            </a:r>
            <a:r>
              <a:rPr lang="fr-FR" sz="1800" dirty="0">
                <a:solidFill>
                  <a:schemeClr val="bg2">
                    <a:lumMod val="50000"/>
                  </a:schemeClr>
                </a:solidFill>
                <a:latin typeface="Perpetua" panose="02020502060401020303" pitchFamily="18" charset="77"/>
                <a:ea typeface="Perpetua" charset="0"/>
                <a:cs typeface="Perpetua" charset="0"/>
              </a:rPr>
              <a:t>WHITE/GREENERY</a:t>
            </a:r>
          </a:p>
          <a:p>
            <a:r>
              <a:rPr lang="fr-FR" sz="1800" b="1" dirty="0">
                <a:solidFill>
                  <a:schemeClr val="bg2">
                    <a:lumMod val="50000"/>
                  </a:schemeClr>
                </a:solidFill>
                <a:latin typeface="Perpetua" panose="02020502060401020303" pitchFamily="18" charset="77"/>
                <a:ea typeface="Perpetua" charset="0"/>
                <a:cs typeface="Perpetua" charset="0"/>
              </a:rPr>
              <a:t>BOUQUET: </a:t>
            </a:r>
            <a:r>
              <a:rPr lang="fr-FR" sz="1800" dirty="0">
                <a:solidFill>
                  <a:schemeClr val="bg2">
                    <a:lumMod val="50000"/>
                  </a:schemeClr>
                </a:solidFill>
                <a:latin typeface="Perpetua" panose="02020502060401020303" pitchFamily="18" charset="77"/>
                <a:ea typeface="Perpetua" charset="0"/>
                <a:cs typeface="Perpetua" charset="0"/>
              </a:rPr>
              <a:t>WHITE/GREENERY</a:t>
            </a:r>
          </a:p>
          <a:p>
            <a:r>
              <a:rPr lang="fr-FR" sz="1800" b="1" dirty="0">
                <a:solidFill>
                  <a:schemeClr val="bg2">
                    <a:lumMod val="50000"/>
                  </a:schemeClr>
                </a:solidFill>
                <a:latin typeface="Perpetua" panose="02020502060401020303" pitchFamily="18" charset="77"/>
                <a:ea typeface="Perpetua" charset="0"/>
                <a:cs typeface="Perpetua" charset="0"/>
              </a:rPr>
              <a:t>COCKTAIL &amp; RECEPTION/DINNER: </a:t>
            </a:r>
            <a:r>
              <a:rPr lang="fr-FR" sz="1800" dirty="0">
                <a:solidFill>
                  <a:schemeClr val="bg2">
                    <a:lumMod val="50000"/>
                  </a:schemeClr>
                </a:solidFill>
                <a:latin typeface="Perpetua" panose="02020502060401020303" pitchFamily="18" charset="77"/>
                <a:ea typeface="Perpetua" charset="0"/>
                <a:cs typeface="Perpetua" charset="0"/>
              </a:rPr>
              <a:t>CORAL/PASTEL PINK/DUSTY BLUE/SOFT GREEN/SOFT WHITE</a:t>
            </a:r>
          </a:p>
          <a:p>
            <a:r>
              <a:rPr lang="fr-FR" sz="1800" b="1" dirty="0">
                <a:solidFill>
                  <a:schemeClr val="bg2">
                    <a:lumMod val="50000"/>
                  </a:schemeClr>
                </a:solidFill>
                <a:latin typeface="Perpetua" panose="02020502060401020303" pitchFamily="18" charset="77"/>
                <a:ea typeface="Perpetua" charset="0"/>
                <a:cs typeface="Perpetua" charset="0"/>
              </a:rPr>
              <a:t>WELCOME PARTY: </a:t>
            </a:r>
            <a:r>
              <a:rPr lang="fr-FR" sz="1800" dirty="0">
                <a:solidFill>
                  <a:schemeClr val="bg2">
                    <a:lumMod val="50000"/>
                  </a:schemeClr>
                </a:solidFill>
                <a:latin typeface="Perpetua" panose="02020502060401020303" pitchFamily="18" charset="77"/>
                <a:ea typeface="Perpetua" charset="0"/>
                <a:cs typeface="Perpetua" charset="0"/>
              </a:rPr>
              <a:t>CORAL/PASTEL PINK/DUSTY BLUE/SOFT GREEN/SOFT WHITE</a:t>
            </a:r>
          </a:p>
        </p:txBody>
      </p:sp>
    </p:spTree>
    <p:extLst>
      <p:ext uri="{BB962C8B-B14F-4D97-AF65-F5344CB8AC3E}">
        <p14:creationId xmlns:p14="http://schemas.microsoft.com/office/powerpoint/2010/main" val="70330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621816" y="961947"/>
            <a:ext cx="3686174" cy="1322888"/>
          </a:xfrm>
        </p:spPr>
        <p:txBody>
          <a:bodyPr>
            <a:normAutofit/>
          </a:bodyPr>
          <a:lstStyle/>
          <a:p>
            <a:r>
              <a:rPr lang="fr-FR" sz="3200" dirty="0">
                <a:solidFill>
                  <a:schemeClr val="bg2">
                    <a:lumMod val="50000"/>
                  </a:schemeClr>
                </a:solidFill>
                <a:latin typeface="Perpetua" panose="02020502060401020303" pitchFamily="18" charset="77"/>
              </a:rPr>
              <a:t>CEREMONY DECOR </a:t>
            </a:r>
            <a:br>
              <a:rPr lang="fr-FR" sz="2400" i="1" dirty="0">
                <a:latin typeface="Perpetua" panose="02020502060401020303" pitchFamily="18" charset="77"/>
              </a:rPr>
            </a:br>
            <a:br>
              <a:rPr lang="fr-FR" sz="2400" dirty="0">
                <a:latin typeface="Perpetua" panose="02020502060401020303" pitchFamily="18" charset="77"/>
              </a:rPr>
            </a:br>
            <a:endParaRPr lang="fr-FR" sz="24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54886570-2773-479B-B710-D0ADE12BEB19}"/>
              </a:ext>
            </a:extLst>
          </p:cNvPr>
          <p:cNvSpPr>
            <a:spLocks noGrp="1"/>
          </p:cNvSpPr>
          <p:nvPr>
            <p:ph idx="1"/>
          </p:nvPr>
        </p:nvSpPr>
        <p:spPr>
          <a:xfrm>
            <a:off x="346158" y="3256407"/>
            <a:ext cx="4237490" cy="1175730"/>
          </a:xfrm>
        </p:spPr>
        <p:txBody>
          <a:bodyPr>
            <a:normAutofit/>
          </a:bodyPr>
          <a:lstStyle/>
          <a:p>
            <a:pPr marL="0" indent="0" algn="ctr">
              <a:buNone/>
            </a:pPr>
            <a:r>
              <a:rPr lang="en-US" sz="2400" dirty="0">
                <a:solidFill>
                  <a:schemeClr val="bg2">
                    <a:lumMod val="50000"/>
                  </a:schemeClr>
                </a:solidFill>
                <a:latin typeface="Perpetua" panose="02020502060401020303" pitchFamily="18" charset="77"/>
              </a:rPr>
              <a:t>The ceremony will take place at Église Saint-Germain-des-Prés, Paris</a:t>
            </a:r>
          </a:p>
          <a:p>
            <a:pPr>
              <a:buNone/>
            </a:pPr>
            <a:endParaRPr lang="en-US" sz="1800" dirty="0">
              <a:solidFill>
                <a:schemeClr val="bg2">
                  <a:lumMod val="50000"/>
                </a:schemeClr>
              </a:solidFill>
              <a:latin typeface="Perpetua" panose="02020502060401020303" pitchFamily="18" charset="77"/>
            </a:endParaRPr>
          </a:p>
          <a:p>
            <a:pPr>
              <a:buNone/>
            </a:pPr>
            <a:endParaRPr lang="en-US" sz="1800" dirty="0">
              <a:solidFill>
                <a:schemeClr val="bg2">
                  <a:lumMod val="50000"/>
                </a:schemeClr>
              </a:solidFill>
              <a:latin typeface="Perpetua" panose="02020502060401020303" pitchFamily="18" charset="77"/>
            </a:endParaRPr>
          </a:p>
        </p:txBody>
      </p:sp>
      <p:pic>
        <p:nvPicPr>
          <p:cNvPr id="14" name="Picture 13">
            <a:extLst>
              <a:ext uri="{FF2B5EF4-FFF2-40B4-BE49-F238E27FC236}">
                <a16:creationId xmlns:a16="http://schemas.microsoft.com/office/drawing/2014/main" id="{45997538-E5BA-94E1-392D-8B302028F323}"/>
              </a:ext>
            </a:extLst>
          </p:cNvPr>
          <p:cNvPicPr>
            <a:picLocks noChangeAspect="1"/>
          </p:cNvPicPr>
          <p:nvPr/>
        </p:nvPicPr>
        <p:blipFill>
          <a:blip r:embed="rId2"/>
          <a:srcRect/>
          <a:stretch/>
        </p:blipFill>
        <p:spPr>
          <a:xfrm>
            <a:off x="5291193" y="1343285"/>
            <a:ext cx="6429266" cy="4171429"/>
          </a:xfrm>
          <a:prstGeom prst="rect">
            <a:avLst/>
          </a:prstGeom>
        </p:spPr>
      </p:pic>
    </p:spTree>
    <p:extLst>
      <p:ext uri="{BB962C8B-B14F-4D97-AF65-F5344CB8AC3E}">
        <p14:creationId xmlns:p14="http://schemas.microsoft.com/office/powerpoint/2010/main" val="1741831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3C54D27-C850-ECF9-8290-038F57B860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C3DF00-291C-59D9-3D2F-AA74A39B32C2}"/>
              </a:ext>
            </a:extLst>
          </p:cNvPr>
          <p:cNvSpPr>
            <a:spLocks noGrp="1"/>
          </p:cNvSpPr>
          <p:nvPr>
            <p:ph type="title"/>
          </p:nvPr>
        </p:nvSpPr>
        <p:spPr>
          <a:xfrm>
            <a:off x="1638664" y="530359"/>
            <a:ext cx="3686174" cy="1322888"/>
          </a:xfrm>
        </p:spPr>
        <p:txBody>
          <a:bodyPr>
            <a:normAutofit/>
          </a:bodyPr>
          <a:lstStyle/>
          <a:p>
            <a:pPr algn="ctr"/>
            <a:r>
              <a:rPr lang="fr-FR" sz="3100" dirty="0">
                <a:solidFill>
                  <a:schemeClr val="bg2">
                    <a:lumMod val="50000"/>
                  </a:schemeClr>
                </a:solidFill>
                <a:latin typeface="Perpetua" panose="02020502060401020303" pitchFamily="18" charset="77"/>
              </a:rPr>
              <a:t>ALTAR DECOR </a:t>
            </a:r>
            <a:br>
              <a:rPr lang="fr-FR" sz="2100" i="1" dirty="0">
                <a:latin typeface="Perpetua" panose="02020502060401020303" pitchFamily="18" charset="77"/>
              </a:rPr>
            </a:br>
            <a:br>
              <a:rPr lang="fr-FR" sz="2100" dirty="0">
                <a:latin typeface="Perpetua" panose="02020502060401020303" pitchFamily="18" charset="77"/>
              </a:rPr>
            </a:br>
            <a:endParaRPr lang="fr-FR" sz="21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43B354DD-EFF8-EEE9-1D20-2EDAA6E36630}"/>
              </a:ext>
            </a:extLst>
          </p:cNvPr>
          <p:cNvSpPr>
            <a:spLocks noGrp="1"/>
          </p:cNvSpPr>
          <p:nvPr>
            <p:ph idx="1"/>
          </p:nvPr>
        </p:nvSpPr>
        <p:spPr>
          <a:xfrm>
            <a:off x="1116238" y="1615956"/>
            <a:ext cx="4731026" cy="3838194"/>
          </a:xfrm>
        </p:spPr>
        <p:txBody>
          <a:bodyPr>
            <a:normAutofit fontScale="92500" lnSpcReduction="10000"/>
          </a:bodyPr>
          <a:lstStyle/>
          <a:p>
            <a:pPr marL="0" indent="0">
              <a:buNone/>
            </a:pPr>
            <a:br>
              <a:rPr lang="en-US" sz="4000" dirty="0">
                <a:solidFill>
                  <a:schemeClr val="bg2">
                    <a:lumMod val="50000"/>
                  </a:schemeClr>
                </a:solidFill>
                <a:latin typeface="Perpetua" panose="02020502060401020303" pitchFamily="18" charset="77"/>
              </a:rPr>
            </a:br>
            <a:endParaRPr lang="en-US" sz="4000" dirty="0">
              <a:solidFill>
                <a:schemeClr val="bg2">
                  <a:lumMod val="50000"/>
                </a:schemeClr>
              </a:solidFill>
              <a:latin typeface="Perpetua" panose="02020502060401020303" pitchFamily="18" charset="77"/>
            </a:endParaRPr>
          </a:p>
          <a:p>
            <a:r>
              <a:rPr lang="en-US" sz="2400" dirty="0">
                <a:solidFill>
                  <a:schemeClr val="bg2">
                    <a:lumMod val="50000"/>
                  </a:schemeClr>
                </a:solidFill>
                <a:latin typeface="Perpetua" panose="02020502060401020303" pitchFamily="18" charset="77"/>
              </a:rPr>
              <a:t>Tall Refined floral arrangements, as shown in the reference image, will be displayed on either side of the bride and groom</a:t>
            </a:r>
          </a:p>
          <a:p>
            <a:pPr marL="0" indent="0">
              <a:buNone/>
            </a:pPr>
            <a:r>
              <a:rPr lang="en-US" sz="2400" dirty="0">
                <a:solidFill>
                  <a:schemeClr val="bg2">
                    <a:lumMod val="50000"/>
                  </a:schemeClr>
                </a:solidFill>
                <a:latin typeface="Perpetua" panose="02020502060401020303" pitchFamily="18" charset="77"/>
              </a:rPr>
              <a:t> </a:t>
            </a:r>
          </a:p>
          <a:p>
            <a:r>
              <a:rPr lang="en-US" sz="2400" dirty="0">
                <a:solidFill>
                  <a:schemeClr val="bg2">
                    <a:lumMod val="50000"/>
                  </a:schemeClr>
                </a:solidFill>
                <a:latin typeface="Perpetua" panose="02020502060401020303" pitchFamily="18" charset="77"/>
              </a:rPr>
              <a:t>The florals will be presented in antique white, European-style vases, set atop white columns to create a balanced and elegant framing</a:t>
            </a:r>
          </a:p>
          <a:p>
            <a:pPr marL="0" indent="0" fontAlgn="base">
              <a:buNone/>
            </a:pPr>
            <a:endParaRPr lang="en-US" sz="3600" dirty="0">
              <a:solidFill>
                <a:schemeClr val="bg2">
                  <a:lumMod val="50000"/>
                </a:schemeClr>
              </a:solidFill>
              <a:latin typeface="Perpetua" panose="02020502060401020303" pitchFamily="18" charset="77"/>
            </a:endParaRPr>
          </a:p>
        </p:txBody>
      </p:sp>
      <p:pic>
        <p:nvPicPr>
          <p:cNvPr id="12" name="Picture 11">
            <a:extLst>
              <a:ext uri="{FF2B5EF4-FFF2-40B4-BE49-F238E27FC236}">
                <a16:creationId xmlns:a16="http://schemas.microsoft.com/office/drawing/2014/main" id="{892A865E-3242-FACC-E73E-412114DB5E8E}"/>
              </a:ext>
            </a:extLst>
          </p:cNvPr>
          <p:cNvPicPr>
            <a:picLocks noChangeAspect="1"/>
          </p:cNvPicPr>
          <p:nvPr/>
        </p:nvPicPr>
        <p:blipFill>
          <a:blip r:embed="rId2"/>
          <a:srcRect/>
          <a:stretch/>
        </p:blipFill>
        <p:spPr>
          <a:xfrm>
            <a:off x="7523541" y="121523"/>
            <a:ext cx="3707281" cy="6614954"/>
          </a:xfrm>
          <a:prstGeom prst="rect">
            <a:avLst/>
          </a:prstGeom>
        </p:spPr>
      </p:pic>
    </p:spTree>
    <p:extLst>
      <p:ext uri="{BB962C8B-B14F-4D97-AF65-F5344CB8AC3E}">
        <p14:creationId xmlns:p14="http://schemas.microsoft.com/office/powerpoint/2010/main" val="4000810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8B53A9F-AB44-FE77-CBEA-7D8CDF5D3C1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F3419BD-5073-F006-39AC-0806E66A8BC8}"/>
              </a:ext>
            </a:extLst>
          </p:cNvPr>
          <p:cNvSpPr>
            <a:spLocks noGrp="1"/>
          </p:cNvSpPr>
          <p:nvPr>
            <p:ph type="title"/>
          </p:nvPr>
        </p:nvSpPr>
        <p:spPr>
          <a:xfrm>
            <a:off x="553600" y="446767"/>
            <a:ext cx="6286037" cy="1322888"/>
          </a:xfrm>
        </p:spPr>
        <p:txBody>
          <a:bodyPr>
            <a:normAutofit fontScale="90000"/>
          </a:bodyPr>
          <a:lstStyle/>
          <a:p>
            <a:pPr algn="ctr"/>
            <a:r>
              <a:rPr lang="fr-FR" sz="3100" dirty="0">
                <a:solidFill>
                  <a:schemeClr val="bg2">
                    <a:lumMod val="50000"/>
                  </a:schemeClr>
                </a:solidFill>
                <a:latin typeface="Perpetua" panose="02020502060401020303" pitchFamily="18" charset="77"/>
              </a:rPr>
              <a:t>CEREMONY DECOR – AISLE ENTRANCE </a:t>
            </a:r>
            <a:br>
              <a:rPr lang="fr-FR" sz="2100" i="1" dirty="0">
                <a:latin typeface="Perpetua" panose="02020502060401020303" pitchFamily="18" charset="77"/>
              </a:rPr>
            </a:br>
            <a:br>
              <a:rPr lang="fr-FR" sz="2100" dirty="0">
                <a:latin typeface="Perpetua" panose="02020502060401020303" pitchFamily="18" charset="77"/>
              </a:rPr>
            </a:br>
            <a:endParaRPr lang="fr-FR" sz="21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3C76D906-DF9D-7FBA-9EFA-854B0BCAD8C5}"/>
              </a:ext>
            </a:extLst>
          </p:cNvPr>
          <p:cNvSpPr>
            <a:spLocks noGrp="1"/>
          </p:cNvSpPr>
          <p:nvPr>
            <p:ph idx="1"/>
          </p:nvPr>
        </p:nvSpPr>
        <p:spPr>
          <a:xfrm>
            <a:off x="325923" y="929723"/>
            <a:ext cx="6741389" cy="4998554"/>
          </a:xfrm>
        </p:spPr>
        <p:txBody>
          <a:bodyPr>
            <a:normAutofit/>
          </a:bodyPr>
          <a:lstStyle/>
          <a:p>
            <a:pPr marL="0" indent="0">
              <a:buNone/>
            </a:pPr>
            <a:br>
              <a:rPr lang="en-US" sz="4000" dirty="0">
                <a:solidFill>
                  <a:schemeClr val="bg2">
                    <a:lumMod val="50000"/>
                  </a:schemeClr>
                </a:solidFill>
                <a:latin typeface="Perpetua" panose="02020502060401020303" pitchFamily="18" charset="77"/>
              </a:rPr>
            </a:br>
            <a:endParaRPr lang="en-US" sz="4000" dirty="0">
              <a:solidFill>
                <a:schemeClr val="bg2">
                  <a:lumMod val="50000"/>
                </a:schemeClr>
              </a:solidFill>
              <a:latin typeface="Perpetua" panose="02020502060401020303" pitchFamily="18" charset="77"/>
            </a:endParaRPr>
          </a:p>
          <a:p>
            <a:pPr marL="0" indent="0">
              <a:buNone/>
            </a:pPr>
            <a:endParaRPr lang="en-US" sz="4000" dirty="0">
              <a:solidFill>
                <a:schemeClr val="bg2">
                  <a:lumMod val="50000"/>
                </a:schemeClr>
              </a:solidFill>
              <a:latin typeface="Perpetua" panose="02020502060401020303" pitchFamily="18" charset="77"/>
            </a:endParaRPr>
          </a:p>
          <a:p>
            <a:pPr fontAlgn="base"/>
            <a:r>
              <a:rPr lang="en-US" sz="2200" dirty="0">
                <a:solidFill>
                  <a:schemeClr val="bg2">
                    <a:lumMod val="50000"/>
                  </a:schemeClr>
                </a:solidFill>
                <a:latin typeface="Perpetua" panose="02020502060401020303" pitchFamily="18" charset="77"/>
              </a:rPr>
              <a:t>White floral arrangements will be positioned on columns at both the entrance and the end of the aisle, elegantly framing the ceremony space</a:t>
            </a:r>
          </a:p>
        </p:txBody>
      </p:sp>
      <p:pic>
        <p:nvPicPr>
          <p:cNvPr id="4" name="Picture 3">
            <a:extLst>
              <a:ext uri="{FF2B5EF4-FFF2-40B4-BE49-F238E27FC236}">
                <a16:creationId xmlns:a16="http://schemas.microsoft.com/office/drawing/2014/main" id="{7E08EC80-980B-84FA-6C5E-AAF1F4848E12}"/>
              </a:ext>
            </a:extLst>
          </p:cNvPr>
          <p:cNvPicPr>
            <a:picLocks noChangeAspect="1"/>
          </p:cNvPicPr>
          <p:nvPr/>
        </p:nvPicPr>
        <p:blipFill>
          <a:blip r:embed="rId3"/>
          <a:srcRect/>
          <a:stretch/>
        </p:blipFill>
        <p:spPr>
          <a:xfrm>
            <a:off x="7389936" y="242652"/>
            <a:ext cx="4248464" cy="6372696"/>
          </a:xfrm>
          <a:prstGeom prst="rect">
            <a:avLst/>
          </a:prstGeom>
        </p:spPr>
      </p:pic>
    </p:spTree>
    <p:extLst>
      <p:ext uri="{BB962C8B-B14F-4D97-AF65-F5344CB8AC3E}">
        <p14:creationId xmlns:p14="http://schemas.microsoft.com/office/powerpoint/2010/main" val="2065696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01DD16F-012C-D030-F5A2-B0602319371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103B704-9544-AB3A-54B7-F3D055C28341}"/>
              </a:ext>
            </a:extLst>
          </p:cNvPr>
          <p:cNvSpPr>
            <a:spLocks noGrp="1"/>
          </p:cNvSpPr>
          <p:nvPr>
            <p:ph type="title"/>
          </p:nvPr>
        </p:nvSpPr>
        <p:spPr>
          <a:xfrm>
            <a:off x="537717" y="1245138"/>
            <a:ext cx="6400807" cy="1351472"/>
          </a:xfrm>
        </p:spPr>
        <p:txBody>
          <a:bodyPr>
            <a:noAutofit/>
          </a:bodyPr>
          <a:lstStyle/>
          <a:p>
            <a:pPr algn="ctr"/>
            <a:r>
              <a:rPr lang="fr-FR" sz="4000" dirty="0">
                <a:solidFill>
                  <a:schemeClr val="bg2">
                    <a:lumMod val="50000"/>
                  </a:schemeClr>
                </a:solidFill>
                <a:latin typeface="Perpetua" panose="02020502060401020303" pitchFamily="18" charset="77"/>
              </a:rPr>
              <a:t>AISLE DECOR</a:t>
            </a:r>
            <a:br>
              <a:rPr lang="fr-FR" sz="4000" dirty="0">
                <a:solidFill>
                  <a:schemeClr val="bg2">
                    <a:lumMod val="50000"/>
                  </a:schemeClr>
                </a:solidFill>
                <a:latin typeface="Perpetua" panose="02020502060401020303" pitchFamily="18" charset="77"/>
              </a:rPr>
            </a:br>
            <a:br>
              <a:rPr lang="fr-FR" sz="4000" dirty="0">
                <a:solidFill>
                  <a:schemeClr val="bg2">
                    <a:lumMod val="50000"/>
                  </a:schemeClr>
                </a:solidFill>
                <a:latin typeface="Perpetua" panose="02020502060401020303" pitchFamily="18" charset="77"/>
              </a:rPr>
            </a:br>
            <a:br>
              <a:rPr lang="fr-FR" sz="3600" dirty="0">
                <a:solidFill>
                  <a:schemeClr val="tx1">
                    <a:lumMod val="85000"/>
                    <a:lumOff val="15000"/>
                  </a:schemeClr>
                </a:solidFill>
                <a:latin typeface="Perpetua" panose="02020502060401020303" pitchFamily="18" charset="77"/>
              </a:rPr>
            </a:br>
            <a:br>
              <a:rPr lang="fr-FR" sz="3600" dirty="0">
                <a:solidFill>
                  <a:schemeClr val="tx1">
                    <a:lumMod val="85000"/>
                    <a:lumOff val="15000"/>
                  </a:schemeClr>
                </a:solidFill>
                <a:latin typeface="Perpetua" panose="02020502060401020303" pitchFamily="18" charset="77"/>
              </a:rPr>
            </a:br>
            <a:endParaRPr lang="fr-FR" sz="3600" b="1" i="1" dirty="0">
              <a:solidFill>
                <a:schemeClr val="tx1">
                  <a:lumMod val="85000"/>
                  <a:lumOff val="15000"/>
                </a:schemeClr>
              </a:solidFill>
              <a:latin typeface="Perpetua" panose="02020502060401020303" pitchFamily="18" charset="77"/>
            </a:endParaRPr>
          </a:p>
        </p:txBody>
      </p:sp>
      <p:sp>
        <p:nvSpPr>
          <p:cNvPr id="10" name="Content Placeholder 9">
            <a:extLst>
              <a:ext uri="{FF2B5EF4-FFF2-40B4-BE49-F238E27FC236}">
                <a16:creationId xmlns:a16="http://schemas.microsoft.com/office/drawing/2014/main" id="{F84B8BCC-C1C7-50E5-692F-FB9876FB63BA}"/>
              </a:ext>
            </a:extLst>
          </p:cNvPr>
          <p:cNvSpPr>
            <a:spLocks noGrp="1"/>
          </p:cNvSpPr>
          <p:nvPr>
            <p:ph idx="1"/>
          </p:nvPr>
        </p:nvSpPr>
        <p:spPr>
          <a:xfrm>
            <a:off x="904169" y="2955039"/>
            <a:ext cx="5667904" cy="1772266"/>
          </a:xfrm>
        </p:spPr>
        <p:txBody>
          <a:bodyPr>
            <a:normAutofit/>
          </a:bodyPr>
          <a:lstStyle/>
          <a:p>
            <a:r>
              <a:rPr lang="en-US" sz="2200" dirty="0">
                <a:solidFill>
                  <a:schemeClr val="bg2">
                    <a:lumMod val="50000"/>
                  </a:schemeClr>
                </a:solidFill>
                <a:latin typeface="Perpetua" panose="02020502060401020303" pitchFamily="18" charset="77"/>
              </a:rPr>
              <a:t>Very minimal greenery and white floral arrangements, will be artfully arranged along both sides of the aisle – no loose petals allowed.</a:t>
            </a:r>
          </a:p>
        </p:txBody>
      </p:sp>
      <p:pic>
        <p:nvPicPr>
          <p:cNvPr id="5" name="Picture 4">
            <a:extLst>
              <a:ext uri="{FF2B5EF4-FFF2-40B4-BE49-F238E27FC236}">
                <a16:creationId xmlns:a16="http://schemas.microsoft.com/office/drawing/2014/main" id="{3CCF60D9-B043-F103-7A9E-AC0CA5A23721}"/>
              </a:ext>
            </a:extLst>
          </p:cNvPr>
          <p:cNvPicPr>
            <a:picLocks noChangeAspect="1"/>
          </p:cNvPicPr>
          <p:nvPr/>
        </p:nvPicPr>
        <p:blipFill>
          <a:blip r:embed="rId2"/>
          <a:srcRect/>
          <a:stretch/>
        </p:blipFill>
        <p:spPr>
          <a:xfrm>
            <a:off x="7536656" y="340779"/>
            <a:ext cx="4117627" cy="6176441"/>
          </a:xfrm>
          <a:prstGeom prst="rect">
            <a:avLst/>
          </a:prstGeom>
        </p:spPr>
      </p:pic>
    </p:spTree>
    <p:extLst>
      <p:ext uri="{BB962C8B-B14F-4D97-AF65-F5344CB8AC3E}">
        <p14:creationId xmlns:p14="http://schemas.microsoft.com/office/powerpoint/2010/main" val="4070648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782025" y="1118296"/>
            <a:ext cx="9920985" cy="1415270"/>
          </a:xfrm>
        </p:spPr>
        <p:txBody>
          <a:bodyPr vert="horz" lIns="91440" tIns="45720" rIns="91440" bIns="45720" rtlCol="0" anchor="t">
            <a:normAutofit/>
          </a:bodyPr>
          <a:lstStyle/>
          <a:p>
            <a:pPr algn="ctr"/>
            <a:r>
              <a:rPr lang="en-US" sz="4000" kern="1200" dirty="0">
                <a:solidFill>
                  <a:schemeClr val="bg2">
                    <a:lumMod val="50000"/>
                  </a:schemeClr>
                </a:solidFill>
                <a:latin typeface="Perpetua" panose="02020502060401020303" pitchFamily="18" charset="77"/>
              </a:rPr>
              <a:t>BRIDAL BOUQUET &amp; BOUTONNIERE</a:t>
            </a:r>
          </a:p>
        </p:txBody>
      </p:sp>
      <p:sp>
        <p:nvSpPr>
          <p:cNvPr id="18" name="Content Placeholder 17">
            <a:extLst>
              <a:ext uri="{FF2B5EF4-FFF2-40B4-BE49-F238E27FC236}">
                <a16:creationId xmlns:a16="http://schemas.microsoft.com/office/drawing/2014/main" id="{F55E19D7-7AAE-44AB-ADA9-038C66B41C04}"/>
              </a:ext>
            </a:extLst>
          </p:cNvPr>
          <p:cNvSpPr>
            <a:spLocks noGrp="1"/>
          </p:cNvSpPr>
          <p:nvPr>
            <p:ph idx="1"/>
          </p:nvPr>
        </p:nvSpPr>
        <p:spPr>
          <a:xfrm>
            <a:off x="3299790" y="1710355"/>
            <a:ext cx="8885453" cy="2236961"/>
          </a:xfrm>
        </p:spPr>
        <p:txBody>
          <a:bodyPr>
            <a:normAutofit/>
          </a:bodyPr>
          <a:lstStyle/>
          <a:p>
            <a:pPr marL="0" indent="0">
              <a:buNone/>
            </a:pPr>
            <a:endParaRPr lang="en-US" sz="2000" dirty="0">
              <a:latin typeface="Perpetua" panose="02020502060401020303" pitchFamily="18" charset="77"/>
            </a:endParaRPr>
          </a:p>
          <a:p>
            <a:pPr marL="0" indent="0">
              <a:buNone/>
            </a:pPr>
            <a:endParaRPr lang="en-US" sz="2000" dirty="0">
              <a:solidFill>
                <a:schemeClr val="bg2">
                  <a:lumMod val="50000"/>
                </a:schemeClr>
              </a:solidFill>
              <a:latin typeface="Perpetua" panose="02020502060401020303" pitchFamily="18" charset="77"/>
            </a:endParaRPr>
          </a:p>
          <a:p>
            <a:pPr marL="0" indent="0" algn="ctr">
              <a:buNone/>
            </a:pPr>
            <a:r>
              <a:rPr lang="en-US" sz="2200" b="1" dirty="0">
                <a:solidFill>
                  <a:schemeClr val="bg2">
                    <a:lumMod val="50000"/>
                  </a:schemeClr>
                </a:solidFill>
                <a:latin typeface="Perpetua" panose="02020502060401020303" pitchFamily="18" charset="77"/>
              </a:rPr>
              <a:t>Bridal bouquet: </a:t>
            </a:r>
            <a:r>
              <a:rPr lang="en-US" sz="2200" dirty="0">
                <a:solidFill>
                  <a:schemeClr val="bg2">
                    <a:lumMod val="50000"/>
                  </a:schemeClr>
                </a:solidFill>
                <a:latin typeface="Perpetua" panose="02020502060401020303" pitchFamily="18" charset="77"/>
              </a:rPr>
              <a:t>The bridal bouquet will be small in size, composed of an airy and refined blend of white spring florals and greenery, inspired by the reference image. The stems will be finished with a white ribbon, delicately tied to create a natural, effortless finish</a:t>
            </a:r>
          </a:p>
          <a:p>
            <a:pPr marL="0" indent="0" algn="ctr">
              <a:buNone/>
            </a:pPr>
            <a:endParaRPr lang="en-US" sz="2400" dirty="0">
              <a:solidFill>
                <a:schemeClr val="bg2">
                  <a:lumMod val="50000"/>
                </a:schemeClr>
              </a:solidFill>
              <a:latin typeface="Perpetua" panose="02020502060401020303" pitchFamily="18" charset="77"/>
            </a:endParaRPr>
          </a:p>
        </p:txBody>
      </p:sp>
      <p:sp>
        <p:nvSpPr>
          <p:cNvPr id="8" name="Rectangle 7">
            <a:extLst>
              <a:ext uri="{FF2B5EF4-FFF2-40B4-BE49-F238E27FC236}">
                <a16:creationId xmlns:a16="http://schemas.microsoft.com/office/drawing/2014/main" id="{9E94D85F-04E9-7D78-E8BE-96ADA1940A61}"/>
              </a:ext>
            </a:extLst>
          </p:cNvPr>
          <p:cNvSpPr/>
          <p:nvPr/>
        </p:nvSpPr>
        <p:spPr>
          <a:xfrm>
            <a:off x="6006483" y="203896"/>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DAAFCC5-839E-A218-D8CC-034AE4CFCC92}"/>
              </a:ext>
            </a:extLst>
          </p:cNvPr>
          <p:cNvPicPr>
            <a:picLocks noChangeAspect="1"/>
          </p:cNvPicPr>
          <p:nvPr/>
        </p:nvPicPr>
        <p:blipFill>
          <a:blip r:embed="rId2"/>
          <a:srcRect l="3261" r="4154"/>
          <a:stretch>
            <a:fillRect/>
          </a:stretch>
        </p:blipFill>
        <p:spPr>
          <a:xfrm>
            <a:off x="224356" y="203896"/>
            <a:ext cx="2969948" cy="4571736"/>
          </a:xfrm>
          <a:prstGeom prst="rect">
            <a:avLst/>
          </a:prstGeom>
        </p:spPr>
      </p:pic>
      <p:pic>
        <p:nvPicPr>
          <p:cNvPr id="7" name="Picture 6">
            <a:extLst>
              <a:ext uri="{FF2B5EF4-FFF2-40B4-BE49-F238E27FC236}">
                <a16:creationId xmlns:a16="http://schemas.microsoft.com/office/drawing/2014/main" id="{66E5B487-510E-5175-73CB-A8CE515D9B9C}"/>
              </a:ext>
            </a:extLst>
          </p:cNvPr>
          <p:cNvPicPr>
            <a:picLocks noChangeAspect="1"/>
          </p:cNvPicPr>
          <p:nvPr/>
        </p:nvPicPr>
        <p:blipFill>
          <a:blip r:embed="rId3"/>
          <a:srcRect t="28069" r="39748" b="15132"/>
          <a:stretch>
            <a:fillRect/>
          </a:stretch>
        </p:blipFill>
        <p:spPr>
          <a:xfrm>
            <a:off x="147503" y="4165387"/>
            <a:ext cx="1827580" cy="2581976"/>
          </a:xfrm>
          <a:prstGeom prst="rect">
            <a:avLst/>
          </a:prstGeom>
        </p:spPr>
      </p:pic>
      <p:pic>
        <p:nvPicPr>
          <p:cNvPr id="4" name="Picture 3" descr="A group of white flowers on a marble surface&#10;&#10;AI-generated content may be incorrect.">
            <a:extLst>
              <a:ext uri="{FF2B5EF4-FFF2-40B4-BE49-F238E27FC236}">
                <a16:creationId xmlns:a16="http://schemas.microsoft.com/office/drawing/2014/main" id="{C464BCD5-D54A-A518-D1BF-C0DF3218A3DC}"/>
              </a:ext>
            </a:extLst>
          </p:cNvPr>
          <p:cNvPicPr>
            <a:picLocks noChangeAspect="1"/>
          </p:cNvPicPr>
          <p:nvPr/>
        </p:nvPicPr>
        <p:blipFill>
          <a:blip r:embed="rId4"/>
          <a:stretch>
            <a:fillRect/>
          </a:stretch>
        </p:blipFill>
        <p:spPr>
          <a:xfrm>
            <a:off x="2622042" y="3745296"/>
            <a:ext cx="2181606" cy="2908808"/>
          </a:xfrm>
          <a:prstGeom prst="rect">
            <a:avLst/>
          </a:prstGeom>
        </p:spPr>
      </p:pic>
      <p:sp>
        <p:nvSpPr>
          <p:cNvPr id="11" name="TextBox 10">
            <a:extLst>
              <a:ext uri="{FF2B5EF4-FFF2-40B4-BE49-F238E27FC236}">
                <a16:creationId xmlns:a16="http://schemas.microsoft.com/office/drawing/2014/main" id="{2D021C08-2C6D-FD09-7A94-9A7E83835D32}"/>
              </a:ext>
            </a:extLst>
          </p:cNvPr>
          <p:cNvSpPr txBox="1"/>
          <p:nvPr/>
        </p:nvSpPr>
        <p:spPr>
          <a:xfrm>
            <a:off x="5310812" y="4599535"/>
            <a:ext cx="6656832" cy="769441"/>
          </a:xfrm>
          <a:prstGeom prst="rect">
            <a:avLst/>
          </a:prstGeom>
          <a:noFill/>
        </p:spPr>
        <p:txBody>
          <a:bodyPr wrap="square" rtlCol="0">
            <a:spAutoFit/>
          </a:bodyPr>
          <a:lstStyle/>
          <a:p>
            <a:r>
              <a:rPr lang="en-US" sz="2200" b="1" dirty="0">
                <a:solidFill>
                  <a:schemeClr val="bg2">
                    <a:lumMod val="50000"/>
                  </a:schemeClr>
                </a:solidFill>
                <a:latin typeface="Perpetua" panose="02020502060401020303" pitchFamily="18" charset="77"/>
              </a:rPr>
              <a:t>Boutonniere: </a:t>
            </a:r>
            <a:r>
              <a:rPr lang="en-US" sz="2200" dirty="0">
                <a:solidFill>
                  <a:schemeClr val="bg2">
                    <a:lumMod val="50000"/>
                  </a:schemeClr>
                </a:solidFill>
                <a:latin typeface="Perpetua" panose="02020502060401020303" pitchFamily="18" charset="77"/>
              </a:rPr>
              <a:t>As discussed, the boutonniere will feature a wild spring bloom, delicately enhanced with a soft pastel accent</a:t>
            </a:r>
            <a:endParaRPr lang="en-AE" sz="2200" b="1" dirty="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2066328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3D33531-BE49-C16F-9FB4-CED3F666A6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C70CB63-C2CD-429B-ABEF-10D18E793525}"/>
              </a:ext>
            </a:extLst>
          </p:cNvPr>
          <p:cNvSpPr>
            <a:spLocks noGrp="1"/>
          </p:cNvSpPr>
          <p:nvPr>
            <p:ph type="title"/>
          </p:nvPr>
        </p:nvSpPr>
        <p:spPr>
          <a:xfrm>
            <a:off x="316992" y="354660"/>
            <a:ext cx="11558015" cy="1415270"/>
          </a:xfrm>
        </p:spPr>
        <p:txBody>
          <a:bodyPr vert="horz" lIns="91440" tIns="45720" rIns="91440" bIns="45720" rtlCol="0" anchor="t">
            <a:normAutofit/>
          </a:bodyPr>
          <a:lstStyle/>
          <a:p>
            <a:pPr algn="ctr"/>
            <a:r>
              <a:rPr lang="en-US" sz="4000" dirty="0">
                <a:solidFill>
                  <a:schemeClr val="bg2">
                    <a:lumMod val="50000"/>
                  </a:schemeClr>
                </a:solidFill>
                <a:latin typeface="Perpetua" panose="02020502060401020303" pitchFamily="18" charset="77"/>
              </a:rPr>
              <a:t>MAID OF HONOR &amp; FLOWER GIRLS BOUQUETS </a:t>
            </a:r>
            <a:endParaRPr lang="en-US" sz="4000" kern="1200" dirty="0">
              <a:solidFill>
                <a:schemeClr val="bg2">
                  <a:lumMod val="50000"/>
                </a:schemeClr>
              </a:solidFill>
              <a:latin typeface="Perpetua" panose="02020502060401020303" pitchFamily="18" charset="77"/>
            </a:endParaRPr>
          </a:p>
        </p:txBody>
      </p:sp>
      <p:sp>
        <p:nvSpPr>
          <p:cNvPr id="18" name="Content Placeholder 17">
            <a:extLst>
              <a:ext uri="{FF2B5EF4-FFF2-40B4-BE49-F238E27FC236}">
                <a16:creationId xmlns:a16="http://schemas.microsoft.com/office/drawing/2014/main" id="{5F183A1A-F78D-CAED-AF70-3E3B2898BCB5}"/>
              </a:ext>
            </a:extLst>
          </p:cNvPr>
          <p:cNvSpPr>
            <a:spLocks noGrp="1"/>
          </p:cNvSpPr>
          <p:nvPr>
            <p:ph idx="1"/>
          </p:nvPr>
        </p:nvSpPr>
        <p:spPr>
          <a:xfrm>
            <a:off x="5734818" y="2303625"/>
            <a:ext cx="5132831" cy="2784446"/>
          </a:xfrm>
        </p:spPr>
        <p:txBody>
          <a:bodyPr>
            <a:normAutofit/>
          </a:bodyPr>
          <a:lstStyle/>
          <a:p>
            <a:pPr marL="0" indent="0" algn="ctr">
              <a:buNone/>
            </a:pPr>
            <a:endParaRPr lang="en-US" sz="2000" dirty="0">
              <a:latin typeface="Perpetua" panose="02020502060401020303" pitchFamily="18" charset="77"/>
            </a:endParaRPr>
          </a:p>
          <a:p>
            <a:pPr marL="0" indent="0">
              <a:buNone/>
            </a:pPr>
            <a:endParaRPr lang="en-US" sz="2000" dirty="0">
              <a:solidFill>
                <a:schemeClr val="bg2">
                  <a:lumMod val="50000"/>
                </a:schemeClr>
              </a:solidFill>
              <a:latin typeface="Perpetua" panose="02020502060401020303" pitchFamily="18" charset="77"/>
            </a:endParaRPr>
          </a:p>
          <a:p>
            <a:pPr marL="0" indent="0" algn="ctr">
              <a:buNone/>
            </a:pPr>
            <a:r>
              <a:rPr lang="en-US" sz="2200" dirty="0">
                <a:solidFill>
                  <a:schemeClr val="bg2">
                    <a:lumMod val="50000"/>
                  </a:schemeClr>
                </a:solidFill>
                <a:latin typeface="Perpetua" panose="02020502060401020303" pitchFamily="18" charset="77"/>
              </a:rPr>
              <a:t>The bridesmaids’ bouquets will mirror the bride’s bouquet in style, with a slightly smaller scale. As discussed, three bouquets will be created</a:t>
            </a:r>
            <a:endParaRPr lang="en-US" sz="2200" i="0" dirty="0">
              <a:solidFill>
                <a:schemeClr val="bg2">
                  <a:lumMod val="50000"/>
                </a:schemeClr>
              </a:solidFill>
              <a:effectLst/>
              <a:latin typeface="Perpetua" panose="02020502060401020303" pitchFamily="18" charset="77"/>
            </a:endParaRPr>
          </a:p>
        </p:txBody>
      </p:sp>
      <p:pic>
        <p:nvPicPr>
          <p:cNvPr id="3" name="Picture 2">
            <a:extLst>
              <a:ext uri="{FF2B5EF4-FFF2-40B4-BE49-F238E27FC236}">
                <a16:creationId xmlns:a16="http://schemas.microsoft.com/office/drawing/2014/main" id="{CD75829C-5F27-959A-0435-81A1801F69B5}"/>
              </a:ext>
            </a:extLst>
          </p:cNvPr>
          <p:cNvPicPr>
            <a:picLocks noChangeAspect="1"/>
          </p:cNvPicPr>
          <p:nvPr/>
        </p:nvPicPr>
        <p:blipFill>
          <a:blip r:embed="rId2"/>
          <a:srcRect t="28069" r="39748" b="15132"/>
          <a:stretch>
            <a:fillRect/>
          </a:stretch>
        </p:blipFill>
        <p:spPr>
          <a:xfrm>
            <a:off x="917119" y="1837150"/>
            <a:ext cx="3302833" cy="4666190"/>
          </a:xfrm>
          <a:prstGeom prst="rect">
            <a:avLst/>
          </a:prstGeom>
        </p:spPr>
      </p:pic>
    </p:spTree>
    <p:extLst>
      <p:ext uri="{BB962C8B-B14F-4D97-AF65-F5344CB8AC3E}">
        <p14:creationId xmlns:p14="http://schemas.microsoft.com/office/powerpoint/2010/main" val="224804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8D57AA3-D943-FA52-54B7-778D7DD5E8E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6F04BC0-569B-C7EE-A170-D97D38FE930F}"/>
              </a:ext>
            </a:extLst>
          </p:cNvPr>
          <p:cNvSpPr>
            <a:spLocks noGrp="1"/>
          </p:cNvSpPr>
          <p:nvPr>
            <p:ph type="title"/>
          </p:nvPr>
        </p:nvSpPr>
        <p:spPr>
          <a:xfrm>
            <a:off x="209382" y="407030"/>
            <a:ext cx="5364456" cy="1322888"/>
          </a:xfrm>
        </p:spPr>
        <p:txBody>
          <a:bodyPr>
            <a:normAutofit fontScale="90000"/>
          </a:bodyPr>
          <a:lstStyle/>
          <a:p>
            <a:r>
              <a:rPr lang="fr-FR" sz="3200" dirty="0">
                <a:solidFill>
                  <a:schemeClr val="bg2">
                    <a:lumMod val="50000"/>
                  </a:schemeClr>
                </a:solidFill>
                <a:latin typeface="Perpetua" panose="02020502060401020303" pitchFamily="18" charset="77"/>
              </a:rPr>
              <a:t>COCKTAIL &amp; RECEPTION DECOR </a:t>
            </a:r>
            <a:br>
              <a:rPr lang="fr-FR" sz="2400" i="1" dirty="0">
                <a:latin typeface="Perpetua" panose="02020502060401020303" pitchFamily="18" charset="77"/>
              </a:rPr>
            </a:br>
            <a:br>
              <a:rPr lang="fr-FR" sz="2400" dirty="0">
                <a:latin typeface="Perpetua" panose="02020502060401020303" pitchFamily="18" charset="77"/>
              </a:rPr>
            </a:br>
            <a:endParaRPr lang="fr-FR" sz="24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07E620A1-8D25-1AF3-39FA-2B6BED360716}"/>
              </a:ext>
            </a:extLst>
          </p:cNvPr>
          <p:cNvSpPr>
            <a:spLocks noGrp="1"/>
          </p:cNvSpPr>
          <p:nvPr>
            <p:ph idx="1"/>
          </p:nvPr>
        </p:nvSpPr>
        <p:spPr>
          <a:xfrm>
            <a:off x="1157056" y="2841135"/>
            <a:ext cx="3469107" cy="1322888"/>
          </a:xfrm>
        </p:spPr>
        <p:txBody>
          <a:bodyPr>
            <a:normAutofit/>
          </a:bodyPr>
          <a:lstStyle/>
          <a:p>
            <a:pPr marL="0" indent="0" algn="ctr">
              <a:buNone/>
            </a:pPr>
            <a:r>
              <a:rPr lang="en-US" sz="2400" dirty="0">
                <a:solidFill>
                  <a:schemeClr val="bg2">
                    <a:lumMod val="50000"/>
                  </a:schemeClr>
                </a:solidFill>
                <a:latin typeface="Perpetua" panose="02020502060401020303" pitchFamily="18" charset="77"/>
              </a:rPr>
              <a:t>The cocktail and the reception will take place at Cercle de </a:t>
            </a:r>
            <a:r>
              <a:rPr lang="en-US" sz="2400" dirty="0" err="1">
                <a:solidFill>
                  <a:schemeClr val="bg2">
                    <a:lumMod val="50000"/>
                  </a:schemeClr>
                </a:solidFill>
                <a:latin typeface="Perpetua" panose="02020502060401020303" pitchFamily="18" charset="77"/>
              </a:rPr>
              <a:t>l’Union</a:t>
            </a:r>
            <a:r>
              <a:rPr lang="en-US" sz="2400" dirty="0">
                <a:solidFill>
                  <a:schemeClr val="bg2">
                    <a:lumMod val="50000"/>
                  </a:schemeClr>
                </a:solidFill>
                <a:latin typeface="Perpetua" panose="02020502060401020303" pitchFamily="18" charset="77"/>
              </a:rPr>
              <a:t> </a:t>
            </a:r>
            <a:r>
              <a:rPr lang="en-US" sz="2400" dirty="0" err="1">
                <a:solidFill>
                  <a:schemeClr val="bg2">
                    <a:lumMod val="50000"/>
                  </a:schemeClr>
                </a:solidFill>
                <a:latin typeface="Perpetua" panose="02020502060401020303" pitchFamily="18" charset="77"/>
              </a:rPr>
              <a:t>Interalliée</a:t>
            </a:r>
            <a:r>
              <a:rPr lang="en-US" sz="2400" dirty="0">
                <a:solidFill>
                  <a:schemeClr val="bg2">
                    <a:lumMod val="50000"/>
                  </a:schemeClr>
                </a:solidFill>
                <a:latin typeface="Perpetua" panose="02020502060401020303" pitchFamily="18" charset="77"/>
              </a:rPr>
              <a:t>.</a:t>
            </a:r>
          </a:p>
          <a:p>
            <a:pPr>
              <a:buNone/>
            </a:pPr>
            <a:endParaRPr lang="en-US" sz="2000" dirty="0">
              <a:solidFill>
                <a:schemeClr val="bg2">
                  <a:lumMod val="50000"/>
                </a:schemeClr>
              </a:solidFill>
              <a:latin typeface="Perpetua" panose="02020502060401020303" pitchFamily="18" charset="77"/>
            </a:endParaRPr>
          </a:p>
          <a:p>
            <a:pPr>
              <a:buNone/>
            </a:pPr>
            <a:endParaRPr lang="en-US" sz="1800" dirty="0">
              <a:solidFill>
                <a:schemeClr val="bg2">
                  <a:lumMod val="50000"/>
                </a:schemeClr>
              </a:solidFill>
              <a:latin typeface="Perpetua" panose="02020502060401020303" pitchFamily="18" charset="77"/>
            </a:endParaRPr>
          </a:p>
          <a:p>
            <a:pPr>
              <a:buNone/>
            </a:pPr>
            <a:endParaRPr lang="en-US" sz="1800" dirty="0">
              <a:solidFill>
                <a:schemeClr val="bg2">
                  <a:lumMod val="50000"/>
                </a:schemeClr>
              </a:solidFill>
              <a:latin typeface="Perpetua" panose="02020502060401020303" pitchFamily="18" charset="77"/>
            </a:endParaRPr>
          </a:p>
        </p:txBody>
      </p:sp>
      <p:pic>
        <p:nvPicPr>
          <p:cNvPr id="14" name="Picture 13">
            <a:extLst>
              <a:ext uri="{FF2B5EF4-FFF2-40B4-BE49-F238E27FC236}">
                <a16:creationId xmlns:a16="http://schemas.microsoft.com/office/drawing/2014/main" id="{545E71CF-710D-3AE8-1539-263BF4A735C2}"/>
              </a:ext>
            </a:extLst>
          </p:cNvPr>
          <p:cNvPicPr>
            <a:picLocks noChangeAspect="1"/>
          </p:cNvPicPr>
          <p:nvPr/>
        </p:nvPicPr>
        <p:blipFill>
          <a:blip r:embed="rId2"/>
          <a:srcRect/>
          <a:stretch/>
        </p:blipFill>
        <p:spPr>
          <a:xfrm>
            <a:off x="5861686" y="1531535"/>
            <a:ext cx="5927953" cy="3942088"/>
          </a:xfrm>
          <a:prstGeom prst="rect">
            <a:avLst/>
          </a:prstGeom>
        </p:spPr>
      </p:pic>
    </p:spTree>
    <p:extLst>
      <p:ext uri="{BB962C8B-B14F-4D97-AF65-F5344CB8AC3E}">
        <p14:creationId xmlns:p14="http://schemas.microsoft.com/office/powerpoint/2010/main" val="2292372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476881" y="394011"/>
            <a:ext cx="4274607" cy="777054"/>
          </a:xfrm>
        </p:spPr>
        <p:txBody>
          <a:bodyPr anchor="b">
            <a:normAutofit/>
          </a:bodyPr>
          <a:lstStyle/>
          <a:p>
            <a:r>
              <a:rPr lang="fr-FR" dirty="0">
                <a:solidFill>
                  <a:schemeClr val="bg2">
                    <a:lumMod val="50000"/>
                  </a:schemeClr>
                </a:solidFill>
                <a:latin typeface="Perpetua" panose="02020502060401020303" pitchFamily="18" charset="77"/>
              </a:rPr>
              <a:t>COCKTAIL </a:t>
            </a:r>
          </a:p>
        </p:txBody>
      </p:sp>
      <p:sp>
        <p:nvSpPr>
          <p:cNvPr id="14" name="Content Placeholder 13">
            <a:extLst>
              <a:ext uri="{FF2B5EF4-FFF2-40B4-BE49-F238E27FC236}">
                <a16:creationId xmlns:a16="http://schemas.microsoft.com/office/drawing/2014/main" id="{7847E9E7-126E-46AC-AAD2-75FD20301F86}"/>
              </a:ext>
            </a:extLst>
          </p:cNvPr>
          <p:cNvSpPr>
            <a:spLocks noGrp="1"/>
          </p:cNvSpPr>
          <p:nvPr>
            <p:ph idx="1"/>
          </p:nvPr>
        </p:nvSpPr>
        <p:spPr>
          <a:xfrm>
            <a:off x="1476881" y="1323244"/>
            <a:ext cx="3874800" cy="1962085"/>
          </a:xfrm>
        </p:spPr>
        <p:txBody>
          <a:bodyPr anchor="t">
            <a:noAutofit/>
          </a:bodyPr>
          <a:lstStyle/>
          <a:p>
            <a:r>
              <a:rPr lang="en-US" sz="2200" dirty="0">
                <a:solidFill>
                  <a:schemeClr val="bg2">
                    <a:lumMod val="50000"/>
                  </a:schemeClr>
                </a:solidFill>
                <a:latin typeface="Perpetua" panose="02020502060401020303" pitchFamily="18" charset="77"/>
              </a:rPr>
              <a:t>During the cocktail hour, a carefully curated arrangement of lounge tables, accented with elegant white drapery cascading on each side, will offer guests an inviting space to unwind in an atmosphere of understated elegance</a:t>
            </a:r>
          </a:p>
        </p:txBody>
      </p:sp>
      <p:pic>
        <p:nvPicPr>
          <p:cNvPr id="6" name="Picture 5">
            <a:extLst>
              <a:ext uri="{FF2B5EF4-FFF2-40B4-BE49-F238E27FC236}">
                <a16:creationId xmlns:a16="http://schemas.microsoft.com/office/drawing/2014/main" id="{148177AA-1910-0A6C-CF4E-3AE5056684DE}"/>
              </a:ext>
            </a:extLst>
          </p:cNvPr>
          <p:cNvPicPr>
            <a:picLocks noChangeAspect="1"/>
          </p:cNvPicPr>
          <p:nvPr/>
        </p:nvPicPr>
        <p:blipFill>
          <a:blip r:embed="rId3"/>
          <a:srcRect/>
          <a:stretch/>
        </p:blipFill>
        <p:spPr>
          <a:xfrm>
            <a:off x="5573396" y="782538"/>
            <a:ext cx="3528616" cy="5292924"/>
          </a:xfrm>
          <a:prstGeom prst="rect">
            <a:avLst/>
          </a:prstGeom>
        </p:spPr>
      </p:pic>
      <p:pic>
        <p:nvPicPr>
          <p:cNvPr id="4" name="Picture 3">
            <a:extLst>
              <a:ext uri="{FF2B5EF4-FFF2-40B4-BE49-F238E27FC236}">
                <a16:creationId xmlns:a16="http://schemas.microsoft.com/office/drawing/2014/main" id="{35B94C32-4B36-E760-F3F9-D542AACDEE5E}"/>
              </a:ext>
            </a:extLst>
          </p:cNvPr>
          <p:cNvPicPr>
            <a:picLocks noChangeAspect="1"/>
          </p:cNvPicPr>
          <p:nvPr/>
        </p:nvPicPr>
        <p:blipFill>
          <a:blip r:embed="rId4"/>
          <a:srcRect l="3010" t="3055" b="2661"/>
          <a:stretch>
            <a:fillRect/>
          </a:stretch>
        </p:blipFill>
        <p:spPr>
          <a:xfrm>
            <a:off x="8955709" y="2304287"/>
            <a:ext cx="2622273" cy="3218689"/>
          </a:xfrm>
          <a:prstGeom prst="rect">
            <a:avLst/>
          </a:prstGeom>
        </p:spPr>
      </p:pic>
      <p:sp>
        <p:nvSpPr>
          <p:cNvPr id="5" name="TextBox 4">
            <a:extLst>
              <a:ext uri="{FF2B5EF4-FFF2-40B4-BE49-F238E27FC236}">
                <a16:creationId xmlns:a16="http://schemas.microsoft.com/office/drawing/2014/main" id="{E7561B38-99EA-2083-AF35-2AE30F39508D}"/>
              </a:ext>
            </a:extLst>
          </p:cNvPr>
          <p:cNvSpPr txBox="1"/>
          <p:nvPr/>
        </p:nvSpPr>
        <p:spPr>
          <a:xfrm>
            <a:off x="1476881" y="4124028"/>
            <a:ext cx="3874799" cy="1785104"/>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Each table will feature small delicate floral arrangements in shades of white, coral, and pastel pink, presented in small antique white vases</a:t>
            </a:r>
            <a:endParaRPr lang="en-AE" sz="2200" dirty="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1429147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FA18-925E-890A-530B-26C9D3F8D9A2}"/>
              </a:ext>
            </a:extLst>
          </p:cNvPr>
          <p:cNvSpPr>
            <a:spLocks noGrp="1"/>
          </p:cNvSpPr>
          <p:nvPr>
            <p:ph type="title"/>
          </p:nvPr>
        </p:nvSpPr>
        <p:spPr>
          <a:xfrm>
            <a:off x="1309553" y="173786"/>
            <a:ext cx="4786447" cy="786247"/>
          </a:xfrm>
        </p:spPr>
        <p:txBody>
          <a:bodyPr vert="horz" lIns="91440" tIns="45720" rIns="91440" bIns="45720" rtlCol="0" anchor="b">
            <a:normAutofit fontScale="90000"/>
          </a:bodyPr>
          <a:lstStyle/>
          <a:p>
            <a:r>
              <a:rPr lang="en-US" sz="4000" dirty="0">
                <a:solidFill>
                  <a:schemeClr val="bg2">
                    <a:lumMod val="50000"/>
                  </a:schemeClr>
                </a:solidFill>
                <a:latin typeface="Perpetua" panose="02020502060401020303" pitchFamily="18" charset="77"/>
              </a:rPr>
              <a:t>BARS RENTAL &amp; DECOR</a:t>
            </a:r>
          </a:p>
        </p:txBody>
      </p:sp>
      <p:sp>
        <p:nvSpPr>
          <p:cNvPr id="6" name="TextBox 5">
            <a:extLst>
              <a:ext uri="{FF2B5EF4-FFF2-40B4-BE49-F238E27FC236}">
                <a16:creationId xmlns:a16="http://schemas.microsoft.com/office/drawing/2014/main" id="{CEE297F3-E010-D773-C6C2-DAD7F14B25E8}"/>
              </a:ext>
            </a:extLst>
          </p:cNvPr>
          <p:cNvSpPr txBox="1"/>
          <p:nvPr/>
        </p:nvSpPr>
        <p:spPr>
          <a:xfrm>
            <a:off x="1309552" y="1334603"/>
            <a:ext cx="4786447" cy="5349611"/>
          </a:xfrm>
          <a:prstGeom prst="rect">
            <a:avLst/>
          </a:prstGeom>
        </p:spPr>
        <p:txBody>
          <a:bodyPr vert="horz" lIns="91440" tIns="45720" rIns="91440" bIns="45720" rtlCol="0">
            <a:normAutofit fontScale="92500"/>
          </a:bodyPr>
          <a:lstStyle/>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refined white bar, inspired by the provided reference image, will anchor the cocktail space, complemented by one floral arrangement placed at the base displayed in antique white vase</a:t>
            </a:r>
          </a:p>
          <a:p>
            <a:endParaRPr lang="en-US" sz="24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bespoke banner will be designed and printed, showcasing the selected beverages alongside the names of the bride and groom and the wedding date.</a:t>
            </a:r>
          </a:p>
          <a:p>
            <a:endParaRPr lang="en-US" sz="2400" dirty="0">
              <a:solidFill>
                <a:schemeClr val="bg2">
                  <a:lumMod val="50000"/>
                </a:schemeClr>
              </a:solidFill>
              <a:latin typeface="Perpetua" panose="02020502060401020303" pitchFamily="18" charset="77"/>
            </a:endParaRPr>
          </a:p>
          <a:p>
            <a:r>
              <a:rPr lang="en-US" sz="2400" dirty="0">
                <a:solidFill>
                  <a:schemeClr val="bg2">
                    <a:lumMod val="50000"/>
                  </a:schemeClr>
                </a:solidFill>
                <a:latin typeface="Perpetua" panose="02020502060401020303" pitchFamily="18" charset="77"/>
              </a:rPr>
              <a:t>The décor will echo the reference imagery, styled in harmony with the color </a:t>
            </a:r>
            <a:r>
              <a:rPr lang="en-US" sz="2400" dirty="0">
                <a:solidFill>
                  <a:srgbClr val="FFC000"/>
                </a:solidFill>
                <a:latin typeface="Perpetua" panose="02020502060401020303" pitchFamily="18" charset="77"/>
              </a:rPr>
              <a:t>palette detailed on slide #2</a:t>
            </a:r>
          </a:p>
          <a:p>
            <a:endParaRPr lang="en-US" sz="3400" dirty="0">
              <a:solidFill>
                <a:schemeClr val="accent6"/>
              </a:solidFill>
              <a:latin typeface="Perpetua" panose="02020502060401020303" pitchFamily="18" charset="77"/>
            </a:endParaRPr>
          </a:p>
          <a:p>
            <a:endParaRPr lang="en-US" dirty="0">
              <a:highlight>
                <a:srgbClr val="FFFF00"/>
              </a:highlight>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p:txBody>
      </p:sp>
      <p:pic>
        <p:nvPicPr>
          <p:cNvPr id="7" name="Picture 6">
            <a:extLst>
              <a:ext uri="{FF2B5EF4-FFF2-40B4-BE49-F238E27FC236}">
                <a16:creationId xmlns:a16="http://schemas.microsoft.com/office/drawing/2014/main" id="{B23847F9-96A5-CD78-85D9-B972897C7070}"/>
              </a:ext>
            </a:extLst>
          </p:cNvPr>
          <p:cNvPicPr>
            <a:picLocks noChangeAspect="1"/>
          </p:cNvPicPr>
          <p:nvPr/>
        </p:nvPicPr>
        <p:blipFill>
          <a:blip r:embed="rId3"/>
          <a:srcRect l="3292" r="3292"/>
          <a:stretch/>
        </p:blipFill>
        <p:spPr>
          <a:xfrm>
            <a:off x="7912149" y="267674"/>
            <a:ext cx="3986156" cy="6300436"/>
          </a:xfrm>
          <a:prstGeom prst="rect">
            <a:avLst/>
          </a:prstGeom>
        </p:spPr>
      </p:pic>
      <p:pic>
        <p:nvPicPr>
          <p:cNvPr id="4" name="Picture 3">
            <a:extLst>
              <a:ext uri="{FF2B5EF4-FFF2-40B4-BE49-F238E27FC236}">
                <a16:creationId xmlns:a16="http://schemas.microsoft.com/office/drawing/2014/main" id="{1BB8C229-FD09-FAA7-4DF7-19DDE6AA9377}"/>
              </a:ext>
            </a:extLst>
          </p:cNvPr>
          <p:cNvPicPr>
            <a:picLocks noChangeAspect="1"/>
          </p:cNvPicPr>
          <p:nvPr/>
        </p:nvPicPr>
        <p:blipFill>
          <a:blip r:embed="rId4"/>
          <a:srcRect/>
          <a:stretch/>
        </p:blipFill>
        <p:spPr>
          <a:xfrm>
            <a:off x="8044364" y="4761595"/>
            <a:ext cx="1547581" cy="1806515"/>
          </a:xfrm>
          <a:prstGeom prst="rect">
            <a:avLst/>
          </a:prstGeom>
        </p:spPr>
      </p:pic>
    </p:spTree>
    <p:extLst>
      <p:ext uri="{BB962C8B-B14F-4D97-AF65-F5344CB8AC3E}">
        <p14:creationId xmlns:p14="http://schemas.microsoft.com/office/powerpoint/2010/main" val="3576223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0819" y="1984513"/>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SIGNS</a:t>
            </a: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5BBDDB4-38D2-A2FB-3EB4-2851CC366C1F}"/>
              </a:ext>
            </a:extLst>
          </p:cNvPr>
          <p:cNvSpPr txBox="1"/>
          <p:nvPr/>
        </p:nvSpPr>
        <p:spPr>
          <a:xfrm>
            <a:off x="2775283" y="3429000"/>
            <a:ext cx="6641431" cy="1107996"/>
          </a:xfrm>
          <a:prstGeom prst="rect">
            <a:avLst/>
          </a:prstGeom>
          <a:noFill/>
        </p:spPr>
        <p:txBody>
          <a:bodyPr wrap="square" rtlCol="0">
            <a:spAutoFit/>
          </a:bodyPr>
          <a:lstStyle/>
          <a:p>
            <a:pPr algn="ctr"/>
            <a:r>
              <a:rPr lang="en-AE" sz="2200" dirty="0">
                <a:solidFill>
                  <a:srgbClr val="FFC000"/>
                </a:solidFill>
                <a:latin typeface="Perpetua" panose="02020502060401020303" pitchFamily="18" charset="77"/>
              </a:rPr>
              <a:t>Audrey’s note: To create an harmony between the differents signage </a:t>
            </a:r>
            <a:r>
              <a:rPr lang="en-US" sz="2200" dirty="0">
                <a:solidFill>
                  <a:srgbClr val="FFC000"/>
                </a:solidFill>
                <a:latin typeface="Perpetua" panose="02020502060401020303" pitchFamily="18" charset="77"/>
              </a:rPr>
              <a:t>I</a:t>
            </a:r>
            <a:r>
              <a:rPr lang="en-AE" sz="2200" dirty="0">
                <a:solidFill>
                  <a:srgbClr val="FFC000"/>
                </a:solidFill>
                <a:latin typeface="Perpetua" panose="02020502060401020303" pitchFamily="18" charset="77"/>
              </a:rPr>
              <a:t> recommend using the same font style and color (as much as possible) – TBC with Kathy a design proof will be sent.</a:t>
            </a:r>
          </a:p>
        </p:txBody>
      </p:sp>
    </p:spTree>
    <p:extLst>
      <p:ext uri="{BB962C8B-B14F-4D97-AF65-F5344CB8AC3E}">
        <p14:creationId xmlns:p14="http://schemas.microsoft.com/office/powerpoint/2010/main" val="365528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208601" y="-91883"/>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 &amp; Décor </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506039" y="2322133"/>
            <a:ext cx="5461111" cy="2492990"/>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The warm white–toned welcome sign, featuring typography and detailing inspired by the reference image, will be elegantly paired with a floral arrangement in coral, pastel pink, dusty blue, soft white, and accents of verdant greenery, creating a sophisticated and inviting entrance</a:t>
            </a:r>
          </a:p>
          <a:p>
            <a:pPr marL="342900" indent="-342900" fontAlgn="base">
              <a:buFont typeface="Arial" panose="020B0604020202020204" pitchFamily="34" charset="0"/>
              <a:buChar char="•"/>
            </a:pPr>
            <a:endParaRPr lang="en-US" sz="2400" dirty="0">
              <a:solidFill>
                <a:schemeClr val="bg2">
                  <a:lumMod val="50000"/>
                </a:schemeClr>
              </a:solidFill>
              <a:latin typeface="Perpetua" panose="02020502060401020303" pitchFamily="18" charset="77"/>
            </a:endParaRP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a:stretch/>
        </p:blipFill>
        <p:spPr>
          <a:xfrm>
            <a:off x="7086163" y="284988"/>
            <a:ext cx="4190115" cy="6288024"/>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98230" y="397964"/>
            <a:ext cx="4555837" cy="6062072"/>
          </a:xfrm>
          <a:prstGeom prst="rect">
            <a:avLst/>
          </a:prstGeom>
        </p:spPr>
        <p:txBody>
          <a:bodyPr vert="horz" lIns="91440" tIns="45720" rIns="91440" bIns="45720" rtlCol="0" anchor="ctr">
            <a:normAutofit fontScale="92500" lnSpcReduction="10000"/>
          </a:bodyPr>
          <a:lstStyle/>
          <a:p>
            <a:pPr algn="ctr" defTabSz="914400">
              <a:lnSpc>
                <a:spcPct val="90000"/>
              </a:lnSpc>
              <a:spcBef>
                <a:spcPct val="0"/>
              </a:spcBef>
              <a:spcAft>
                <a:spcPts val="600"/>
              </a:spcAft>
            </a:pPr>
            <a:r>
              <a:rPr lang="en-US" sz="4800" dirty="0">
                <a:solidFill>
                  <a:schemeClr val="bg2">
                    <a:lumMod val="50000"/>
                  </a:schemeClr>
                </a:solidFill>
                <a:latin typeface="Perpetua" panose="02020502060401020303" pitchFamily="18" charset="77"/>
                <a:ea typeface="+mj-ea"/>
                <a:cs typeface="+mj-cs"/>
              </a:rPr>
              <a:t>Seating Chart</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dirty="0">
              <a:solidFill>
                <a:schemeClr val="bg2">
                  <a:lumMod val="50000"/>
                </a:schemeClr>
              </a:solidFill>
              <a:latin typeface="Perpetua" panose="02020502060401020303" pitchFamily="18" charset="77"/>
              <a:ea typeface="+mj-ea"/>
              <a:cs typeface="+mj-cs"/>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refined poster featuring a pastel green spring floral motif, accented with dark green script typography, harmoniously coordinated with the welcome sign</a:t>
            </a:r>
          </a:p>
          <a:p>
            <a:endParaRPr lang="en-US" sz="24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medium-sized floral arrangement will be displayed at the base of the seating chart, with décor echoing the reference imagery and styled in harmony with the color </a:t>
            </a:r>
            <a:r>
              <a:rPr lang="en-US" sz="2400" dirty="0">
                <a:solidFill>
                  <a:srgbClr val="FFC000"/>
                </a:solidFill>
                <a:latin typeface="Perpetua" panose="02020502060401020303" pitchFamily="18" charset="77"/>
              </a:rPr>
              <a:t>palette detailed on slide #2</a:t>
            </a:r>
            <a:endParaRPr lang="en-US" sz="2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16" name="Picture 15">
            <a:extLst>
              <a:ext uri="{FF2B5EF4-FFF2-40B4-BE49-F238E27FC236}">
                <a16:creationId xmlns:a16="http://schemas.microsoft.com/office/drawing/2014/main" id="{B5E9A1CD-8BA4-83C5-944E-020157EB4A3F}"/>
              </a:ext>
            </a:extLst>
          </p:cNvPr>
          <p:cNvPicPr>
            <a:picLocks noChangeAspect="1"/>
          </p:cNvPicPr>
          <p:nvPr/>
        </p:nvPicPr>
        <p:blipFill>
          <a:blip r:embed="rId2"/>
          <a:srcRect/>
          <a:stretch/>
        </p:blipFill>
        <p:spPr>
          <a:xfrm>
            <a:off x="6737934" y="289427"/>
            <a:ext cx="4186097" cy="6279146"/>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dirty="0">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dirty="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a:stretch/>
        </p:blipFill>
        <p:spPr>
          <a:xfrm>
            <a:off x="6882595" y="334892"/>
            <a:ext cx="4125476" cy="6188215"/>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142641" y="-524256"/>
            <a:ext cx="6136239" cy="563641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defTabSz="914400">
              <a:lnSpc>
                <a:spcPct val="90000"/>
              </a:lnSpc>
              <a:spcBef>
                <a:spcPct val="0"/>
              </a:spcBef>
              <a:spcAft>
                <a:spcPts val="600"/>
              </a:spcAft>
              <a:buFont typeface="Arial" panose="020B0604020202020204" pitchFamily="34" charset="0"/>
              <a:buChar char="•"/>
            </a:pPr>
            <a:r>
              <a:rPr lang="en-US" sz="2200" dirty="0">
                <a:solidFill>
                  <a:schemeClr val="bg2">
                    <a:lumMod val="50000"/>
                  </a:schemeClr>
                </a:solidFill>
                <a:latin typeface="Perpetua" panose="02020502060401020303" pitchFamily="18" charset="77"/>
              </a:rPr>
              <a:t>A refined rectangular design, printed on warm white paper and enhanced with pastel </a:t>
            </a:r>
            <a:r>
              <a:rPr lang="en-US" sz="2200" dirty="0" err="1">
                <a:solidFill>
                  <a:schemeClr val="bg2">
                    <a:lumMod val="50000"/>
                  </a:schemeClr>
                </a:solidFill>
                <a:latin typeface="Perpetua" panose="02020502060401020303" pitchFamily="18" charset="77"/>
              </a:rPr>
              <a:t>french</a:t>
            </a:r>
            <a:r>
              <a:rPr lang="en-US" sz="2200" dirty="0">
                <a:solidFill>
                  <a:schemeClr val="bg2">
                    <a:lumMod val="50000"/>
                  </a:schemeClr>
                </a:solidFill>
                <a:latin typeface="Perpetua" panose="02020502060401020303" pitchFamily="18" charset="77"/>
              </a:rPr>
              <a:t> blue script typography, will be elegantly presented on a wooden easel</a:t>
            </a:r>
            <a:endParaRPr lang="en-US" sz="2200" dirty="0">
              <a:solidFill>
                <a:schemeClr val="bg2">
                  <a:lumMod val="50000"/>
                </a:schemeClr>
              </a:solidFill>
              <a:latin typeface="Perpetua" panose="02020502060401020303" pitchFamily="18" charset="77"/>
              <a:ea typeface="+mj-ea"/>
              <a:cs typeface="+mj-cs"/>
            </a:endParaRPr>
          </a:p>
        </p:txBody>
      </p:sp>
      <p:pic>
        <p:nvPicPr>
          <p:cNvPr id="4" name="Picture 3">
            <a:extLst>
              <a:ext uri="{FF2B5EF4-FFF2-40B4-BE49-F238E27FC236}">
                <a16:creationId xmlns:a16="http://schemas.microsoft.com/office/drawing/2014/main" id="{40D030C9-5843-CFC5-A305-20C724FD7C4E}"/>
              </a:ext>
            </a:extLst>
          </p:cNvPr>
          <p:cNvPicPr>
            <a:picLocks noChangeAspect="1"/>
          </p:cNvPicPr>
          <p:nvPr/>
        </p:nvPicPr>
        <p:blipFill>
          <a:blip r:embed="rId2"/>
          <a:srcRect/>
          <a:stretch/>
        </p:blipFill>
        <p:spPr>
          <a:xfrm>
            <a:off x="6278880" y="249882"/>
            <a:ext cx="3651558" cy="3651558"/>
          </a:xfrm>
          <a:prstGeom prst="rect">
            <a:avLst/>
          </a:prstGeom>
        </p:spPr>
      </p:pic>
      <p:pic>
        <p:nvPicPr>
          <p:cNvPr id="7" name="Picture 6" descr="A close-up of a table number&#10;&#10;AI-generated content may be incorrect.">
            <a:extLst>
              <a:ext uri="{FF2B5EF4-FFF2-40B4-BE49-F238E27FC236}">
                <a16:creationId xmlns:a16="http://schemas.microsoft.com/office/drawing/2014/main" id="{B8C5823B-FFFC-521D-28F7-6C88A71207CB}"/>
              </a:ext>
            </a:extLst>
          </p:cNvPr>
          <p:cNvPicPr>
            <a:picLocks noChangeAspect="1"/>
          </p:cNvPicPr>
          <p:nvPr/>
        </p:nvPicPr>
        <p:blipFill>
          <a:blip r:embed="rId3"/>
          <a:stretch>
            <a:fillRect/>
          </a:stretch>
        </p:blipFill>
        <p:spPr>
          <a:xfrm>
            <a:off x="9095994" y="2821486"/>
            <a:ext cx="2839974" cy="3786632"/>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7"/>
            <a:ext cx="5416911" cy="474878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A large rectangular format, crafted from warm white, smooth, thick matte paper, featuring elegant dark script typography and enhanced with a pastel spring floral design for a sophisticated and harmonious touch</a:t>
            </a: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a:stretch/>
        </p:blipFill>
        <p:spPr>
          <a:xfrm>
            <a:off x="6278880" y="358140"/>
            <a:ext cx="4913376" cy="6141720"/>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6CAF78E-16A2-5A6B-CAA3-7D9B508FD07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E1D080B-C004-9F13-2CC3-E7237812A99E}"/>
              </a:ext>
            </a:extLst>
          </p:cNvPr>
          <p:cNvSpPr txBox="1"/>
          <p:nvPr/>
        </p:nvSpPr>
        <p:spPr>
          <a:xfrm>
            <a:off x="880820" y="3101394"/>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RECEPTION DÉCOR</a:t>
            </a: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D99914F7-B682-FF91-5514-2539C1F87929}"/>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0833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98DA3D0-DAC1-0238-2798-DE89CCB6AE2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D1026BB-C18C-CD0F-F230-ECC747518228}"/>
              </a:ext>
            </a:extLst>
          </p:cNvPr>
          <p:cNvSpPr txBox="1"/>
          <p:nvPr/>
        </p:nvSpPr>
        <p:spPr>
          <a:xfrm>
            <a:off x="432997" y="180775"/>
            <a:ext cx="5663003" cy="6585785"/>
          </a:xfrm>
          <a:prstGeom prst="rect">
            <a:avLst/>
          </a:prstGeom>
        </p:spPr>
        <p:txBody>
          <a:bodyPr vert="horz" lIns="91440" tIns="45720" rIns="91440" bIns="45720" rtlCol="0" anchor="t">
            <a:normAutofit fontScale="92500" lnSpcReduction="10000"/>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Bride &amp; groom </a:t>
            </a:r>
            <a:r>
              <a:rPr lang="en-US" sz="4000" dirty="0">
                <a:solidFill>
                  <a:schemeClr val="bg2">
                    <a:lumMod val="50000"/>
                  </a:schemeClr>
                </a:solidFill>
                <a:latin typeface="Perpetua" panose="02020502060401020303" pitchFamily="18" charset="77"/>
              </a:rPr>
              <a:t>–</a:t>
            </a:r>
            <a:r>
              <a:rPr lang="en-US" sz="3900" dirty="0">
                <a:solidFill>
                  <a:schemeClr val="bg2">
                    <a:lumMod val="50000"/>
                  </a:schemeClr>
                </a:solidFill>
                <a:latin typeface="Perpetua" panose="02020502060401020303" pitchFamily="18" charset="77"/>
                <a:ea typeface="+mj-ea"/>
                <a:cs typeface="+mj-cs"/>
              </a:rPr>
              <a:t> </a:t>
            </a:r>
            <a:r>
              <a:rPr lang="en-US" sz="3900" dirty="0">
                <a:solidFill>
                  <a:schemeClr val="accent2"/>
                </a:solidFill>
                <a:latin typeface="Perpetua" panose="02020502060401020303" pitchFamily="18" charset="77"/>
                <a:ea typeface="+mj-ea"/>
                <a:cs typeface="+mj-cs"/>
              </a:rPr>
              <a:t>Table For 2</a:t>
            </a:r>
            <a:endParaRPr lang="en-US" sz="2400" dirty="0">
              <a:solidFill>
                <a:schemeClr val="accent2"/>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2800" dirty="0">
              <a:solidFill>
                <a:schemeClr val="bg2">
                  <a:lumMod val="50000"/>
                </a:schemeClr>
              </a:solidFill>
              <a:latin typeface="Perpetua" panose="02020502060401020303" pitchFamily="18" charset="77"/>
            </a:endParaRPr>
          </a:p>
          <a:p>
            <a:pPr marL="457200" indent="-457200" defTabSz="914400">
              <a:lnSpc>
                <a:spcPct val="90000"/>
              </a:lnSpc>
              <a:spcBef>
                <a:spcPct val="0"/>
              </a:spcBef>
              <a:spcAft>
                <a:spcPts val="600"/>
              </a:spcAft>
              <a:buFont typeface="Arial" panose="020B0604020202020204" pitchFamily="34" charset="0"/>
              <a:buChar char="•"/>
            </a:pPr>
            <a:r>
              <a:rPr lang="en-US" sz="2400" dirty="0">
                <a:solidFill>
                  <a:schemeClr val="bg2">
                    <a:lumMod val="50000"/>
                  </a:schemeClr>
                </a:solidFill>
                <a:latin typeface="Perpetua" panose="02020502060401020303" pitchFamily="18" charset="77"/>
              </a:rPr>
              <a:t>The bride and groom’s table will be a rectangular table for two, styled to reflect the elegance of the guest tables while incorporating a distinctive statement element</a:t>
            </a: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ndParaRPr>
          </a:p>
          <a:p>
            <a:pPr marL="457200" indent="-457200" defTabSz="914400">
              <a:lnSpc>
                <a:spcPct val="90000"/>
              </a:lnSpc>
              <a:spcBef>
                <a:spcPct val="0"/>
              </a:spcBef>
              <a:spcAft>
                <a:spcPts val="600"/>
              </a:spcAft>
              <a:buFont typeface="Arial" panose="020B0604020202020204" pitchFamily="34" charset="0"/>
              <a:buChar char="•"/>
            </a:pPr>
            <a:r>
              <a:rPr lang="en-US" sz="2400" dirty="0">
                <a:solidFill>
                  <a:schemeClr val="bg2">
                    <a:lumMod val="50000"/>
                  </a:schemeClr>
                </a:solidFill>
                <a:latin typeface="Perpetua" panose="02020502060401020303" pitchFamily="18" charset="77"/>
              </a:rPr>
              <a:t>The tabletop will be adorned from side to side with short taper candles, complemented by an elegant tablecloth</a:t>
            </a: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ndParaRPr>
          </a:p>
          <a:p>
            <a:pPr marL="457200" indent="-457200" defTabSz="914400">
              <a:lnSpc>
                <a:spcPct val="90000"/>
              </a:lnSpc>
              <a:spcBef>
                <a:spcPct val="0"/>
              </a:spcBef>
              <a:spcAft>
                <a:spcPts val="600"/>
              </a:spcAft>
              <a:buFont typeface="Arial" panose="020B0604020202020204" pitchFamily="34" charset="0"/>
              <a:buChar char="•"/>
            </a:pPr>
            <a:r>
              <a:rPr lang="en-US" sz="2400" dirty="0">
                <a:solidFill>
                  <a:schemeClr val="bg2">
                    <a:lumMod val="50000"/>
                  </a:schemeClr>
                </a:solidFill>
                <a:latin typeface="Perpetua" panose="02020502060401020303" pitchFamily="18" charset="77"/>
              </a:rPr>
              <a:t>A large, medium floral arrangement will grace the table, accompanied by an additional arrangement at its base</a:t>
            </a: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ndParaRPr>
          </a:p>
          <a:p>
            <a:pPr defTabSz="914400">
              <a:lnSpc>
                <a:spcPct val="90000"/>
              </a:lnSpc>
              <a:spcBef>
                <a:spcPct val="0"/>
              </a:spcBef>
              <a:spcAft>
                <a:spcPts val="600"/>
              </a:spcAft>
            </a:pPr>
            <a:r>
              <a:rPr lang="en-US" sz="2400" dirty="0">
                <a:solidFill>
                  <a:schemeClr val="bg2">
                    <a:lumMod val="50000"/>
                  </a:schemeClr>
                </a:solidFill>
                <a:latin typeface="Perpetua" panose="02020502060401020303" pitchFamily="18" charset="77"/>
              </a:rPr>
              <a:t>Every detail is thoughtfully styled to harmonize seamlessly with the color </a:t>
            </a:r>
            <a:r>
              <a:rPr lang="en-US" sz="2400" dirty="0">
                <a:solidFill>
                  <a:srgbClr val="FFC000"/>
                </a:solidFill>
                <a:latin typeface="Perpetua" panose="02020502060401020303" pitchFamily="18" charset="77"/>
              </a:rPr>
              <a:t>palette detailed on slide #2</a:t>
            </a:r>
            <a:r>
              <a:rPr lang="en-US" sz="2400" dirty="0">
                <a:solidFill>
                  <a:schemeClr val="bg2">
                    <a:lumMod val="50000"/>
                  </a:schemeClr>
                </a:solidFill>
                <a:latin typeface="Perpetua" panose="02020502060401020303" pitchFamily="18" charset="77"/>
              </a:rPr>
              <a:t>, resulting in a warm, sophisticated, and unforgettable focal point</a:t>
            </a:r>
            <a:endParaRPr lang="en-US" sz="2400" dirty="0">
              <a:solidFill>
                <a:schemeClr val="bg2">
                  <a:lumMod val="50000"/>
                </a:schemeClr>
              </a:solidFill>
              <a:latin typeface="Perpetua" panose="02020502060401020303" pitchFamily="18" charset="77"/>
              <a:ea typeface="+mj-ea"/>
              <a:cs typeface="+mj-cs"/>
              <a:sym typeface="Wingdings" pitchFamily="2" charset="2"/>
            </a:endParaRPr>
          </a:p>
        </p:txBody>
      </p:sp>
      <p:sp>
        <p:nvSpPr>
          <p:cNvPr id="23" name="Content Placeholder 12">
            <a:extLst>
              <a:ext uri="{FF2B5EF4-FFF2-40B4-BE49-F238E27FC236}">
                <a16:creationId xmlns:a16="http://schemas.microsoft.com/office/drawing/2014/main" id="{E5695596-7817-DE6D-82CA-C3D8A3928D04}"/>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pic>
        <p:nvPicPr>
          <p:cNvPr id="3" name="Picture 2" descr="A table with flowers on it&#10;&#10;AI-generated content may be incorrect.">
            <a:extLst>
              <a:ext uri="{FF2B5EF4-FFF2-40B4-BE49-F238E27FC236}">
                <a16:creationId xmlns:a16="http://schemas.microsoft.com/office/drawing/2014/main" id="{A9101ECE-4CF5-5E1D-915A-466D36935AFC}"/>
              </a:ext>
            </a:extLst>
          </p:cNvPr>
          <p:cNvPicPr>
            <a:picLocks noChangeAspect="1"/>
          </p:cNvPicPr>
          <p:nvPr/>
        </p:nvPicPr>
        <p:blipFill>
          <a:blip r:embed="rId2"/>
          <a:stretch>
            <a:fillRect/>
          </a:stretch>
        </p:blipFill>
        <p:spPr>
          <a:xfrm>
            <a:off x="6427405" y="495688"/>
            <a:ext cx="2959100" cy="5486400"/>
          </a:xfrm>
          <a:prstGeom prst="rect">
            <a:avLst/>
          </a:prstGeom>
        </p:spPr>
      </p:pic>
      <p:pic>
        <p:nvPicPr>
          <p:cNvPr id="6" name="Picture 5" descr="A table with flowers on it&#10;&#10;AI-generated content may be incorrect.">
            <a:extLst>
              <a:ext uri="{FF2B5EF4-FFF2-40B4-BE49-F238E27FC236}">
                <a16:creationId xmlns:a16="http://schemas.microsoft.com/office/drawing/2014/main" id="{808C55ED-C7B4-DE4C-9984-98B3C8661AD8}"/>
              </a:ext>
            </a:extLst>
          </p:cNvPr>
          <p:cNvPicPr>
            <a:picLocks noChangeAspect="1"/>
          </p:cNvPicPr>
          <p:nvPr/>
        </p:nvPicPr>
        <p:blipFill>
          <a:blip r:embed="rId3"/>
          <a:stretch>
            <a:fillRect/>
          </a:stretch>
        </p:blipFill>
        <p:spPr>
          <a:xfrm>
            <a:off x="8539553" y="4086860"/>
            <a:ext cx="3479800" cy="2679700"/>
          </a:xfrm>
          <a:prstGeom prst="rect">
            <a:avLst/>
          </a:prstGeom>
        </p:spPr>
      </p:pic>
    </p:spTree>
    <p:extLst>
      <p:ext uri="{BB962C8B-B14F-4D97-AF65-F5344CB8AC3E}">
        <p14:creationId xmlns:p14="http://schemas.microsoft.com/office/powerpoint/2010/main" val="3610578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7041749-C801-3AB0-625E-5947C995F70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462F60B-E57F-F239-A1FD-1449A06A11B7}"/>
              </a:ext>
            </a:extLst>
          </p:cNvPr>
          <p:cNvSpPr txBox="1"/>
          <p:nvPr/>
        </p:nvSpPr>
        <p:spPr>
          <a:xfrm>
            <a:off x="506974" y="473868"/>
            <a:ext cx="5017609" cy="5910263"/>
          </a:xfrm>
          <a:prstGeom prst="rect">
            <a:avLst/>
          </a:prstGeom>
        </p:spPr>
        <p:txBody>
          <a:bodyPr vert="horz" lIns="91440" tIns="45720" rIns="91440" bIns="45720" rtlCol="0">
            <a:normAutofit fontScale="92500" lnSpcReduction="10000"/>
          </a:bodyPr>
          <a:lstStyle/>
          <a:p>
            <a:pPr defTabSz="914400">
              <a:lnSpc>
                <a:spcPct val="90000"/>
              </a:lnSpc>
              <a:spcBef>
                <a:spcPct val="0"/>
              </a:spcBef>
              <a:spcAft>
                <a:spcPts val="600"/>
              </a:spcAft>
            </a:pPr>
            <a:r>
              <a:rPr lang="en-US" sz="3500" dirty="0">
                <a:solidFill>
                  <a:schemeClr val="bg2">
                    <a:lumMod val="50000"/>
                  </a:schemeClr>
                </a:solidFill>
                <a:latin typeface="Perpetua" panose="02020502060401020303" pitchFamily="18" charset="77"/>
              </a:rPr>
              <a:t>Rectangular Tables – </a:t>
            </a:r>
            <a:r>
              <a:rPr lang="en-US" sz="3500" dirty="0">
                <a:solidFill>
                  <a:schemeClr val="bg2">
                    <a:lumMod val="50000"/>
                  </a:schemeClr>
                </a:solidFill>
                <a:highlight>
                  <a:srgbClr val="FFFF00"/>
                </a:highlight>
                <a:latin typeface="Perpetua" panose="02020502060401020303" pitchFamily="18" charset="77"/>
              </a:rPr>
              <a:t>OPTION 1</a:t>
            </a:r>
          </a:p>
          <a:p>
            <a:pPr defTabSz="914400">
              <a:lnSpc>
                <a:spcPct val="90000"/>
              </a:lnSpc>
              <a:spcBef>
                <a:spcPct val="0"/>
              </a:spcBef>
              <a:spcAft>
                <a:spcPts val="600"/>
              </a:spcAft>
            </a:pPr>
            <a:endParaRPr lang="en-US" sz="2400" dirty="0">
              <a:solidFill>
                <a:srgbClr val="FFC000"/>
              </a:solidFill>
              <a:highlight>
                <a:srgbClr val="FFFF00"/>
              </a:highlight>
              <a:latin typeface="Perpetua" panose="02020502060401020303" pitchFamily="18" charset="77"/>
            </a:endParaRPr>
          </a:p>
          <a:p>
            <a:pPr defTabSz="914400">
              <a:lnSpc>
                <a:spcPct val="90000"/>
              </a:lnSpc>
              <a:spcBef>
                <a:spcPct val="0"/>
              </a:spcBef>
              <a:spcAft>
                <a:spcPts val="600"/>
              </a:spcAft>
            </a:pPr>
            <a:endParaRPr lang="en-US" sz="2400" dirty="0">
              <a:solidFill>
                <a:srgbClr val="FFC000"/>
              </a:solidFill>
              <a:highlight>
                <a:srgbClr val="FFFF00"/>
              </a:highlight>
              <a:latin typeface="Perpetua" panose="02020502060401020303" pitchFamily="18" charset="77"/>
            </a:endParaRPr>
          </a:p>
          <a:p>
            <a:pPr algn="ctr" defTabSz="914400">
              <a:lnSpc>
                <a:spcPct val="90000"/>
              </a:lnSpc>
              <a:spcBef>
                <a:spcPct val="0"/>
              </a:spcBef>
              <a:spcAft>
                <a:spcPts val="600"/>
              </a:spcAft>
            </a:pPr>
            <a:endParaRPr lang="en-US" sz="2400" dirty="0">
              <a:solidFill>
                <a:srgbClr val="FFC000"/>
              </a:solidFill>
              <a:highlight>
                <a:srgbClr val="FFFF00"/>
              </a:highlight>
              <a:latin typeface="Perpetua" panose="02020502060401020303" pitchFamily="18" charset="77"/>
            </a:endParaRPr>
          </a:p>
          <a:p>
            <a:pPr marL="457200" indent="-228600" defTabSz="914400">
              <a:lnSpc>
                <a:spcPct val="90000"/>
              </a:lnSpc>
              <a:buFont typeface="Arial" panose="020B0604020202020204" pitchFamily="34" charset="0"/>
              <a:buChar char="•"/>
            </a:pPr>
            <a:r>
              <a:rPr lang="en-US" sz="2400" dirty="0">
                <a:solidFill>
                  <a:schemeClr val="bg2">
                    <a:lumMod val="50000"/>
                  </a:schemeClr>
                </a:solidFill>
                <a:latin typeface="Perpetua" panose="02020502060401020303" pitchFamily="18" charset="77"/>
              </a:rPr>
              <a:t>Rectangular tables (number of guests per side to be confirmed) will be dressed in warm white linens and adorned with a long light, airy floral garland running from side to side of the table.</a:t>
            </a:r>
          </a:p>
          <a:p>
            <a:pPr marL="457200" indent="-228600" defTabSz="914400">
              <a:lnSpc>
                <a:spcPct val="90000"/>
              </a:lnSpc>
              <a:buFont typeface="Arial" panose="020B0604020202020204" pitchFamily="34" charset="0"/>
              <a:buChar char="•"/>
            </a:pPr>
            <a:endParaRPr lang="en-US" sz="2400" dirty="0">
              <a:solidFill>
                <a:schemeClr val="bg2">
                  <a:lumMod val="50000"/>
                </a:schemeClr>
              </a:solidFill>
              <a:latin typeface="Perpetua" panose="02020502060401020303" pitchFamily="18" charset="77"/>
            </a:endParaRPr>
          </a:p>
          <a:p>
            <a:pPr marL="457200" indent="-228600" defTabSz="914400">
              <a:lnSpc>
                <a:spcPct val="90000"/>
              </a:lnSpc>
              <a:buFont typeface="Arial" panose="020B0604020202020204" pitchFamily="34" charset="0"/>
              <a:buChar char="•"/>
            </a:pPr>
            <a:r>
              <a:rPr lang="en-US" sz="2400" dirty="0">
                <a:solidFill>
                  <a:schemeClr val="bg2">
                    <a:lumMod val="50000"/>
                  </a:schemeClr>
                </a:solidFill>
                <a:latin typeface="Perpetua" panose="02020502060401020303" pitchFamily="18" charset="77"/>
              </a:rPr>
              <a:t> These arrangements will incorporate short taper candles, complemented by vintage mini lamps.</a:t>
            </a:r>
          </a:p>
          <a:p>
            <a:pPr defTabSz="914400">
              <a:lnSpc>
                <a:spcPct val="90000"/>
              </a:lnSpc>
            </a:pPr>
            <a:endParaRPr lang="en-US" sz="2400" dirty="0">
              <a:solidFill>
                <a:schemeClr val="bg2">
                  <a:lumMod val="50000"/>
                </a:schemeClr>
              </a:solidFill>
              <a:latin typeface="Perpetua" panose="02020502060401020303" pitchFamily="18" charset="77"/>
            </a:endParaRPr>
          </a:p>
          <a:p>
            <a:pPr defTabSz="914400">
              <a:lnSpc>
                <a:spcPct val="90000"/>
              </a:lnSpc>
            </a:pPr>
            <a:endParaRPr lang="en-US" sz="2400" dirty="0">
              <a:solidFill>
                <a:schemeClr val="bg2">
                  <a:lumMod val="50000"/>
                </a:schemeClr>
              </a:solidFill>
              <a:latin typeface="Perpetua" panose="02020502060401020303" pitchFamily="18" charset="77"/>
            </a:endParaRPr>
          </a:p>
          <a:p>
            <a:pPr defTabSz="914400">
              <a:lnSpc>
                <a:spcPct val="90000"/>
              </a:lnSpc>
            </a:pPr>
            <a:endParaRPr lang="en-US" sz="2400" dirty="0">
              <a:solidFill>
                <a:schemeClr val="bg2">
                  <a:lumMod val="50000"/>
                </a:schemeClr>
              </a:solidFill>
              <a:latin typeface="Perpetua" panose="02020502060401020303" pitchFamily="18" charset="77"/>
            </a:endParaRPr>
          </a:p>
          <a:p>
            <a:pPr marL="228600" indent="-228600" defTabSz="914400">
              <a:lnSpc>
                <a:spcPct val="90000"/>
              </a:lnSpc>
              <a:buFont typeface="Arial" panose="020B0604020202020204" pitchFamily="34" charset="0"/>
              <a:buChar char="•"/>
            </a:pPr>
            <a:endParaRPr lang="en-US" sz="2400" dirty="0">
              <a:solidFill>
                <a:schemeClr val="bg2">
                  <a:lumMod val="50000"/>
                </a:schemeClr>
              </a:solidFill>
              <a:latin typeface="Perpetua" panose="02020502060401020303" pitchFamily="18" charset="77"/>
            </a:endParaRPr>
          </a:p>
          <a:p>
            <a:pPr defTabSz="914400">
              <a:lnSpc>
                <a:spcPct val="90000"/>
              </a:lnSpc>
            </a:pPr>
            <a:r>
              <a:rPr lang="en-US" sz="2400" dirty="0">
                <a:solidFill>
                  <a:schemeClr val="bg2">
                    <a:lumMod val="50000"/>
                  </a:schemeClr>
                </a:solidFill>
                <a:latin typeface="Perpetua" panose="02020502060401020303" pitchFamily="18" charset="77"/>
              </a:rPr>
              <a:t>The overall décor will reflect and harmonize with the color </a:t>
            </a:r>
            <a:r>
              <a:rPr lang="en-US" sz="2400" dirty="0">
                <a:solidFill>
                  <a:srgbClr val="FFC000"/>
                </a:solidFill>
                <a:latin typeface="Perpetua" panose="02020502060401020303" pitchFamily="18" charset="77"/>
              </a:rPr>
              <a:t>palette detailed on slide #2</a:t>
            </a:r>
          </a:p>
          <a:p>
            <a:pPr indent="-228600" defTabSz="914400">
              <a:lnSpc>
                <a:spcPct val="90000"/>
              </a:lnSpc>
              <a:spcBef>
                <a:spcPct val="0"/>
              </a:spcBef>
              <a:spcAft>
                <a:spcPts val="600"/>
              </a:spcAft>
              <a:buFont typeface="Arial" panose="020B0604020202020204" pitchFamily="34" charset="0"/>
              <a:buChar char="•"/>
            </a:pPr>
            <a:endParaRPr lang="en-US" sz="1400" dirty="0">
              <a:sym typeface="Wingdings" pitchFamily="2" charset="2"/>
            </a:endParaRPr>
          </a:p>
        </p:txBody>
      </p:sp>
      <p:pic>
        <p:nvPicPr>
          <p:cNvPr id="3" name="Picture 2">
            <a:extLst>
              <a:ext uri="{FF2B5EF4-FFF2-40B4-BE49-F238E27FC236}">
                <a16:creationId xmlns:a16="http://schemas.microsoft.com/office/drawing/2014/main" id="{DFB80419-ED54-98BE-1502-23EF5A4B22B9}"/>
              </a:ext>
            </a:extLst>
          </p:cNvPr>
          <p:cNvPicPr>
            <a:picLocks noChangeAspect="1"/>
          </p:cNvPicPr>
          <p:nvPr/>
        </p:nvPicPr>
        <p:blipFill>
          <a:blip r:embed="rId3"/>
          <a:srcRect l="9502" r="9502"/>
          <a:stretch/>
        </p:blipFill>
        <p:spPr>
          <a:xfrm>
            <a:off x="5829732" y="1073835"/>
            <a:ext cx="2538331" cy="4710330"/>
          </a:xfrm>
          <a:prstGeom prst="rect">
            <a:avLst/>
          </a:prstGeom>
        </p:spPr>
      </p:pic>
      <p:pic>
        <p:nvPicPr>
          <p:cNvPr id="5" name="Picture 4">
            <a:extLst>
              <a:ext uri="{FF2B5EF4-FFF2-40B4-BE49-F238E27FC236}">
                <a16:creationId xmlns:a16="http://schemas.microsoft.com/office/drawing/2014/main" id="{3AFF2D20-F409-D356-E53D-0E872146B7E0}"/>
              </a:ext>
            </a:extLst>
          </p:cNvPr>
          <p:cNvPicPr>
            <a:picLocks noChangeAspect="1"/>
          </p:cNvPicPr>
          <p:nvPr/>
        </p:nvPicPr>
        <p:blipFill>
          <a:blip r:embed="rId4"/>
          <a:srcRect l="16787" r="8250"/>
          <a:stretch>
            <a:fillRect/>
          </a:stretch>
        </p:blipFill>
        <p:spPr>
          <a:xfrm>
            <a:off x="8673211" y="1073835"/>
            <a:ext cx="2480530" cy="4710330"/>
          </a:xfrm>
          <a:prstGeom prst="rect">
            <a:avLst/>
          </a:prstGeom>
        </p:spPr>
      </p:pic>
      <p:sp>
        <p:nvSpPr>
          <p:cNvPr id="23" name="Content Placeholder 12">
            <a:extLst>
              <a:ext uri="{FF2B5EF4-FFF2-40B4-BE49-F238E27FC236}">
                <a16:creationId xmlns:a16="http://schemas.microsoft.com/office/drawing/2014/main" id="{8921120B-FE16-E0D1-4AA6-A7EC408A5649}"/>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2151590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366164" y="195447"/>
            <a:ext cx="6108878" cy="139750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Round Tables – </a:t>
            </a:r>
            <a:r>
              <a:rPr lang="en-US" sz="3900" dirty="0">
                <a:solidFill>
                  <a:schemeClr val="bg2">
                    <a:lumMod val="50000"/>
                  </a:schemeClr>
                </a:solidFill>
                <a:highlight>
                  <a:srgbClr val="FFFF00"/>
                </a:highlight>
                <a:latin typeface="Perpetua" panose="02020502060401020303" pitchFamily="18" charset="77"/>
                <a:ea typeface="+mj-ea"/>
                <a:cs typeface="+mj-cs"/>
              </a:rPr>
              <a:t>Option 2</a:t>
            </a:r>
            <a:endParaRPr lang="en-US" sz="3900" i="1" dirty="0">
              <a:solidFill>
                <a:schemeClr val="bg2">
                  <a:lumMod val="50000"/>
                </a:schemeClr>
              </a:solidFill>
              <a:highlight>
                <a:srgbClr val="FFFF00"/>
              </a:highlight>
              <a:latin typeface="Perpetua" panose="02020502060401020303" pitchFamily="18" charset="77"/>
              <a:ea typeface="+mj-ea"/>
              <a:cs typeface="+mj-cs"/>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745206" y="2129035"/>
            <a:ext cx="5350793" cy="3978476"/>
          </a:xfrm>
        </p:spPr>
        <p:txBody>
          <a:bodyPr vert="horz" lIns="91440" tIns="45720" rIns="91440" bIns="45720" rtlCol="0">
            <a:noAutofit/>
          </a:bodyPr>
          <a:lstStyle/>
          <a:p>
            <a:pPr algn="ctr"/>
            <a:r>
              <a:rPr lang="en-US" sz="2200" dirty="0">
                <a:solidFill>
                  <a:schemeClr val="bg2">
                    <a:lumMod val="50000"/>
                  </a:schemeClr>
                </a:solidFill>
                <a:latin typeface="Perpetua" panose="02020502060401020303" pitchFamily="18" charset="77"/>
              </a:rPr>
              <a:t>For the 8 peoples round table décor, the aesthetic remains light, airy, and romantic. Each table will feature multiple medium-low, rounded floral arrangements, elegantly arranged from end to end in small vases and surrounded by short blue taper candles. A refined palette of pastel tones, soft whites, and lush greenery envelops the space, creating a warm, timeless, and effortlessly sophisticated ambiance</a:t>
            </a:r>
            <a:endParaRPr lang="en-US" sz="2200" b="0" i="0" dirty="0">
              <a:solidFill>
                <a:schemeClr val="bg2">
                  <a:lumMod val="50000"/>
                </a:schemeClr>
              </a:solidFill>
              <a:effectLst/>
              <a:latin typeface="Perpetua" panose="02020502060401020303" pitchFamily="18" charset="77"/>
            </a:endParaRPr>
          </a:p>
        </p:txBody>
      </p:sp>
      <p:pic>
        <p:nvPicPr>
          <p:cNvPr id="4" name="Picture 3">
            <a:extLst>
              <a:ext uri="{FF2B5EF4-FFF2-40B4-BE49-F238E27FC236}">
                <a16:creationId xmlns:a16="http://schemas.microsoft.com/office/drawing/2014/main" id="{BA257427-4C71-4B05-0579-C603DB05E2A3}"/>
              </a:ext>
            </a:extLst>
          </p:cNvPr>
          <p:cNvPicPr>
            <a:picLocks noChangeAspect="1"/>
          </p:cNvPicPr>
          <p:nvPr/>
        </p:nvPicPr>
        <p:blipFill>
          <a:blip r:embed="rId2"/>
          <a:srcRect/>
          <a:stretch/>
        </p:blipFill>
        <p:spPr>
          <a:xfrm>
            <a:off x="7236837" y="750488"/>
            <a:ext cx="4285618" cy="5357023"/>
          </a:xfrm>
          <a:prstGeom prst="rect">
            <a:avLst/>
          </a:prstGeom>
        </p:spPr>
      </p:pic>
    </p:spTree>
    <p:extLst>
      <p:ext uri="{BB962C8B-B14F-4D97-AF65-F5344CB8AC3E}">
        <p14:creationId xmlns:p14="http://schemas.microsoft.com/office/powerpoint/2010/main" val="938962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2176346" y="2521042"/>
            <a:ext cx="7839307" cy="247404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RENTALS</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4573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626" y="327611"/>
            <a:ext cx="4966776" cy="73354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TABLEWARE</a:t>
            </a:r>
          </a:p>
          <a:p>
            <a:pP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sp>
        <p:nvSpPr>
          <p:cNvPr id="14" name="TextBox 13">
            <a:extLst>
              <a:ext uri="{FF2B5EF4-FFF2-40B4-BE49-F238E27FC236}">
                <a16:creationId xmlns:a16="http://schemas.microsoft.com/office/drawing/2014/main" id="{C4E91E1E-1CFE-DC5B-40A8-D186EB235688}"/>
              </a:ext>
            </a:extLst>
          </p:cNvPr>
          <p:cNvSpPr txBox="1"/>
          <p:nvPr/>
        </p:nvSpPr>
        <p:spPr>
          <a:xfrm>
            <a:off x="450940" y="1826170"/>
            <a:ext cx="4427210" cy="3816429"/>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Ivory or gold rimmed charger plates will be selected based on rental availability, carefully chosen to match the reference image provided by the bride. Flatware provided by Le Cercle de </a:t>
            </a:r>
            <a:r>
              <a:rPr lang="en-US" sz="2200" dirty="0" err="1">
                <a:solidFill>
                  <a:schemeClr val="bg2">
                    <a:lumMod val="50000"/>
                  </a:schemeClr>
                </a:solidFill>
                <a:latin typeface="Perpetua" panose="02020502060401020303" pitchFamily="18" charset="77"/>
              </a:rPr>
              <a:t>l’Union</a:t>
            </a:r>
            <a:r>
              <a:rPr lang="en-US" sz="2200" dirty="0">
                <a:solidFill>
                  <a:schemeClr val="bg2">
                    <a:lumMod val="50000"/>
                  </a:schemeClr>
                </a:solidFill>
                <a:latin typeface="Perpetua" panose="02020502060401020303" pitchFamily="18" charset="77"/>
              </a:rPr>
              <a:t> </a:t>
            </a:r>
            <a:r>
              <a:rPr lang="en-US" sz="2200" dirty="0" err="1">
                <a:solidFill>
                  <a:schemeClr val="bg2">
                    <a:lumMod val="50000"/>
                  </a:schemeClr>
                </a:solidFill>
                <a:latin typeface="Perpetua" panose="02020502060401020303" pitchFamily="18" charset="77"/>
              </a:rPr>
              <a:t>Interalliée</a:t>
            </a:r>
            <a:r>
              <a:rPr lang="en-US" sz="2200" dirty="0">
                <a:solidFill>
                  <a:schemeClr val="bg2">
                    <a:lumMod val="50000"/>
                  </a:schemeClr>
                </a:solidFill>
                <a:latin typeface="Perpetua" panose="02020502060401020303" pitchFamily="18" charset="77"/>
              </a:rPr>
              <a:t> will complement the table setting, paired with delicate crystal glassware featuring gold rims and pastel blue napkins for a refined and harmonious touch</a:t>
            </a:r>
          </a:p>
        </p:txBody>
      </p:sp>
      <p:pic>
        <p:nvPicPr>
          <p:cNvPr id="8" name="Picture 7">
            <a:extLst>
              <a:ext uri="{FF2B5EF4-FFF2-40B4-BE49-F238E27FC236}">
                <a16:creationId xmlns:a16="http://schemas.microsoft.com/office/drawing/2014/main" id="{4D04E7A1-4A91-4426-9C3D-5A4672B5A606}"/>
              </a:ext>
            </a:extLst>
          </p:cNvPr>
          <p:cNvPicPr>
            <a:picLocks noChangeAspect="1"/>
          </p:cNvPicPr>
          <p:nvPr/>
        </p:nvPicPr>
        <p:blipFill>
          <a:blip r:embed="rId2"/>
          <a:srcRect/>
          <a:stretch/>
        </p:blipFill>
        <p:spPr>
          <a:xfrm>
            <a:off x="5324242" y="3197936"/>
            <a:ext cx="2771823" cy="3464778"/>
          </a:xfrm>
          <a:prstGeom prst="rect">
            <a:avLst/>
          </a:prstGeom>
        </p:spPr>
      </p:pic>
      <p:pic>
        <p:nvPicPr>
          <p:cNvPr id="4" name="Picture 3" descr="A stack of white plates&#10;&#10;AI-generated content may be incorrect.">
            <a:extLst>
              <a:ext uri="{FF2B5EF4-FFF2-40B4-BE49-F238E27FC236}">
                <a16:creationId xmlns:a16="http://schemas.microsoft.com/office/drawing/2014/main" id="{0AF2DA3B-F198-5DCC-9761-0DE6AD07285A}"/>
              </a:ext>
            </a:extLst>
          </p:cNvPr>
          <p:cNvPicPr>
            <a:picLocks noChangeAspect="1"/>
          </p:cNvPicPr>
          <p:nvPr/>
        </p:nvPicPr>
        <p:blipFill>
          <a:blip r:embed="rId3"/>
          <a:stretch>
            <a:fillRect/>
          </a:stretch>
        </p:blipFill>
        <p:spPr>
          <a:xfrm>
            <a:off x="5324243" y="92594"/>
            <a:ext cx="2771823" cy="2878432"/>
          </a:xfrm>
          <a:prstGeom prst="rect">
            <a:avLst/>
          </a:prstGeom>
        </p:spPr>
      </p:pic>
      <p:pic>
        <p:nvPicPr>
          <p:cNvPr id="5" name="Picture 4" descr="A group of empty wine glasses&#10;&#10;Description automatically generated">
            <a:extLst>
              <a:ext uri="{FF2B5EF4-FFF2-40B4-BE49-F238E27FC236}">
                <a16:creationId xmlns:a16="http://schemas.microsoft.com/office/drawing/2014/main" id="{BF9EEEC1-43CF-5D8B-0397-68288CF6783C}"/>
              </a:ext>
            </a:extLst>
          </p:cNvPr>
          <p:cNvPicPr>
            <a:picLocks noChangeAspect="1"/>
          </p:cNvPicPr>
          <p:nvPr/>
        </p:nvPicPr>
        <p:blipFill>
          <a:blip r:embed="rId4"/>
          <a:stretch>
            <a:fillRect/>
          </a:stretch>
        </p:blipFill>
        <p:spPr>
          <a:xfrm>
            <a:off x="8732991" y="1221205"/>
            <a:ext cx="3008069" cy="4415589"/>
          </a:xfrm>
          <a:prstGeom prst="rect">
            <a:avLst/>
          </a:prstGeom>
        </p:spPr>
      </p:pic>
    </p:spTree>
    <p:extLst>
      <p:ext uri="{BB962C8B-B14F-4D97-AF65-F5344CB8AC3E}">
        <p14:creationId xmlns:p14="http://schemas.microsoft.com/office/powerpoint/2010/main" val="3032118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035E-5966-ACBC-1783-900155DF7A40}"/>
              </a:ext>
            </a:extLst>
          </p:cNvPr>
          <p:cNvSpPr>
            <a:spLocks noGrp="1"/>
          </p:cNvSpPr>
          <p:nvPr>
            <p:ph type="title"/>
          </p:nvPr>
        </p:nvSpPr>
        <p:spPr>
          <a:xfrm>
            <a:off x="488134" y="230205"/>
            <a:ext cx="5194578" cy="1325563"/>
          </a:xfrm>
        </p:spPr>
        <p:txBody>
          <a:bodyPr/>
          <a:lstStyle/>
          <a:p>
            <a:pPr algn="ctr"/>
            <a:r>
              <a:rPr lang="en-US" dirty="0">
                <a:solidFill>
                  <a:schemeClr val="bg2">
                    <a:lumMod val="50000"/>
                  </a:schemeClr>
                </a:solidFill>
                <a:latin typeface="Perpetua" panose="02020502060401020303" pitchFamily="18" charset="77"/>
              </a:rPr>
              <a:t>CROQUEMBOUCHE TOWER TABLE </a:t>
            </a:r>
          </a:p>
        </p:txBody>
      </p:sp>
      <p:sp>
        <p:nvSpPr>
          <p:cNvPr id="8" name="TextBox 7">
            <a:extLst>
              <a:ext uri="{FF2B5EF4-FFF2-40B4-BE49-F238E27FC236}">
                <a16:creationId xmlns:a16="http://schemas.microsoft.com/office/drawing/2014/main" id="{00BA0D7C-2976-B139-E634-692625262AAD}"/>
              </a:ext>
            </a:extLst>
          </p:cNvPr>
          <p:cNvSpPr txBox="1"/>
          <p:nvPr/>
        </p:nvSpPr>
        <p:spPr>
          <a:xfrm>
            <a:off x="1236882" y="2274837"/>
            <a:ext cx="3697082" cy="2800767"/>
          </a:xfrm>
          <a:prstGeom prst="rect">
            <a:avLst/>
          </a:prstGeom>
          <a:noFill/>
        </p:spPr>
        <p:txBody>
          <a:bodyPr wrap="square" rtlCol="0">
            <a:spAutoFit/>
          </a:bodyPr>
          <a:lstStyle/>
          <a:p>
            <a:pPr marL="342900" indent="-342900" algn="ctr">
              <a:buFont typeface="Arial" panose="020B0604020202020204" pitchFamily="34" charset="0"/>
              <a:buChar char="•"/>
            </a:pPr>
            <a:r>
              <a:rPr lang="en-US" sz="2200" dirty="0">
                <a:solidFill>
                  <a:schemeClr val="bg2">
                    <a:lumMod val="50000"/>
                  </a:schemeClr>
                </a:solidFill>
                <a:latin typeface="Perpetua" panose="02020502060401020303" pitchFamily="18" charset="77"/>
              </a:rPr>
              <a:t>The croquembouche tower table will be elegantly styled with refined floral arrangements that echo the overall décor and established color palette, creating a cohesive and sophisticated presentation</a:t>
            </a:r>
          </a:p>
        </p:txBody>
      </p:sp>
      <p:pic>
        <p:nvPicPr>
          <p:cNvPr id="7" name="Picture 6" descr="A cake with flowers on top&#10;&#10;AI-generated content may be incorrect.">
            <a:extLst>
              <a:ext uri="{FF2B5EF4-FFF2-40B4-BE49-F238E27FC236}">
                <a16:creationId xmlns:a16="http://schemas.microsoft.com/office/drawing/2014/main" id="{5773C9F7-D698-F6DB-D93F-347E011CEC42}"/>
              </a:ext>
            </a:extLst>
          </p:cNvPr>
          <p:cNvPicPr>
            <a:picLocks noChangeAspect="1"/>
          </p:cNvPicPr>
          <p:nvPr/>
        </p:nvPicPr>
        <p:blipFill>
          <a:blip r:embed="rId2"/>
          <a:stretch>
            <a:fillRect/>
          </a:stretch>
        </p:blipFill>
        <p:spPr>
          <a:xfrm>
            <a:off x="6509290" y="101911"/>
            <a:ext cx="4452986" cy="6654178"/>
          </a:xfrm>
          <a:prstGeom prst="rect">
            <a:avLst/>
          </a:prstGeom>
        </p:spPr>
      </p:pic>
    </p:spTree>
    <p:extLst>
      <p:ext uri="{BB962C8B-B14F-4D97-AF65-F5344CB8AC3E}">
        <p14:creationId xmlns:p14="http://schemas.microsoft.com/office/powerpoint/2010/main" val="1053509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976290" y="222152"/>
            <a:ext cx="8236368" cy="707172"/>
          </a:xfrm>
        </p:spPr>
        <p:txBody>
          <a:bodyPr vert="horz" lIns="91440" tIns="45720" rIns="91440" bIns="45720" rtlCol="0" anchor="ctr">
            <a:normAutofit fontScale="90000"/>
          </a:bodyPr>
          <a:lstStyle/>
          <a:p>
            <a:pPr algn="ctr"/>
            <a:r>
              <a:rPr lang="en-US" sz="3100" dirty="0">
                <a:solidFill>
                  <a:schemeClr val="bg2">
                    <a:lumMod val="50000"/>
                  </a:schemeClr>
                </a:solidFill>
                <a:latin typeface="Perpetua" panose="02020502060401020303" pitchFamily="18" charset="77"/>
              </a:rPr>
              <a:t>UP LITHING</a:t>
            </a:r>
            <a:br>
              <a:rPr lang="en-US" sz="2400" kern="1200" dirty="0">
                <a:solidFill>
                  <a:schemeClr val="bg2">
                    <a:lumMod val="50000"/>
                  </a:schemeClr>
                </a:solidFill>
                <a:latin typeface="Perpetua" panose="02020502060401020303" pitchFamily="18" charset="77"/>
              </a:rPr>
            </a:br>
            <a:endParaRPr lang="en-US" sz="2400" kern="1200" dirty="0">
              <a:solidFill>
                <a:schemeClr val="bg2">
                  <a:lumMod val="50000"/>
                </a:schemeClr>
              </a:solidFill>
              <a:latin typeface="Perpetua" panose="02020502060401020303" pitchFamily="18" charset="77"/>
            </a:endParaRPr>
          </a:p>
        </p:txBody>
      </p:sp>
      <p:pic>
        <p:nvPicPr>
          <p:cNvPr id="5" name="Picture 4" descr="A room with tables and chairs&#10;&#10;Description automatically generated">
            <a:extLst>
              <a:ext uri="{FF2B5EF4-FFF2-40B4-BE49-F238E27FC236}">
                <a16:creationId xmlns:a16="http://schemas.microsoft.com/office/drawing/2014/main" id="{3FDF27F5-3EE5-6566-CBCC-8CD661A37A91}"/>
              </a:ext>
            </a:extLst>
          </p:cNvPr>
          <p:cNvPicPr>
            <a:picLocks noChangeAspect="1"/>
          </p:cNvPicPr>
          <p:nvPr/>
        </p:nvPicPr>
        <p:blipFill>
          <a:blip r:embed="rId3"/>
          <a:stretch>
            <a:fillRect/>
          </a:stretch>
        </p:blipFill>
        <p:spPr>
          <a:xfrm>
            <a:off x="175398" y="2347783"/>
            <a:ext cx="4001186" cy="4417347"/>
          </a:xfrm>
          <a:prstGeom prst="rect">
            <a:avLst/>
          </a:prstGeom>
        </p:spPr>
      </p:pic>
      <p:pic>
        <p:nvPicPr>
          <p:cNvPr id="8" name="Picture 7" descr="A room with tables and chairs&#10;&#10;Description automatically generated">
            <a:extLst>
              <a:ext uri="{FF2B5EF4-FFF2-40B4-BE49-F238E27FC236}">
                <a16:creationId xmlns:a16="http://schemas.microsoft.com/office/drawing/2014/main" id="{1059039F-3AAB-9322-24E8-EFAA74642592}"/>
              </a:ext>
            </a:extLst>
          </p:cNvPr>
          <p:cNvPicPr>
            <a:picLocks noChangeAspect="1"/>
          </p:cNvPicPr>
          <p:nvPr/>
        </p:nvPicPr>
        <p:blipFill>
          <a:blip r:embed="rId4"/>
          <a:stretch>
            <a:fillRect/>
          </a:stretch>
        </p:blipFill>
        <p:spPr>
          <a:xfrm>
            <a:off x="4270860" y="2347784"/>
            <a:ext cx="3647229" cy="4417347"/>
          </a:xfrm>
          <a:prstGeom prst="rect">
            <a:avLst/>
          </a:prstGeom>
        </p:spPr>
      </p:pic>
      <p:pic>
        <p:nvPicPr>
          <p:cNvPr id="11" name="Picture 10" descr="A room with tables and chairs and chandeliers&#10;&#10;Description automatically generated">
            <a:extLst>
              <a:ext uri="{FF2B5EF4-FFF2-40B4-BE49-F238E27FC236}">
                <a16:creationId xmlns:a16="http://schemas.microsoft.com/office/drawing/2014/main" id="{097B2804-FC64-B84B-63AF-03C9D019D845}"/>
              </a:ext>
            </a:extLst>
          </p:cNvPr>
          <p:cNvPicPr>
            <a:picLocks noChangeAspect="1"/>
          </p:cNvPicPr>
          <p:nvPr/>
        </p:nvPicPr>
        <p:blipFill>
          <a:blip r:embed="rId5"/>
          <a:stretch>
            <a:fillRect/>
          </a:stretch>
        </p:blipFill>
        <p:spPr>
          <a:xfrm>
            <a:off x="8012365" y="2347782"/>
            <a:ext cx="3880956" cy="4417348"/>
          </a:xfrm>
          <a:prstGeom prst="rect">
            <a:avLst/>
          </a:prstGeom>
        </p:spPr>
      </p:pic>
      <p:sp>
        <p:nvSpPr>
          <p:cNvPr id="12" name="TextBox 11">
            <a:extLst>
              <a:ext uri="{FF2B5EF4-FFF2-40B4-BE49-F238E27FC236}">
                <a16:creationId xmlns:a16="http://schemas.microsoft.com/office/drawing/2014/main" id="{C2C98D09-40D2-B9B2-95E6-7A89724F0D53}"/>
              </a:ext>
            </a:extLst>
          </p:cNvPr>
          <p:cNvSpPr txBox="1"/>
          <p:nvPr/>
        </p:nvSpPr>
        <p:spPr>
          <a:xfrm>
            <a:off x="469557" y="999381"/>
            <a:ext cx="11423764" cy="1015663"/>
          </a:xfrm>
          <a:prstGeom prst="rect">
            <a:avLst/>
          </a:prstGeom>
          <a:noFill/>
        </p:spPr>
        <p:txBody>
          <a:bodyPr wrap="square" rtlCol="0">
            <a:spAutoFit/>
          </a:bodyPr>
          <a:lstStyle/>
          <a:p>
            <a:pPr algn="ctr"/>
            <a:r>
              <a:rPr lang="en-US" sz="2000" dirty="0">
                <a:solidFill>
                  <a:schemeClr val="accent5">
                    <a:lumMod val="60000"/>
                    <a:lumOff val="40000"/>
                  </a:schemeClr>
                </a:solidFill>
                <a:latin typeface="Perpetua" panose="02020502060401020303" pitchFamily="18" charset="77"/>
              </a:rPr>
              <a:t>Audrey’s Note: </a:t>
            </a:r>
            <a:r>
              <a:rPr lang="en-US" sz="2000" dirty="0">
                <a:solidFill>
                  <a:schemeClr val="bg2">
                    <a:lumMod val="50000"/>
                  </a:schemeClr>
                </a:solidFill>
                <a:latin typeface="Perpetua" panose="02020502060401020303" pitchFamily="18" charset="77"/>
              </a:rPr>
              <a:t>I highly recommend considering uplighting for your décor. It has a remarkable ability to enhance the overall ambiance by highlighting key elements and adding warmth to the space. Uplighting can truly transform your event, creating a captivating and inviting atmosphere that your guests will love.</a:t>
            </a:r>
          </a:p>
        </p:txBody>
      </p:sp>
    </p:spTree>
    <p:extLst>
      <p:ext uri="{BB962C8B-B14F-4D97-AF65-F5344CB8AC3E}">
        <p14:creationId xmlns:p14="http://schemas.microsoft.com/office/powerpoint/2010/main" val="2428454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2176346" y="2774863"/>
            <a:ext cx="7839307" cy="247404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FLOOR PLANS</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8542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12658" y="627994"/>
            <a:ext cx="11763633" cy="1070212"/>
          </a:xfrm>
        </p:spPr>
        <p:txBody>
          <a:bodyPr vert="horz" lIns="91440" tIns="45720" rIns="91440" bIns="45720" rtlCol="0" anchor="ctr">
            <a:normAutofit fontScale="90000"/>
          </a:bodyPr>
          <a:lstStyle/>
          <a:p>
            <a:pPr algn="ctr"/>
            <a:r>
              <a:rPr lang="en-US" sz="3100" kern="1200" dirty="0">
                <a:solidFill>
                  <a:schemeClr val="bg2">
                    <a:lumMod val="50000"/>
                  </a:schemeClr>
                </a:solidFill>
                <a:latin typeface="Perpetua" panose="02020502060401020303" pitchFamily="18" charset="77"/>
              </a:rPr>
              <a:t>RECEPTION/DINNER </a:t>
            </a:r>
            <a:r>
              <a:rPr lang="en-US" sz="3100" dirty="0">
                <a:solidFill>
                  <a:schemeClr val="bg2">
                    <a:lumMod val="50000"/>
                  </a:schemeClr>
                </a:solidFill>
                <a:latin typeface="Perpetua" panose="02020502060401020303" pitchFamily="18" charset="77"/>
              </a:rPr>
              <a:t>SEATING</a:t>
            </a:r>
            <a:r>
              <a:rPr lang="en-US" sz="3100" kern="1200" dirty="0">
                <a:solidFill>
                  <a:schemeClr val="bg2">
                    <a:lumMod val="50000"/>
                  </a:schemeClr>
                </a:solidFill>
                <a:latin typeface="Perpetua" panose="02020502060401020303" pitchFamily="18" charset="77"/>
              </a:rPr>
              <a:t> PLAN </a:t>
            </a:r>
            <a:br>
              <a:rPr lang="en-US" sz="2200" kern="1200" dirty="0">
                <a:solidFill>
                  <a:schemeClr val="bg2">
                    <a:lumMod val="50000"/>
                  </a:schemeClr>
                </a:solidFill>
                <a:latin typeface="Perpetua" panose="02020502060401020303" pitchFamily="18" charset="77"/>
              </a:rPr>
            </a:br>
            <a:br>
              <a:rPr lang="en-US" sz="2200" kern="1200" dirty="0">
                <a:solidFill>
                  <a:schemeClr val="bg2">
                    <a:lumMod val="50000"/>
                  </a:schemeClr>
                </a:solidFill>
                <a:latin typeface="Perpetua" panose="02020502060401020303" pitchFamily="18" charset="77"/>
              </a:rPr>
            </a:br>
            <a:endParaRPr lang="en-US" sz="2400" kern="1200" dirty="0">
              <a:solidFill>
                <a:schemeClr val="bg2">
                  <a:lumMod val="50000"/>
                </a:schemeClr>
              </a:solidFill>
              <a:latin typeface="Perpetua" panose="02020502060401020303" pitchFamily="18" charset="77"/>
            </a:endParaRPr>
          </a:p>
        </p:txBody>
      </p:sp>
      <p:sp>
        <p:nvSpPr>
          <p:cNvPr id="3" name="TextBox 2">
            <a:extLst>
              <a:ext uri="{FF2B5EF4-FFF2-40B4-BE49-F238E27FC236}">
                <a16:creationId xmlns:a16="http://schemas.microsoft.com/office/drawing/2014/main" id="{51969A44-C599-31EC-B25E-CC741AD59839}"/>
              </a:ext>
            </a:extLst>
          </p:cNvPr>
          <p:cNvSpPr txBox="1"/>
          <p:nvPr/>
        </p:nvSpPr>
        <p:spPr>
          <a:xfrm>
            <a:off x="1394458" y="2450592"/>
            <a:ext cx="9400032" cy="461665"/>
          </a:xfrm>
          <a:prstGeom prst="rect">
            <a:avLst/>
          </a:prstGeom>
          <a:noFill/>
        </p:spPr>
        <p:txBody>
          <a:bodyPr wrap="square" rtlCol="0">
            <a:spAutoFit/>
          </a:bodyPr>
          <a:lstStyle/>
          <a:p>
            <a:pPr algn="ctr"/>
            <a:r>
              <a:rPr lang="en-US" sz="2400" dirty="0">
                <a:solidFill>
                  <a:schemeClr val="bg2">
                    <a:lumMod val="50000"/>
                  </a:schemeClr>
                </a:solidFill>
                <a:latin typeface="Perpetua" panose="02020502060401020303" pitchFamily="18" charset="77"/>
              </a:rPr>
              <a:t>The finalized floor plan will be shared upon confirmation of the final guest list</a:t>
            </a:r>
            <a:endParaRPr lang="en-AE" sz="2400" dirty="0"/>
          </a:p>
        </p:txBody>
      </p:sp>
    </p:spTree>
    <p:extLst>
      <p:ext uri="{BB962C8B-B14F-4D97-AF65-F5344CB8AC3E}">
        <p14:creationId xmlns:p14="http://schemas.microsoft.com/office/powerpoint/2010/main" val="3716117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FCB5AAB-A7F2-B398-E2D6-A34B5E85A5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7096AE7-BE3E-206B-3544-3C4F02CE4750}"/>
              </a:ext>
            </a:extLst>
          </p:cNvPr>
          <p:cNvSpPr>
            <a:spLocks noGrp="1"/>
          </p:cNvSpPr>
          <p:nvPr>
            <p:ph type="title"/>
          </p:nvPr>
        </p:nvSpPr>
        <p:spPr>
          <a:xfrm>
            <a:off x="214183" y="1517481"/>
            <a:ext cx="11763633" cy="1070212"/>
          </a:xfrm>
        </p:spPr>
        <p:txBody>
          <a:bodyPr vert="horz" lIns="91440" tIns="45720" rIns="91440" bIns="45720" rtlCol="0" anchor="ctr">
            <a:normAutofit/>
          </a:bodyPr>
          <a:lstStyle/>
          <a:p>
            <a:pPr algn="ctr"/>
            <a:r>
              <a:rPr lang="en-AE" sz="5400" dirty="0">
                <a:solidFill>
                  <a:schemeClr val="bg2">
                    <a:lumMod val="50000"/>
                  </a:schemeClr>
                </a:solidFill>
                <a:latin typeface="Perpetua" panose="02020502060401020303" pitchFamily="18" charset="77"/>
              </a:rPr>
              <a:t>WELCOME DINNER</a:t>
            </a:r>
            <a:endParaRPr lang="en-US" sz="5400" kern="1200" dirty="0">
              <a:solidFill>
                <a:schemeClr val="bg2">
                  <a:lumMod val="50000"/>
                </a:schemeClr>
              </a:solidFill>
              <a:latin typeface="Perpetua" panose="02020502060401020303" pitchFamily="18" charset="77"/>
            </a:endParaRPr>
          </a:p>
        </p:txBody>
      </p:sp>
      <p:sp>
        <p:nvSpPr>
          <p:cNvPr id="3" name="TextBox 2">
            <a:extLst>
              <a:ext uri="{FF2B5EF4-FFF2-40B4-BE49-F238E27FC236}">
                <a16:creationId xmlns:a16="http://schemas.microsoft.com/office/drawing/2014/main" id="{E8799350-9A95-2BAB-E931-52C2ACFD4296}"/>
              </a:ext>
            </a:extLst>
          </p:cNvPr>
          <p:cNvSpPr txBox="1"/>
          <p:nvPr/>
        </p:nvSpPr>
        <p:spPr>
          <a:xfrm>
            <a:off x="3451685" y="3429000"/>
            <a:ext cx="5288627" cy="430887"/>
          </a:xfrm>
          <a:prstGeom prst="rect">
            <a:avLst/>
          </a:prstGeom>
          <a:noFill/>
        </p:spPr>
        <p:txBody>
          <a:bodyPr wrap="none" rtlCol="0">
            <a:spAutoFit/>
          </a:bodyPr>
          <a:lstStyle/>
          <a:p>
            <a:pPr algn="ctr"/>
            <a:r>
              <a:rPr lang="en-US" sz="2200" dirty="0">
                <a:solidFill>
                  <a:schemeClr val="bg2">
                    <a:lumMod val="50000"/>
                  </a:schemeClr>
                </a:solidFill>
                <a:latin typeface="Perpetua" panose="02020502060401020303" pitchFamily="18" charset="77"/>
              </a:rPr>
              <a:t>The welcome dinner will take place at Paris Seine.</a:t>
            </a:r>
          </a:p>
        </p:txBody>
      </p:sp>
    </p:spTree>
    <p:extLst>
      <p:ext uri="{BB962C8B-B14F-4D97-AF65-F5344CB8AC3E}">
        <p14:creationId xmlns:p14="http://schemas.microsoft.com/office/powerpoint/2010/main" val="25186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28CC28-B585-532D-588F-898CCA26761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93660F3-3EBF-CEC7-3701-E36FF8BCEB11}"/>
              </a:ext>
            </a:extLst>
          </p:cNvPr>
          <p:cNvSpPr>
            <a:spLocks noGrp="1"/>
          </p:cNvSpPr>
          <p:nvPr>
            <p:ph type="title"/>
          </p:nvPr>
        </p:nvSpPr>
        <p:spPr>
          <a:xfrm>
            <a:off x="384871" y="478536"/>
            <a:ext cx="5272217" cy="5900928"/>
          </a:xfrm>
        </p:spPr>
        <p:txBody>
          <a:bodyPr vert="horz" lIns="91440" tIns="45720" rIns="91440" bIns="45720" rtlCol="0" anchor="ctr">
            <a:normAutofit/>
          </a:bodyPr>
          <a:lstStyle/>
          <a:p>
            <a:pPr marL="342900" indent="-342900" algn="ctr">
              <a:buFont typeface="Arial" panose="020B0604020202020204" pitchFamily="34" charset="0"/>
              <a:buChar char="•"/>
            </a:pPr>
            <a:r>
              <a:rPr lang="en-US" sz="2200" dirty="0">
                <a:solidFill>
                  <a:schemeClr val="bg2">
                    <a:lumMod val="50000"/>
                  </a:schemeClr>
                </a:solidFill>
                <a:latin typeface="Perpetua" panose="02020502060401020303" pitchFamily="18" charset="77"/>
              </a:rPr>
              <a:t>A pastel floral arrangement will be placed on each table, accompanied by a cluster of small votive candles, creating a light, sophisticated, and effortlessly elegant ambiance</a:t>
            </a:r>
            <a:endParaRPr lang="en-US" sz="2200" kern="1200" dirty="0">
              <a:solidFill>
                <a:schemeClr val="bg2">
                  <a:lumMod val="50000"/>
                </a:schemeClr>
              </a:solidFill>
              <a:latin typeface="Perpetua" panose="02020502060401020303" pitchFamily="18" charset="77"/>
            </a:endParaRPr>
          </a:p>
        </p:txBody>
      </p:sp>
      <p:pic>
        <p:nvPicPr>
          <p:cNvPr id="4" name="Picture 3" descr="A table with flowers and candles&#10;&#10;AI-generated content may be incorrect.">
            <a:extLst>
              <a:ext uri="{FF2B5EF4-FFF2-40B4-BE49-F238E27FC236}">
                <a16:creationId xmlns:a16="http://schemas.microsoft.com/office/drawing/2014/main" id="{577E1385-A35D-AA45-491E-ED31056D2F5C}"/>
              </a:ext>
            </a:extLst>
          </p:cNvPr>
          <p:cNvPicPr>
            <a:picLocks noChangeAspect="1"/>
          </p:cNvPicPr>
          <p:nvPr/>
        </p:nvPicPr>
        <p:blipFill>
          <a:blip r:embed="rId2"/>
          <a:stretch>
            <a:fillRect/>
          </a:stretch>
        </p:blipFill>
        <p:spPr>
          <a:xfrm>
            <a:off x="6534914" y="311104"/>
            <a:ext cx="5096256" cy="6235792"/>
          </a:xfrm>
          <a:prstGeom prst="rect">
            <a:avLst/>
          </a:prstGeom>
        </p:spPr>
      </p:pic>
    </p:spTree>
    <p:extLst>
      <p:ext uri="{BB962C8B-B14F-4D97-AF65-F5344CB8AC3E}">
        <p14:creationId xmlns:p14="http://schemas.microsoft.com/office/powerpoint/2010/main" val="2735574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687805" y="1349957"/>
            <a:ext cx="10816390" cy="4576125"/>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4000" dirty="0">
                <a:solidFill>
                  <a:schemeClr val="bg2">
                    <a:lumMod val="50000"/>
                  </a:schemeClr>
                </a:solidFill>
                <a:effectLst/>
                <a:latin typeface="Perpetua" panose="02020502060401020303" pitchFamily="18" charset="77"/>
                <a:ea typeface="Noto Sans"/>
                <a:cs typeface="Noto Sans"/>
              </a:rPr>
              <a:t>We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can’</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wai</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brin</a:t>
            </a:r>
            <a:r>
              <a:rPr lang="en-US" sz="4000" dirty="0">
                <a:solidFill>
                  <a:schemeClr val="bg2">
                    <a:lumMod val="50000"/>
                  </a:schemeClr>
                </a:solidFill>
                <a:effectLst/>
                <a:latin typeface="Perpetua" panose="02020502060401020303" pitchFamily="18" charset="77"/>
                <a:ea typeface="Noto Sans"/>
                <a:cs typeface="Noto Sans"/>
              </a:rPr>
              <a:t>g </a:t>
            </a:r>
            <a:r>
              <a:rPr lang="en-US" sz="4000" spc="-5" dirty="0">
                <a:solidFill>
                  <a:schemeClr val="bg2">
                    <a:lumMod val="50000"/>
                  </a:schemeClr>
                </a:solidFill>
                <a:effectLst/>
                <a:latin typeface="Perpetua" panose="02020502060401020303" pitchFamily="18" charset="77"/>
                <a:ea typeface="Noto Sans"/>
                <a:cs typeface="Noto Sans"/>
              </a:rPr>
              <a:t>you</a:t>
            </a:r>
            <a:r>
              <a:rPr lang="en-US" sz="4000" dirty="0">
                <a:solidFill>
                  <a:schemeClr val="bg2">
                    <a:lumMod val="50000"/>
                  </a:schemeClr>
                </a:solidFill>
                <a:effectLst/>
                <a:latin typeface="Perpetua" panose="02020502060401020303" pitchFamily="18" charset="77"/>
                <a:ea typeface="Noto Sans"/>
                <a:cs typeface="Noto Sans"/>
              </a:rPr>
              <a:t>r </a:t>
            </a:r>
            <a:r>
              <a:rPr lang="en-US" sz="4000" spc="-5" dirty="0">
                <a:solidFill>
                  <a:schemeClr val="bg2">
                    <a:lumMod val="50000"/>
                  </a:schemeClr>
                </a:solidFill>
                <a:effectLst/>
                <a:latin typeface="Perpetua" panose="02020502060401020303" pitchFamily="18" charset="77"/>
                <a:ea typeface="Noto Sans"/>
                <a:cs typeface="Noto Sans"/>
              </a:rPr>
              <a:t>visio</a:t>
            </a:r>
            <a:r>
              <a:rPr lang="en-US" sz="4000" dirty="0">
                <a:solidFill>
                  <a:schemeClr val="bg2">
                    <a:lumMod val="50000"/>
                  </a:schemeClr>
                </a:solidFill>
                <a:effectLst/>
                <a:latin typeface="Perpetua" panose="02020502060401020303" pitchFamily="18" charset="77"/>
                <a:ea typeface="Noto Sans"/>
                <a:cs typeface="Noto Sans"/>
              </a:rPr>
              <a:t>n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life</a:t>
            </a:r>
            <a:r>
              <a:rPr lang="en-US" sz="4000" dirty="0">
                <a:solidFill>
                  <a:schemeClr val="bg2">
                    <a:lumMod val="50000"/>
                  </a:schemeClr>
                </a:solidFill>
                <a:effectLst/>
                <a:latin typeface="Perpetua" panose="02020502060401020303" pitchFamily="18" charset="77"/>
                <a:ea typeface="Noto Sans"/>
                <a:cs typeface="Noto Sans"/>
              </a:rPr>
              <a:t>!</a:t>
            </a: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lgn="ctr">
              <a:spcBef>
                <a:spcPts val="4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845185" marR="681355" algn="ctr">
              <a:lnSpc>
                <a:spcPct val="102000"/>
              </a:lnSpc>
              <a:spcBef>
                <a:spcPts val="52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The concepts (written and images) in this proposal are symbolic of the design inspiration we intend to bring to life for your event. Due to the characteristics of perishable items (flowers), there can be situations that may emerge that are completely out of our control. </a:t>
            </a:r>
            <a:endParaRPr lang="en-US" sz="2400" dirty="0">
              <a:solidFill>
                <a:schemeClr val="bg2">
                  <a:lumMod val="50000"/>
                </a:schemeClr>
              </a:solidFill>
              <a:latin typeface="Perpetua" panose="02020502060401020303" pitchFamily="18" charset="77"/>
              <a:ea typeface="Noto Sans"/>
              <a:cs typeface="Noto Sans"/>
            </a:endParaRPr>
          </a:p>
          <a:p>
            <a:pPr marL="845185" marR="681355" algn="ctr">
              <a:lnSpc>
                <a:spcPct val="102000"/>
              </a:lnSpc>
              <a:spcBef>
                <a:spcPts val="525"/>
              </a:spcBef>
              <a:spcAft>
                <a:spcPts val="0"/>
              </a:spcAft>
            </a:pPr>
            <a:endParaRPr lang="en-US" sz="2400" dirty="0">
              <a:solidFill>
                <a:schemeClr val="bg2">
                  <a:lumMod val="50000"/>
                </a:schemeClr>
              </a:solidFill>
              <a:effectLst/>
              <a:latin typeface="Perpetua" panose="02020502060401020303" pitchFamily="18" charset="77"/>
              <a:ea typeface="Noto Sans"/>
              <a:cs typeface="Noto Sans"/>
            </a:endParaRPr>
          </a:p>
          <a:p>
            <a:pPr marL="839470" marR="675005" indent="-635" algn="ctr">
              <a:lnSpc>
                <a:spcPct val="102000"/>
              </a:lnSpc>
              <a:spcBef>
                <a:spcPts val="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To protect the integrity of our creativity, we kindly ask that you do not share the details of this proposal with other vendors bidding for your event. This was made just for </a:t>
            </a:r>
            <a:r>
              <a:rPr lang="en-US" sz="2400" i="1" dirty="0">
                <a:solidFill>
                  <a:schemeClr val="bg2">
                    <a:lumMod val="50000"/>
                  </a:schemeClr>
                </a:solidFill>
                <a:effectLst/>
                <a:latin typeface="Perpetua" panose="02020502060401020303" pitchFamily="18" charset="77"/>
                <a:ea typeface="Noto Sans"/>
                <a:cs typeface="Noto Sans"/>
              </a:rPr>
              <a:t>you</a:t>
            </a:r>
            <a:r>
              <a:rPr lang="en-US" sz="2400" dirty="0">
                <a:solidFill>
                  <a:schemeClr val="bg2">
                    <a:lumMod val="50000"/>
                  </a:schemeClr>
                </a:solidFill>
                <a:effectLst/>
                <a:latin typeface="Perpetua" panose="02020502060401020303" pitchFamily="18" charset="77"/>
                <a:ea typeface="Noto Sans"/>
                <a:cs typeface="Noto Sans"/>
              </a:rPr>
              <a:t>. However, please feel free to share this with your family.</a:t>
            </a:r>
          </a:p>
        </p:txBody>
      </p:sp>
    </p:spTree>
    <p:extLst>
      <p:ext uri="{BB962C8B-B14F-4D97-AF65-F5344CB8AC3E}">
        <p14:creationId xmlns:p14="http://schemas.microsoft.com/office/powerpoint/2010/main" val="4008270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95532" y="89994"/>
            <a:ext cx="12218610" cy="5825313"/>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FOR PLANNER AND FLORIST  TEAM ONLY </a:t>
            </a:r>
            <a:r>
              <a:rPr lang="en-US" sz="2400" b="1" dirty="0">
                <a:solidFill>
                  <a:schemeClr val="accent5">
                    <a:lumMod val="60000"/>
                    <a:lumOff val="40000"/>
                  </a:schemeClr>
                </a:solidFill>
                <a:latin typeface="Perpetua" panose="02020502060401020303" pitchFamily="18" charset="77"/>
                <a:ea typeface="Noto Sans"/>
                <a:cs typeface="Noto Sans"/>
              </a:rPr>
              <a:t>(FRENCH):</a:t>
            </a:r>
          </a:p>
          <a:p>
            <a:pPr marL="1596390" marR="513715" indent="-979805" algn="ctr">
              <a:lnSpc>
                <a:spcPct val="98000"/>
              </a:lnSpc>
              <a:spcBef>
                <a:spcPts val="480"/>
              </a:spcBef>
              <a:spcAft>
                <a:spcPts val="0"/>
              </a:spcAft>
            </a:pP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Décor de la </a:t>
            </a:r>
            <a:r>
              <a:rPr lang="en-US" dirty="0" err="1">
                <a:solidFill>
                  <a:schemeClr val="bg2">
                    <a:lumMod val="50000"/>
                  </a:schemeClr>
                </a:solidFill>
                <a:latin typeface="Perpetua" panose="02020502060401020303" pitchFamily="18" charset="77"/>
                <a:ea typeface="Noto Sans"/>
                <a:cs typeface="Noto Sans"/>
              </a:rPr>
              <a:t>Cérémonie</a:t>
            </a:r>
            <a:r>
              <a:rPr lang="en-US" dirty="0">
                <a:solidFill>
                  <a:schemeClr val="bg2">
                    <a:lumMod val="50000"/>
                  </a:schemeClr>
                </a:solidFill>
                <a:latin typeface="Perpetua" panose="02020502060401020303" pitchFamily="18" charset="77"/>
                <a:ea typeface="Noto Sans"/>
                <a:cs typeface="Noto Sans"/>
              </a:rPr>
              <a:t> + décor de </a:t>
            </a:r>
            <a:r>
              <a:rPr lang="en-US" dirty="0" err="1">
                <a:solidFill>
                  <a:schemeClr val="bg2">
                    <a:lumMod val="50000"/>
                  </a:schemeClr>
                </a:solidFill>
                <a:latin typeface="Perpetua" panose="02020502060401020303" pitchFamily="18" charset="77"/>
                <a:ea typeface="Noto Sans"/>
                <a:cs typeface="Noto Sans"/>
              </a:rPr>
              <a:t>l’allee</a:t>
            </a:r>
            <a:r>
              <a:rPr lang="en-US" dirty="0">
                <a:solidFill>
                  <a:schemeClr val="bg2">
                    <a:lumMod val="50000"/>
                  </a:schemeClr>
                </a:solidFill>
                <a:latin typeface="Perpetua" panose="02020502060401020303" pitchFamily="18" charset="77"/>
                <a:ea typeface="Noto Sans"/>
                <a:cs typeface="Noto Sans"/>
              </a:rPr>
              <a:t> a </a:t>
            </a:r>
            <a:r>
              <a:rPr lang="en-US" dirty="0" err="1">
                <a:solidFill>
                  <a:schemeClr val="bg2">
                    <a:lumMod val="50000"/>
                  </a:schemeClr>
                </a:solidFill>
                <a:latin typeface="Perpetua" panose="02020502060401020303" pitchFamily="18" charset="77"/>
                <a:ea typeface="Noto Sans"/>
                <a:cs typeface="Noto Sans"/>
              </a:rPr>
              <a:t>l’Eglise</a:t>
            </a:r>
            <a:r>
              <a:rPr lang="en-US" dirty="0">
                <a:solidFill>
                  <a:schemeClr val="bg2">
                    <a:lumMod val="50000"/>
                  </a:schemeClr>
                </a:solidFill>
                <a:latin typeface="Perpetua" panose="02020502060401020303" pitchFamily="18" charset="77"/>
                <a:ea typeface="Noto Sans"/>
                <a:cs typeface="Noto Sans"/>
              </a:rPr>
              <a:t> </a:t>
            </a:r>
            <a:endParaRPr lang="en-US" dirty="0">
              <a:solidFill>
                <a:schemeClr val="bg2">
                  <a:lumMod val="50000"/>
                </a:schemeClr>
              </a:solidFill>
              <a:highlight>
                <a:srgbClr val="FFFF00"/>
              </a:highlight>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Bouquet de </a:t>
            </a:r>
            <a:r>
              <a:rPr lang="en-US" dirty="0" err="1">
                <a:solidFill>
                  <a:schemeClr val="bg2">
                    <a:lumMod val="50000"/>
                  </a:schemeClr>
                </a:solidFill>
                <a:latin typeface="Perpetua" panose="02020502060401020303" pitchFamily="18" charset="77"/>
                <a:ea typeface="Noto Sans"/>
                <a:cs typeface="Noto Sans"/>
              </a:rPr>
              <a:t>mariée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Boutonnière du </a:t>
            </a:r>
            <a:r>
              <a:rPr lang="en-US" dirty="0" err="1">
                <a:solidFill>
                  <a:schemeClr val="bg2">
                    <a:lumMod val="50000"/>
                  </a:schemeClr>
                </a:solidFill>
                <a:latin typeface="Perpetua" panose="02020502060401020303" pitchFamily="18" charset="77"/>
                <a:ea typeface="Noto Sans"/>
                <a:cs typeface="Noto Sans"/>
              </a:rPr>
              <a:t>marié</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3 Bouquets de demoiselles </a:t>
            </a:r>
            <a:r>
              <a:rPr lang="en-US" dirty="0" err="1">
                <a:solidFill>
                  <a:schemeClr val="bg2">
                    <a:lumMod val="50000"/>
                  </a:schemeClr>
                </a:solidFill>
                <a:latin typeface="Perpetua" panose="02020502060401020303" pitchFamily="18" charset="77"/>
                <a:ea typeface="Noto Sans"/>
                <a:cs typeface="Noto Sans"/>
              </a:rPr>
              <a:t>d'honneur</a:t>
            </a:r>
            <a:r>
              <a:rPr lang="en-US" dirty="0">
                <a:solidFill>
                  <a:schemeClr val="bg2">
                    <a:lumMod val="50000"/>
                  </a:schemeClr>
                </a:solidFill>
                <a:latin typeface="Perpetua" panose="02020502060401020303" pitchFamily="18" charset="77"/>
                <a:ea typeface="Noto Sans"/>
                <a:cs typeface="Noto Sans"/>
              </a:rPr>
              <a:t>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Décor de la </a:t>
            </a:r>
            <a:r>
              <a:rPr lang="en-US" dirty="0" err="1">
                <a:solidFill>
                  <a:schemeClr val="bg2">
                    <a:lumMod val="50000"/>
                  </a:schemeClr>
                </a:solidFill>
                <a:latin typeface="Perpetua" panose="02020502060401020303" pitchFamily="18" charset="77"/>
                <a:ea typeface="Noto Sans"/>
                <a:cs typeface="Noto Sans"/>
              </a:rPr>
              <a:t>Cérémonie</a:t>
            </a:r>
            <a:r>
              <a:rPr lang="en-US" dirty="0">
                <a:solidFill>
                  <a:schemeClr val="bg2">
                    <a:lumMod val="50000"/>
                  </a:schemeClr>
                </a:solidFill>
                <a:latin typeface="Perpetua" panose="02020502060401020303" pitchFamily="18" charset="77"/>
                <a:ea typeface="Noto Sans"/>
                <a:cs typeface="Noto Sans"/>
              </a:rPr>
              <a:t> + décor de </a:t>
            </a:r>
            <a:r>
              <a:rPr lang="en-US" dirty="0" err="1">
                <a:solidFill>
                  <a:schemeClr val="bg2">
                    <a:lumMod val="50000"/>
                  </a:schemeClr>
                </a:solidFill>
                <a:latin typeface="Perpetua" panose="02020502060401020303" pitchFamily="18" charset="77"/>
                <a:ea typeface="Noto Sans"/>
                <a:cs typeface="Noto Sans"/>
              </a:rPr>
              <a:t>l’allee</a:t>
            </a:r>
            <a:r>
              <a:rPr lang="en-US" dirty="0">
                <a:solidFill>
                  <a:schemeClr val="bg2">
                    <a:lumMod val="50000"/>
                  </a:schemeClr>
                </a:solidFill>
                <a:latin typeface="Perpetua" panose="02020502060401020303" pitchFamily="18" charset="77"/>
                <a:ea typeface="Noto Sans"/>
                <a:cs typeface="Noto Sans"/>
              </a:rPr>
              <a:t> a </a:t>
            </a:r>
            <a:r>
              <a:rPr lang="en-US" dirty="0" err="1">
                <a:solidFill>
                  <a:schemeClr val="bg2">
                    <a:lumMod val="50000"/>
                  </a:schemeClr>
                </a:solidFill>
                <a:latin typeface="Perpetua" panose="02020502060401020303" pitchFamily="18" charset="77"/>
                <a:ea typeface="Noto Sans"/>
                <a:cs typeface="Noto Sans"/>
              </a:rPr>
              <a:t>l’Eglise</a:t>
            </a:r>
            <a:r>
              <a:rPr lang="en-US" dirty="0">
                <a:solidFill>
                  <a:schemeClr val="bg2">
                    <a:lumMod val="50000"/>
                  </a:schemeClr>
                </a:solidFill>
                <a:latin typeface="Perpetua" panose="02020502060401020303" pitchFamily="18" charset="77"/>
                <a:ea typeface="Noto Sans"/>
                <a:cs typeface="Noto Sans"/>
              </a:rPr>
              <a:t> </a:t>
            </a:r>
            <a:endParaRPr lang="en-US" dirty="0">
              <a:solidFill>
                <a:schemeClr val="bg2">
                  <a:lumMod val="50000"/>
                </a:schemeClr>
              </a:solidFill>
              <a:highlight>
                <a:srgbClr val="FFFF00"/>
              </a:highlight>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b="1" dirty="0">
                <a:solidFill>
                  <a:schemeClr val="bg2">
                    <a:lumMod val="50000"/>
                  </a:schemeClr>
                </a:solidFill>
                <a:latin typeface="Perpetua" panose="02020502060401020303" pitchFamily="18" charset="77"/>
                <a:ea typeface="Noto Sans"/>
                <a:cs typeface="Noto Sans"/>
              </a:rPr>
              <a:t>TBD </a:t>
            </a:r>
            <a:r>
              <a:rPr lang="en-US" dirty="0">
                <a:solidFill>
                  <a:schemeClr val="bg2">
                    <a:lumMod val="50000"/>
                  </a:schemeClr>
                </a:solidFill>
                <a:latin typeface="Perpetua" panose="02020502060401020303" pitchFamily="18" charset="77"/>
                <a:ea typeface="Noto Sans"/>
                <a:cs typeface="Noto Sans"/>
              </a:rPr>
              <a:t>tables ronde (</a:t>
            </a:r>
            <a:r>
              <a:rPr lang="en-US" dirty="0" err="1">
                <a:solidFill>
                  <a:schemeClr val="bg2">
                    <a:lumMod val="50000"/>
                  </a:schemeClr>
                </a:solidFill>
                <a:latin typeface="Perpetua" panose="02020502060401020303" pitchFamily="18" charset="77"/>
                <a:ea typeface="Noto Sans"/>
                <a:cs typeface="Noto Sans"/>
              </a:rPr>
              <a:t>jusqu'à</a:t>
            </a:r>
            <a:r>
              <a:rPr lang="en-US" dirty="0">
                <a:solidFill>
                  <a:schemeClr val="bg2">
                    <a:lumMod val="50000"/>
                  </a:schemeClr>
                </a:solidFill>
                <a:latin typeface="Perpetua" panose="02020502060401020303" pitchFamily="18" charset="77"/>
                <a:ea typeface="Noto Sans"/>
                <a:cs typeface="Noto Sans"/>
              </a:rPr>
              <a:t> 10 </a:t>
            </a:r>
            <a:r>
              <a:rPr lang="en-US" dirty="0" err="1">
                <a:solidFill>
                  <a:schemeClr val="bg2">
                    <a:lumMod val="50000"/>
                  </a:schemeClr>
                </a:solidFill>
                <a:latin typeface="Perpetua" panose="02020502060401020303" pitchFamily="18" charset="77"/>
                <a:ea typeface="Noto Sans"/>
                <a:cs typeface="Noto Sans"/>
              </a:rPr>
              <a:t>invités</a:t>
            </a:r>
            <a:r>
              <a:rPr lang="en-US" dirty="0">
                <a:solidFill>
                  <a:schemeClr val="bg2">
                    <a:lumMod val="50000"/>
                  </a:schemeClr>
                </a:solidFill>
                <a:latin typeface="Perpetua" panose="02020502060401020303" pitchFamily="18" charset="77"/>
                <a:ea typeface="Noto Sans"/>
                <a:cs typeface="Noto Sans"/>
              </a:rPr>
              <a:t> par table) Nombre final a determiner</a:t>
            </a:r>
          </a:p>
          <a:p>
            <a:pPr marL="902335" marR="513715" indent="-285750">
              <a:lnSpc>
                <a:spcPct val="98000"/>
              </a:lnSpc>
              <a:spcBef>
                <a:spcPts val="480"/>
              </a:spcBef>
              <a:buFont typeface="Arial" panose="020B0604020202020204" pitchFamily="34" charset="0"/>
              <a:buChar char="•"/>
            </a:pPr>
            <a:r>
              <a:rPr lang="en-US" b="1" dirty="0">
                <a:solidFill>
                  <a:schemeClr val="bg2">
                    <a:lumMod val="50000"/>
                  </a:schemeClr>
                </a:solidFill>
                <a:latin typeface="Perpetua" panose="02020502060401020303" pitchFamily="18" charset="77"/>
                <a:ea typeface="Noto Sans"/>
                <a:cs typeface="Noto Sans"/>
              </a:rPr>
              <a:t>TBD </a:t>
            </a:r>
            <a:r>
              <a:rPr lang="en-US" dirty="0">
                <a:solidFill>
                  <a:schemeClr val="bg2">
                    <a:lumMod val="50000"/>
                  </a:schemeClr>
                </a:solidFill>
                <a:latin typeface="Perpetua" panose="02020502060401020303" pitchFamily="18" charset="77"/>
                <a:ea typeface="Noto Sans"/>
                <a:cs typeface="Noto Sans"/>
              </a:rPr>
              <a:t>longue tables </a:t>
            </a:r>
            <a:r>
              <a:rPr lang="en-US" dirty="0" err="1">
                <a:solidFill>
                  <a:schemeClr val="bg2">
                    <a:lumMod val="50000"/>
                  </a:schemeClr>
                </a:solidFill>
                <a:latin typeface="Perpetua" panose="02020502060401020303" pitchFamily="18" charset="77"/>
                <a:ea typeface="Noto Sans"/>
                <a:cs typeface="Noto Sans"/>
              </a:rPr>
              <a:t>rectangulaire</a:t>
            </a:r>
            <a:r>
              <a:rPr lang="en-US" dirty="0">
                <a:solidFill>
                  <a:schemeClr val="bg2">
                    <a:lumMod val="50000"/>
                  </a:schemeClr>
                </a:solidFill>
                <a:latin typeface="Perpetua" panose="02020502060401020303" pitchFamily="18" charset="77"/>
                <a:ea typeface="Noto Sans"/>
                <a:cs typeface="Noto Sans"/>
              </a:rPr>
              <a:t> Nombre final a determiner</a:t>
            </a:r>
          </a:p>
          <a:p>
            <a:pPr marL="902335" marR="513715" indent="-285750">
              <a:lnSpc>
                <a:spcPct val="98000"/>
              </a:lnSpc>
              <a:spcBef>
                <a:spcPts val="480"/>
              </a:spcBef>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8 décor Tables mange </a:t>
            </a:r>
            <a:r>
              <a:rPr lang="en-US" dirty="0" err="1">
                <a:solidFill>
                  <a:schemeClr val="bg2">
                    <a:lumMod val="50000"/>
                  </a:schemeClr>
                </a:solidFill>
                <a:latin typeface="Perpetua" panose="02020502060401020303" pitchFamily="18" charset="77"/>
                <a:ea typeface="Noto Sans"/>
                <a:cs typeface="Noto Sans"/>
              </a:rPr>
              <a:t>debout</a:t>
            </a:r>
            <a:r>
              <a:rPr lang="en-US" dirty="0">
                <a:solidFill>
                  <a:schemeClr val="bg2">
                    <a:lumMod val="50000"/>
                  </a:schemeClr>
                </a:solidFill>
                <a:latin typeface="Perpetua" panose="02020502060401020303" pitchFamily="18" charset="77"/>
                <a:ea typeface="Noto Sans"/>
                <a:cs typeface="Noto Sans"/>
              </a:rPr>
              <a:t> pour </a:t>
            </a:r>
            <a:r>
              <a:rPr lang="en-US" dirty="0" err="1">
                <a:solidFill>
                  <a:schemeClr val="bg2">
                    <a:lumMod val="50000"/>
                  </a:schemeClr>
                </a:solidFill>
                <a:latin typeface="Perpetua" panose="02020502060401020303" pitchFamily="18" charset="77"/>
                <a:ea typeface="Noto Sans"/>
                <a:cs typeface="Noto Sans"/>
              </a:rPr>
              <a:t>l'heure</a:t>
            </a:r>
            <a:r>
              <a:rPr lang="en-US" dirty="0">
                <a:solidFill>
                  <a:schemeClr val="bg2">
                    <a:lumMod val="50000"/>
                  </a:schemeClr>
                </a:solidFill>
                <a:latin typeface="Perpetua" panose="02020502060401020303" pitchFamily="18" charset="77"/>
                <a:ea typeface="Noto Sans"/>
                <a:cs typeface="Noto Sans"/>
              </a:rPr>
              <a:t> du cocktail</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2 Décor de Bars (1 pour le cocktail - 1 pour la </a:t>
            </a:r>
            <a:r>
              <a:rPr lang="en-US" dirty="0" err="1">
                <a:solidFill>
                  <a:schemeClr val="bg2">
                    <a:lumMod val="50000"/>
                  </a:schemeClr>
                </a:solidFill>
                <a:latin typeface="Perpetua" panose="02020502060401020303" pitchFamily="18" charset="77"/>
                <a:ea typeface="Noto Sans"/>
                <a:cs typeface="Noto Sans"/>
              </a:rPr>
              <a:t>réception</a:t>
            </a:r>
            <a:r>
              <a:rPr lang="en-US" dirty="0">
                <a:solidFill>
                  <a:schemeClr val="bg2">
                    <a:lumMod val="50000"/>
                  </a:schemeClr>
                </a:solidFill>
                <a:latin typeface="Perpetua" panose="02020502060401020303" pitchFamily="18" charset="77"/>
                <a:ea typeface="Noto Sans"/>
                <a:cs typeface="Noto Sans"/>
              </a:rPr>
              <a:t>/fête)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le welcome sign / </a:t>
            </a:r>
            <a:r>
              <a:rPr lang="en-US" dirty="0" err="1">
                <a:solidFill>
                  <a:schemeClr val="bg2">
                    <a:lumMod val="50000"/>
                  </a:schemeClr>
                </a:solidFill>
                <a:latin typeface="Perpetua" panose="02020502060401020303" pitchFamily="18" charset="77"/>
                <a:ea typeface="Noto Sans"/>
                <a:cs typeface="Noto Sans"/>
              </a:rPr>
              <a:t>panneau</a:t>
            </a:r>
            <a:r>
              <a:rPr lang="en-US" dirty="0">
                <a:solidFill>
                  <a:schemeClr val="bg2">
                    <a:lumMod val="50000"/>
                  </a:schemeClr>
                </a:solidFill>
                <a:latin typeface="Perpetua" panose="02020502060401020303" pitchFamily="18" charset="77"/>
                <a:ea typeface="Noto Sans"/>
                <a:cs typeface="Noto Sans"/>
              </a:rPr>
              <a:t> de </a:t>
            </a:r>
            <a:r>
              <a:rPr lang="en-US" dirty="0" err="1">
                <a:solidFill>
                  <a:schemeClr val="bg2">
                    <a:lumMod val="50000"/>
                  </a:schemeClr>
                </a:solidFill>
                <a:latin typeface="Perpetua" panose="02020502060401020303" pitchFamily="18" charset="77"/>
                <a:ea typeface="Noto Sans"/>
                <a:cs typeface="Noto Sans"/>
              </a:rPr>
              <a:t>bienvenue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la Table “Welcome” Table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Re disposition des fleurs pour la table du Wedding Cake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la table buffet de dessert + drape </a:t>
            </a:r>
            <a:r>
              <a:rPr lang="en-US" dirty="0" err="1">
                <a:solidFill>
                  <a:schemeClr val="bg2">
                    <a:lumMod val="50000"/>
                  </a:schemeClr>
                </a:solidFill>
                <a:latin typeface="Perpetua" panose="02020502060401020303" pitchFamily="18" charset="77"/>
                <a:ea typeface="Noto Sans"/>
                <a:cs typeface="Noto Sans"/>
              </a:rPr>
              <a:t>blanc</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comme</a:t>
            </a:r>
            <a:r>
              <a:rPr lang="en-US" dirty="0">
                <a:solidFill>
                  <a:schemeClr val="bg2">
                    <a:lumMod val="50000"/>
                  </a:schemeClr>
                </a:solidFill>
                <a:latin typeface="Perpetua" panose="02020502060401020303" pitchFamily="18" charset="77"/>
                <a:ea typeface="Noto Sans"/>
                <a:cs typeface="Noto Sans"/>
              </a:rPr>
              <a:t> sur la photo</a:t>
            </a:r>
          </a:p>
          <a:p>
            <a:pPr marL="616585" marR="513715">
              <a:lnSpc>
                <a:spcPct val="98000"/>
              </a:lnSpc>
              <a:spcBef>
                <a:spcPts val="480"/>
              </a:spcBef>
              <a:spcAft>
                <a:spcPts val="0"/>
              </a:spcAft>
            </a:pPr>
            <a:r>
              <a:rPr lang="en-US" b="1" dirty="0">
                <a:solidFill>
                  <a:schemeClr val="bg2">
                    <a:lumMod val="50000"/>
                  </a:schemeClr>
                </a:solidFill>
                <a:latin typeface="Perpetua" panose="02020502060401020303" pitchFamily="18" charset="77"/>
                <a:ea typeface="Noto Sans"/>
                <a:cs typeface="Noto Sans"/>
              </a:rPr>
              <a:t>WELCOME DINNER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12 </a:t>
            </a:r>
            <a:r>
              <a:rPr lang="en-US">
                <a:solidFill>
                  <a:schemeClr val="bg2">
                    <a:lumMod val="50000"/>
                  </a:schemeClr>
                </a:solidFill>
                <a:latin typeface="Perpetua" panose="02020502060401020303" pitchFamily="18" charset="77"/>
                <a:ea typeface="Noto Sans"/>
                <a:cs typeface="Noto Sans"/>
              </a:rPr>
              <a:t>tables – Comme </a:t>
            </a:r>
            <a:r>
              <a:rPr lang="en-US" dirty="0">
                <a:solidFill>
                  <a:schemeClr val="bg2">
                    <a:lumMod val="50000"/>
                  </a:schemeClr>
                </a:solidFill>
                <a:latin typeface="Perpetua" panose="02020502060401020303" pitchFamily="18" charset="77"/>
                <a:ea typeface="Noto Sans"/>
                <a:cs typeface="Noto Sans"/>
              </a:rPr>
              <a:t>sur la photo</a:t>
            </a: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19450</TotalTime>
  <Words>1485</Words>
  <Application>Microsoft Macintosh PowerPoint</Application>
  <PresentationFormat>Widescreen</PresentationFormat>
  <Paragraphs>144</Paragraphs>
  <Slides>31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Perpetua</vt:lpstr>
      <vt:lpstr>Wingdings</vt:lpstr>
      <vt:lpstr>Office 2013 - 2022 Theme</vt:lpstr>
      <vt:lpstr>KATHY &amp; ALEXANDRE’S WEDDING</vt:lpstr>
      <vt:lpstr>COLOR PALETTE</vt:lpstr>
      <vt:lpstr>CEREMONY DECOR   </vt:lpstr>
      <vt:lpstr>ALTAR DECOR   </vt:lpstr>
      <vt:lpstr>CEREMONY DECOR – AISLE ENTRANCE   </vt:lpstr>
      <vt:lpstr>AISLE DECOR    </vt:lpstr>
      <vt:lpstr>BRIDAL BOUQUET &amp; BOUTONNIERE</vt:lpstr>
      <vt:lpstr>MAID OF HONOR &amp; FLOWER GIRLS BOUQUETS </vt:lpstr>
      <vt:lpstr>COCKTAIL &amp; RECEPTION DECOR   </vt:lpstr>
      <vt:lpstr>COCKTAIL </vt:lpstr>
      <vt:lpstr>BARS RENTAL &amp; DECOR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CROQUEMBOUCHE TOWER TABLE </vt:lpstr>
      <vt:lpstr>UP LITHING </vt:lpstr>
      <vt:lpstr>PowerPoint Presentation</vt:lpstr>
      <vt:lpstr>RECEPTION/DINNER SEATING PLAN   </vt:lpstr>
      <vt:lpstr>WELCOME DINNER</vt:lpstr>
      <vt:lpstr>A pastel floral arrangement will be placed on each table, accompanied by a cluster of small votive candles, creating a light, sophisticated, and effortlessly elegant ambiance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110</cp:revision>
  <dcterms:created xsi:type="dcterms:W3CDTF">2020-01-16T20:29:49Z</dcterms:created>
  <dcterms:modified xsi:type="dcterms:W3CDTF">2026-02-15T09:24:14Z</dcterms:modified>
</cp:coreProperties>
</file>