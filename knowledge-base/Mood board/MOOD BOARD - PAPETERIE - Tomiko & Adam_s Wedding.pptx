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14" r:id="rId1"/>
  </p:sldMasterIdLst>
  <p:notesMasterIdLst>
    <p:notesMasterId r:id="rId7"/>
  </p:notesMasterIdLst>
  <p:sldIdLst>
    <p:sldId id="256" r:id="rId2"/>
    <p:sldId id="366" r:id="rId3"/>
    <p:sldId id="344" r:id="rId4"/>
    <p:sldId id="363" r:id="rId5"/>
    <p:sldId id="329"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93157"/>
  </p:normalViewPr>
  <p:slideViewPr>
    <p:cSldViewPr snapToGrid="0" snapToObjects="1">
      <p:cViewPr varScale="1">
        <p:scale>
          <a:sx n="89" d="100"/>
          <a:sy n="89" d="100"/>
        </p:scale>
        <p:origin x="328" y="47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27/06/2025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08800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3300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1648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6/27/25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3237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6/27/25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4335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6/27/25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5039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6/27/25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74937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4209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59162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435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01074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6/27/25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38798636"/>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a:solidFill>
                  <a:schemeClr val="bg2">
                    <a:lumMod val="50000"/>
                  </a:schemeClr>
                </a:solidFill>
                <a:latin typeface="Perpetua" panose="02020502060401020303" pitchFamily="18" charset="77"/>
              </a:rPr>
              <a:t>TOMIKO &amp; ADAM’S</a:t>
            </a:r>
            <a:br>
              <a:rPr lang="fr-FR" dirty="0">
                <a:solidFill>
                  <a:schemeClr val="bg2">
                    <a:lumMod val="50000"/>
                  </a:schemeClr>
                </a:solidFill>
                <a:latin typeface="Perpetua" panose="02020502060401020303" pitchFamily="18" charset="77"/>
              </a:rPr>
            </a:br>
            <a:r>
              <a:rPr lang="fr-FR" dirty="0">
                <a:solidFill>
                  <a:schemeClr val="bg2">
                    <a:lumMod val="50000"/>
                  </a:schemeClr>
                </a:solidFill>
                <a:latin typeface="Perpetua" panose="02020502060401020303" pitchFamily="18" charset="77"/>
              </a:rPr>
              <a:t>WEDDING</a:t>
            </a:r>
          </a:p>
        </p:txBody>
      </p:sp>
      <p:sp>
        <p:nvSpPr>
          <p:cNvPr id="3" name="Sous-titre 2"/>
          <p:cNvSpPr>
            <a:spLocks noGrp="1"/>
          </p:cNvSpPr>
          <p:nvPr>
            <p:ph type="subTitle" idx="1"/>
          </p:nvPr>
        </p:nvSpPr>
        <p:spPr>
          <a:xfrm>
            <a:off x="1010653" y="3657601"/>
            <a:ext cx="10287000" cy="2078036"/>
          </a:xfrm>
        </p:spPr>
        <p:txBody>
          <a:bodyPr>
            <a:normAutofit fontScale="92500" lnSpcReduction="20000"/>
          </a:bodyPr>
          <a:lstStyle/>
          <a:p>
            <a:r>
              <a:rPr lang="fr-FR" dirty="0">
                <a:solidFill>
                  <a:schemeClr val="bg2">
                    <a:lumMod val="50000"/>
                  </a:schemeClr>
                </a:solidFill>
                <a:latin typeface="Perpetua" panose="02020502060401020303" pitchFamily="18" charset="77"/>
                <a:ea typeface="Perpetua" charset="0"/>
                <a:cs typeface="Perpetua" charset="0"/>
              </a:rPr>
              <a:t>JULY 26TH, 2025</a:t>
            </a:r>
          </a:p>
          <a:p>
            <a:r>
              <a:rPr lang="fr-FR" dirty="0">
                <a:solidFill>
                  <a:schemeClr val="bg2">
                    <a:lumMod val="50000"/>
                  </a:schemeClr>
                </a:solidFill>
                <a:latin typeface="Perpetua" panose="02020502060401020303" pitchFamily="18" charset="77"/>
                <a:ea typeface="Perpetua" charset="0"/>
                <a:cs typeface="Perpetua" charset="0"/>
              </a:rPr>
              <a:t>30 GUESTS</a:t>
            </a:r>
          </a:p>
          <a:p>
            <a:r>
              <a:rPr lang="fr-FR" sz="2400" dirty="0">
                <a:solidFill>
                  <a:schemeClr val="bg2">
                    <a:lumMod val="50000"/>
                  </a:schemeClr>
                </a:solidFill>
                <a:latin typeface="Perpetua" panose="02020502060401020303" pitchFamily="18" charset="77"/>
                <a:ea typeface="Perpetua" charset="0"/>
                <a:cs typeface="Perpetua" charset="0"/>
              </a:rPr>
              <a:t>SHANGRI-LA, PARIS</a:t>
            </a:r>
          </a:p>
          <a:p>
            <a:endParaRPr lang="fr-FR" sz="2400" dirty="0">
              <a:solidFill>
                <a:schemeClr val="bg2">
                  <a:lumMod val="50000"/>
                </a:schemeClr>
              </a:solidFill>
              <a:latin typeface="Perpetua" panose="02020502060401020303" pitchFamily="18" charset="77"/>
              <a:ea typeface="Perpetua" charset="0"/>
              <a:cs typeface="Perpetua" charset="0"/>
            </a:endParaRPr>
          </a:p>
          <a:p>
            <a:endParaRPr lang="fr-FR" sz="1200" dirty="0">
              <a:solidFill>
                <a:schemeClr val="bg2">
                  <a:lumMod val="50000"/>
                </a:schemeClr>
              </a:solidFill>
              <a:latin typeface="Perpetua" panose="02020502060401020303" pitchFamily="18" charset="77"/>
            </a:endParaRPr>
          </a:p>
          <a:p>
            <a:r>
              <a:rPr lang="fr-FR" sz="2800" dirty="0">
                <a:solidFill>
                  <a:schemeClr val="bg2">
                    <a:lumMod val="50000"/>
                  </a:schemeClr>
                </a:solidFill>
                <a:latin typeface="Perpetua" panose="02020502060401020303" pitchFamily="18" charset="77"/>
              </a:rPr>
              <a:t>WEDDING MOOD BOARD</a:t>
            </a: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C8E0BFE-A77C-2DCC-3108-C410E0B6913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C91821-5486-090D-91A5-13F86252E68A}"/>
              </a:ext>
            </a:extLst>
          </p:cNvPr>
          <p:cNvSpPr>
            <a:spLocks noGrp="1"/>
          </p:cNvSpPr>
          <p:nvPr>
            <p:ph type="ctrTitle"/>
          </p:nvPr>
        </p:nvSpPr>
        <p:spPr>
          <a:xfrm>
            <a:off x="1524000" y="494834"/>
            <a:ext cx="9144000" cy="751042"/>
          </a:xfrm>
        </p:spPr>
        <p:txBody>
          <a:bodyPr>
            <a:normAutofit fontScale="90000"/>
          </a:bodyPr>
          <a:lstStyle/>
          <a:p>
            <a:r>
              <a:rPr lang="fr-FR" dirty="0">
                <a:solidFill>
                  <a:schemeClr val="bg2">
                    <a:lumMod val="50000"/>
                  </a:schemeClr>
                </a:solidFill>
                <a:latin typeface="Perpetua" panose="02020502060401020303" pitchFamily="18" charset="77"/>
              </a:rPr>
              <a:t>COLOR PALETTE</a:t>
            </a:r>
          </a:p>
        </p:txBody>
      </p:sp>
      <p:pic>
        <p:nvPicPr>
          <p:cNvPr id="5" name="Picture 4" descr="A collage of wedding dress and flowers&#10;&#10;AI-generated content may be incorrect.">
            <a:extLst>
              <a:ext uri="{FF2B5EF4-FFF2-40B4-BE49-F238E27FC236}">
                <a16:creationId xmlns:a16="http://schemas.microsoft.com/office/drawing/2014/main" id="{78DB1856-75CF-3DF3-5BEB-741B54129AF2}"/>
              </a:ext>
            </a:extLst>
          </p:cNvPr>
          <p:cNvPicPr>
            <a:picLocks noChangeAspect="1"/>
          </p:cNvPicPr>
          <p:nvPr/>
        </p:nvPicPr>
        <p:blipFill>
          <a:blip r:embed="rId2"/>
          <a:stretch>
            <a:fillRect/>
          </a:stretch>
        </p:blipFill>
        <p:spPr>
          <a:xfrm>
            <a:off x="3178511" y="1245876"/>
            <a:ext cx="6036926" cy="5408384"/>
          </a:xfrm>
          <a:prstGeom prst="rect">
            <a:avLst/>
          </a:prstGeom>
        </p:spPr>
      </p:pic>
    </p:spTree>
    <p:extLst>
      <p:ext uri="{BB962C8B-B14F-4D97-AF65-F5344CB8AC3E}">
        <p14:creationId xmlns:p14="http://schemas.microsoft.com/office/powerpoint/2010/main" val="1512331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5533AD3-3D3F-438B-9829-15B20A4B953F}"/>
              </a:ext>
            </a:extLst>
          </p:cNvPr>
          <p:cNvSpPr txBox="1"/>
          <p:nvPr/>
        </p:nvSpPr>
        <p:spPr>
          <a:xfrm>
            <a:off x="0" y="335870"/>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Wedding Sign &amp; Décor + Place cards</a:t>
            </a:r>
          </a:p>
          <a:p>
            <a:pPr algn="ctr" defTabSz="914400">
              <a:lnSpc>
                <a:spcPct val="90000"/>
              </a:lnSpc>
              <a:spcBef>
                <a:spcPct val="0"/>
              </a:spcBef>
              <a:spcAft>
                <a:spcPts val="600"/>
              </a:spcAft>
            </a:pPr>
            <a:endParaRPr lang="en-US" sz="3400" dirty="0">
              <a:latin typeface="+mj-lt"/>
              <a:ea typeface="+mj-ea"/>
              <a:cs typeface="+mj-cs"/>
            </a:endParaRPr>
          </a:p>
        </p:txBody>
      </p:sp>
      <p:sp>
        <p:nvSpPr>
          <p:cNvPr id="14" name="TextBox 13">
            <a:extLst>
              <a:ext uri="{FF2B5EF4-FFF2-40B4-BE49-F238E27FC236}">
                <a16:creationId xmlns:a16="http://schemas.microsoft.com/office/drawing/2014/main" id="{E99A9442-9890-C720-EC14-0AB9C8AAFFE5}"/>
              </a:ext>
            </a:extLst>
          </p:cNvPr>
          <p:cNvSpPr txBox="1"/>
          <p:nvPr/>
        </p:nvSpPr>
        <p:spPr>
          <a:xfrm>
            <a:off x="296563" y="1867893"/>
            <a:ext cx="4632625" cy="5324535"/>
          </a:xfrm>
          <a:prstGeom prst="rect">
            <a:avLst/>
          </a:prstGeom>
          <a:noFill/>
        </p:spPr>
        <p:txBody>
          <a:bodyPr wrap="square" rtlCol="0">
            <a:spAutoFit/>
          </a:bodyPr>
          <a:lstStyle/>
          <a:p>
            <a:pPr>
              <a:buNone/>
            </a:pPr>
            <a:r>
              <a:rPr lang="en-US" sz="2800" dirty="0">
                <a:solidFill>
                  <a:schemeClr val="bg2">
                    <a:lumMod val="50000"/>
                  </a:schemeClr>
                </a:solidFill>
                <a:latin typeface="Perpetua" panose="02020502060401020303" pitchFamily="18" charset="77"/>
              </a:rPr>
              <a:t>For the welcome sign, we’ll use a design identical to the one in the photo, set in an antique gold frame and displayed on a gold easel.</a:t>
            </a:r>
          </a:p>
          <a:p>
            <a:r>
              <a:rPr lang="en-US" sz="2800" dirty="0">
                <a:solidFill>
                  <a:schemeClr val="bg2">
                    <a:lumMod val="50000"/>
                  </a:schemeClr>
                </a:solidFill>
                <a:latin typeface="Perpetua" panose="02020502060401020303" pitchFamily="18" charset="77"/>
              </a:rPr>
              <a:t>For the place cards, the long rectangular table seats 15 guests per side. Each guest’s name will be placed directly at their seat on the napkin, so they can easily locate their spot.</a:t>
            </a:r>
          </a:p>
          <a:p>
            <a:endParaRPr lang="en-US" sz="3200" dirty="0">
              <a:solidFill>
                <a:schemeClr val="bg2">
                  <a:lumMod val="50000"/>
                </a:schemeClr>
              </a:solidFill>
              <a:latin typeface="Perpetua" panose="02020502060401020303" pitchFamily="18" charset="77"/>
            </a:endParaRPr>
          </a:p>
        </p:txBody>
      </p:sp>
      <p:pic>
        <p:nvPicPr>
          <p:cNvPr id="3" name="Picture 2" descr="A sign with flowers on it&#10;&#10;AI-generated content may be incorrect.">
            <a:extLst>
              <a:ext uri="{FF2B5EF4-FFF2-40B4-BE49-F238E27FC236}">
                <a16:creationId xmlns:a16="http://schemas.microsoft.com/office/drawing/2014/main" id="{73E77577-DE56-9A8C-AFA0-D15A4143E41E}"/>
              </a:ext>
            </a:extLst>
          </p:cNvPr>
          <p:cNvPicPr>
            <a:picLocks noChangeAspect="1"/>
          </p:cNvPicPr>
          <p:nvPr/>
        </p:nvPicPr>
        <p:blipFill>
          <a:blip r:embed="rId2"/>
          <a:stretch>
            <a:fillRect/>
          </a:stretch>
        </p:blipFill>
        <p:spPr>
          <a:xfrm>
            <a:off x="7800976" y="200025"/>
            <a:ext cx="4265912" cy="6393657"/>
          </a:xfrm>
          <a:prstGeom prst="rect">
            <a:avLst/>
          </a:prstGeom>
        </p:spPr>
      </p:pic>
      <p:pic>
        <p:nvPicPr>
          <p:cNvPr id="7" name="Picture 6" descr="A place setting on a plate&#10;&#10;AI-generated content may be incorrect.">
            <a:extLst>
              <a:ext uri="{FF2B5EF4-FFF2-40B4-BE49-F238E27FC236}">
                <a16:creationId xmlns:a16="http://schemas.microsoft.com/office/drawing/2014/main" id="{0E51EFD8-7BF4-99CC-372D-7331B5719FAC}"/>
              </a:ext>
            </a:extLst>
          </p:cNvPr>
          <p:cNvPicPr>
            <a:picLocks noChangeAspect="1"/>
          </p:cNvPicPr>
          <p:nvPr/>
        </p:nvPicPr>
        <p:blipFill>
          <a:blip r:embed="rId3"/>
          <a:stretch>
            <a:fillRect/>
          </a:stretch>
        </p:blipFill>
        <p:spPr>
          <a:xfrm>
            <a:off x="5225751" y="3700463"/>
            <a:ext cx="4014723" cy="2957512"/>
          </a:xfrm>
          <a:prstGeom prst="rect">
            <a:avLst/>
          </a:prstGeom>
        </p:spPr>
      </p:pic>
    </p:spTree>
    <p:extLst>
      <p:ext uri="{BB962C8B-B14F-4D97-AF65-F5344CB8AC3E}">
        <p14:creationId xmlns:p14="http://schemas.microsoft.com/office/powerpoint/2010/main" val="2560477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1233609" y="1143000"/>
            <a:ext cx="10258425" cy="988562"/>
          </a:xfrm>
          <a:prstGeom prst="rect">
            <a:avLst/>
          </a:prstGeom>
        </p:spPr>
        <p:txBody>
          <a:bodyPr vert="horz" lIns="91440" tIns="45720" rIns="91440" bIns="45720" rtlCol="0" anchor="t">
            <a:normAutofit fontScale="85000" lnSpcReduction="10000"/>
          </a:bodyPr>
          <a:lstStyle/>
          <a:p>
            <a:pPr algn="ctr" defTabSz="914400">
              <a:lnSpc>
                <a:spcPct val="90000"/>
              </a:lnSpc>
              <a:spcBef>
                <a:spcPct val="0"/>
              </a:spcBef>
              <a:spcAft>
                <a:spcPts val="600"/>
              </a:spcAft>
            </a:pPr>
            <a:r>
              <a:rPr lang="en-US" sz="5400" dirty="0">
                <a:solidFill>
                  <a:schemeClr val="bg2">
                    <a:lumMod val="50000"/>
                  </a:schemeClr>
                </a:solidFill>
                <a:latin typeface="Perpetua" panose="02020502060401020303" pitchFamily="18" charset="77"/>
                <a:ea typeface="+mj-ea"/>
                <a:cs typeface="+mj-cs"/>
              </a:rPr>
              <a:t>GUEST FAVORS &amp; EXTRA PROPS IDEAS:</a:t>
            </a:r>
            <a:endParaRPr lang="en-US" sz="5400" i="1" dirty="0">
              <a:solidFill>
                <a:schemeClr val="bg2">
                  <a:lumMod val="50000"/>
                </a:schemeClr>
              </a:solidFill>
              <a:highlight>
                <a:srgbClr val="FFFF00"/>
              </a:highlight>
              <a:latin typeface="Perpetua" panose="02020502060401020303" pitchFamily="18" charset="77"/>
              <a:ea typeface="+mj-ea"/>
              <a:cs typeface="+mj-cs"/>
            </a:endParaRPr>
          </a:p>
        </p:txBody>
      </p:sp>
      <p:cxnSp>
        <p:nvCxnSpPr>
          <p:cNvPr id="34" name="Straight Connector 3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ign and a box of bubbles&#10;&#10;AI-generated content may be incorrect.">
            <a:extLst>
              <a:ext uri="{FF2B5EF4-FFF2-40B4-BE49-F238E27FC236}">
                <a16:creationId xmlns:a16="http://schemas.microsoft.com/office/drawing/2014/main" id="{57F5A768-657B-8B1C-A1AC-B5ABA92A399C}"/>
              </a:ext>
            </a:extLst>
          </p:cNvPr>
          <p:cNvPicPr>
            <a:picLocks noChangeAspect="1"/>
          </p:cNvPicPr>
          <p:nvPr/>
        </p:nvPicPr>
        <p:blipFill>
          <a:blip r:embed="rId2"/>
          <a:stretch>
            <a:fillRect/>
          </a:stretch>
        </p:blipFill>
        <p:spPr>
          <a:xfrm>
            <a:off x="699966" y="2057400"/>
            <a:ext cx="3229749" cy="4521648"/>
          </a:xfrm>
          <a:prstGeom prst="rect">
            <a:avLst/>
          </a:prstGeom>
        </p:spPr>
      </p:pic>
      <p:sp>
        <p:nvSpPr>
          <p:cNvPr id="5" name="TextBox 4">
            <a:extLst>
              <a:ext uri="{FF2B5EF4-FFF2-40B4-BE49-F238E27FC236}">
                <a16:creationId xmlns:a16="http://schemas.microsoft.com/office/drawing/2014/main" id="{93AF2503-0D8E-232B-F64E-331097E41099}"/>
              </a:ext>
            </a:extLst>
          </p:cNvPr>
          <p:cNvSpPr txBox="1"/>
          <p:nvPr/>
        </p:nvSpPr>
        <p:spPr>
          <a:xfrm>
            <a:off x="4105396" y="2399631"/>
            <a:ext cx="2257425" cy="707886"/>
          </a:xfrm>
          <a:prstGeom prst="rect">
            <a:avLst/>
          </a:prstGeom>
          <a:noFill/>
        </p:spPr>
        <p:txBody>
          <a:bodyPr wrap="square" rtlCol="0">
            <a:spAutoFit/>
          </a:bodyPr>
          <a:lstStyle/>
          <a:p>
            <a:r>
              <a:rPr lang="en-US" sz="2000" dirty="0">
                <a:solidFill>
                  <a:schemeClr val="bg2">
                    <a:lumMod val="50000"/>
                  </a:schemeClr>
                </a:solidFill>
                <a:latin typeface="Perpetua" panose="02020502060401020303" pitchFamily="18" charset="77"/>
              </a:rPr>
              <a:t>Bubble sign + bubble send off for 30 guests</a:t>
            </a:r>
          </a:p>
        </p:txBody>
      </p:sp>
      <p:pic>
        <p:nvPicPr>
          <p:cNvPr id="7" name="Picture 6" descr="A box of macaroons with a gold ribbon&#10;&#10;AI-generated content may be incorrect.">
            <a:extLst>
              <a:ext uri="{FF2B5EF4-FFF2-40B4-BE49-F238E27FC236}">
                <a16:creationId xmlns:a16="http://schemas.microsoft.com/office/drawing/2014/main" id="{5E909394-84FA-D0E7-C051-A89D0BFD1D85}"/>
              </a:ext>
            </a:extLst>
          </p:cNvPr>
          <p:cNvPicPr>
            <a:picLocks noChangeAspect="1"/>
          </p:cNvPicPr>
          <p:nvPr/>
        </p:nvPicPr>
        <p:blipFill>
          <a:blip r:embed="rId3"/>
          <a:stretch>
            <a:fillRect/>
          </a:stretch>
        </p:blipFill>
        <p:spPr>
          <a:xfrm>
            <a:off x="8063277" y="2090992"/>
            <a:ext cx="3962400" cy="4454463"/>
          </a:xfrm>
          <a:prstGeom prst="rect">
            <a:avLst/>
          </a:prstGeom>
        </p:spPr>
      </p:pic>
      <p:sp>
        <p:nvSpPr>
          <p:cNvPr id="8" name="TextBox 7">
            <a:extLst>
              <a:ext uri="{FF2B5EF4-FFF2-40B4-BE49-F238E27FC236}">
                <a16:creationId xmlns:a16="http://schemas.microsoft.com/office/drawing/2014/main" id="{7FB24B29-A52A-5B9C-D0DF-4719C5AF4972}"/>
              </a:ext>
            </a:extLst>
          </p:cNvPr>
          <p:cNvSpPr txBox="1"/>
          <p:nvPr/>
        </p:nvSpPr>
        <p:spPr>
          <a:xfrm>
            <a:off x="6341331" y="4726439"/>
            <a:ext cx="1701107" cy="707886"/>
          </a:xfrm>
          <a:prstGeom prst="rect">
            <a:avLst/>
          </a:prstGeom>
          <a:noFill/>
        </p:spPr>
        <p:txBody>
          <a:bodyPr wrap="none" rtlCol="0">
            <a:spAutoFit/>
          </a:bodyPr>
          <a:lstStyle/>
          <a:p>
            <a:r>
              <a:rPr lang="en-US" sz="2000" dirty="0">
                <a:solidFill>
                  <a:schemeClr val="bg2">
                    <a:lumMod val="50000"/>
                  </a:schemeClr>
                </a:solidFill>
                <a:latin typeface="Perpetua" panose="02020502060401020303" pitchFamily="18" charset="77"/>
              </a:rPr>
              <a:t>Small customed </a:t>
            </a:r>
          </a:p>
          <a:p>
            <a:r>
              <a:rPr lang="en-US" sz="2000" dirty="0">
                <a:solidFill>
                  <a:schemeClr val="bg2">
                    <a:lumMod val="50000"/>
                  </a:schemeClr>
                </a:solidFill>
                <a:latin typeface="Perpetua" panose="02020502060401020303" pitchFamily="18" charset="77"/>
              </a:rPr>
              <a:t>macaroons box </a:t>
            </a:r>
          </a:p>
        </p:txBody>
      </p:sp>
    </p:spTree>
    <p:extLst>
      <p:ext uri="{BB962C8B-B14F-4D97-AF65-F5344CB8AC3E}">
        <p14:creationId xmlns:p14="http://schemas.microsoft.com/office/powerpoint/2010/main" val="2788542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784251" y="308601"/>
            <a:ext cx="9275046" cy="2985817"/>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NOTES FOR PLANNER AND PAPETERIE </a:t>
            </a:r>
          </a:p>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 TEAM ONLY </a:t>
            </a:r>
            <a:r>
              <a:rPr lang="en-US" sz="2400" b="1" dirty="0">
                <a:solidFill>
                  <a:schemeClr val="accent5">
                    <a:lumMod val="60000"/>
                    <a:lumOff val="40000"/>
                  </a:schemeClr>
                </a:solidFill>
                <a:latin typeface="Perpetua" panose="02020502060401020303" pitchFamily="18" charset="77"/>
                <a:ea typeface="Noto Sans"/>
                <a:cs typeface="Noto Sans"/>
              </a:rPr>
              <a:t>(FRENCH):</a:t>
            </a:r>
          </a:p>
          <a:p>
            <a:pPr marL="1596390" marR="513715" indent="-979805" algn="ctr">
              <a:lnSpc>
                <a:spcPct val="98000"/>
              </a:lnSpc>
              <a:spcBef>
                <a:spcPts val="480"/>
              </a:spcBef>
              <a:spcAft>
                <a:spcPts val="0"/>
              </a:spcAft>
            </a:pPr>
            <a:endParaRPr lang="en-US" sz="2400" b="1" dirty="0">
              <a:solidFill>
                <a:schemeClr val="accent5">
                  <a:lumMod val="60000"/>
                  <a:lumOff val="40000"/>
                </a:schemeClr>
              </a:solidFill>
              <a:latin typeface="Perpetua" panose="02020502060401020303" pitchFamily="18" charset="77"/>
              <a:ea typeface="Noto Sans"/>
              <a:cs typeface="Noto Sans"/>
            </a:endParaRPr>
          </a:p>
          <a:p>
            <a:pPr marL="616585" marR="513715">
              <a:lnSpc>
                <a:spcPct val="98000"/>
              </a:lnSpc>
              <a:spcBef>
                <a:spcPts val="480"/>
              </a:spcBef>
              <a:spcAft>
                <a:spcPts val="0"/>
              </a:spcAft>
            </a:pP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30 marque place </a:t>
            </a:r>
            <a:r>
              <a:rPr lang="en-US" dirty="0" err="1">
                <a:solidFill>
                  <a:schemeClr val="bg2">
                    <a:lumMod val="50000"/>
                  </a:schemeClr>
                </a:solidFill>
                <a:latin typeface="Perpetua" panose="02020502060401020303" pitchFamily="18" charset="77"/>
                <a:ea typeface="Noto Sans"/>
                <a:cs typeface="Noto Sans"/>
              </a:rPr>
              <a:t>en</a:t>
            </a:r>
            <a:r>
              <a:rPr lang="en-US" dirty="0">
                <a:solidFill>
                  <a:schemeClr val="bg2">
                    <a:lumMod val="50000"/>
                  </a:schemeClr>
                </a:solidFill>
                <a:latin typeface="Perpetua" panose="02020502060401020303" pitchFamily="18" charset="77"/>
                <a:ea typeface="Noto Sans"/>
                <a:cs typeface="Noto Sans"/>
              </a:rPr>
              <a:t> “Gravure” couleur or </a:t>
            </a:r>
            <a:r>
              <a:rPr lang="en-US" dirty="0" err="1">
                <a:solidFill>
                  <a:schemeClr val="bg2">
                    <a:lumMod val="50000"/>
                  </a:schemeClr>
                </a:solidFill>
                <a:latin typeface="Perpetua" panose="02020502060401020303" pitchFamily="18" charset="77"/>
                <a:ea typeface="Noto Sans"/>
                <a:cs typeface="Noto Sans"/>
              </a:rPr>
              <a:t>comme</a:t>
            </a:r>
            <a:r>
              <a:rPr lang="en-US" dirty="0">
                <a:solidFill>
                  <a:schemeClr val="bg2">
                    <a:lumMod val="50000"/>
                  </a:schemeClr>
                </a:solidFill>
                <a:latin typeface="Perpetua" panose="02020502060401020303" pitchFamily="18" charset="77"/>
                <a:ea typeface="Noto Sans"/>
                <a:cs typeface="Noto Sans"/>
              </a:rPr>
              <a:t> sur la photo.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a:t>
            </a:r>
            <a:r>
              <a:rPr lang="en-US" dirty="0" err="1">
                <a:solidFill>
                  <a:schemeClr val="bg2">
                    <a:lumMod val="50000"/>
                  </a:schemeClr>
                </a:solidFill>
                <a:latin typeface="Perpetua" panose="02020502060401020303" pitchFamily="18" charset="77"/>
                <a:ea typeface="Noto Sans"/>
                <a:cs typeface="Noto Sans"/>
              </a:rPr>
              <a:t>panneau</a:t>
            </a:r>
            <a:r>
              <a:rPr lang="en-US" dirty="0">
                <a:solidFill>
                  <a:schemeClr val="bg2">
                    <a:lumMod val="50000"/>
                  </a:schemeClr>
                </a:solidFill>
                <a:latin typeface="Perpetua" panose="02020502060401020303" pitchFamily="18" charset="77"/>
                <a:ea typeface="Noto Sans"/>
                <a:cs typeface="Noto Sans"/>
              </a:rPr>
              <a:t> de Bienvenue + Cadre vintage </a:t>
            </a:r>
            <a:r>
              <a:rPr lang="en-US" dirty="0" err="1">
                <a:solidFill>
                  <a:schemeClr val="bg2">
                    <a:lumMod val="50000"/>
                  </a:schemeClr>
                </a:solidFill>
                <a:latin typeface="Perpetua" panose="02020502060401020303" pitchFamily="18" charset="77"/>
                <a:ea typeface="Noto Sans"/>
                <a:cs typeface="Noto Sans"/>
              </a:rPr>
              <a:t>doré</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bubble sign + bubble stick + 2 petites </a:t>
            </a:r>
            <a:r>
              <a:rPr lang="en-US" dirty="0" err="1">
                <a:solidFill>
                  <a:schemeClr val="bg2">
                    <a:lumMod val="50000"/>
                  </a:schemeClr>
                </a:solidFill>
                <a:latin typeface="Perpetua" panose="02020502060401020303" pitchFamily="18" charset="77"/>
                <a:ea typeface="Noto Sans"/>
                <a:cs typeface="Noto Sans"/>
              </a:rPr>
              <a:t>boites</a:t>
            </a:r>
            <a:r>
              <a:rPr lang="en-US" dirty="0">
                <a:solidFill>
                  <a:schemeClr val="bg2">
                    <a:lumMod val="50000"/>
                  </a:schemeClr>
                </a:solidFill>
                <a:latin typeface="Perpetua" panose="02020502060401020303" pitchFamily="18" charset="77"/>
                <a:ea typeface="Noto Sans"/>
                <a:cs typeface="Noto Sans"/>
              </a:rPr>
              <a:t> couleur clear/or</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30 </a:t>
            </a:r>
            <a:r>
              <a:rPr lang="en-US" dirty="0" err="1">
                <a:solidFill>
                  <a:schemeClr val="bg2">
                    <a:lumMod val="50000"/>
                  </a:schemeClr>
                </a:solidFill>
                <a:latin typeface="Perpetua" panose="02020502060401020303" pitchFamily="18" charset="77"/>
                <a:ea typeface="Noto Sans"/>
                <a:cs typeface="Noto Sans"/>
              </a:rPr>
              <a:t>boites</a:t>
            </a:r>
            <a:r>
              <a:rPr lang="en-US" dirty="0">
                <a:solidFill>
                  <a:schemeClr val="bg2">
                    <a:lumMod val="50000"/>
                  </a:schemeClr>
                </a:solidFill>
                <a:latin typeface="Perpetua" panose="02020502060401020303" pitchFamily="18" charset="77"/>
                <a:ea typeface="Noto Sans"/>
                <a:cs typeface="Noto Sans"/>
              </a:rPr>
              <a:t> + macarons </a:t>
            </a:r>
            <a:r>
              <a:rPr lang="en-US" dirty="0" err="1">
                <a:solidFill>
                  <a:schemeClr val="bg2">
                    <a:lumMod val="50000"/>
                  </a:schemeClr>
                </a:solidFill>
                <a:latin typeface="Perpetua" panose="02020502060401020303" pitchFamily="18" charset="77"/>
                <a:ea typeface="Noto Sans"/>
                <a:cs typeface="Noto Sans"/>
              </a:rPr>
              <a:t>personnalisés</a:t>
            </a:r>
            <a:endParaRPr lang="en-US" dirty="0">
              <a:solidFill>
                <a:schemeClr val="bg2">
                  <a:lumMod val="50000"/>
                </a:schemeClr>
              </a:solidFill>
              <a:latin typeface="Perpetua" panose="02020502060401020303" pitchFamily="18" charset="77"/>
              <a:ea typeface="Noto Sans"/>
              <a:cs typeface="Noto Sans"/>
            </a:endParaRP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4404</TotalTime>
  <Words>165</Words>
  <Application>Microsoft Macintosh PowerPoint</Application>
  <PresentationFormat>Widescreen</PresentationFormat>
  <Paragraphs>23</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Perpetua</vt:lpstr>
      <vt:lpstr>Office Theme</vt:lpstr>
      <vt:lpstr>TOMIKO &amp; ADAM’S WEDDING</vt:lpstr>
      <vt:lpstr>COLOR PALETTE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72</cp:revision>
  <dcterms:created xsi:type="dcterms:W3CDTF">2020-01-16T20:29:49Z</dcterms:created>
  <dcterms:modified xsi:type="dcterms:W3CDTF">2025-06-27T15:34:31Z</dcterms:modified>
</cp:coreProperties>
</file>