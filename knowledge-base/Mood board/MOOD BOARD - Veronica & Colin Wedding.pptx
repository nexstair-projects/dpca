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Lst>
  <p:notesMasterIdLst>
    <p:notesMasterId r:id="rId36"/>
  </p:notesMasterIdLst>
  <p:sldIdLst>
    <p:sldId id="256" r:id="rId2"/>
    <p:sldId id="378" r:id="rId3"/>
    <p:sldId id="258" r:id="rId4"/>
    <p:sldId id="383" r:id="rId5"/>
    <p:sldId id="395" r:id="rId6"/>
    <p:sldId id="333" r:id="rId7"/>
    <p:sldId id="412" r:id="rId8"/>
    <p:sldId id="263" r:id="rId9"/>
    <p:sldId id="384" r:id="rId10"/>
    <p:sldId id="265" r:id="rId11"/>
    <p:sldId id="410" r:id="rId12"/>
    <p:sldId id="307" r:id="rId13"/>
    <p:sldId id="337" r:id="rId14"/>
    <p:sldId id="368" r:id="rId15"/>
    <p:sldId id="366" r:id="rId16"/>
    <p:sldId id="386" r:id="rId17"/>
    <p:sldId id="387" r:id="rId18"/>
    <p:sldId id="388" r:id="rId19"/>
    <p:sldId id="385" r:id="rId20"/>
    <p:sldId id="391" r:id="rId21"/>
    <p:sldId id="370" r:id="rId22"/>
    <p:sldId id="361" r:id="rId23"/>
    <p:sldId id="345" r:id="rId24"/>
    <p:sldId id="411" r:id="rId25"/>
    <p:sldId id="315" r:id="rId26"/>
    <p:sldId id="350" r:id="rId27"/>
    <p:sldId id="363" r:id="rId28"/>
    <p:sldId id="364" r:id="rId29"/>
    <p:sldId id="406" r:id="rId30"/>
    <p:sldId id="407" r:id="rId31"/>
    <p:sldId id="408" r:id="rId32"/>
    <p:sldId id="409" r:id="rId33"/>
    <p:sldId id="290" r:id="rId34"/>
    <p:sldId id="32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436961-3685-F640-BA4F-18BE39FD5106}" v="183" dt="2026-02-05T13:02:47.969"/>
    <p1510:client id="{35C84A5C-EB99-3548-8DA8-801E800E2CE5}" v="1" dt="2026-02-05T12:26:34.390"/>
    <p1510:client id="{3EF2BFFC-CD73-3642-971B-0A3027879155}" v="65" dt="2026-02-05T12:44:51.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1"/>
  </p:normalViewPr>
  <p:slideViewPr>
    <p:cSldViewPr snapToGrid="0">
      <p:cViewPr varScale="1">
        <p:scale>
          <a:sx n="114" d="100"/>
          <a:sy n="114" d="100"/>
        </p:scale>
        <p:origin x="4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15/02/2026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0D7486C1-5F9D-AA45-B7ED-A387EFD3B1ED}" type="slidenum">
              <a:rPr lang="fr-FR" smtClean="0"/>
              <a:t>5</a:t>
            </a:fld>
            <a:endParaRPr lang="fr-FR"/>
          </a:p>
        </p:txBody>
      </p:sp>
    </p:spTree>
    <p:extLst>
      <p:ext uri="{BB962C8B-B14F-4D97-AF65-F5344CB8AC3E}">
        <p14:creationId xmlns:p14="http://schemas.microsoft.com/office/powerpoint/2010/main" val="1513184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7486C1-5F9D-AA45-B7ED-A387EFD3B1ED}" type="slidenum">
              <a:rPr lang="fr-FR" smtClean="0"/>
              <a:t>10</a:t>
            </a:fld>
            <a:endParaRPr lang="fr-FR"/>
          </a:p>
        </p:txBody>
      </p:sp>
    </p:spTree>
    <p:extLst>
      <p:ext uri="{BB962C8B-B14F-4D97-AF65-F5344CB8AC3E}">
        <p14:creationId xmlns:p14="http://schemas.microsoft.com/office/powerpoint/2010/main" val="509525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5D5F-72DD-E18E-1C18-EA8CEC0C4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00C3F-4BD1-6385-9DB8-F398E2DEB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9E5A7-1E9D-B8B0-204B-2667A9163E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ACCC82-FF22-FF1C-4E31-8F1A563CA681}"/>
              </a:ext>
            </a:extLst>
          </p:cNvPr>
          <p:cNvSpPr>
            <a:spLocks noGrp="1"/>
          </p:cNvSpPr>
          <p:nvPr>
            <p:ph type="sldNum" sz="quarter" idx="5"/>
          </p:nvPr>
        </p:nvSpPr>
        <p:spPr/>
        <p:txBody>
          <a:bodyPr/>
          <a:lstStyle/>
          <a:p>
            <a:fld id="{0D7486C1-5F9D-AA45-B7ED-A387EFD3B1ED}" type="slidenum">
              <a:rPr lang="fr-FR" smtClean="0"/>
              <a:t>11</a:t>
            </a:fld>
            <a:endParaRPr lang="fr-FR"/>
          </a:p>
        </p:txBody>
      </p:sp>
    </p:spTree>
    <p:extLst>
      <p:ext uri="{BB962C8B-B14F-4D97-AF65-F5344CB8AC3E}">
        <p14:creationId xmlns:p14="http://schemas.microsoft.com/office/powerpoint/2010/main" val="1278836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0D7486C1-5F9D-AA45-B7ED-A387EFD3B1ED}" type="slidenum">
              <a:rPr lang="fr-FR" smtClean="0"/>
              <a:t>12</a:t>
            </a:fld>
            <a:endParaRPr lang="fr-FR"/>
          </a:p>
        </p:txBody>
      </p:sp>
    </p:spTree>
    <p:extLst>
      <p:ext uri="{BB962C8B-B14F-4D97-AF65-F5344CB8AC3E}">
        <p14:creationId xmlns:p14="http://schemas.microsoft.com/office/powerpoint/2010/main" val="3168943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0D7486C1-5F9D-AA45-B7ED-A387EFD3B1ED}" type="slidenum">
              <a:rPr lang="fr-FR" smtClean="0"/>
              <a:t>20</a:t>
            </a:fld>
            <a:endParaRPr lang="fr-FR"/>
          </a:p>
        </p:txBody>
      </p:sp>
    </p:spTree>
    <p:extLst>
      <p:ext uri="{BB962C8B-B14F-4D97-AF65-F5344CB8AC3E}">
        <p14:creationId xmlns:p14="http://schemas.microsoft.com/office/powerpoint/2010/main" val="592690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D7486C1-5F9D-AA45-B7ED-A387EFD3B1ED}" type="slidenum">
              <a:rPr lang="fr-FR" smtClean="0"/>
              <a:t>26</a:t>
            </a:fld>
            <a:endParaRPr lang="fr-FR"/>
          </a:p>
        </p:txBody>
      </p:sp>
    </p:spTree>
    <p:extLst>
      <p:ext uri="{BB962C8B-B14F-4D97-AF65-F5344CB8AC3E}">
        <p14:creationId xmlns:p14="http://schemas.microsoft.com/office/powerpoint/2010/main" val="279062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0D7486C1-5F9D-AA45-B7ED-A387EFD3B1ED}" type="slidenum">
              <a:rPr lang="fr-FR" smtClean="0"/>
              <a:t>32</a:t>
            </a:fld>
            <a:endParaRPr lang="fr-FR"/>
          </a:p>
        </p:txBody>
      </p:sp>
    </p:spTree>
    <p:extLst>
      <p:ext uri="{BB962C8B-B14F-4D97-AF65-F5344CB8AC3E}">
        <p14:creationId xmlns:p14="http://schemas.microsoft.com/office/powerpoint/2010/main" val="4088142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419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1038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04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126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2/15/26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2/15/26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095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070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9650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6786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301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7863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422357245"/>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a:solidFill>
                  <a:schemeClr val="bg2">
                    <a:lumMod val="50000"/>
                  </a:schemeClr>
                </a:solidFill>
                <a:latin typeface="Perpetua" panose="02020502060401020303" pitchFamily="18" charset="77"/>
              </a:rPr>
              <a:t>VERONICA &amp; COLIN’S</a:t>
            </a:r>
            <a:br>
              <a:rPr lang="fr-FR">
                <a:solidFill>
                  <a:schemeClr val="bg2">
                    <a:lumMod val="50000"/>
                  </a:schemeClr>
                </a:solidFill>
                <a:latin typeface="Perpetua" panose="02020502060401020303" pitchFamily="18" charset="77"/>
              </a:rPr>
            </a:br>
            <a:r>
              <a:rPr lang="fr-FR">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a:solidFill>
                  <a:schemeClr val="bg2">
                    <a:lumMod val="50000"/>
                  </a:schemeClr>
                </a:solidFill>
                <a:latin typeface="Perpetua" panose="02020502060401020303" pitchFamily="18" charset="77"/>
                <a:ea typeface="Perpetua" charset="0"/>
                <a:cs typeface="Perpetua" charset="0"/>
              </a:rPr>
              <a:t>MAY 2ND, 2026</a:t>
            </a:r>
          </a:p>
          <a:p>
            <a:r>
              <a:rPr lang="fr-FR">
                <a:solidFill>
                  <a:schemeClr val="bg2">
                    <a:lumMod val="50000"/>
                  </a:schemeClr>
                </a:solidFill>
                <a:latin typeface="Perpetua" panose="02020502060401020303" pitchFamily="18" charset="77"/>
                <a:ea typeface="Perpetua" charset="0"/>
                <a:cs typeface="Perpetua" charset="0"/>
              </a:rPr>
              <a:t>50 GUESTS</a:t>
            </a:r>
          </a:p>
          <a:p>
            <a:r>
              <a:rPr lang="fr-FR">
                <a:solidFill>
                  <a:schemeClr val="bg2">
                    <a:lumMod val="50000"/>
                  </a:schemeClr>
                </a:solidFill>
                <a:latin typeface="Perpetua" panose="02020502060401020303" pitchFamily="18" charset="77"/>
                <a:ea typeface="Perpetua" charset="0"/>
                <a:cs typeface="Perpetua" charset="0"/>
              </a:rPr>
              <a:t>CHÂTEAU D’AVENY</a:t>
            </a:r>
          </a:p>
          <a:p>
            <a:endParaRPr lang="fr-FR" sz="1200">
              <a:solidFill>
                <a:schemeClr val="bg2">
                  <a:lumMod val="50000"/>
                </a:schemeClr>
              </a:solidFill>
              <a:latin typeface="Perpetua" panose="02020502060401020303" pitchFamily="18" charset="77"/>
            </a:endParaRPr>
          </a:p>
          <a:p>
            <a:r>
              <a:rPr lang="fr-FR" sz="2800">
                <a:solidFill>
                  <a:schemeClr val="bg2">
                    <a:lumMod val="50000"/>
                  </a:schemeClr>
                </a:solidFill>
                <a:latin typeface="Perpetua" panose="02020502060401020303" pitchFamily="18" charset="77"/>
              </a:rPr>
              <a:t>WEDDING MOOD BOARD</a:t>
            </a:r>
          </a:p>
          <a:p>
            <a:endParaRPr lang="fr-FR"/>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7" y="2123551"/>
            <a:ext cx="11458783" cy="3083536"/>
          </a:xfrm>
        </p:spPr>
        <p:txBody>
          <a:bodyPr>
            <a:normAutofit/>
          </a:bodyPr>
          <a:lstStyle/>
          <a:p>
            <a:endParaRPr lang="fr-FR" sz="2000">
              <a:solidFill>
                <a:schemeClr val="bg2">
                  <a:lumMod val="50000"/>
                </a:schemeClr>
              </a:solidFill>
              <a:latin typeface="Perpetua" panose="02020502060401020303" pitchFamily="18" charset="77"/>
              <a:ea typeface="Perpetua" charset="0"/>
              <a:cs typeface="Perpetua" charset="0"/>
            </a:endParaRPr>
          </a:p>
          <a:p>
            <a:r>
              <a:rPr lang="fr-FR" sz="2000" u="sng">
                <a:solidFill>
                  <a:schemeClr val="bg2">
                    <a:lumMod val="50000"/>
                  </a:schemeClr>
                </a:solidFill>
                <a:latin typeface="Perpetua" panose="02020502060401020303" pitchFamily="18" charset="77"/>
                <a:ea typeface="Perpetua" charset="0"/>
                <a:cs typeface="Perpetua" charset="0"/>
              </a:rPr>
              <a:t>MAY 2ND, 2026: </a:t>
            </a:r>
          </a:p>
          <a:p>
            <a:r>
              <a:rPr lang="fr-FR" sz="1800" b="1">
                <a:solidFill>
                  <a:schemeClr val="bg2">
                    <a:lumMod val="50000"/>
                  </a:schemeClr>
                </a:solidFill>
                <a:latin typeface="Perpetua" panose="02020502060401020303" pitchFamily="18" charset="77"/>
                <a:ea typeface="Perpetua" charset="0"/>
                <a:cs typeface="Perpetua" charset="0"/>
              </a:rPr>
              <a:t>CEREMONY: </a:t>
            </a:r>
            <a:r>
              <a:rPr lang="fr-FR" sz="1800">
                <a:solidFill>
                  <a:schemeClr val="bg2">
                    <a:lumMod val="50000"/>
                  </a:schemeClr>
                </a:solidFill>
                <a:latin typeface="Perpetua" panose="02020502060401020303" pitchFamily="18" charset="77"/>
                <a:ea typeface="Perpetua" charset="0"/>
                <a:cs typeface="Perpetua" charset="0"/>
              </a:rPr>
              <a:t>WHITE/DUSTY BLUE</a:t>
            </a:r>
          </a:p>
          <a:p>
            <a:r>
              <a:rPr lang="fr-FR" sz="1800" b="1">
                <a:solidFill>
                  <a:schemeClr val="bg2">
                    <a:lumMod val="50000"/>
                  </a:schemeClr>
                </a:solidFill>
                <a:latin typeface="Perpetua" panose="02020502060401020303" pitchFamily="18" charset="77"/>
                <a:ea typeface="Perpetua" charset="0"/>
                <a:cs typeface="Perpetua" charset="0"/>
              </a:rPr>
              <a:t>BOUQUET: </a:t>
            </a:r>
            <a:r>
              <a:rPr lang="fr-FR" sz="1800">
                <a:solidFill>
                  <a:schemeClr val="bg2">
                    <a:lumMod val="50000"/>
                  </a:schemeClr>
                </a:solidFill>
                <a:latin typeface="Perpetua" panose="02020502060401020303" pitchFamily="18" charset="77"/>
                <a:ea typeface="Perpetua" charset="0"/>
                <a:cs typeface="Perpetua" charset="0"/>
              </a:rPr>
              <a:t>WHITE/DUSTY BLUE</a:t>
            </a:r>
          </a:p>
          <a:p>
            <a:r>
              <a:rPr lang="fr-FR" sz="1800" b="1">
                <a:solidFill>
                  <a:schemeClr val="bg2">
                    <a:lumMod val="50000"/>
                  </a:schemeClr>
                </a:solidFill>
                <a:latin typeface="Perpetua" panose="02020502060401020303" pitchFamily="18" charset="77"/>
                <a:ea typeface="Perpetua" charset="0"/>
                <a:cs typeface="Perpetua" charset="0"/>
              </a:rPr>
              <a:t>COCKTAIL &amp; RECEPTION/DINNER: </a:t>
            </a:r>
            <a:r>
              <a:rPr lang="fr-FR" sz="1800">
                <a:solidFill>
                  <a:schemeClr val="bg2">
                    <a:lumMod val="50000"/>
                  </a:schemeClr>
                </a:solidFill>
                <a:latin typeface="Perpetua" panose="02020502060401020303" pitchFamily="18" charset="77"/>
                <a:ea typeface="Perpetua" charset="0"/>
                <a:cs typeface="Perpetua" charset="0"/>
              </a:rPr>
              <a:t>WHITE/DUSTY BLUE</a:t>
            </a:r>
          </a:p>
          <a:p>
            <a:r>
              <a:rPr lang="fr-FR" sz="1800" b="1">
                <a:solidFill>
                  <a:schemeClr val="bg2">
                    <a:lumMod val="50000"/>
                  </a:schemeClr>
                </a:solidFill>
                <a:latin typeface="Perpetua" panose="02020502060401020303" pitchFamily="18" charset="77"/>
                <a:ea typeface="Perpetua" charset="0"/>
                <a:cs typeface="Perpetua" charset="0"/>
              </a:rPr>
              <a:t>WELCOME PARTY: </a:t>
            </a:r>
            <a:r>
              <a:rPr lang="fr-FR" sz="1800">
                <a:solidFill>
                  <a:schemeClr val="bg2">
                    <a:lumMod val="50000"/>
                  </a:schemeClr>
                </a:solidFill>
                <a:latin typeface="Perpetua" panose="02020502060401020303" pitchFamily="18" charset="77"/>
                <a:ea typeface="Perpetua" charset="0"/>
                <a:cs typeface="Perpetua" charset="0"/>
              </a:rPr>
              <a:t>WHITE/GREENERY/PASTEL COLORS</a:t>
            </a:r>
          </a:p>
          <a:p>
            <a:r>
              <a:rPr lang="en-US" sz="1800" b="1">
                <a:solidFill>
                  <a:schemeClr val="bg2">
                    <a:lumMod val="50000"/>
                  </a:schemeClr>
                </a:solidFill>
                <a:latin typeface="Perpetua" panose="02020502060401020303" pitchFamily="18" charset="77"/>
              </a:rPr>
              <a:t>BRUNCH: </a:t>
            </a:r>
            <a:r>
              <a:rPr lang="fr-FR" sz="1800">
                <a:solidFill>
                  <a:schemeClr val="bg2">
                    <a:lumMod val="50000"/>
                  </a:schemeClr>
                </a:solidFill>
                <a:latin typeface="Perpetua" panose="02020502060401020303" pitchFamily="18" charset="77"/>
                <a:ea typeface="Perpetua" charset="0"/>
                <a:cs typeface="Perpetua" charset="0"/>
              </a:rPr>
              <a:t>WHITE/GREENERY/PASTEL COLORS</a:t>
            </a:r>
            <a:endParaRPr lang="en-US" sz="1800" b="1">
              <a:solidFill>
                <a:schemeClr val="bg2">
                  <a:lumMod val="50000"/>
                </a:schemeClr>
              </a:solidFill>
              <a:latin typeface="Perpetua" panose="02020502060401020303" pitchFamily="18" charset="77"/>
            </a:endParaRPr>
          </a:p>
          <a:p>
            <a:endParaRPr lang="fr-FR" sz="1800">
              <a:solidFill>
                <a:schemeClr val="bg2">
                  <a:lumMod val="50000"/>
                </a:schemeClr>
              </a:solidFill>
              <a:latin typeface="Perpetua" panose="02020502060401020303" pitchFamily="18" charset="77"/>
              <a:ea typeface="Perpetua" charset="0"/>
              <a:cs typeface="Perpetua" charset="0"/>
            </a:endParaRP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21816" y="961947"/>
            <a:ext cx="3686174" cy="1322888"/>
          </a:xfrm>
        </p:spPr>
        <p:txBody>
          <a:bodyPr>
            <a:normAutofit/>
          </a:bodyPr>
          <a:lstStyle/>
          <a:p>
            <a:r>
              <a:rPr lang="fr-FR" sz="3200">
                <a:solidFill>
                  <a:schemeClr val="bg2">
                    <a:lumMod val="50000"/>
                  </a:schemeClr>
                </a:solidFill>
                <a:latin typeface="Perpetua" panose="02020502060401020303" pitchFamily="18" charset="77"/>
              </a:rPr>
              <a:t>CEREMONY DECOR </a:t>
            </a:r>
            <a:br>
              <a:rPr lang="fr-FR" sz="2400" i="1">
                <a:latin typeface="Perpetua" panose="02020502060401020303" pitchFamily="18" charset="77"/>
              </a:rPr>
            </a:br>
            <a:br>
              <a:rPr lang="fr-FR" sz="2400">
                <a:latin typeface="Perpetua" panose="02020502060401020303" pitchFamily="18" charset="77"/>
              </a:rPr>
            </a:br>
            <a:endParaRPr lang="fr-FR" sz="2400" b="1" i="1">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346158" y="3256407"/>
            <a:ext cx="4237490" cy="1175730"/>
          </a:xfrm>
        </p:spPr>
        <p:txBody>
          <a:bodyPr>
            <a:normAutofit/>
          </a:bodyPr>
          <a:lstStyle/>
          <a:p>
            <a:pPr marL="0" indent="0" algn="ctr">
              <a:buNone/>
            </a:pPr>
            <a:r>
              <a:rPr lang="en-US" sz="2400">
                <a:solidFill>
                  <a:schemeClr val="bg2">
                    <a:lumMod val="50000"/>
                  </a:schemeClr>
                </a:solidFill>
                <a:latin typeface="Perpetua" panose="02020502060401020303" pitchFamily="18" charset="77"/>
              </a:rPr>
              <a:t>The ceremony will take place at Château </a:t>
            </a:r>
            <a:r>
              <a:rPr lang="en-US" sz="2400" err="1">
                <a:solidFill>
                  <a:schemeClr val="bg2">
                    <a:lumMod val="50000"/>
                  </a:schemeClr>
                </a:solidFill>
                <a:latin typeface="Perpetua" panose="02020502060401020303" pitchFamily="18" charset="77"/>
              </a:rPr>
              <a:t>d’Aveny</a:t>
            </a:r>
            <a:endParaRPr lang="en-US" sz="2400">
              <a:solidFill>
                <a:schemeClr val="bg2">
                  <a:lumMod val="50000"/>
                </a:schemeClr>
              </a:solidFill>
              <a:latin typeface="Perpetua" panose="02020502060401020303" pitchFamily="18" charset="77"/>
            </a:endParaRPr>
          </a:p>
          <a:p>
            <a:pPr>
              <a:buNone/>
            </a:pPr>
            <a:endParaRPr lang="en-US" sz="1800">
              <a:solidFill>
                <a:schemeClr val="bg2">
                  <a:lumMod val="50000"/>
                </a:schemeClr>
              </a:solidFill>
              <a:latin typeface="Perpetua" panose="02020502060401020303" pitchFamily="18" charset="77"/>
            </a:endParaRPr>
          </a:p>
          <a:p>
            <a:pPr>
              <a:buNone/>
            </a:pPr>
            <a:endParaRPr lang="en-US" sz="1800">
              <a:solidFill>
                <a:schemeClr val="bg2">
                  <a:lumMod val="50000"/>
                </a:schemeClr>
              </a:solidFill>
              <a:latin typeface="Perpetua" panose="02020502060401020303" pitchFamily="18" charset="77"/>
            </a:endParaRPr>
          </a:p>
        </p:txBody>
      </p:sp>
      <p:pic>
        <p:nvPicPr>
          <p:cNvPr id="14" name="Picture 13">
            <a:extLst>
              <a:ext uri="{FF2B5EF4-FFF2-40B4-BE49-F238E27FC236}">
                <a16:creationId xmlns:a16="http://schemas.microsoft.com/office/drawing/2014/main" id="{45997538-E5BA-94E1-392D-8B302028F323}"/>
              </a:ext>
            </a:extLst>
          </p:cNvPr>
          <p:cNvPicPr>
            <a:picLocks noChangeAspect="1"/>
          </p:cNvPicPr>
          <p:nvPr/>
        </p:nvPicPr>
        <p:blipFill>
          <a:blip r:embed="rId2"/>
          <a:srcRect t="30689" b="21555"/>
          <a:stretch>
            <a:fillRect/>
          </a:stretch>
        </p:blipFill>
        <p:spPr>
          <a:xfrm>
            <a:off x="5516019" y="1204151"/>
            <a:ext cx="6207896" cy="4449698"/>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4D27-C850-ECF9-8290-038F57B860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C3DF00-291C-59D9-3D2F-AA74A39B32C2}"/>
              </a:ext>
            </a:extLst>
          </p:cNvPr>
          <p:cNvSpPr>
            <a:spLocks noGrp="1"/>
          </p:cNvSpPr>
          <p:nvPr>
            <p:ph type="title"/>
          </p:nvPr>
        </p:nvSpPr>
        <p:spPr>
          <a:xfrm>
            <a:off x="981211" y="542551"/>
            <a:ext cx="3686174" cy="1322888"/>
          </a:xfrm>
        </p:spPr>
        <p:txBody>
          <a:bodyPr>
            <a:normAutofit/>
          </a:bodyPr>
          <a:lstStyle/>
          <a:p>
            <a:pPr algn="ctr"/>
            <a:r>
              <a:rPr lang="fr-FR" sz="3100">
                <a:solidFill>
                  <a:schemeClr val="bg2">
                    <a:lumMod val="50000"/>
                  </a:schemeClr>
                </a:solidFill>
                <a:latin typeface="Perpetua" panose="02020502060401020303" pitchFamily="18" charset="77"/>
              </a:rPr>
              <a:t>ALTAR DECOR </a:t>
            </a:r>
            <a:br>
              <a:rPr lang="fr-FR" sz="2100" i="1">
                <a:latin typeface="Perpetua" panose="02020502060401020303" pitchFamily="18" charset="77"/>
              </a:rPr>
            </a:br>
            <a:br>
              <a:rPr lang="fr-FR" sz="2100">
                <a:latin typeface="Perpetua" panose="02020502060401020303" pitchFamily="18" charset="77"/>
              </a:rPr>
            </a:br>
            <a:endParaRPr lang="fr-FR" sz="2100" b="1" i="1">
              <a:latin typeface="Perpetua" panose="02020502060401020303" pitchFamily="18" charset="77"/>
            </a:endParaRPr>
          </a:p>
        </p:txBody>
      </p:sp>
      <p:sp>
        <p:nvSpPr>
          <p:cNvPr id="10" name="Content Placeholder 9">
            <a:extLst>
              <a:ext uri="{FF2B5EF4-FFF2-40B4-BE49-F238E27FC236}">
                <a16:creationId xmlns:a16="http://schemas.microsoft.com/office/drawing/2014/main" id="{43B354DD-EFF8-EEE9-1D20-2EDAA6E36630}"/>
              </a:ext>
            </a:extLst>
          </p:cNvPr>
          <p:cNvSpPr>
            <a:spLocks noGrp="1"/>
          </p:cNvSpPr>
          <p:nvPr>
            <p:ph idx="1"/>
          </p:nvPr>
        </p:nvSpPr>
        <p:spPr>
          <a:xfrm>
            <a:off x="458785" y="1503523"/>
            <a:ext cx="4731026" cy="3838194"/>
          </a:xfrm>
        </p:spPr>
        <p:txBody>
          <a:bodyPr>
            <a:normAutofit fontScale="92500" lnSpcReduction="20000"/>
          </a:bodyPr>
          <a:lstStyle/>
          <a:p>
            <a:pPr marL="0" indent="0">
              <a:buNone/>
            </a:pPr>
            <a:br>
              <a:rPr lang="en-US" sz="4000">
                <a:solidFill>
                  <a:schemeClr val="bg2">
                    <a:lumMod val="50000"/>
                  </a:schemeClr>
                </a:solidFill>
                <a:latin typeface="Perpetua" panose="02020502060401020303" pitchFamily="18" charset="77"/>
              </a:rPr>
            </a:br>
            <a:endParaRPr lang="en-US" sz="4000">
              <a:solidFill>
                <a:schemeClr val="bg2">
                  <a:lumMod val="50000"/>
                </a:schemeClr>
              </a:solidFill>
              <a:latin typeface="Perpetua" panose="02020502060401020303" pitchFamily="18" charset="77"/>
            </a:endParaRPr>
          </a:p>
          <a:p>
            <a:pPr fontAlgn="base"/>
            <a:r>
              <a:rPr lang="en-US" sz="2400">
                <a:solidFill>
                  <a:schemeClr val="bg2">
                    <a:lumMod val="50000"/>
                  </a:schemeClr>
                </a:solidFill>
                <a:latin typeface="Perpetua" panose="02020502060401020303" pitchFamily="18" charset="77"/>
              </a:rPr>
              <a:t>White and dusty blue floral arrangements will be placed atop columns in white antique vases, as shown in the reference image, elegantly framing the ceremony space</a:t>
            </a:r>
          </a:p>
          <a:p>
            <a:pPr marL="0" indent="0">
              <a:buNone/>
            </a:pPr>
            <a:r>
              <a:rPr lang="en-US" sz="2400">
                <a:solidFill>
                  <a:schemeClr val="bg2">
                    <a:lumMod val="50000"/>
                  </a:schemeClr>
                </a:solidFill>
                <a:latin typeface="Perpetua" panose="02020502060401020303" pitchFamily="18" charset="77"/>
              </a:rPr>
              <a:t> </a:t>
            </a:r>
          </a:p>
          <a:p>
            <a:r>
              <a:rPr lang="en-US" sz="2400">
                <a:solidFill>
                  <a:schemeClr val="bg2">
                    <a:lumMod val="50000"/>
                  </a:schemeClr>
                </a:solidFill>
                <a:latin typeface="Perpetua" panose="02020502060401020303" pitchFamily="18" charset="77"/>
              </a:rPr>
              <a:t>A large, lush floral arrangement will be artfully set on the floor between the columns, enhancing the space with a refined and romantic touch</a:t>
            </a:r>
            <a:endParaRPr lang="en-US" sz="3600">
              <a:solidFill>
                <a:schemeClr val="bg2">
                  <a:lumMod val="50000"/>
                </a:schemeClr>
              </a:solidFill>
              <a:latin typeface="Perpetua" panose="02020502060401020303" pitchFamily="18" charset="77"/>
            </a:endParaRPr>
          </a:p>
        </p:txBody>
      </p:sp>
      <p:pic>
        <p:nvPicPr>
          <p:cNvPr id="5" name="Picture 4" descr="A screenshot of a wedding ceremony&#10;&#10;AI-generated content may be incorrect.">
            <a:extLst>
              <a:ext uri="{FF2B5EF4-FFF2-40B4-BE49-F238E27FC236}">
                <a16:creationId xmlns:a16="http://schemas.microsoft.com/office/drawing/2014/main" id="{F4EE3F78-762A-561B-C68C-3DC403233FAC}"/>
              </a:ext>
            </a:extLst>
          </p:cNvPr>
          <p:cNvPicPr>
            <a:picLocks noChangeAspect="1"/>
          </p:cNvPicPr>
          <p:nvPr/>
        </p:nvPicPr>
        <p:blipFill>
          <a:blip r:embed="rId2"/>
          <a:srcRect t="39693" b="30115"/>
          <a:stretch>
            <a:fillRect/>
          </a:stretch>
        </p:blipFill>
        <p:spPr>
          <a:xfrm>
            <a:off x="5853929" y="1503523"/>
            <a:ext cx="5879286" cy="3850954"/>
          </a:xfrm>
          <a:prstGeom prst="rect">
            <a:avLst/>
          </a:prstGeom>
        </p:spPr>
      </p:pic>
    </p:spTree>
    <p:extLst>
      <p:ext uri="{BB962C8B-B14F-4D97-AF65-F5344CB8AC3E}">
        <p14:creationId xmlns:p14="http://schemas.microsoft.com/office/powerpoint/2010/main" val="400081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8B53A9F-AB44-FE77-CBEA-7D8CDF5D3C1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F3419BD-5073-F006-39AC-0806E66A8BC8}"/>
              </a:ext>
            </a:extLst>
          </p:cNvPr>
          <p:cNvSpPr>
            <a:spLocks noGrp="1"/>
          </p:cNvSpPr>
          <p:nvPr>
            <p:ph type="title"/>
          </p:nvPr>
        </p:nvSpPr>
        <p:spPr>
          <a:xfrm>
            <a:off x="325924" y="471151"/>
            <a:ext cx="6286037" cy="1322888"/>
          </a:xfrm>
        </p:spPr>
        <p:txBody>
          <a:bodyPr>
            <a:normAutofit fontScale="90000"/>
          </a:bodyPr>
          <a:lstStyle/>
          <a:p>
            <a:pPr algn="ctr"/>
            <a:r>
              <a:rPr lang="fr-FR" sz="3100">
                <a:solidFill>
                  <a:schemeClr val="bg2">
                    <a:lumMod val="50000"/>
                  </a:schemeClr>
                </a:solidFill>
                <a:latin typeface="Perpetua" panose="02020502060401020303" pitchFamily="18" charset="77"/>
              </a:rPr>
              <a:t>CEREMONY DECOR – AISLE ENTRANCE </a:t>
            </a:r>
            <a:br>
              <a:rPr lang="fr-FR" sz="2100" i="1">
                <a:latin typeface="Perpetua" panose="02020502060401020303" pitchFamily="18" charset="77"/>
              </a:rPr>
            </a:br>
            <a:br>
              <a:rPr lang="fr-FR" sz="2100">
                <a:latin typeface="Perpetua" panose="02020502060401020303" pitchFamily="18" charset="77"/>
              </a:rPr>
            </a:br>
            <a:endParaRPr lang="fr-FR" sz="2100" b="1" i="1">
              <a:latin typeface="Perpetua" panose="02020502060401020303" pitchFamily="18" charset="77"/>
            </a:endParaRPr>
          </a:p>
        </p:txBody>
      </p:sp>
      <p:sp>
        <p:nvSpPr>
          <p:cNvPr id="10" name="Content Placeholder 9">
            <a:extLst>
              <a:ext uri="{FF2B5EF4-FFF2-40B4-BE49-F238E27FC236}">
                <a16:creationId xmlns:a16="http://schemas.microsoft.com/office/drawing/2014/main" id="{3C76D906-DF9D-7FBA-9EFA-854B0BCAD8C5}"/>
              </a:ext>
            </a:extLst>
          </p:cNvPr>
          <p:cNvSpPr>
            <a:spLocks noGrp="1"/>
          </p:cNvSpPr>
          <p:nvPr>
            <p:ph idx="1"/>
          </p:nvPr>
        </p:nvSpPr>
        <p:spPr>
          <a:xfrm>
            <a:off x="98247" y="2628053"/>
            <a:ext cx="6741389" cy="2935141"/>
          </a:xfrm>
        </p:spPr>
        <p:txBody>
          <a:bodyPr>
            <a:normAutofit/>
          </a:bodyPr>
          <a:lstStyle/>
          <a:p>
            <a:pPr fontAlgn="base"/>
            <a:r>
              <a:rPr lang="en-US" sz="2200">
                <a:solidFill>
                  <a:schemeClr val="bg2">
                    <a:lumMod val="50000"/>
                  </a:schemeClr>
                </a:solidFill>
                <a:latin typeface="Perpetua" panose="02020502060401020303" pitchFamily="18" charset="77"/>
              </a:rPr>
              <a:t>White and dusty blue floral arrangements will be placed atop columns of varying heights on each side of the aisle entrance, elegantly framing the ceremony space</a:t>
            </a:r>
          </a:p>
          <a:p>
            <a:pPr marL="0" indent="0" fontAlgn="base">
              <a:buNone/>
            </a:pPr>
            <a:endParaRPr lang="en-US" sz="2200">
              <a:solidFill>
                <a:schemeClr val="bg2">
                  <a:lumMod val="50000"/>
                </a:schemeClr>
              </a:solidFill>
              <a:latin typeface="Perpetua" panose="02020502060401020303" pitchFamily="18" charset="77"/>
            </a:endParaRPr>
          </a:p>
          <a:p>
            <a:pPr fontAlgn="base"/>
            <a:r>
              <a:rPr lang="en-US" sz="2200">
                <a:solidFill>
                  <a:schemeClr val="bg2">
                    <a:lumMod val="50000"/>
                  </a:schemeClr>
                </a:solidFill>
                <a:latin typeface="Perpetua" panose="02020502060401020303" pitchFamily="18" charset="77"/>
              </a:rPr>
              <a:t>Additional floral arrangements will be placed at the base of the columns, as shown in the reference image</a:t>
            </a:r>
          </a:p>
        </p:txBody>
      </p:sp>
      <p:pic>
        <p:nvPicPr>
          <p:cNvPr id="4" name="Picture 3" descr="A group of flowers on display&#10;&#10;AI-generated content may be incorrect.">
            <a:extLst>
              <a:ext uri="{FF2B5EF4-FFF2-40B4-BE49-F238E27FC236}">
                <a16:creationId xmlns:a16="http://schemas.microsoft.com/office/drawing/2014/main" id="{9E8A3020-A4A5-E2DB-4A05-2BC17CC72775}"/>
              </a:ext>
            </a:extLst>
          </p:cNvPr>
          <p:cNvPicPr>
            <a:picLocks noChangeAspect="1"/>
          </p:cNvPicPr>
          <p:nvPr/>
        </p:nvPicPr>
        <p:blipFill>
          <a:blip r:embed="rId3"/>
          <a:srcRect t="18880" b="29524"/>
          <a:stretch>
            <a:fillRect/>
          </a:stretch>
        </p:blipFill>
        <p:spPr>
          <a:xfrm>
            <a:off x="7190020" y="1021674"/>
            <a:ext cx="4676056" cy="5234237"/>
          </a:xfrm>
          <a:prstGeom prst="rect">
            <a:avLst/>
          </a:prstGeom>
        </p:spPr>
      </p:pic>
    </p:spTree>
    <p:extLst>
      <p:ext uri="{BB962C8B-B14F-4D97-AF65-F5344CB8AC3E}">
        <p14:creationId xmlns:p14="http://schemas.microsoft.com/office/powerpoint/2010/main" val="2065696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01DD16F-012C-D030-F5A2-B0602319371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03B704-9544-AB3A-54B7-F3D055C28341}"/>
              </a:ext>
            </a:extLst>
          </p:cNvPr>
          <p:cNvSpPr>
            <a:spLocks noGrp="1"/>
          </p:cNvSpPr>
          <p:nvPr>
            <p:ph type="title"/>
          </p:nvPr>
        </p:nvSpPr>
        <p:spPr>
          <a:xfrm>
            <a:off x="537717" y="1245138"/>
            <a:ext cx="6400807" cy="1351472"/>
          </a:xfrm>
        </p:spPr>
        <p:txBody>
          <a:bodyPr>
            <a:noAutofit/>
          </a:bodyPr>
          <a:lstStyle/>
          <a:p>
            <a:pPr algn="ctr"/>
            <a:r>
              <a:rPr lang="fr-FR" sz="4000">
                <a:solidFill>
                  <a:schemeClr val="bg2">
                    <a:lumMod val="50000"/>
                  </a:schemeClr>
                </a:solidFill>
                <a:latin typeface="Perpetua" panose="02020502060401020303" pitchFamily="18" charset="77"/>
              </a:rPr>
              <a:t>AISLE DECOR</a:t>
            </a:r>
            <a:br>
              <a:rPr lang="fr-FR" sz="4000">
                <a:solidFill>
                  <a:schemeClr val="bg2">
                    <a:lumMod val="50000"/>
                  </a:schemeClr>
                </a:solidFill>
                <a:latin typeface="Perpetua" panose="02020502060401020303" pitchFamily="18" charset="77"/>
              </a:rPr>
            </a:br>
            <a:br>
              <a:rPr lang="fr-FR" sz="4000">
                <a:solidFill>
                  <a:schemeClr val="bg2">
                    <a:lumMod val="50000"/>
                  </a:schemeClr>
                </a:solidFill>
                <a:latin typeface="Perpetua" panose="02020502060401020303" pitchFamily="18" charset="77"/>
              </a:rPr>
            </a:br>
            <a:br>
              <a:rPr lang="fr-FR" sz="3600">
                <a:solidFill>
                  <a:schemeClr val="tx1">
                    <a:lumMod val="85000"/>
                    <a:lumOff val="15000"/>
                  </a:schemeClr>
                </a:solidFill>
                <a:latin typeface="Perpetua" panose="02020502060401020303" pitchFamily="18" charset="77"/>
              </a:rPr>
            </a:br>
            <a:br>
              <a:rPr lang="fr-FR" sz="3600">
                <a:solidFill>
                  <a:schemeClr val="tx1">
                    <a:lumMod val="85000"/>
                    <a:lumOff val="15000"/>
                  </a:schemeClr>
                </a:solidFill>
                <a:latin typeface="Perpetua" panose="02020502060401020303" pitchFamily="18" charset="77"/>
              </a:rPr>
            </a:br>
            <a:endParaRPr lang="fr-FR" sz="3600" b="1" i="1">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F84B8BCC-C1C7-50E5-692F-FB9876FB63BA}"/>
              </a:ext>
            </a:extLst>
          </p:cNvPr>
          <p:cNvSpPr>
            <a:spLocks noGrp="1"/>
          </p:cNvSpPr>
          <p:nvPr>
            <p:ph idx="1"/>
          </p:nvPr>
        </p:nvSpPr>
        <p:spPr>
          <a:xfrm>
            <a:off x="904168" y="2321054"/>
            <a:ext cx="5667904" cy="3049203"/>
          </a:xfrm>
        </p:spPr>
        <p:txBody>
          <a:bodyPr>
            <a:noAutofit/>
          </a:bodyPr>
          <a:lstStyle/>
          <a:p>
            <a:r>
              <a:rPr lang="en-US" sz="2200">
                <a:solidFill>
                  <a:schemeClr val="bg2">
                    <a:lumMod val="50000"/>
                  </a:schemeClr>
                </a:solidFill>
                <a:latin typeface="Perpetua" panose="02020502060401020303" pitchFamily="18" charset="77"/>
              </a:rPr>
              <a:t>White and dusty blue floral arrangements will be artfully placed along both sides of the aisle, with white loose petals scattered throughout the aisleway</a:t>
            </a:r>
          </a:p>
          <a:p>
            <a:pPr marL="0" indent="0">
              <a:buNone/>
            </a:pPr>
            <a:endParaRPr lang="en-US" sz="2200">
              <a:solidFill>
                <a:schemeClr val="bg2">
                  <a:lumMod val="50000"/>
                </a:schemeClr>
              </a:solidFill>
              <a:latin typeface="Perpetua" panose="02020502060401020303" pitchFamily="18" charset="77"/>
            </a:endParaRPr>
          </a:p>
          <a:p>
            <a:r>
              <a:rPr lang="en-US" sz="2200">
                <a:solidFill>
                  <a:schemeClr val="bg2">
                    <a:lumMod val="50000"/>
                  </a:schemeClr>
                </a:solidFill>
                <a:latin typeface="Perpetua" panose="02020502060401020303" pitchFamily="18" charset="77"/>
              </a:rPr>
              <a:t>White loose petals will be placed inside cones and delicately tied to the chairs for guests</a:t>
            </a:r>
          </a:p>
        </p:txBody>
      </p:sp>
      <p:pic>
        <p:nvPicPr>
          <p:cNvPr id="5" name="Picture 4">
            <a:extLst>
              <a:ext uri="{FF2B5EF4-FFF2-40B4-BE49-F238E27FC236}">
                <a16:creationId xmlns:a16="http://schemas.microsoft.com/office/drawing/2014/main" id="{3CCF60D9-B043-F103-7A9E-AC0CA5A23721}"/>
              </a:ext>
            </a:extLst>
          </p:cNvPr>
          <p:cNvPicPr>
            <a:picLocks noChangeAspect="1"/>
          </p:cNvPicPr>
          <p:nvPr/>
        </p:nvPicPr>
        <p:blipFill>
          <a:blip r:embed="rId2"/>
          <a:srcRect t="33667" b="14259"/>
          <a:stretch>
            <a:fillRect/>
          </a:stretch>
        </p:blipFill>
        <p:spPr>
          <a:xfrm>
            <a:off x="7122235" y="316817"/>
            <a:ext cx="4532048" cy="2950029"/>
          </a:xfrm>
          <a:prstGeom prst="rect">
            <a:avLst/>
          </a:prstGeom>
        </p:spPr>
      </p:pic>
      <p:pic>
        <p:nvPicPr>
          <p:cNvPr id="4" name="Picture 3" descr="A wedding ceremony with chairs and flowers&#10;&#10;AI-generated content may be incorrect.">
            <a:extLst>
              <a:ext uri="{FF2B5EF4-FFF2-40B4-BE49-F238E27FC236}">
                <a16:creationId xmlns:a16="http://schemas.microsoft.com/office/drawing/2014/main" id="{EA9E8EDC-8066-9B83-4A63-D07263C30159}"/>
              </a:ext>
            </a:extLst>
          </p:cNvPr>
          <p:cNvPicPr>
            <a:picLocks noChangeAspect="1"/>
          </p:cNvPicPr>
          <p:nvPr/>
        </p:nvPicPr>
        <p:blipFill>
          <a:blip r:embed="rId3"/>
          <a:srcRect l="20347" t="52009"/>
          <a:stretch>
            <a:fillRect/>
          </a:stretch>
        </p:blipFill>
        <p:spPr>
          <a:xfrm>
            <a:off x="8932876" y="3266846"/>
            <a:ext cx="3095499" cy="2486704"/>
          </a:xfrm>
          <a:prstGeom prst="rect">
            <a:avLst/>
          </a:prstGeom>
        </p:spPr>
      </p:pic>
      <p:pic>
        <p:nvPicPr>
          <p:cNvPr id="7" name="Picture 6" descr="A white cone shaped flower cone with a flower inside&#10;&#10;AI-generated content may be incorrect.">
            <a:extLst>
              <a:ext uri="{FF2B5EF4-FFF2-40B4-BE49-F238E27FC236}">
                <a16:creationId xmlns:a16="http://schemas.microsoft.com/office/drawing/2014/main" id="{B417351B-6FC7-3B5F-2B43-FBB08325354A}"/>
              </a:ext>
            </a:extLst>
          </p:cNvPr>
          <p:cNvPicPr>
            <a:picLocks noChangeAspect="1"/>
          </p:cNvPicPr>
          <p:nvPr/>
        </p:nvPicPr>
        <p:blipFill>
          <a:blip r:embed="rId4"/>
          <a:srcRect t="13867"/>
          <a:stretch>
            <a:fillRect/>
          </a:stretch>
        </p:blipFill>
        <p:spPr>
          <a:xfrm>
            <a:off x="6681801" y="3591155"/>
            <a:ext cx="2360803" cy="3049204"/>
          </a:xfrm>
          <a:prstGeom prst="rect">
            <a:avLst/>
          </a:prstGeom>
        </p:spPr>
      </p:pic>
    </p:spTree>
    <p:extLst>
      <p:ext uri="{BB962C8B-B14F-4D97-AF65-F5344CB8AC3E}">
        <p14:creationId xmlns:p14="http://schemas.microsoft.com/office/powerpoint/2010/main" val="4070648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46414C1-60C0-EB45-E7E3-C959C78587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FF7C0A-BF47-392F-1D08-C1D6DBCAE563}"/>
              </a:ext>
            </a:extLst>
          </p:cNvPr>
          <p:cNvSpPr>
            <a:spLocks noGrp="1"/>
          </p:cNvSpPr>
          <p:nvPr>
            <p:ph type="title"/>
          </p:nvPr>
        </p:nvSpPr>
        <p:spPr>
          <a:xfrm>
            <a:off x="184149" y="1257330"/>
            <a:ext cx="6570219" cy="1351472"/>
          </a:xfrm>
        </p:spPr>
        <p:txBody>
          <a:bodyPr>
            <a:noAutofit/>
          </a:bodyPr>
          <a:lstStyle/>
          <a:p>
            <a:pPr algn="ctr"/>
            <a:r>
              <a:rPr lang="fr-FR" sz="4000">
                <a:solidFill>
                  <a:schemeClr val="bg2">
                    <a:lumMod val="50000"/>
                  </a:schemeClr>
                </a:solidFill>
                <a:latin typeface="Perpetua" panose="02020502060401020303" pitchFamily="18" charset="77"/>
              </a:rPr>
              <a:t>AISLE CHAIRS ARRANGEMENT</a:t>
            </a:r>
            <a:br>
              <a:rPr lang="fr-FR" sz="4000">
                <a:solidFill>
                  <a:schemeClr val="bg2">
                    <a:lumMod val="50000"/>
                  </a:schemeClr>
                </a:solidFill>
                <a:latin typeface="Perpetua" panose="02020502060401020303" pitchFamily="18" charset="77"/>
              </a:rPr>
            </a:br>
            <a:br>
              <a:rPr lang="fr-FR" sz="4000">
                <a:solidFill>
                  <a:schemeClr val="bg2">
                    <a:lumMod val="50000"/>
                  </a:schemeClr>
                </a:solidFill>
                <a:latin typeface="Perpetua" panose="02020502060401020303" pitchFamily="18" charset="77"/>
              </a:rPr>
            </a:br>
            <a:br>
              <a:rPr lang="fr-FR" sz="3600">
                <a:solidFill>
                  <a:schemeClr val="tx1">
                    <a:lumMod val="85000"/>
                    <a:lumOff val="15000"/>
                  </a:schemeClr>
                </a:solidFill>
                <a:latin typeface="Perpetua" panose="02020502060401020303" pitchFamily="18" charset="77"/>
              </a:rPr>
            </a:br>
            <a:br>
              <a:rPr lang="fr-FR" sz="3600">
                <a:solidFill>
                  <a:schemeClr val="tx1">
                    <a:lumMod val="85000"/>
                    <a:lumOff val="15000"/>
                  </a:schemeClr>
                </a:solidFill>
                <a:latin typeface="Perpetua" panose="02020502060401020303" pitchFamily="18" charset="77"/>
              </a:rPr>
            </a:br>
            <a:endParaRPr lang="fr-FR" sz="3600" b="1" i="1">
              <a:solidFill>
                <a:schemeClr val="tx1">
                  <a:lumMod val="85000"/>
                  <a:lumOff val="15000"/>
                </a:schemeClr>
              </a:solidFill>
              <a:latin typeface="Perpetua" panose="02020502060401020303" pitchFamily="18" charset="77"/>
            </a:endParaRPr>
          </a:p>
        </p:txBody>
      </p:sp>
      <p:sp>
        <p:nvSpPr>
          <p:cNvPr id="10" name="Content Placeholder 9">
            <a:extLst>
              <a:ext uri="{FF2B5EF4-FFF2-40B4-BE49-F238E27FC236}">
                <a16:creationId xmlns:a16="http://schemas.microsoft.com/office/drawing/2014/main" id="{3AEA9AB8-E072-84EA-73FC-0464C1AD60FC}"/>
              </a:ext>
            </a:extLst>
          </p:cNvPr>
          <p:cNvSpPr>
            <a:spLocks noGrp="1"/>
          </p:cNvSpPr>
          <p:nvPr>
            <p:ph idx="1"/>
          </p:nvPr>
        </p:nvSpPr>
        <p:spPr>
          <a:xfrm>
            <a:off x="635306" y="2796543"/>
            <a:ext cx="5667904" cy="934210"/>
          </a:xfrm>
        </p:spPr>
        <p:txBody>
          <a:bodyPr>
            <a:noAutofit/>
          </a:bodyPr>
          <a:lstStyle/>
          <a:p>
            <a:r>
              <a:rPr lang="en-US" sz="2200">
                <a:solidFill>
                  <a:schemeClr val="bg2">
                    <a:lumMod val="50000"/>
                  </a:schemeClr>
                </a:solidFill>
                <a:latin typeface="Perpetua" panose="02020502060401020303" pitchFamily="18" charset="77"/>
              </a:rPr>
              <a:t>During the ceremony, the chairs may also be arranged as shown in the reference images. TBD</a:t>
            </a:r>
          </a:p>
        </p:txBody>
      </p:sp>
      <p:pic>
        <p:nvPicPr>
          <p:cNvPr id="6" name="Picture 5" descr="A long aisle with rows of chairs&#10;&#10;AI-generated content may be incorrect.">
            <a:extLst>
              <a:ext uri="{FF2B5EF4-FFF2-40B4-BE49-F238E27FC236}">
                <a16:creationId xmlns:a16="http://schemas.microsoft.com/office/drawing/2014/main" id="{DE6AEBC3-530C-CB62-E598-B9C1A62622D3}"/>
              </a:ext>
            </a:extLst>
          </p:cNvPr>
          <p:cNvPicPr>
            <a:picLocks noChangeAspect="1"/>
          </p:cNvPicPr>
          <p:nvPr/>
        </p:nvPicPr>
        <p:blipFill>
          <a:blip r:embed="rId2"/>
          <a:stretch>
            <a:fillRect/>
          </a:stretch>
        </p:blipFill>
        <p:spPr>
          <a:xfrm>
            <a:off x="7833361" y="502158"/>
            <a:ext cx="3902456" cy="5853684"/>
          </a:xfrm>
          <a:prstGeom prst="rect">
            <a:avLst/>
          </a:prstGeom>
        </p:spPr>
      </p:pic>
      <p:pic>
        <p:nvPicPr>
          <p:cNvPr id="9" name="Picture 8" descr="A wedding ceremony with white chairs and a gazebo&#10;&#10;AI-generated content may be incorrect.">
            <a:extLst>
              <a:ext uri="{FF2B5EF4-FFF2-40B4-BE49-F238E27FC236}">
                <a16:creationId xmlns:a16="http://schemas.microsoft.com/office/drawing/2014/main" id="{A979FD78-DB57-D578-121B-B9C914C54847}"/>
              </a:ext>
            </a:extLst>
          </p:cNvPr>
          <p:cNvPicPr>
            <a:picLocks noChangeAspect="1"/>
          </p:cNvPicPr>
          <p:nvPr/>
        </p:nvPicPr>
        <p:blipFill>
          <a:blip r:embed="rId3"/>
          <a:stretch>
            <a:fillRect/>
          </a:stretch>
        </p:blipFill>
        <p:spPr>
          <a:xfrm>
            <a:off x="3730753" y="3730753"/>
            <a:ext cx="4267200" cy="2847400"/>
          </a:xfrm>
          <a:prstGeom prst="rect">
            <a:avLst/>
          </a:prstGeom>
        </p:spPr>
      </p:pic>
    </p:spTree>
    <p:extLst>
      <p:ext uri="{BB962C8B-B14F-4D97-AF65-F5344CB8AC3E}">
        <p14:creationId xmlns:p14="http://schemas.microsoft.com/office/powerpoint/2010/main" val="1173689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782025" y="1118296"/>
            <a:ext cx="9920985" cy="1415270"/>
          </a:xfrm>
        </p:spPr>
        <p:txBody>
          <a:bodyPr vert="horz" lIns="91440" tIns="45720" rIns="91440" bIns="45720" rtlCol="0" anchor="t">
            <a:normAutofit/>
          </a:bodyPr>
          <a:lstStyle/>
          <a:p>
            <a:pPr algn="ctr"/>
            <a:r>
              <a:rPr lang="en-US" sz="4000" kern="1200">
                <a:solidFill>
                  <a:schemeClr val="bg2">
                    <a:lumMod val="50000"/>
                  </a:schemeClr>
                </a:solidFill>
                <a:latin typeface="Perpetua" panose="02020502060401020303" pitchFamily="18" charset="77"/>
              </a:rPr>
              <a:t>BRIDAL BOUQUET &amp; BOUTONNIERE</a:t>
            </a:r>
          </a:p>
        </p:txBody>
      </p:sp>
      <p:sp>
        <p:nvSpPr>
          <p:cNvPr id="18" name="Content Placeholder 17">
            <a:extLst>
              <a:ext uri="{FF2B5EF4-FFF2-40B4-BE49-F238E27FC236}">
                <a16:creationId xmlns:a16="http://schemas.microsoft.com/office/drawing/2014/main" id="{F55E19D7-7AAE-44AB-ADA9-038C66B41C04}"/>
              </a:ext>
            </a:extLst>
          </p:cNvPr>
          <p:cNvSpPr>
            <a:spLocks noGrp="1"/>
          </p:cNvSpPr>
          <p:nvPr>
            <p:ph idx="1"/>
          </p:nvPr>
        </p:nvSpPr>
        <p:spPr>
          <a:xfrm>
            <a:off x="3546787" y="1489024"/>
            <a:ext cx="8580605" cy="2520019"/>
          </a:xfrm>
        </p:spPr>
        <p:txBody>
          <a:bodyPr>
            <a:normAutofit/>
          </a:bodyPr>
          <a:lstStyle/>
          <a:p>
            <a:pPr marL="0" indent="0">
              <a:buNone/>
            </a:pPr>
            <a:endParaRPr lang="en-US" sz="2000">
              <a:latin typeface="Perpetua" panose="02020502060401020303" pitchFamily="18" charset="77"/>
            </a:endParaRPr>
          </a:p>
          <a:p>
            <a:pPr marL="0" indent="0">
              <a:buNone/>
            </a:pPr>
            <a:endParaRPr lang="en-US" sz="2000">
              <a:solidFill>
                <a:schemeClr val="bg2">
                  <a:lumMod val="50000"/>
                </a:schemeClr>
              </a:solidFill>
              <a:latin typeface="Perpetua" panose="02020502060401020303" pitchFamily="18" charset="77"/>
            </a:endParaRPr>
          </a:p>
          <a:p>
            <a:pPr marL="0" indent="0" algn="ctr">
              <a:buNone/>
            </a:pPr>
            <a:r>
              <a:rPr lang="en-US" sz="2200" b="1">
                <a:solidFill>
                  <a:schemeClr val="bg2">
                    <a:lumMod val="50000"/>
                  </a:schemeClr>
                </a:solidFill>
                <a:latin typeface="Perpetua" panose="02020502060401020303" pitchFamily="18" charset="77"/>
              </a:rPr>
              <a:t>Bridal bouquet: </a:t>
            </a:r>
            <a:r>
              <a:rPr lang="en-US" sz="2200">
                <a:solidFill>
                  <a:schemeClr val="bg2">
                    <a:lumMod val="50000"/>
                  </a:schemeClr>
                </a:solidFill>
                <a:latin typeface="Perpetua" panose="02020502060401020303" pitchFamily="18" charset="77"/>
              </a:rPr>
              <a:t>The bridal bouquet will be medium in size, composed of an airy and refined blend of white spring florals, inspired by the reference image. The stems will be finished with a white ribbon, delicately tied to create a natural, effortless finish</a:t>
            </a:r>
          </a:p>
          <a:p>
            <a:pPr marL="0" indent="0" algn="ctr">
              <a:buNone/>
            </a:pPr>
            <a:endParaRPr lang="en-US" sz="2400">
              <a:solidFill>
                <a:schemeClr val="bg2">
                  <a:lumMod val="50000"/>
                </a:schemeClr>
              </a:solidFill>
              <a:latin typeface="Perpetua" panose="02020502060401020303" pitchFamily="18" charset="77"/>
            </a:endParaRPr>
          </a:p>
        </p:txBody>
      </p:sp>
      <p:sp>
        <p:nvSpPr>
          <p:cNvPr id="8" name="Rectangle 7">
            <a:extLst>
              <a:ext uri="{FF2B5EF4-FFF2-40B4-BE49-F238E27FC236}">
                <a16:creationId xmlns:a16="http://schemas.microsoft.com/office/drawing/2014/main" id="{9E94D85F-04E9-7D78-E8BE-96ADA1940A61}"/>
              </a:ext>
            </a:extLst>
          </p:cNvPr>
          <p:cNvSpPr/>
          <p:nvPr/>
        </p:nvSpPr>
        <p:spPr>
          <a:xfrm>
            <a:off x="6006483" y="203896"/>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DAAFCC5-839E-A218-D8CC-034AE4CFCC92}"/>
              </a:ext>
            </a:extLst>
          </p:cNvPr>
          <p:cNvPicPr>
            <a:picLocks noChangeAspect="1"/>
          </p:cNvPicPr>
          <p:nvPr/>
        </p:nvPicPr>
        <p:blipFill>
          <a:blip r:embed="rId2"/>
          <a:srcRect l="379" t="16489" r="507"/>
          <a:stretch>
            <a:fillRect/>
          </a:stretch>
        </p:blipFill>
        <p:spPr>
          <a:xfrm>
            <a:off x="144482" y="333674"/>
            <a:ext cx="3322431" cy="3499317"/>
          </a:xfrm>
          <a:prstGeom prst="rect">
            <a:avLst/>
          </a:prstGeom>
        </p:spPr>
      </p:pic>
      <p:pic>
        <p:nvPicPr>
          <p:cNvPr id="7" name="Picture 6">
            <a:extLst>
              <a:ext uri="{FF2B5EF4-FFF2-40B4-BE49-F238E27FC236}">
                <a16:creationId xmlns:a16="http://schemas.microsoft.com/office/drawing/2014/main" id="{66E5B487-510E-5175-73CB-A8CE515D9B9C}"/>
              </a:ext>
            </a:extLst>
          </p:cNvPr>
          <p:cNvPicPr>
            <a:picLocks noChangeAspect="1"/>
          </p:cNvPicPr>
          <p:nvPr/>
        </p:nvPicPr>
        <p:blipFill>
          <a:blip r:embed="rId3"/>
          <a:srcRect t="2907" b="2907"/>
          <a:stretch/>
        </p:blipFill>
        <p:spPr>
          <a:xfrm>
            <a:off x="224356" y="3740789"/>
            <a:ext cx="2153327" cy="3042186"/>
          </a:xfrm>
          <a:prstGeom prst="rect">
            <a:avLst/>
          </a:prstGeom>
        </p:spPr>
      </p:pic>
      <p:pic>
        <p:nvPicPr>
          <p:cNvPr id="4" name="Picture 3">
            <a:extLst>
              <a:ext uri="{FF2B5EF4-FFF2-40B4-BE49-F238E27FC236}">
                <a16:creationId xmlns:a16="http://schemas.microsoft.com/office/drawing/2014/main" id="{C464BCD5-D54A-A518-D1BF-C0DF3218A3DC}"/>
              </a:ext>
            </a:extLst>
          </p:cNvPr>
          <p:cNvPicPr>
            <a:picLocks noChangeAspect="1"/>
          </p:cNvPicPr>
          <p:nvPr/>
        </p:nvPicPr>
        <p:blipFill>
          <a:blip r:embed="rId4"/>
          <a:srcRect t="6945" r="19922" b="12824"/>
          <a:stretch>
            <a:fillRect/>
          </a:stretch>
        </p:blipFill>
        <p:spPr>
          <a:xfrm>
            <a:off x="2646567" y="3795212"/>
            <a:ext cx="2146478" cy="2933340"/>
          </a:xfrm>
          <a:prstGeom prst="rect">
            <a:avLst/>
          </a:prstGeom>
        </p:spPr>
      </p:pic>
      <p:sp>
        <p:nvSpPr>
          <p:cNvPr id="11" name="TextBox 10">
            <a:extLst>
              <a:ext uri="{FF2B5EF4-FFF2-40B4-BE49-F238E27FC236}">
                <a16:creationId xmlns:a16="http://schemas.microsoft.com/office/drawing/2014/main" id="{2D021C08-2C6D-FD09-7A94-9A7E83835D32}"/>
              </a:ext>
            </a:extLst>
          </p:cNvPr>
          <p:cNvSpPr txBox="1"/>
          <p:nvPr/>
        </p:nvSpPr>
        <p:spPr>
          <a:xfrm>
            <a:off x="5310812" y="4599535"/>
            <a:ext cx="6656832" cy="769441"/>
          </a:xfrm>
          <a:prstGeom prst="rect">
            <a:avLst/>
          </a:prstGeom>
          <a:noFill/>
        </p:spPr>
        <p:txBody>
          <a:bodyPr wrap="square" rtlCol="0">
            <a:spAutoFit/>
          </a:bodyPr>
          <a:lstStyle/>
          <a:p>
            <a:r>
              <a:rPr lang="en-US" sz="2200" b="1">
                <a:solidFill>
                  <a:schemeClr val="bg2">
                    <a:lumMod val="50000"/>
                  </a:schemeClr>
                </a:solidFill>
                <a:latin typeface="Perpetua" panose="02020502060401020303" pitchFamily="18" charset="77"/>
              </a:rPr>
              <a:t>Boutonniere: </a:t>
            </a:r>
            <a:r>
              <a:rPr lang="en-US" sz="2200">
                <a:solidFill>
                  <a:schemeClr val="bg2">
                    <a:lumMod val="50000"/>
                  </a:schemeClr>
                </a:solidFill>
                <a:latin typeface="Perpetua" panose="02020502060401020303" pitchFamily="18" charset="77"/>
              </a:rPr>
              <a:t>The boutonniere will feature a wild spring bloom, delicately enhanced with a white ribbon</a:t>
            </a:r>
            <a:endParaRPr lang="en-AE" sz="2200" b="1">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066328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3D33531-BE49-C16F-9FB4-CED3F666A6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70CB63-C2CD-429B-ABEF-10D18E793525}"/>
              </a:ext>
            </a:extLst>
          </p:cNvPr>
          <p:cNvSpPr>
            <a:spLocks noGrp="1"/>
          </p:cNvSpPr>
          <p:nvPr>
            <p:ph type="title"/>
          </p:nvPr>
        </p:nvSpPr>
        <p:spPr>
          <a:xfrm>
            <a:off x="917119" y="270361"/>
            <a:ext cx="9920985" cy="1415270"/>
          </a:xfrm>
        </p:spPr>
        <p:txBody>
          <a:bodyPr vert="horz" lIns="91440" tIns="45720" rIns="91440" bIns="45720" rtlCol="0" anchor="t">
            <a:normAutofit/>
          </a:bodyPr>
          <a:lstStyle/>
          <a:p>
            <a:pPr algn="ctr"/>
            <a:r>
              <a:rPr lang="en-US" sz="4000">
                <a:solidFill>
                  <a:schemeClr val="bg2">
                    <a:lumMod val="50000"/>
                  </a:schemeClr>
                </a:solidFill>
                <a:latin typeface="Perpetua" panose="02020502060401020303" pitchFamily="18" charset="77"/>
              </a:rPr>
              <a:t>BRIDEMAIDS BOUQUETS </a:t>
            </a:r>
            <a:endParaRPr lang="en-US" sz="4000" kern="1200">
              <a:solidFill>
                <a:schemeClr val="bg2">
                  <a:lumMod val="50000"/>
                </a:schemeClr>
              </a:solidFill>
              <a:latin typeface="Perpetua" panose="02020502060401020303" pitchFamily="18" charset="77"/>
            </a:endParaRPr>
          </a:p>
        </p:txBody>
      </p:sp>
      <p:sp>
        <p:nvSpPr>
          <p:cNvPr id="18" name="Content Placeholder 17">
            <a:extLst>
              <a:ext uri="{FF2B5EF4-FFF2-40B4-BE49-F238E27FC236}">
                <a16:creationId xmlns:a16="http://schemas.microsoft.com/office/drawing/2014/main" id="{5F183A1A-F78D-CAED-AF70-3E3B2898BCB5}"/>
              </a:ext>
            </a:extLst>
          </p:cNvPr>
          <p:cNvSpPr>
            <a:spLocks noGrp="1"/>
          </p:cNvSpPr>
          <p:nvPr>
            <p:ph idx="1"/>
          </p:nvPr>
        </p:nvSpPr>
        <p:spPr>
          <a:xfrm>
            <a:off x="583548" y="2469932"/>
            <a:ext cx="5901335" cy="2690648"/>
          </a:xfrm>
        </p:spPr>
        <p:txBody>
          <a:bodyPr>
            <a:normAutofit/>
          </a:bodyPr>
          <a:lstStyle/>
          <a:p>
            <a:pPr marL="0" indent="0" algn="ctr">
              <a:buNone/>
            </a:pPr>
            <a:endParaRPr lang="en-US" sz="2000">
              <a:latin typeface="Perpetua" panose="02020502060401020303" pitchFamily="18" charset="77"/>
            </a:endParaRPr>
          </a:p>
          <a:p>
            <a:pPr marL="0" indent="0">
              <a:buNone/>
            </a:pPr>
            <a:endParaRPr lang="en-US" sz="2000">
              <a:solidFill>
                <a:schemeClr val="bg2">
                  <a:lumMod val="50000"/>
                </a:schemeClr>
              </a:solidFill>
              <a:latin typeface="Perpetua" panose="02020502060401020303" pitchFamily="18" charset="77"/>
            </a:endParaRPr>
          </a:p>
          <a:p>
            <a:pPr marL="0" indent="0" algn="ctr">
              <a:buNone/>
            </a:pPr>
            <a:r>
              <a:rPr lang="en-US" sz="2200">
                <a:solidFill>
                  <a:schemeClr val="bg2">
                    <a:lumMod val="50000"/>
                  </a:schemeClr>
                </a:solidFill>
                <a:latin typeface="Perpetua" panose="02020502060401020303" pitchFamily="18" charset="77"/>
              </a:rPr>
              <a:t>The bridesmaids’ bouquets will mirror the bride’s bouquet in style, with a slightly smaller scale. As discussed, six bouquets will be created</a:t>
            </a:r>
          </a:p>
        </p:txBody>
      </p:sp>
      <p:sp>
        <p:nvSpPr>
          <p:cNvPr id="8" name="Rectangle 7">
            <a:extLst>
              <a:ext uri="{FF2B5EF4-FFF2-40B4-BE49-F238E27FC236}">
                <a16:creationId xmlns:a16="http://schemas.microsoft.com/office/drawing/2014/main" id="{65664496-77F5-111E-3F80-E05C47F34518}"/>
              </a:ext>
            </a:extLst>
          </p:cNvPr>
          <p:cNvSpPr/>
          <p:nvPr/>
        </p:nvSpPr>
        <p:spPr>
          <a:xfrm>
            <a:off x="10131071" y="166348"/>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85FF039-6B28-4A61-EEFE-D038DB5843E0}"/>
              </a:ext>
            </a:extLst>
          </p:cNvPr>
          <p:cNvPicPr>
            <a:picLocks noChangeAspect="1"/>
          </p:cNvPicPr>
          <p:nvPr/>
        </p:nvPicPr>
        <p:blipFill>
          <a:blip r:embed="rId2"/>
          <a:srcRect t="2907" b="2907"/>
          <a:stretch/>
        </p:blipFill>
        <p:spPr>
          <a:xfrm>
            <a:off x="7544754" y="1071272"/>
            <a:ext cx="3884506" cy="5487968"/>
          </a:xfrm>
          <a:prstGeom prst="rect">
            <a:avLst/>
          </a:prstGeom>
        </p:spPr>
      </p:pic>
    </p:spTree>
    <p:extLst>
      <p:ext uri="{BB962C8B-B14F-4D97-AF65-F5344CB8AC3E}">
        <p14:creationId xmlns:p14="http://schemas.microsoft.com/office/powerpoint/2010/main" val="2248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276976" y="109680"/>
            <a:ext cx="4274607" cy="777054"/>
          </a:xfrm>
        </p:spPr>
        <p:txBody>
          <a:bodyPr anchor="b">
            <a:normAutofit/>
          </a:bodyPr>
          <a:lstStyle/>
          <a:p>
            <a:pPr algn="ctr"/>
            <a:r>
              <a:rPr lang="fr-FR">
                <a:solidFill>
                  <a:schemeClr val="bg2">
                    <a:lumMod val="50000"/>
                  </a:schemeClr>
                </a:solidFill>
                <a:latin typeface="Perpetua" panose="02020502060401020303" pitchFamily="18" charset="77"/>
              </a:rPr>
              <a:t>COCKTAIL </a:t>
            </a:r>
          </a:p>
        </p:txBody>
      </p:sp>
      <p:sp>
        <p:nvSpPr>
          <p:cNvPr id="14" name="Content Placeholder 13">
            <a:extLst>
              <a:ext uri="{FF2B5EF4-FFF2-40B4-BE49-F238E27FC236}">
                <a16:creationId xmlns:a16="http://schemas.microsoft.com/office/drawing/2014/main" id="{7847E9E7-126E-46AC-AAD2-75FD20301F86}"/>
              </a:ext>
            </a:extLst>
          </p:cNvPr>
          <p:cNvSpPr>
            <a:spLocks noGrp="1"/>
          </p:cNvSpPr>
          <p:nvPr>
            <p:ph idx="1"/>
          </p:nvPr>
        </p:nvSpPr>
        <p:spPr>
          <a:xfrm>
            <a:off x="1476880" y="1681550"/>
            <a:ext cx="3874800" cy="1962085"/>
          </a:xfrm>
        </p:spPr>
        <p:txBody>
          <a:bodyPr anchor="t">
            <a:noAutofit/>
          </a:bodyPr>
          <a:lstStyle/>
          <a:p>
            <a:r>
              <a:rPr lang="en-US" sz="2200">
                <a:solidFill>
                  <a:schemeClr val="bg2">
                    <a:lumMod val="50000"/>
                  </a:schemeClr>
                </a:solidFill>
                <a:latin typeface="Perpetua" panose="02020502060401020303" pitchFamily="18" charset="77"/>
              </a:rPr>
              <a:t>A curated arrangement of lounge tables, accented with elegant white drapery, will offer guests an inviting space to unwind in an atmosphere of understated elegance</a:t>
            </a:r>
          </a:p>
        </p:txBody>
      </p:sp>
      <p:pic>
        <p:nvPicPr>
          <p:cNvPr id="6" name="Picture 5">
            <a:extLst>
              <a:ext uri="{FF2B5EF4-FFF2-40B4-BE49-F238E27FC236}">
                <a16:creationId xmlns:a16="http://schemas.microsoft.com/office/drawing/2014/main" id="{148177AA-1910-0A6C-CF4E-3AE5056684DE}"/>
              </a:ext>
            </a:extLst>
          </p:cNvPr>
          <p:cNvPicPr>
            <a:picLocks noChangeAspect="1"/>
          </p:cNvPicPr>
          <p:nvPr/>
        </p:nvPicPr>
        <p:blipFill>
          <a:blip r:embed="rId3"/>
          <a:srcRect l="44427" t="43253" b="13493"/>
          <a:stretch>
            <a:fillRect/>
          </a:stretch>
        </p:blipFill>
        <p:spPr>
          <a:xfrm>
            <a:off x="6840322" y="886734"/>
            <a:ext cx="4519429" cy="5147253"/>
          </a:xfrm>
          <a:prstGeom prst="rect">
            <a:avLst/>
          </a:prstGeom>
        </p:spPr>
      </p:pic>
      <p:sp>
        <p:nvSpPr>
          <p:cNvPr id="5" name="TextBox 4">
            <a:extLst>
              <a:ext uri="{FF2B5EF4-FFF2-40B4-BE49-F238E27FC236}">
                <a16:creationId xmlns:a16="http://schemas.microsoft.com/office/drawing/2014/main" id="{E7561B38-99EA-2083-AF35-2AE30F39508D}"/>
              </a:ext>
            </a:extLst>
          </p:cNvPr>
          <p:cNvSpPr txBox="1"/>
          <p:nvPr/>
        </p:nvSpPr>
        <p:spPr>
          <a:xfrm>
            <a:off x="1476881" y="3970873"/>
            <a:ext cx="3874799" cy="1107996"/>
          </a:xfrm>
          <a:prstGeom prst="rect">
            <a:avLst/>
          </a:prstGeom>
          <a:noFill/>
        </p:spPr>
        <p:txBody>
          <a:bodyPr wrap="square" rtlCol="0">
            <a:spAutoFit/>
          </a:bodyPr>
          <a:lstStyle/>
          <a:p>
            <a:pPr marL="342900" indent="-342900">
              <a:buFont typeface="Arial" panose="020B0604020202020204" pitchFamily="34" charset="0"/>
              <a:buChar char="•"/>
            </a:pPr>
            <a:r>
              <a:rPr lang="en-US" sz="2200">
                <a:solidFill>
                  <a:schemeClr val="bg2">
                    <a:lumMod val="50000"/>
                  </a:schemeClr>
                </a:solidFill>
                <a:latin typeface="Perpetua" panose="02020502060401020303" pitchFamily="18" charset="77"/>
              </a:rPr>
              <a:t>Each table will feature delicate white floral arrangements, presented in small antique vases</a:t>
            </a:r>
            <a:endParaRPr lang="en-AE" sz="220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1429147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333CA181-3C92-46B0-7FC2-15ECFD5D893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58F9CD6-ABEB-3868-2BD2-CDB45819C341}"/>
              </a:ext>
            </a:extLst>
          </p:cNvPr>
          <p:cNvSpPr>
            <a:spLocks noGrp="1"/>
          </p:cNvSpPr>
          <p:nvPr>
            <p:ph type="title"/>
          </p:nvPr>
        </p:nvSpPr>
        <p:spPr>
          <a:xfrm>
            <a:off x="933911" y="184312"/>
            <a:ext cx="4274607" cy="777054"/>
          </a:xfrm>
        </p:spPr>
        <p:txBody>
          <a:bodyPr anchor="b">
            <a:normAutofit/>
          </a:bodyPr>
          <a:lstStyle/>
          <a:p>
            <a:pPr algn="ctr"/>
            <a:r>
              <a:rPr lang="fr-FR">
                <a:solidFill>
                  <a:schemeClr val="bg2">
                    <a:lumMod val="50000"/>
                  </a:schemeClr>
                </a:solidFill>
                <a:latin typeface="Perpetua" panose="02020502060401020303" pitchFamily="18" charset="77"/>
              </a:rPr>
              <a:t>COCKTAIL </a:t>
            </a:r>
          </a:p>
        </p:txBody>
      </p:sp>
      <p:sp>
        <p:nvSpPr>
          <p:cNvPr id="14" name="Content Placeholder 13">
            <a:extLst>
              <a:ext uri="{FF2B5EF4-FFF2-40B4-BE49-F238E27FC236}">
                <a16:creationId xmlns:a16="http://schemas.microsoft.com/office/drawing/2014/main" id="{D22D78BC-53A3-B1C9-B50E-2BA7DC5F012D}"/>
              </a:ext>
            </a:extLst>
          </p:cNvPr>
          <p:cNvSpPr>
            <a:spLocks noGrp="1"/>
          </p:cNvSpPr>
          <p:nvPr>
            <p:ph idx="1"/>
          </p:nvPr>
        </p:nvSpPr>
        <p:spPr>
          <a:xfrm>
            <a:off x="1077073" y="2653428"/>
            <a:ext cx="4131445" cy="1551144"/>
          </a:xfrm>
        </p:spPr>
        <p:txBody>
          <a:bodyPr anchor="t">
            <a:noAutofit/>
          </a:bodyPr>
          <a:lstStyle/>
          <a:p>
            <a:r>
              <a:rPr lang="en-US" sz="2200">
                <a:solidFill>
                  <a:schemeClr val="bg2">
                    <a:lumMod val="50000"/>
                  </a:schemeClr>
                </a:solidFill>
                <a:latin typeface="Perpetua" panose="02020502060401020303" pitchFamily="18" charset="77"/>
              </a:rPr>
              <a:t>A white and greenery floral arrangement will be placed both on the table and at its base, accompanied by a letter box and a wooden basket of umbrellas</a:t>
            </a:r>
          </a:p>
        </p:txBody>
      </p:sp>
      <p:pic>
        <p:nvPicPr>
          <p:cNvPr id="4" name="Picture 3">
            <a:extLst>
              <a:ext uri="{FF2B5EF4-FFF2-40B4-BE49-F238E27FC236}">
                <a16:creationId xmlns:a16="http://schemas.microsoft.com/office/drawing/2014/main" id="{1BAE5A21-EE60-CEEB-BB2F-698E8EE3BD30}"/>
              </a:ext>
            </a:extLst>
          </p:cNvPr>
          <p:cNvPicPr>
            <a:picLocks noChangeAspect="1"/>
          </p:cNvPicPr>
          <p:nvPr/>
        </p:nvPicPr>
        <p:blipFill>
          <a:blip r:embed="rId3"/>
          <a:srcRect t="9085" b="9085"/>
          <a:stretch/>
        </p:blipFill>
        <p:spPr>
          <a:xfrm>
            <a:off x="9403982" y="282622"/>
            <a:ext cx="2622273" cy="3218689"/>
          </a:xfrm>
          <a:prstGeom prst="rect">
            <a:avLst/>
          </a:prstGeom>
        </p:spPr>
      </p:pic>
      <p:sp>
        <p:nvSpPr>
          <p:cNvPr id="5" name="TextBox 4">
            <a:extLst>
              <a:ext uri="{FF2B5EF4-FFF2-40B4-BE49-F238E27FC236}">
                <a16:creationId xmlns:a16="http://schemas.microsoft.com/office/drawing/2014/main" id="{61EA5C48-1A31-8B19-DC45-3B77A646D3C0}"/>
              </a:ext>
            </a:extLst>
          </p:cNvPr>
          <p:cNvSpPr txBox="1"/>
          <p:nvPr/>
        </p:nvSpPr>
        <p:spPr>
          <a:xfrm>
            <a:off x="933911" y="4450084"/>
            <a:ext cx="4131444" cy="1446550"/>
          </a:xfrm>
          <a:prstGeom prst="rect">
            <a:avLst/>
          </a:prstGeom>
          <a:noFill/>
        </p:spPr>
        <p:txBody>
          <a:bodyPr wrap="square" rtlCol="0">
            <a:spAutoFit/>
          </a:bodyPr>
          <a:lstStyle/>
          <a:p>
            <a:pPr marL="342900" indent="-342900">
              <a:buFont typeface="Arial" panose="020B0604020202020204" pitchFamily="34" charset="0"/>
              <a:buChar char="•"/>
            </a:pPr>
            <a:r>
              <a:rPr lang="en-US" sz="2200">
                <a:solidFill>
                  <a:schemeClr val="bg2">
                    <a:lumMod val="50000"/>
                  </a:schemeClr>
                </a:solidFill>
                <a:latin typeface="Perpetua" panose="02020502060401020303" pitchFamily="18" charset="77"/>
              </a:rPr>
              <a:t>A softly draped wall will be provided as an elegant backdrop for the photobooth area, inspired by the reference image</a:t>
            </a:r>
          </a:p>
        </p:txBody>
      </p:sp>
      <p:pic>
        <p:nvPicPr>
          <p:cNvPr id="7" name="Picture 6" descr="A phone in a box&#10;&#10;AI-generated content may be incorrect.">
            <a:extLst>
              <a:ext uri="{FF2B5EF4-FFF2-40B4-BE49-F238E27FC236}">
                <a16:creationId xmlns:a16="http://schemas.microsoft.com/office/drawing/2014/main" id="{F3A28F1C-2E01-856D-A7A6-0B9F8A34CB3D}"/>
              </a:ext>
            </a:extLst>
          </p:cNvPr>
          <p:cNvPicPr>
            <a:picLocks noChangeAspect="1"/>
          </p:cNvPicPr>
          <p:nvPr/>
        </p:nvPicPr>
        <p:blipFill>
          <a:blip r:embed="rId4"/>
          <a:stretch>
            <a:fillRect/>
          </a:stretch>
        </p:blipFill>
        <p:spPr>
          <a:xfrm>
            <a:off x="6142349" y="573179"/>
            <a:ext cx="2799304" cy="4818910"/>
          </a:xfrm>
          <a:prstGeom prst="rect">
            <a:avLst/>
          </a:prstGeom>
        </p:spPr>
      </p:pic>
      <p:pic>
        <p:nvPicPr>
          <p:cNvPr id="11" name="Picture 10">
            <a:extLst>
              <a:ext uri="{FF2B5EF4-FFF2-40B4-BE49-F238E27FC236}">
                <a16:creationId xmlns:a16="http://schemas.microsoft.com/office/drawing/2014/main" id="{A95B2DD6-59B8-5C7B-229D-2F7295562BD3}"/>
              </a:ext>
            </a:extLst>
          </p:cNvPr>
          <p:cNvPicPr>
            <a:picLocks noChangeAspect="1"/>
          </p:cNvPicPr>
          <p:nvPr/>
        </p:nvPicPr>
        <p:blipFill>
          <a:blip r:embed="rId5"/>
          <a:srcRect t="13786" b="13786"/>
          <a:stretch/>
        </p:blipFill>
        <p:spPr>
          <a:xfrm>
            <a:off x="8845138" y="3705909"/>
            <a:ext cx="3156296" cy="3048048"/>
          </a:xfrm>
          <a:prstGeom prst="rect">
            <a:avLst/>
          </a:prstGeom>
        </p:spPr>
      </p:pic>
      <p:sp>
        <p:nvSpPr>
          <p:cNvPr id="3" name="TextBox 2">
            <a:extLst>
              <a:ext uri="{FF2B5EF4-FFF2-40B4-BE49-F238E27FC236}">
                <a16:creationId xmlns:a16="http://schemas.microsoft.com/office/drawing/2014/main" id="{C427B11D-E85C-29AF-8572-84D16A30D32B}"/>
              </a:ext>
            </a:extLst>
          </p:cNvPr>
          <p:cNvSpPr txBox="1"/>
          <p:nvPr/>
        </p:nvSpPr>
        <p:spPr>
          <a:xfrm>
            <a:off x="1077074" y="1050712"/>
            <a:ext cx="4131445" cy="1446550"/>
          </a:xfrm>
          <a:prstGeom prst="rect">
            <a:avLst/>
          </a:prstGeom>
          <a:noFill/>
        </p:spPr>
        <p:txBody>
          <a:bodyPr wrap="square" rtlCol="0">
            <a:spAutoFit/>
          </a:bodyPr>
          <a:lstStyle/>
          <a:p>
            <a:pPr marL="342900" indent="-342900">
              <a:buFont typeface="Arial" panose="020B0604020202020204" pitchFamily="34" charset="0"/>
              <a:buChar char="•"/>
            </a:pPr>
            <a:r>
              <a:rPr lang="en-US" sz="2200">
                <a:solidFill>
                  <a:schemeClr val="bg2">
                    <a:lumMod val="50000"/>
                  </a:schemeClr>
                </a:solidFill>
                <a:latin typeface="Perpetua" panose="02020502060401020303" pitchFamily="18" charset="77"/>
              </a:rPr>
              <a:t>Paper and audio guestbooks will be displayed and available for all guests, as shown in the reference image</a:t>
            </a:r>
            <a:endParaRPr lang="en-AE" sz="220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663459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1309553" y="173786"/>
            <a:ext cx="4786447" cy="786247"/>
          </a:xfrm>
        </p:spPr>
        <p:txBody>
          <a:bodyPr vert="horz" lIns="91440" tIns="45720" rIns="91440" bIns="45720" rtlCol="0" anchor="b">
            <a:normAutofit fontScale="90000"/>
          </a:bodyPr>
          <a:lstStyle/>
          <a:p>
            <a:r>
              <a:rPr lang="en-US" sz="4000">
                <a:solidFill>
                  <a:schemeClr val="bg2">
                    <a:lumMod val="50000"/>
                  </a:schemeClr>
                </a:solidFill>
                <a:latin typeface="Perpetua" panose="02020502060401020303" pitchFamily="18" charset="77"/>
              </a:rPr>
              <a:t>BARS RENTAL &amp; DECOR</a:t>
            </a:r>
          </a:p>
        </p:txBody>
      </p:sp>
      <p:sp>
        <p:nvSpPr>
          <p:cNvPr id="6" name="TextBox 5">
            <a:extLst>
              <a:ext uri="{FF2B5EF4-FFF2-40B4-BE49-F238E27FC236}">
                <a16:creationId xmlns:a16="http://schemas.microsoft.com/office/drawing/2014/main" id="{CEE297F3-E010-D773-C6C2-DAD7F14B25E8}"/>
              </a:ext>
            </a:extLst>
          </p:cNvPr>
          <p:cNvSpPr txBox="1"/>
          <p:nvPr/>
        </p:nvSpPr>
        <p:spPr>
          <a:xfrm>
            <a:off x="1309552" y="1188300"/>
            <a:ext cx="4786447" cy="5349611"/>
          </a:xfrm>
          <a:prstGeom prst="rect">
            <a:avLst/>
          </a:prstGeom>
        </p:spPr>
        <p:txBody>
          <a:bodyPr vert="horz" lIns="91440" tIns="45720" rIns="91440" bIns="45720" rtlCol="0">
            <a:normAutofit lnSpcReduction="10000"/>
          </a:bodyPr>
          <a:lstStyle/>
          <a:p>
            <a:pPr marL="457200" indent="-457200">
              <a:buFont typeface="Arial" panose="020B0604020202020204" pitchFamily="34" charset="0"/>
              <a:buChar char="•"/>
            </a:pPr>
            <a:r>
              <a:rPr lang="en-US" sz="2200">
                <a:solidFill>
                  <a:schemeClr val="bg2">
                    <a:lumMod val="50000"/>
                  </a:schemeClr>
                </a:solidFill>
                <a:latin typeface="Perpetua" panose="02020502060401020303" pitchFamily="18" charset="77"/>
              </a:rPr>
              <a:t>A refined white bar, inspired by the provided reference image, will anchor the cocktail space, complemented by a tall white and dusty blue floral arrangement placed at its base</a:t>
            </a:r>
          </a:p>
          <a:p>
            <a:endParaRPr lang="en-US" sz="220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200">
                <a:solidFill>
                  <a:schemeClr val="bg2">
                    <a:lumMod val="50000"/>
                  </a:schemeClr>
                </a:solidFill>
                <a:latin typeface="Perpetua" panose="02020502060401020303" pitchFamily="18" charset="77"/>
              </a:rPr>
              <a:t>The bar menu will be displayed in a glass gold frame, showcasing the selected beverages</a:t>
            </a:r>
          </a:p>
          <a:p>
            <a:endParaRPr lang="en-US" sz="220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200">
                <a:solidFill>
                  <a:schemeClr val="bg2">
                    <a:lumMod val="50000"/>
                  </a:schemeClr>
                </a:solidFill>
                <a:latin typeface="Perpetua" panose="02020502060401020303" pitchFamily="18" charset="77"/>
              </a:rPr>
              <a:t>A white ‘ring the bell’ structure will be set at the bar, as shown in the reference image</a:t>
            </a:r>
          </a:p>
          <a:p>
            <a:endParaRPr lang="en-US" sz="2200">
              <a:solidFill>
                <a:schemeClr val="bg2">
                  <a:lumMod val="50000"/>
                </a:schemeClr>
              </a:solidFill>
              <a:latin typeface="Perpetua" panose="02020502060401020303" pitchFamily="18" charset="77"/>
            </a:endParaRPr>
          </a:p>
          <a:p>
            <a:r>
              <a:rPr lang="en-US" sz="2200">
                <a:solidFill>
                  <a:schemeClr val="bg2">
                    <a:lumMod val="50000"/>
                  </a:schemeClr>
                </a:solidFill>
                <a:latin typeface="Perpetua" panose="02020502060401020303" pitchFamily="18" charset="77"/>
              </a:rPr>
              <a:t>The décor will echo the reference imagery, styled in harmony with the color </a:t>
            </a:r>
            <a:r>
              <a:rPr lang="en-US" sz="2200">
                <a:solidFill>
                  <a:srgbClr val="FFC000"/>
                </a:solidFill>
                <a:latin typeface="Perpetua" panose="02020502060401020303" pitchFamily="18" charset="77"/>
              </a:rPr>
              <a:t>palette detailed on slide #2</a:t>
            </a:r>
          </a:p>
          <a:p>
            <a:endParaRPr lang="en-US" sz="3400">
              <a:solidFill>
                <a:schemeClr val="accent6"/>
              </a:solidFill>
              <a:latin typeface="Perpetua" panose="02020502060401020303" pitchFamily="18" charset="77"/>
            </a:endParaRPr>
          </a:p>
          <a:p>
            <a:endParaRPr lang="en-US">
              <a:highlight>
                <a:srgbClr val="FFFF00"/>
              </a:highlight>
            </a:endParaRPr>
          </a:p>
          <a:p>
            <a:pPr defTabSz="914400">
              <a:lnSpc>
                <a:spcPct val="90000"/>
              </a:lnSpc>
              <a:spcAft>
                <a:spcPts val="600"/>
              </a:spcAft>
            </a:pPr>
            <a:endParaRPr lang="en-US" sz="280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a:solidFill>
                <a:schemeClr val="accent5">
                  <a:lumMod val="60000"/>
                  <a:lumOff val="4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B23847F9-96A5-CD78-85D9-B972897C7070}"/>
              </a:ext>
            </a:extLst>
          </p:cNvPr>
          <p:cNvPicPr>
            <a:picLocks noChangeAspect="1"/>
          </p:cNvPicPr>
          <p:nvPr/>
        </p:nvPicPr>
        <p:blipFill>
          <a:blip r:embed="rId3"/>
          <a:srcRect l="-239" t="33099" r="2271"/>
          <a:stretch>
            <a:fillRect/>
          </a:stretch>
        </p:blipFill>
        <p:spPr>
          <a:xfrm>
            <a:off x="7242204" y="2469160"/>
            <a:ext cx="4693763" cy="4215054"/>
          </a:xfrm>
          <a:prstGeom prst="rect">
            <a:avLst/>
          </a:prstGeom>
        </p:spPr>
      </p:pic>
      <p:pic>
        <p:nvPicPr>
          <p:cNvPr id="15" name="Picture 14">
            <a:extLst>
              <a:ext uri="{FF2B5EF4-FFF2-40B4-BE49-F238E27FC236}">
                <a16:creationId xmlns:a16="http://schemas.microsoft.com/office/drawing/2014/main" id="{0229EBEA-CACD-C3A7-B950-CB9AC92D7026}"/>
              </a:ext>
            </a:extLst>
          </p:cNvPr>
          <p:cNvPicPr>
            <a:picLocks noChangeAspect="1"/>
          </p:cNvPicPr>
          <p:nvPr/>
        </p:nvPicPr>
        <p:blipFill>
          <a:blip r:embed="rId4"/>
          <a:srcRect/>
          <a:stretch/>
        </p:blipFill>
        <p:spPr>
          <a:xfrm>
            <a:off x="6558550" y="449948"/>
            <a:ext cx="2592819" cy="2592819"/>
          </a:xfrm>
          <a:prstGeom prst="rect">
            <a:avLst/>
          </a:prstGeom>
        </p:spPr>
      </p:pic>
      <p:pic>
        <p:nvPicPr>
          <p:cNvPr id="3" name="Picture 2">
            <a:extLst>
              <a:ext uri="{FF2B5EF4-FFF2-40B4-BE49-F238E27FC236}">
                <a16:creationId xmlns:a16="http://schemas.microsoft.com/office/drawing/2014/main" id="{93BAC0AF-2715-26A8-C23D-32F15D7329D2}"/>
              </a:ext>
            </a:extLst>
          </p:cNvPr>
          <p:cNvPicPr>
            <a:picLocks noChangeAspect="1"/>
          </p:cNvPicPr>
          <p:nvPr/>
        </p:nvPicPr>
        <p:blipFill>
          <a:blip r:embed="rId5"/>
          <a:srcRect t="-280" b="475"/>
          <a:stretch>
            <a:fillRect/>
          </a:stretch>
        </p:blipFill>
        <p:spPr>
          <a:xfrm>
            <a:off x="9443977" y="292609"/>
            <a:ext cx="2491990" cy="2487168"/>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446550"/>
          </a:xfrm>
          <a:prstGeom prst="rect">
            <a:avLst/>
          </a:prstGeom>
          <a:noFill/>
        </p:spPr>
        <p:txBody>
          <a:bodyPr wrap="square" rtlCol="0">
            <a:spAutoFit/>
          </a:bodyPr>
          <a:lstStyle/>
          <a:p>
            <a:pPr algn="ctr"/>
            <a:r>
              <a:rPr lang="en-AE" sz="2200">
                <a:solidFill>
                  <a:srgbClr val="FFC000"/>
                </a:solidFill>
                <a:latin typeface="Perpetua" panose="02020502060401020303" pitchFamily="18" charset="77"/>
              </a:rPr>
              <a:t>Audrey’s note: To create an harmony between the differents signage </a:t>
            </a:r>
            <a:r>
              <a:rPr lang="en-US" sz="2200">
                <a:solidFill>
                  <a:srgbClr val="FFC000"/>
                </a:solidFill>
                <a:latin typeface="Perpetua" panose="02020502060401020303" pitchFamily="18" charset="77"/>
              </a:rPr>
              <a:t>I</a:t>
            </a:r>
            <a:r>
              <a:rPr lang="en-AE" sz="2200">
                <a:solidFill>
                  <a:srgbClr val="FFC000"/>
                </a:solidFill>
                <a:latin typeface="Perpetua" panose="02020502060401020303" pitchFamily="18" charset="77"/>
              </a:rPr>
              <a:t> recommend using the same font style and color (as much as possible) – TBC with Veronica 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10936"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Welcome Sign &amp; Décor </a:t>
            </a:r>
            <a:endParaRPr lang="en-US" sz="4400" i="1">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541589"/>
            <a:ext cx="5461111" cy="2154436"/>
          </a:xfrm>
          <a:prstGeom prst="rect">
            <a:avLst/>
          </a:prstGeom>
          <a:noFill/>
        </p:spPr>
        <p:txBody>
          <a:bodyPr wrap="square" rtlCol="0">
            <a:spAutoFit/>
          </a:bodyPr>
          <a:lstStyle/>
          <a:p>
            <a:pPr marL="342900" indent="-342900">
              <a:buFont typeface="Arial" panose="020B0604020202020204" pitchFamily="34" charset="0"/>
              <a:buChar char="•"/>
            </a:pPr>
            <a:r>
              <a:rPr lang="en-US" sz="2200">
                <a:solidFill>
                  <a:schemeClr val="bg2">
                    <a:lumMod val="50000"/>
                  </a:schemeClr>
                </a:solidFill>
                <a:latin typeface="Perpetua" panose="02020502060401020303" pitchFamily="18" charset="77"/>
              </a:rPr>
              <a:t>The white welcome sign, featuring typography and detailing inspired by the reference image, will be elegantly paired with a floral arrangement in white and dusty blue, creating a sophisticated and inviting entrance</a:t>
            </a:r>
          </a:p>
          <a:p>
            <a:pPr marL="342900" indent="-342900" fontAlgn="base">
              <a:buFont typeface="Arial" panose="020B0604020202020204" pitchFamily="34" charset="0"/>
              <a:buChar char="•"/>
            </a:pPr>
            <a:endParaRPr lang="en-US" sz="2400">
              <a:solidFill>
                <a:schemeClr val="bg2">
                  <a:lumMod val="5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t="1090"/>
          <a:stretch>
            <a:fillRect/>
          </a:stretch>
        </p:blipFill>
        <p:spPr>
          <a:xfrm>
            <a:off x="7612566" y="319278"/>
            <a:ext cx="4073395" cy="621944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a:solidFill>
                  <a:schemeClr val="bg2">
                    <a:lumMod val="50000"/>
                  </a:schemeClr>
                </a:solidFill>
                <a:latin typeface="Perpetua" panose="02020502060401020303" pitchFamily="18" charset="77"/>
              </a:rPr>
              <a:t>A large rectangular gold-framed mirror will display the seating chart, featuring wax-sealed, gold-stamped cards elegantly presenting each table number and guests’ names</a:t>
            </a:r>
          </a:p>
          <a:p>
            <a:endParaRPr lang="en-US" sz="240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a:solidFill>
                  <a:schemeClr val="bg2">
                    <a:lumMod val="50000"/>
                  </a:schemeClr>
                </a:solidFill>
                <a:latin typeface="Perpetua" panose="02020502060401020303" pitchFamily="18" charset="77"/>
              </a:rPr>
              <a:t>A medium-sized floral arrangement will be displayed at the base of the seating chart, with décor echoing the reference imagery and styled in harmony with the color </a:t>
            </a:r>
            <a:r>
              <a:rPr lang="en-US" sz="2400">
                <a:solidFill>
                  <a:srgbClr val="FFC000"/>
                </a:solidFill>
                <a:latin typeface="Perpetua" panose="02020502060401020303" pitchFamily="18" charset="77"/>
              </a:rPr>
              <a:t>palette detailed on slide #2</a:t>
            </a:r>
            <a:endParaRPr lang="en-US" sz="2400" i="1">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114214" y="289427"/>
            <a:ext cx="4179556" cy="6279146"/>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815330" y="461142"/>
            <a:ext cx="4748573" cy="5935716"/>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a:solidFill>
                  <a:schemeClr val="bg2">
                    <a:lumMod val="50000"/>
                  </a:schemeClr>
                </a:solidFill>
                <a:latin typeface="Perpetua" panose="02020502060401020303" pitchFamily="18" charset="77"/>
              </a:rPr>
              <a:t>A refined rectangular design, printed on white paper and enhanced with warm-white floral motifs and gold script typography, will be elegantly displayed on a gold holder</a:t>
            </a:r>
            <a:endParaRPr lang="en-US" sz="2200">
              <a:solidFill>
                <a:schemeClr val="bg2">
                  <a:lumMod val="50000"/>
                </a:schemeClr>
              </a:solidFill>
              <a:latin typeface="Perpetua" panose="02020502060401020303" pitchFamily="18" charset="77"/>
              <a:ea typeface="+mj-ea"/>
              <a:cs typeface="+mj-cs"/>
            </a:endParaRP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6939925" y="441751"/>
            <a:ext cx="5008235" cy="5974498"/>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a:solidFill>
                  <a:schemeClr val="bg2">
                    <a:lumMod val="50000"/>
                  </a:schemeClr>
                </a:solidFill>
                <a:latin typeface="Perpetua" panose="02020502060401020303" pitchFamily="18" charset="77"/>
              </a:rPr>
              <a:t>A large rectangular format with a rounded top, crafted from white, smooth, thick matte paper, featuring elegant dark script typography and enhanced with white pearls for a sophisticated, harmonious touch</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673665" y="358139"/>
            <a:ext cx="4913376" cy="6141720"/>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AF78E-16A2-5A6B-CAA3-7D9B508FD0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1D080B-C004-9F13-2CC3-E7237812A99E}"/>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a:solidFill>
                  <a:schemeClr val="bg2">
                    <a:lumMod val="50000"/>
                  </a:schemeClr>
                </a:solidFill>
                <a:latin typeface="Perpetua" panose="02020502060401020303" pitchFamily="18" charset="77"/>
                <a:ea typeface="+mj-ea"/>
                <a:cs typeface="+mj-cs"/>
              </a:rPr>
              <a:t>RECEPTION DÉCOR</a:t>
            </a:r>
            <a:endParaRPr lang="en-US" sz="39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D99914F7-B682-FF91-5514-2539C1F87929}"/>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833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7041749-C801-3AB0-625E-5947C995F7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462F60B-E57F-F239-A1FD-1449A06A11B7}"/>
              </a:ext>
            </a:extLst>
          </p:cNvPr>
          <p:cNvSpPr txBox="1"/>
          <p:nvPr/>
        </p:nvSpPr>
        <p:spPr>
          <a:xfrm>
            <a:off x="506974" y="473868"/>
            <a:ext cx="5017609" cy="5910263"/>
          </a:xfrm>
          <a:prstGeom prst="rect">
            <a:avLst/>
          </a:prstGeom>
        </p:spPr>
        <p:txBody>
          <a:bodyPr vert="horz" lIns="91440" tIns="45720" rIns="91440" bIns="45720" rtlCol="0">
            <a:normAutofit fontScale="92500" lnSpcReduction="10000"/>
          </a:bodyPr>
          <a:lstStyle/>
          <a:p>
            <a:pPr defTabSz="914400">
              <a:lnSpc>
                <a:spcPct val="90000"/>
              </a:lnSpc>
              <a:spcBef>
                <a:spcPct val="0"/>
              </a:spcBef>
              <a:spcAft>
                <a:spcPts val="600"/>
              </a:spcAft>
            </a:pPr>
            <a:r>
              <a:rPr lang="en-US" sz="3500">
                <a:solidFill>
                  <a:schemeClr val="bg2">
                    <a:lumMod val="50000"/>
                  </a:schemeClr>
                </a:solidFill>
                <a:latin typeface="Perpetua" panose="02020502060401020303" pitchFamily="18" charset="77"/>
              </a:rPr>
              <a:t>Rectangular Tables – </a:t>
            </a:r>
            <a:r>
              <a:rPr lang="en-US" sz="3500">
                <a:solidFill>
                  <a:schemeClr val="bg2">
                    <a:lumMod val="50000"/>
                  </a:schemeClr>
                </a:solidFill>
                <a:highlight>
                  <a:srgbClr val="FFFF00"/>
                </a:highlight>
                <a:latin typeface="Perpetua" panose="02020502060401020303" pitchFamily="18" charset="77"/>
              </a:rPr>
              <a:t>OPTION 1</a:t>
            </a:r>
          </a:p>
          <a:p>
            <a:pPr defTabSz="914400">
              <a:lnSpc>
                <a:spcPct val="90000"/>
              </a:lnSpc>
              <a:spcBef>
                <a:spcPct val="0"/>
              </a:spcBef>
              <a:spcAft>
                <a:spcPts val="600"/>
              </a:spcAft>
            </a:pPr>
            <a:endParaRPr lang="en-US" sz="2400">
              <a:solidFill>
                <a:srgbClr val="FFC000"/>
              </a:solidFill>
              <a:highlight>
                <a:srgbClr val="FFFF00"/>
              </a:highlight>
              <a:latin typeface="Perpetua" panose="02020502060401020303" pitchFamily="18" charset="77"/>
            </a:endParaRPr>
          </a:p>
          <a:p>
            <a:pPr defTabSz="914400">
              <a:lnSpc>
                <a:spcPct val="90000"/>
              </a:lnSpc>
              <a:spcBef>
                <a:spcPct val="0"/>
              </a:spcBef>
              <a:spcAft>
                <a:spcPts val="600"/>
              </a:spcAft>
            </a:pPr>
            <a:endParaRPr lang="en-US" sz="2400">
              <a:solidFill>
                <a:srgbClr val="FFC000"/>
              </a:solidFill>
              <a:highlight>
                <a:srgbClr val="FFFF00"/>
              </a:highlight>
              <a:latin typeface="Perpetua" panose="02020502060401020303" pitchFamily="18" charset="77"/>
            </a:endParaRPr>
          </a:p>
          <a:p>
            <a:pPr marL="342900" indent="-342900" algn="ctr" defTabSz="914400">
              <a:lnSpc>
                <a:spcPct val="90000"/>
              </a:lnSpc>
              <a:spcBef>
                <a:spcPct val="0"/>
              </a:spcBef>
              <a:spcAft>
                <a:spcPts val="600"/>
              </a:spcAft>
              <a:buFont typeface="Arial" panose="020B0604020202020204" pitchFamily="34" charset="0"/>
              <a:buChar char="•"/>
            </a:pPr>
            <a:r>
              <a:rPr lang="en-US" sz="2400">
                <a:solidFill>
                  <a:schemeClr val="bg2">
                    <a:lumMod val="50000"/>
                  </a:schemeClr>
                </a:solidFill>
                <a:latin typeface="Perpetua" panose="02020502060401020303" pitchFamily="18" charset="77"/>
              </a:rPr>
              <a:t>Rectangular tables (12 to 14 peoples) will be dressed in warm white linens and adorned with airy floral arrangements in crystal vases, elegantly arranged from end to end</a:t>
            </a:r>
          </a:p>
          <a:p>
            <a:pPr algn="ct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ndParaRPr>
          </a:p>
          <a:p>
            <a:pPr marL="457200" indent="-228600" defTabSz="914400">
              <a:lnSpc>
                <a:spcPct val="90000"/>
              </a:lnSpc>
              <a:buFont typeface="Arial" panose="020B0604020202020204" pitchFamily="34" charset="0"/>
              <a:buChar char="•"/>
            </a:pPr>
            <a:r>
              <a:rPr lang="en-US" sz="2400">
                <a:solidFill>
                  <a:schemeClr val="bg2">
                    <a:lumMod val="50000"/>
                  </a:schemeClr>
                </a:solidFill>
                <a:latin typeface="Perpetua" panose="02020502060401020303" pitchFamily="18" charset="77"/>
              </a:rPr>
              <a:t> These arrangements will incorporate short taper candles, complemented by vintage mini lamps.</a:t>
            </a:r>
          </a:p>
          <a:p>
            <a:pPr defTabSz="914400">
              <a:lnSpc>
                <a:spcPct val="90000"/>
              </a:lnSpc>
            </a:pPr>
            <a:endParaRPr lang="en-US" sz="2400">
              <a:solidFill>
                <a:schemeClr val="bg2">
                  <a:lumMod val="50000"/>
                </a:schemeClr>
              </a:solidFill>
              <a:latin typeface="Perpetua" panose="02020502060401020303" pitchFamily="18" charset="77"/>
            </a:endParaRPr>
          </a:p>
          <a:p>
            <a:pPr defTabSz="914400">
              <a:lnSpc>
                <a:spcPct val="90000"/>
              </a:lnSpc>
            </a:pPr>
            <a:endParaRPr lang="en-US" sz="2400">
              <a:solidFill>
                <a:schemeClr val="bg2">
                  <a:lumMod val="50000"/>
                </a:schemeClr>
              </a:solidFill>
              <a:latin typeface="Perpetua" panose="02020502060401020303" pitchFamily="18" charset="77"/>
            </a:endParaRPr>
          </a:p>
          <a:p>
            <a:pPr defTabSz="914400">
              <a:lnSpc>
                <a:spcPct val="90000"/>
              </a:lnSpc>
            </a:pPr>
            <a:endParaRPr lang="en-US" sz="2400">
              <a:solidFill>
                <a:schemeClr val="bg2">
                  <a:lumMod val="50000"/>
                </a:schemeClr>
              </a:solidFill>
              <a:latin typeface="Perpetua" panose="02020502060401020303" pitchFamily="18" charset="77"/>
            </a:endParaRPr>
          </a:p>
          <a:p>
            <a:pPr marL="228600" indent="-228600" defTabSz="914400">
              <a:lnSpc>
                <a:spcPct val="90000"/>
              </a:lnSpc>
              <a:buFont typeface="Arial" panose="020B0604020202020204" pitchFamily="34" charset="0"/>
              <a:buChar char="•"/>
            </a:pPr>
            <a:endParaRPr lang="en-US" sz="2400">
              <a:solidFill>
                <a:schemeClr val="bg2">
                  <a:lumMod val="50000"/>
                </a:schemeClr>
              </a:solidFill>
              <a:latin typeface="Perpetua" panose="02020502060401020303" pitchFamily="18" charset="77"/>
            </a:endParaRPr>
          </a:p>
          <a:p>
            <a:pPr defTabSz="914400">
              <a:lnSpc>
                <a:spcPct val="90000"/>
              </a:lnSpc>
            </a:pPr>
            <a:r>
              <a:rPr lang="en-US" sz="2400">
                <a:solidFill>
                  <a:schemeClr val="bg2">
                    <a:lumMod val="50000"/>
                  </a:schemeClr>
                </a:solidFill>
                <a:latin typeface="Perpetua" panose="02020502060401020303" pitchFamily="18" charset="77"/>
              </a:rPr>
              <a:t>The overall décor will reflect and harmonize with the color </a:t>
            </a:r>
            <a:r>
              <a:rPr lang="en-US" sz="2400">
                <a:solidFill>
                  <a:srgbClr val="FFC000"/>
                </a:solidFill>
                <a:latin typeface="Perpetua" panose="02020502060401020303" pitchFamily="18" charset="77"/>
              </a:rPr>
              <a:t>palette detailed on slide #2</a:t>
            </a:r>
          </a:p>
          <a:p>
            <a:pPr indent="-228600" defTabSz="914400">
              <a:lnSpc>
                <a:spcPct val="90000"/>
              </a:lnSpc>
              <a:spcBef>
                <a:spcPct val="0"/>
              </a:spcBef>
              <a:spcAft>
                <a:spcPts val="600"/>
              </a:spcAft>
              <a:buFont typeface="Arial" panose="020B0604020202020204" pitchFamily="34" charset="0"/>
              <a:buChar char="•"/>
            </a:pPr>
            <a:endParaRPr lang="en-US" sz="1400">
              <a:sym typeface="Wingdings" pitchFamily="2" charset="2"/>
            </a:endParaRPr>
          </a:p>
        </p:txBody>
      </p:sp>
      <p:pic>
        <p:nvPicPr>
          <p:cNvPr id="3" name="Picture 2">
            <a:extLst>
              <a:ext uri="{FF2B5EF4-FFF2-40B4-BE49-F238E27FC236}">
                <a16:creationId xmlns:a16="http://schemas.microsoft.com/office/drawing/2014/main" id="{DFB80419-ED54-98BE-1502-23EF5A4B22B9}"/>
              </a:ext>
            </a:extLst>
          </p:cNvPr>
          <p:cNvPicPr>
            <a:picLocks noChangeAspect="1"/>
          </p:cNvPicPr>
          <p:nvPr/>
        </p:nvPicPr>
        <p:blipFill>
          <a:blip r:embed="rId3"/>
          <a:srcRect l="9584" r="9584"/>
          <a:stretch/>
        </p:blipFill>
        <p:spPr>
          <a:xfrm>
            <a:off x="5829732" y="1073835"/>
            <a:ext cx="2538331" cy="4710330"/>
          </a:xfrm>
          <a:prstGeom prst="rect">
            <a:avLst/>
          </a:prstGeom>
        </p:spPr>
      </p:pic>
      <p:pic>
        <p:nvPicPr>
          <p:cNvPr id="5" name="Picture 4">
            <a:extLst>
              <a:ext uri="{FF2B5EF4-FFF2-40B4-BE49-F238E27FC236}">
                <a16:creationId xmlns:a16="http://schemas.microsoft.com/office/drawing/2014/main" id="{3AFF2D20-F409-D356-E53D-0E872146B7E0}"/>
              </a:ext>
            </a:extLst>
          </p:cNvPr>
          <p:cNvPicPr>
            <a:picLocks noChangeAspect="1"/>
          </p:cNvPicPr>
          <p:nvPr/>
        </p:nvPicPr>
        <p:blipFill>
          <a:blip r:embed="rId4"/>
          <a:srcRect l="16787" r="8250"/>
          <a:stretch>
            <a:fillRect/>
          </a:stretch>
        </p:blipFill>
        <p:spPr>
          <a:xfrm>
            <a:off x="8673211" y="1073835"/>
            <a:ext cx="2480530" cy="4710330"/>
          </a:xfrm>
          <a:prstGeom prst="rect">
            <a:avLst/>
          </a:prstGeom>
        </p:spPr>
      </p:pic>
      <p:sp>
        <p:nvSpPr>
          <p:cNvPr id="23" name="Content Placeholder 12">
            <a:extLst>
              <a:ext uri="{FF2B5EF4-FFF2-40B4-BE49-F238E27FC236}">
                <a16:creationId xmlns:a16="http://schemas.microsoft.com/office/drawing/2014/main" id="{8921120B-FE16-E0D1-4AA6-A7EC408A5649}"/>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a:solidFill>
                <a:schemeClr val="bg2">
                  <a:lumMod val="50000"/>
                </a:schemeClr>
              </a:solidFill>
              <a:latin typeface="Perpetua" panose="02020502060401020303" pitchFamily="18" charset="77"/>
            </a:endParaRPr>
          </a:p>
          <a:p>
            <a:pPr marL="0" indent="0" algn="l">
              <a:buNone/>
            </a:pPr>
            <a:endParaRPr lang="en-US" sz="2000">
              <a:solidFill>
                <a:schemeClr val="bg2">
                  <a:lumMod val="50000"/>
                </a:schemeClr>
              </a:solidFill>
              <a:latin typeface="Perpetua" panose="02020502060401020303" pitchFamily="18" charset="77"/>
            </a:endParaRPr>
          </a:p>
        </p:txBody>
      </p:sp>
    </p:spTree>
    <p:extLst>
      <p:ext uri="{BB962C8B-B14F-4D97-AF65-F5344CB8AC3E}">
        <p14:creationId xmlns:p14="http://schemas.microsoft.com/office/powerpoint/2010/main" val="2151590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366164" y="195447"/>
            <a:ext cx="6108878"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a:solidFill>
                  <a:schemeClr val="bg2">
                    <a:lumMod val="50000"/>
                  </a:schemeClr>
                </a:solidFill>
                <a:latin typeface="Perpetua" panose="02020502060401020303" pitchFamily="18" charset="77"/>
                <a:ea typeface="+mj-ea"/>
                <a:cs typeface="+mj-cs"/>
              </a:rPr>
              <a:t>Rectangular Tables – </a:t>
            </a:r>
            <a:r>
              <a:rPr lang="en-US" sz="3900">
                <a:solidFill>
                  <a:schemeClr val="bg2">
                    <a:lumMod val="50000"/>
                  </a:schemeClr>
                </a:solidFill>
                <a:highlight>
                  <a:srgbClr val="FFFF00"/>
                </a:highlight>
                <a:latin typeface="Perpetua" panose="02020502060401020303" pitchFamily="18" charset="77"/>
                <a:ea typeface="+mj-ea"/>
                <a:cs typeface="+mj-cs"/>
              </a:rPr>
              <a:t>Option 2</a:t>
            </a:r>
            <a:endParaRPr lang="en-US" sz="3900" i="1">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745206" y="2129035"/>
            <a:ext cx="5350793" cy="3978476"/>
          </a:xfrm>
        </p:spPr>
        <p:txBody>
          <a:bodyPr vert="horz" lIns="91440" tIns="45720" rIns="91440" bIns="45720" rtlCol="0">
            <a:noAutofit/>
          </a:bodyPr>
          <a:lstStyle/>
          <a:p>
            <a:pPr algn="ctr"/>
            <a:r>
              <a:rPr lang="en-US" sz="2200">
                <a:solidFill>
                  <a:schemeClr val="bg2">
                    <a:lumMod val="50000"/>
                  </a:schemeClr>
                </a:solidFill>
                <a:latin typeface="Perpetua" panose="02020502060401020303" pitchFamily="18" charset="77"/>
              </a:rPr>
              <a:t>For the rectangular table décor, the aesthetic remains light, airy, and romantic. Each table will feature multiple medium-low, rounded floral arrangements, elegantly placed from end to end in small vases and surrounded by medium white taper candles. A refined palette of pastel blues, soft whites, and lush greenery envelops the space, creating a warm, timeless, and effortlessly sophisticated ambiance</a:t>
            </a:r>
            <a:endParaRPr lang="en-US" sz="2200" b="0" i="0">
              <a:solidFill>
                <a:schemeClr val="bg2">
                  <a:lumMod val="50000"/>
                </a:schemeClr>
              </a:solidFill>
              <a:effectLst/>
              <a:latin typeface="Perpetua" panose="02020502060401020303" pitchFamily="18" charset="77"/>
            </a:endParaRPr>
          </a:p>
        </p:txBody>
      </p:sp>
      <p:pic>
        <p:nvPicPr>
          <p:cNvPr id="4" name="Picture 3">
            <a:extLst>
              <a:ext uri="{FF2B5EF4-FFF2-40B4-BE49-F238E27FC236}">
                <a16:creationId xmlns:a16="http://schemas.microsoft.com/office/drawing/2014/main" id="{BA257427-4C71-4B05-0579-C603DB05E2A3}"/>
              </a:ext>
            </a:extLst>
          </p:cNvPr>
          <p:cNvPicPr>
            <a:picLocks noChangeAspect="1"/>
          </p:cNvPicPr>
          <p:nvPr/>
        </p:nvPicPr>
        <p:blipFill>
          <a:blip r:embed="rId2"/>
          <a:srcRect/>
          <a:stretch/>
        </p:blipFill>
        <p:spPr>
          <a:xfrm>
            <a:off x="7406438" y="750488"/>
            <a:ext cx="4019132" cy="5357023"/>
          </a:xfrm>
          <a:prstGeom prst="rect">
            <a:avLst/>
          </a:prstGeom>
        </p:spPr>
      </p:pic>
    </p:spTree>
    <p:extLst>
      <p:ext uri="{BB962C8B-B14F-4D97-AF65-F5344CB8AC3E}">
        <p14:creationId xmlns:p14="http://schemas.microsoft.com/office/powerpoint/2010/main" val="938962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521042"/>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a:solidFill>
                  <a:schemeClr val="bg2">
                    <a:lumMod val="50000"/>
                  </a:schemeClr>
                </a:solidFill>
                <a:latin typeface="Perpetua" panose="02020502060401020303" pitchFamily="18" charset="77"/>
                <a:ea typeface="+mj-ea"/>
                <a:cs typeface="+mj-cs"/>
              </a:rPr>
              <a:t>RENTALS</a:t>
            </a:r>
            <a:endParaRPr lang="en-US" sz="5400" i="1">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573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626" y="327611"/>
            <a:ext cx="4966776" cy="73354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390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a:solidFill>
                <a:schemeClr val="bg2">
                  <a:lumMod val="50000"/>
                </a:schemeClr>
              </a:solidFill>
              <a:latin typeface="Perpetua" panose="02020502060401020303" pitchFamily="18" charset="77"/>
            </a:endParaRPr>
          </a:p>
          <a:p>
            <a:pPr marL="0" indent="0" algn="l">
              <a:buNone/>
            </a:pPr>
            <a:endParaRPr lang="en-US" sz="200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C4E91E1E-1CFE-DC5B-40A8-D186EB235688}"/>
              </a:ext>
            </a:extLst>
          </p:cNvPr>
          <p:cNvSpPr txBox="1"/>
          <p:nvPr/>
        </p:nvSpPr>
        <p:spPr>
          <a:xfrm>
            <a:off x="450940" y="1826170"/>
            <a:ext cx="4427210" cy="3139321"/>
          </a:xfrm>
          <a:prstGeom prst="rect">
            <a:avLst/>
          </a:prstGeom>
          <a:noFill/>
        </p:spPr>
        <p:txBody>
          <a:bodyPr wrap="square" rtlCol="0">
            <a:spAutoFit/>
          </a:bodyPr>
          <a:lstStyle/>
          <a:p>
            <a:pPr marL="342900" indent="-342900">
              <a:buFont typeface="Arial" panose="020B0604020202020204" pitchFamily="34" charset="0"/>
              <a:buChar char="•"/>
            </a:pPr>
            <a:r>
              <a:rPr lang="en-US" sz="2200">
                <a:solidFill>
                  <a:schemeClr val="bg2">
                    <a:lumMod val="50000"/>
                  </a:schemeClr>
                </a:solidFill>
                <a:latin typeface="Perpetua" panose="02020502060401020303" pitchFamily="18" charset="77"/>
              </a:rPr>
              <a:t>Ivory or gold rimmed charger plates will be selected based on rental availability, carefully chosen to match the reference image provided by the bride. Vintage gold flatware will complement the table setting, paired with delicate crystal glassware  and dusty blue napkins for a refined and harmonious touch</a:t>
            </a:r>
          </a:p>
        </p:txBody>
      </p:sp>
      <p:pic>
        <p:nvPicPr>
          <p:cNvPr id="11" name="Picture 10" descr="A gold cutlery set with a knife spoon and fork&#10;&#10;Description automatically generated">
            <a:extLst>
              <a:ext uri="{FF2B5EF4-FFF2-40B4-BE49-F238E27FC236}">
                <a16:creationId xmlns:a16="http://schemas.microsoft.com/office/drawing/2014/main" id="{47607031-061C-723A-60E3-1B7448948028}"/>
              </a:ext>
            </a:extLst>
          </p:cNvPr>
          <p:cNvPicPr>
            <a:picLocks noChangeAspect="1"/>
          </p:cNvPicPr>
          <p:nvPr/>
        </p:nvPicPr>
        <p:blipFill>
          <a:blip r:embed="rId2"/>
          <a:stretch>
            <a:fillRect/>
          </a:stretch>
        </p:blipFill>
        <p:spPr>
          <a:xfrm>
            <a:off x="8893164" y="327611"/>
            <a:ext cx="2758735" cy="2878432"/>
          </a:xfrm>
          <a:prstGeom prst="rect">
            <a:avLst/>
          </a:prstGeom>
        </p:spPr>
      </p:pic>
      <p:pic>
        <p:nvPicPr>
          <p:cNvPr id="4" name="Picture 3" descr="A stack of white plates&#10;&#10;AI-generated content may be incorrect.">
            <a:extLst>
              <a:ext uri="{FF2B5EF4-FFF2-40B4-BE49-F238E27FC236}">
                <a16:creationId xmlns:a16="http://schemas.microsoft.com/office/drawing/2014/main" id="{0AF2DA3B-F198-5DCC-9761-0DE6AD07285A}"/>
              </a:ext>
            </a:extLst>
          </p:cNvPr>
          <p:cNvPicPr>
            <a:picLocks noChangeAspect="1"/>
          </p:cNvPicPr>
          <p:nvPr/>
        </p:nvPicPr>
        <p:blipFill>
          <a:blip r:embed="rId3"/>
          <a:stretch>
            <a:fillRect/>
          </a:stretch>
        </p:blipFill>
        <p:spPr>
          <a:xfrm>
            <a:off x="5324243" y="327612"/>
            <a:ext cx="2771823" cy="2878432"/>
          </a:xfrm>
          <a:prstGeom prst="rect">
            <a:avLst/>
          </a:prstGeom>
        </p:spPr>
      </p:pic>
      <p:pic>
        <p:nvPicPr>
          <p:cNvPr id="2" name="Picture 1" descr="Two glasses on a table&#10;&#10;AI-generated content may be incorrect.">
            <a:extLst>
              <a:ext uri="{FF2B5EF4-FFF2-40B4-BE49-F238E27FC236}">
                <a16:creationId xmlns:a16="http://schemas.microsoft.com/office/drawing/2014/main" id="{149FE00D-5A4C-3911-C256-10A4663F55E4}"/>
              </a:ext>
            </a:extLst>
          </p:cNvPr>
          <p:cNvPicPr>
            <a:picLocks noChangeAspect="1"/>
          </p:cNvPicPr>
          <p:nvPr/>
        </p:nvPicPr>
        <p:blipFill>
          <a:blip r:embed="rId4"/>
          <a:stretch>
            <a:fillRect/>
          </a:stretch>
        </p:blipFill>
        <p:spPr>
          <a:xfrm>
            <a:off x="5324243" y="3429000"/>
            <a:ext cx="3432101" cy="3259947"/>
          </a:xfrm>
          <a:prstGeom prst="rect">
            <a:avLst/>
          </a:prstGeom>
        </p:spPr>
      </p:pic>
      <p:pic>
        <p:nvPicPr>
          <p:cNvPr id="6" name="Picture 5" descr="A table set for a wedding reception&#10;&#10;AI-generated content may be incorrect.">
            <a:extLst>
              <a:ext uri="{FF2B5EF4-FFF2-40B4-BE49-F238E27FC236}">
                <a16:creationId xmlns:a16="http://schemas.microsoft.com/office/drawing/2014/main" id="{6395F3C0-DFC6-A919-2F34-0BC4040A6996}"/>
              </a:ext>
            </a:extLst>
          </p:cNvPr>
          <p:cNvPicPr>
            <a:picLocks noChangeAspect="1"/>
          </p:cNvPicPr>
          <p:nvPr/>
        </p:nvPicPr>
        <p:blipFill>
          <a:blip r:embed="rId5"/>
          <a:srcRect l="28841" t="47625" r="9164" b="13184"/>
          <a:stretch>
            <a:fillRect/>
          </a:stretch>
        </p:blipFill>
        <p:spPr>
          <a:xfrm>
            <a:off x="8893164" y="3842658"/>
            <a:ext cx="3189514" cy="2687731"/>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C36E9B6-D089-E24E-93DD-9E6E405145F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D0CB85B6-D24C-36BF-FDDD-1ED5673C7EF0}"/>
              </a:ext>
            </a:extLst>
          </p:cNvPr>
          <p:cNvSpPr txBox="1"/>
          <p:nvPr/>
        </p:nvSpPr>
        <p:spPr>
          <a:xfrm>
            <a:off x="314145" y="186097"/>
            <a:ext cx="5781855" cy="250267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a:solidFill>
                  <a:schemeClr val="bg2">
                    <a:lumMod val="50000"/>
                  </a:schemeClr>
                </a:solidFill>
                <a:latin typeface="Perpetua" panose="02020502060401020303" pitchFamily="18" charset="77"/>
              </a:rPr>
              <a:t>CHAIRS FOR CEREMONY AND </a:t>
            </a:r>
          </a:p>
          <a:p>
            <a:pPr algn="ctr" defTabSz="914400">
              <a:lnSpc>
                <a:spcPct val="90000"/>
              </a:lnSpc>
              <a:spcBef>
                <a:spcPct val="0"/>
              </a:spcBef>
              <a:spcAft>
                <a:spcPts val="600"/>
              </a:spcAft>
            </a:pPr>
            <a:r>
              <a:rPr lang="en-US" sz="3900">
                <a:solidFill>
                  <a:schemeClr val="bg2">
                    <a:lumMod val="50000"/>
                  </a:schemeClr>
                </a:solidFill>
                <a:latin typeface="Perpetua" panose="02020502060401020303" pitchFamily="18" charset="77"/>
              </a:rPr>
              <a:t>RECEPTION</a:t>
            </a:r>
            <a:endParaRPr lang="en-US" sz="3900">
              <a:solidFill>
                <a:schemeClr val="bg2">
                  <a:lumMod val="50000"/>
                </a:schemeClr>
              </a:solidFill>
              <a:latin typeface="Perpetua" panose="02020502060401020303" pitchFamily="18" charset="77"/>
              <a:sym typeface="Wingdings" pitchFamily="2" charset="2"/>
            </a:endParaRPr>
          </a:p>
          <a:p>
            <a:pPr algn="ctr" defTabSz="914400">
              <a:lnSpc>
                <a:spcPct val="90000"/>
              </a:lnSpc>
              <a:spcBef>
                <a:spcPct val="0"/>
              </a:spcBef>
              <a:spcAft>
                <a:spcPts val="600"/>
              </a:spcAft>
            </a:pPr>
            <a:endParaRPr lang="en-US" sz="390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390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9D49703C-D8AA-BD9F-3105-0DED07F4331E}"/>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a:solidFill>
                <a:schemeClr val="bg2">
                  <a:lumMod val="50000"/>
                </a:schemeClr>
              </a:solidFill>
              <a:latin typeface="Perpetua" panose="02020502060401020303" pitchFamily="18" charset="77"/>
            </a:endParaRPr>
          </a:p>
          <a:p>
            <a:pPr marL="0" indent="0" algn="l">
              <a:buNone/>
            </a:pPr>
            <a:endParaRPr lang="en-US" sz="200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126AE66A-3EC3-8C55-576D-72BFC3AB0875}"/>
              </a:ext>
            </a:extLst>
          </p:cNvPr>
          <p:cNvSpPr txBox="1"/>
          <p:nvPr/>
        </p:nvSpPr>
        <p:spPr>
          <a:xfrm>
            <a:off x="991467" y="3044279"/>
            <a:ext cx="4427210" cy="769441"/>
          </a:xfrm>
          <a:prstGeom prst="rect">
            <a:avLst/>
          </a:prstGeom>
          <a:noFill/>
        </p:spPr>
        <p:txBody>
          <a:bodyPr wrap="square" rtlCol="0">
            <a:spAutoFit/>
          </a:bodyPr>
          <a:lstStyle/>
          <a:p>
            <a:pPr algn="ctr"/>
            <a:r>
              <a:rPr lang="en-US" sz="2200">
                <a:solidFill>
                  <a:schemeClr val="bg2">
                    <a:lumMod val="50000"/>
                  </a:schemeClr>
                </a:solidFill>
                <a:latin typeface="Perpetua" panose="02020502060401020303" pitchFamily="18" charset="77"/>
              </a:rPr>
              <a:t>WOODEN - Louis Chairs</a:t>
            </a:r>
          </a:p>
          <a:p>
            <a:endParaRPr lang="en-US" sz="2200">
              <a:solidFill>
                <a:schemeClr val="bg2">
                  <a:lumMod val="50000"/>
                </a:schemeClr>
              </a:solidFill>
              <a:latin typeface="Perpetua" panose="02020502060401020303" pitchFamily="18" charset="77"/>
            </a:endParaRPr>
          </a:p>
        </p:txBody>
      </p:sp>
      <p:pic>
        <p:nvPicPr>
          <p:cNvPr id="3" name="Picture 2">
            <a:extLst>
              <a:ext uri="{FF2B5EF4-FFF2-40B4-BE49-F238E27FC236}">
                <a16:creationId xmlns:a16="http://schemas.microsoft.com/office/drawing/2014/main" id="{E8C5B186-DED8-7C70-A67B-5081F3A71C56}"/>
              </a:ext>
            </a:extLst>
          </p:cNvPr>
          <p:cNvPicPr>
            <a:picLocks noChangeAspect="1"/>
          </p:cNvPicPr>
          <p:nvPr/>
        </p:nvPicPr>
        <p:blipFill>
          <a:blip r:embed="rId2"/>
          <a:stretch>
            <a:fillRect/>
          </a:stretch>
        </p:blipFill>
        <p:spPr>
          <a:xfrm>
            <a:off x="7712117" y="688790"/>
            <a:ext cx="3496898" cy="5564245"/>
          </a:xfrm>
          <a:prstGeom prst="rect">
            <a:avLst/>
          </a:prstGeom>
        </p:spPr>
      </p:pic>
    </p:spTree>
    <p:extLst>
      <p:ext uri="{BB962C8B-B14F-4D97-AF65-F5344CB8AC3E}">
        <p14:creationId xmlns:p14="http://schemas.microsoft.com/office/powerpoint/2010/main" val="1970552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035E-5966-ACBC-1783-900155DF7A40}"/>
              </a:ext>
            </a:extLst>
          </p:cNvPr>
          <p:cNvSpPr>
            <a:spLocks noGrp="1"/>
          </p:cNvSpPr>
          <p:nvPr>
            <p:ph type="title"/>
          </p:nvPr>
        </p:nvSpPr>
        <p:spPr>
          <a:xfrm>
            <a:off x="488134" y="230205"/>
            <a:ext cx="5194578" cy="1325563"/>
          </a:xfrm>
        </p:spPr>
        <p:txBody>
          <a:bodyPr/>
          <a:lstStyle/>
          <a:p>
            <a:pPr algn="ctr"/>
            <a:r>
              <a:rPr lang="en-US">
                <a:solidFill>
                  <a:schemeClr val="bg2">
                    <a:lumMod val="50000"/>
                  </a:schemeClr>
                </a:solidFill>
                <a:latin typeface="Perpetua" panose="02020502060401020303" pitchFamily="18" charset="77"/>
              </a:rPr>
              <a:t>CAKE TABLE </a:t>
            </a:r>
          </a:p>
        </p:txBody>
      </p:sp>
      <p:sp>
        <p:nvSpPr>
          <p:cNvPr id="8" name="TextBox 7">
            <a:extLst>
              <a:ext uri="{FF2B5EF4-FFF2-40B4-BE49-F238E27FC236}">
                <a16:creationId xmlns:a16="http://schemas.microsoft.com/office/drawing/2014/main" id="{00BA0D7C-2976-B139-E634-692625262AAD}"/>
              </a:ext>
            </a:extLst>
          </p:cNvPr>
          <p:cNvSpPr txBox="1"/>
          <p:nvPr/>
        </p:nvSpPr>
        <p:spPr>
          <a:xfrm>
            <a:off x="1236882" y="2274837"/>
            <a:ext cx="3697082" cy="1785104"/>
          </a:xfrm>
          <a:prstGeom prst="rect">
            <a:avLst/>
          </a:prstGeom>
          <a:noFill/>
        </p:spPr>
        <p:txBody>
          <a:bodyPr wrap="square" rtlCol="0">
            <a:spAutoFit/>
          </a:bodyPr>
          <a:lstStyle/>
          <a:p>
            <a:pPr marL="342900" indent="-342900" algn="ctr">
              <a:buFont typeface="Arial" panose="020B0604020202020204" pitchFamily="34" charset="0"/>
              <a:buChar char="•"/>
            </a:pPr>
            <a:r>
              <a:rPr lang="en-US" sz="2200">
                <a:solidFill>
                  <a:schemeClr val="bg2">
                    <a:lumMod val="50000"/>
                  </a:schemeClr>
                </a:solidFill>
                <a:latin typeface="Perpetua" panose="02020502060401020303" pitchFamily="18" charset="77"/>
              </a:rPr>
              <a:t>The cake table will be styled with floral arrangements that harmonize seamlessly with the overall décor, in keeping with the established color palette</a:t>
            </a:r>
          </a:p>
        </p:txBody>
      </p:sp>
      <p:pic>
        <p:nvPicPr>
          <p:cNvPr id="4" name="Picture 3">
            <a:extLst>
              <a:ext uri="{FF2B5EF4-FFF2-40B4-BE49-F238E27FC236}">
                <a16:creationId xmlns:a16="http://schemas.microsoft.com/office/drawing/2014/main" id="{11686D57-09B8-E710-69D7-22E9C4CBDEC6}"/>
              </a:ext>
            </a:extLst>
          </p:cNvPr>
          <p:cNvPicPr>
            <a:picLocks noChangeAspect="1"/>
          </p:cNvPicPr>
          <p:nvPr/>
        </p:nvPicPr>
        <p:blipFill>
          <a:blip r:embed="rId2"/>
          <a:srcRect/>
          <a:stretch/>
        </p:blipFill>
        <p:spPr>
          <a:xfrm>
            <a:off x="6832466" y="684188"/>
            <a:ext cx="4390876" cy="5489623"/>
          </a:xfrm>
          <a:prstGeom prst="rect">
            <a:avLst/>
          </a:prstGeom>
        </p:spPr>
      </p:pic>
    </p:spTree>
    <p:extLst>
      <p:ext uri="{BB962C8B-B14F-4D97-AF65-F5344CB8AC3E}">
        <p14:creationId xmlns:p14="http://schemas.microsoft.com/office/powerpoint/2010/main" val="1053509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76290" y="222152"/>
            <a:ext cx="8236368" cy="707172"/>
          </a:xfrm>
        </p:spPr>
        <p:txBody>
          <a:bodyPr vert="horz" lIns="91440" tIns="45720" rIns="91440" bIns="45720" rtlCol="0" anchor="ctr">
            <a:normAutofit fontScale="90000"/>
          </a:bodyPr>
          <a:lstStyle/>
          <a:p>
            <a:pPr algn="ctr"/>
            <a:r>
              <a:rPr lang="en-US" sz="3100">
                <a:solidFill>
                  <a:schemeClr val="bg2">
                    <a:lumMod val="50000"/>
                  </a:schemeClr>
                </a:solidFill>
                <a:latin typeface="Perpetua" panose="02020502060401020303" pitchFamily="18" charset="77"/>
              </a:rPr>
              <a:t>UP LITHING</a:t>
            </a:r>
            <a:br>
              <a:rPr lang="en-US" sz="2400" kern="1200">
                <a:solidFill>
                  <a:schemeClr val="bg2">
                    <a:lumMod val="50000"/>
                  </a:schemeClr>
                </a:solidFill>
                <a:latin typeface="Perpetua" panose="02020502060401020303" pitchFamily="18" charset="77"/>
              </a:rPr>
            </a:br>
            <a:endParaRPr lang="en-US" sz="2400" kern="1200">
              <a:solidFill>
                <a:schemeClr val="bg2">
                  <a:lumMod val="50000"/>
                </a:schemeClr>
              </a:solidFill>
              <a:latin typeface="Perpetua" panose="02020502060401020303" pitchFamily="18" charset="77"/>
            </a:endParaRPr>
          </a:p>
        </p:txBody>
      </p:sp>
      <p:pic>
        <p:nvPicPr>
          <p:cNvPr id="5" name="Picture 4" descr="A room with tables and chairs&#10;&#10;Description automatically generated">
            <a:extLst>
              <a:ext uri="{FF2B5EF4-FFF2-40B4-BE49-F238E27FC236}">
                <a16:creationId xmlns:a16="http://schemas.microsoft.com/office/drawing/2014/main" id="{3FDF27F5-3EE5-6566-CBCC-8CD661A37A91}"/>
              </a:ext>
            </a:extLst>
          </p:cNvPr>
          <p:cNvPicPr>
            <a:picLocks noChangeAspect="1"/>
          </p:cNvPicPr>
          <p:nvPr/>
        </p:nvPicPr>
        <p:blipFill>
          <a:blip r:embed="rId3"/>
          <a:stretch>
            <a:fillRect/>
          </a:stretch>
        </p:blipFill>
        <p:spPr>
          <a:xfrm>
            <a:off x="175398" y="2347783"/>
            <a:ext cx="4001186" cy="4417347"/>
          </a:xfrm>
          <a:prstGeom prst="rect">
            <a:avLst/>
          </a:prstGeom>
        </p:spPr>
      </p:pic>
      <p:pic>
        <p:nvPicPr>
          <p:cNvPr id="8" name="Picture 7" descr="A room with tables and chairs&#10;&#10;Description automatically generated">
            <a:extLst>
              <a:ext uri="{FF2B5EF4-FFF2-40B4-BE49-F238E27FC236}">
                <a16:creationId xmlns:a16="http://schemas.microsoft.com/office/drawing/2014/main" id="{1059039F-3AAB-9322-24E8-EFAA74642592}"/>
              </a:ext>
            </a:extLst>
          </p:cNvPr>
          <p:cNvPicPr>
            <a:picLocks noChangeAspect="1"/>
          </p:cNvPicPr>
          <p:nvPr/>
        </p:nvPicPr>
        <p:blipFill>
          <a:blip r:embed="rId4"/>
          <a:stretch>
            <a:fillRect/>
          </a:stretch>
        </p:blipFill>
        <p:spPr>
          <a:xfrm>
            <a:off x="4270860" y="2347784"/>
            <a:ext cx="3647229" cy="4417347"/>
          </a:xfrm>
          <a:prstGeom prst="rect">
            <a:avLst/>
          </a:prstGeom>
        </p:spPr>
      </p:pic>
      <p:pic>
        <p:nvPicPr>
          <p:cNvPr id="11" name="Picture 10" descr="A room with tables and chairs and chandeliers&#10;&#10;Description automatically generated">
            <a:extLst>
              <a:ext uri="{FF2B5EF4-FFF2-40B4-BE49-F238E27FC236}">
                <a16:creationId xmlns:a16="http://schemas.microsoft.com/office/drawing/2014/main" id="{097B2804-FC64-B84B-63AF-03C9D019D845}"/>
              </a:ext>
            </a:extLst>
          </p:cNvPr>
          <p:cNvPicPr>
            <a:picLocks noChangeAspect="1"/>
          </p:cNvPicPr>
          <p:nvPr/>
        </p:nvPicPr>
        <p:blipFill>
          <a:blip r:embed="rId5"/>
          <a:stretch>
            <a:fillRect/>
          </a:stretch>
        </p:blipFill>
        <p:spPr>
          <a:xfrm>
            <a:off x="8012365" y="2347782"/>
            <a:ext cx="3880956" cy="4417348"/>
          </a:xfrm>
          <a:prstGeom prst="rect">
            <a:avLst/>
          </a:prstGeom>
        </p:spPr>
      </p:pic>
      <p:sp>
        <p:nvSpPr>
          <p:cNvPr id="12" name="TextBox 11">
            <a:extLst>
              <a:ext uri="{FF2B5EF4-FFF2-40B4-BE49-F238E27FC236}">
                <a16:creationId xmlns:a16="http://schemas.microsoft.com/office/drawing/2014/main" id="{C2C98D09-40D2-B9B2-95E6-7A89724F0D53}"/>
              </a:ext>
            </a:extLst>
          </p:cNvPr>
          <p:cNvSpPr txBox="1"/>
          <p:nvPr/>
        </p:nvSpPr>
        <p:spPr>
          <a:xfrm>
            <a:off x="469557" y="999381"/>
            <a:ext cx="11423764" cy="1015663"/>
          </a:xfrm>
          <a:prstGeom prst="rect">
            <a:avLst/>
          </a:prstGeom>
          <a:noFill/>
        </p:spPr>
        <p:txBody>
          <a:bodyPr wrap="square" rtlCol="0">
            <a:spAutoFit/>
          </a:bodyPr>
          <a:lstStyle/>
          <a:p>
            <a:pPr algn="ctr"/>
            <a:r>
              <a:rPr lang="en-US" sz="2000">
                <a:solidFill>
                  <a:schemeClr val="accent5">
                    <a:lumMod val="60000"/>
                    <a:lumOff val="40000"/>
                  </a:schemeClr>
                </a:solidFill>
                <a:latin typeface="Perpetua" panose="02020502060401020303" pitchFamily="18" charset="77"/>
              </a:rPr>
              <a:t>Audrey’s Note: </a:t>
            </a:r>
            <a:r>
              <a:rPr lang="en-US" sz="2000">
                <a:solidFill>
                  <a:schemeClr val="bg2">
                    <a:lumMod val="50000"/>
                  </a:schemeClr>
                </a:solidFill>
                <a:latin typeface="Perpetua" panose="02020502060401020303" pitchFamily="18" charset="77"/>
              </a:rPr>
              <a:t>I highly recommend considering uplighting for your décor. It has a remarkable ability to enhance the overall ambiance by highlighting key elements and adding warmth to the space. Uplighting can truly transform your event, creating a captivating and inviting atmosphere that your guests will love.</a:t>
            </a:r>
          </a:p>
        </p:txBody>
      </p:sp>
    </p:spTree>
    <p:extLst>
      <p:ext uri="{BB962C8B-B14F-4D97-AF65-F5344CB8AC3E}">
        <p14:creationId xmlns:p14="http://schemas.microsoft.com/office/powerpoint/2010/main" val="2428454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774863"/>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a:solidFill>
                  <a:schemeClr val="bg2">
                    <a:lumMod val="50000"/>
                  </a:schemeClr>
                </a:solidFill>
                <a:latin typeface="Perpetua" panose="02020502060401020303" pitchFamily="18" charset="77"/>
                <a:ea typeface="+mj-ea"/>
                <a:cs typeface="+mj-cs"/>
              </a:rPr>
              <a:t>FLOOR PLANS</a:t>
            </a:r>
            <a:endParaRPr lang="en-US" sz="5400" i="1">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542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658" y="627994"/>
            <a:ext cx="11763633" cy="1070212"/>
          </a:xfrm>
        </p:spPr>
        <p:txBody>
          <a:bodyPr vert="horz" lIns="91440" tIns="45720" rIns="91440" bIns="45720" rtlCol="0" anchor="ctr">
            <a:normAutofit fontScale="90000"/>
          </a:bodyPr>
          <a:lstStyle/>
          <a:p>
            <a:pPr algn="ctr"/>
            <a:r>
              <a:rPr lang="en-US" sz="3100" kern="1200">
                <a:solidFill>
                  <a:schemeClr val="bg2">
                    <a:lumMod val="50000"/>
                  </a:schemeClr>
                </a:solidFill>
                <a:latin typeface="Perpetua" panose="02020502060401020303" pitchFamily="18" charset="77"/>
              </a:rPr>
              <a:t>RECEPTION/DINNER </a:t>
            </a:r>
            <a:r>
              <a:rPr lang="en-US" sz="3100">
                <a:solidFill>
                  <a:schemeClr val="bg2">
                    <a:lumMod val="50000"/>
                  </a:schemeClr>
                </a:solidFill>
                <a:latin typeface="Perpetua" panose="02020502060401020303" pitchFamily="18" charset="77"/>
              </a:rPr>
              <a:t>SEATING</a:t>
            </a:r>
            <a:r>
              <a:rPr lang="en-US" sz="3100" kern="1200">
                <a:solidFill>
                  <a:schemeClr val="bg2">
                    <a:lumMod val="50000"/>
                  </a:schemeClr>
                </a:solidFill>
                <a:latin typeface="Perpetua" panose="02020502060401020303" pitchFamily="18" charset="77"/>
              </a:rPr>
              <a:t> PLAN </a:t>
            </a:r>
            <a:br>
              <a:rPr lang="en-US" sz="2200" kern="1200">
                <a:solidFill>
                  <a:schemeClr val="bg2">
                    <a:lumMod val="50000"/>
                  </a:schemeClr>
                </a:solidFill>
                <a:latin typeface="Perpetua" panose="02020502060401020303" pitchFamily="18" charset="77"/>
              </a:rPr>
            </a:br>
            <a:br>
              <a:rPr lang="en-US" sz="2200" kern="1200">
                <a:solidFill>
                  <a:schemeClr val="bg2">
                    <a:lumMod val="50000"/>
                  </a:schemeClr>
                </a:solidFill>
                <a:latin typeface="Perpetua" panose="02020502060401020303" pitchFamily="18" charset="77"/>
              </a:rPr>
            </a:br>
            <a:endParaRPr lang="en-US" sz="2400" kern="120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51969A44-C599-31EC-B25E-CC741AD59839}"/>
              </a:ext>
            </a:extLst>
          </p:cNvPr>
          <p:cNvSpPr txBox="1"/>
          <p:nvPr/>
        </p:nvSpPr>
        <p:spPr>
          <a:xfrm>
            <a:off x="1394458" y="3198167"/>
            <a:ext cx="9400032" cy="461665"/>
          </a:xfrm>
          <a:prstGeom prst="rect">
            <a:avLst/>
          </a:prstGeom>
          <a:noFill/>
        </p:spPr>
        <p:txBody>
          <a:bodyPr wrap="square" rtlCol="0">
            <a:spAutoFit/>
          </a:bodyPr>
          <a:lstStyle/>
          <a:p>
            <a:pPr algn="ctr"/>
            <a:r>
              <a:rPr lang="en-US" sz="2400">
                <a:solidFill>
                  <a:schemeClr val="bg2">
                    <a:lumMod val="50000"/>
                  </a:schemeClr>
                </a:solidFill>
                <a:latin typeface="Perpetua" panose="02020502060401020303" pitchFamily="18" charset="77"/>
              </a:rPr>
              <a:t>The finalized floor plan will be shared upon confirmation of the final guest list</a:t>
            </a:r>
            <a:endParaRPr lang="en-AE" sz="2400"/>
          </a:p>
        </p:txBody>
      </p:sp>
    </p:spTree>
    <p:extLst>
      <p:ext uri="{BB962C8B-B14F-4D97-AF65-F5344CB8AC3E}">
        <p14:creationId xmlns:p14="http://schemas.microsoft.com/office/powerpoint/2010/main" val="3716117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FCB5AAB-A7F2-B398-E2D6-A34B5E85A5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096AE7-BE3E-206B-3544-3C4F02CE4750}"/>
              </a:ext>
            </a:extLst>
          </p:cNvPr>
          <p:cNvSpPr>
            <a:spLocks noGrp="1"/>
          </p:cNvSpPr>
          <p:nvPr>
            <p:ph type="title"/>
          </p:nvPr>
        </p:nvSpPr>
        <p:spPr>
          <a:xfrm>
            <a:off x="214183" y="1517481"/>
            <a:ext cx="11763633" cy="1070212"/>
          </a:xfrm>
        </p:spPr>
        <p:txBody>
          <a:bodyPr vert="horz" lIns="91440" tIns="45720" rIns="91440" bIns="45720" rtlCol="0" anchor="ctr">
            <a:normAutofit/>
          </a:bodyPr>
          <a:lstStyle/>
          <a:p>
            <a:pPr algn="ctr"/>
            <a:r>
              <a:rPr lang="en-AE" sz="5400">
                <a:solidFill>
                  <a:schemeClr val="bg2">
                    <a:lumMod val="50000"/>
                  </a:schemeClr>
                </a:solidFill>
                <a:latin typeface="Perpetua" panose="02020502060401020303" pitchFamily="18" charset="77"/>
              </a:rPr>
              <a:t>WELCOME DINNER</a:t>
            </a:r>
            <a:endParaRPr lang="en-US" sz="5400" kern="120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E8799350-9A95-2BAB-E931-52C2ACFD4296}"/>
              </a:ext>
            </a:extLst>
          </p:cNvPr>
          <p:cNvSpPr txBox="1"/>
          <p:nvPr/>
        </p:nvSpPr>
        <p:spPr>
          <a:xfrm>
            <a:off x="4474433" y="3429000"/>
            <a:ext cx="3243132" cy="430887"/>
          </a:xfrm>
          <a:prstGeom prst="rect">
            <a:avLst/>
          </a:prstGeom>
          <a:noFill/>
        </p:spPr>
        <p:txBody>
          <a:bodyPr wrap="none" rtlCol="0">
            <a:spAutoFit/>
          </a:bodyPr>
          <a:lstStyle/>
          <a:p>
            <a:pPr algn="ctr"/>
            <a:r>
              <a:rPr lang="en-US" sz="2200">
                <a:solidFill>
                  <a:schemeClr val="bg2">
                    <a:lumMod val="50000"/>
                  </a:schemeClr>
                </a:solidFill>
                <a:latin typeface="Perpetua" panose="02020502060401020303" pitchFamily="18" charset="77"/>
              </a:rPr>
              <a:t>TBD depending on the venue.</a:t>
            </a:r>
          </a:p>
        </p:txBody>
      </p:sp>
    </p:spTree>
    <p:extLst>
      <p:ext uri="{BB962C8B-B14F-4D97-AF65-F5344CB8AC3E}">
        <p14:creationId xmlns:p14="http://schemas.microsoft.com/office/powerpoint/2010/main" val="25186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8CC28-B585-532D-588F-898CCA2676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3660F3-3EBF-CEC7-3701-E36FF8BCEB11}"/>
              </a:ext>
            </a:extLst>
          </p:cNvPr>
          <p:cNvSpPr>
            <a:spLocks noGrp="1"/>
          </p:cNvSpPr>
          <p:nvPr>
            <p:ph type="title"/>
          </p:nvPr>
        </p:nvSpPr>
        <p:spPr>
          <a:xfrm>
            <a:off x="384871" y="478536"/>
            <a:ext cx="5272217" cy="5900928"/>
          </a:xfrm>
        </p:spPr>
        <p:txBody>
          <a:bodyPr vert="horz" lIns="91440" tIns="45720" rIns="91440" bIns="45720" rtlCol="0" anchor="ctr">
            <a:normAutofit/>
          </a:bodyPr>
          <a:lstStyle/>
          <a:p>
            <a:pPr marL="342900" indent="-342900" algn="ctr">
              <a:buFont typeface="Arial" panose="020B0604020202020204" pitchFamily="34" charset="0"/>
              <a:buChar char="•"/>
            </a:pPr>
            <a:r>
              <a:rPr lang="en-US" sz="2200">
                <a:solidFill>
                  <a:schemeClr val="bg2">
                    <a:lumMod val="50000"/>
                  </a:schemeClr>
                </a:solidFill>
                <a:latin typeface="Perpetua" panose="02020502060401020303" pitchFamily="18" charset="77"/>
              </a:rPr>
              <a:t>A pastel floral arrangement will be placed on each table, accompanied by a cluster of small votive candles, creating a light, sophisticated, and effortlessly elegant ambiance</a:t>
            </a:r>
            <a:endParaRPr lang="en-US" sz="2200" kern="1200">
              <a:solidFill>
                <a:schemeClr val="bg2">
                  <a:lumMod val="50000"/>
                </a:schemeClr>
              </a:solidFill>
              <a:latin typeface="Perpetua" panose="02020502060401020303" pitchFamily="18" charset="77"/>
            </a:endParaRPr>
          </a:p>
        </p:txBody>
      </p:sp>
      <p:pic>
        <p:nvPicPr>
          <p:cNvPr id="4" name="Picture 3" descr="A table with flowers and candles&#10;&#10;AI-generated content may be incorrect.">
            <a:extLst>
              <a:ext uri="{FF2B5EF4-FFF2-40B4-BE49-F238E27FC236}">
                <a16:creationId xmlns:a16="http://schemas.microsoft.com/office/drawing/2014/main" id="{577E1385-A35D-AA45-491E-ED31056D2F5C}"/>
              </a:ext>
            </a:extLst>
          </p:cNvPr>
          <p:cNvPicPr>
            <a:picLocks noChangeAspect="1"/>
          </p:cNvPicPr>
          <p:nvPr/>
        </p:nvPicPr>
        <p:blipFill>
          <a:blip r:embed="rId2"/>
          <a:stretch>
            <a:fillRect/>
          </a:stretch>
        </p:blipFill>
        <p:spPr>
          <a:xfrm>
            <a:off x="6534914" y="311104"/>
            <a:ext cx="5096256" cy="6235792"/>
          </a:xfrm>
          <a:prstGeom prst="rect">
            <a:avLst/>
          </a:prstGeom>
        </p:spPr>
      </p:pic>
    </p:spTree>
    <p:extLst>
      <p:ext uri="{BB962C8B-B14F-4D97-AF65-F5344CB8AC3E}">
        <p14:creationId xmlns:p14="http://schemas.microsoft.com/office/powerpoint/2010/main" val="2735574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8F9A87-91C9-356E-7059-E2D2373289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EEAA05-8DD6-041E-E1C8-07B9096C1671}"/>
              </a:ext>
            </a:extLst>
          </p:cNvPr>
          <p:cNvSpPr>
            <a:spLocks noGrp="1"/>
          </p:cNvSpPr>
          <p:nvPr>
            <p:ph type="title"/>
          </p:nvPr>
        </p:nvSpPr>
        <p:spPr>
          <a:xfrm>
            <a:off x="3569618" y="1260027"/>
            <a:ext cx="5052761" cy="1642872"/>
          </a:xfrm>
        </p:spPr>
        <p:txBody>
          <a:bodyPr vert="horz" lIns="91440" tIns="45720" rIns="91440" bIns="45720" rtlCol="0" anchor="ctr">
            <a:normAutofit/>
          </a:bodyPr>
          <a:lstStyle/>
          <a:p>
            <a:pPr algn="ctr"/>
            <a:r>
              <a:rPr lang="en-AE" sz="5400">
                <a:solidFill>
                  <a:schemeClr val="bg2">
                    <a:lumMod val="50000"/>
                  </a:schemeClr>
                </a:solidFill>
                <a:latin typeface="Perpetua" panose="02020502060401020303" pitchFamily="18" charset="77"/>
              </a:rPr>
              <a:t>BRUNCH</a:t>
            </a:r>
            <a:endParaRPr lang="en-US" sz="5400" kern="120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12C9BD61-FAE8-FD8A-1787-A39C7DF07142}"/>
              </a:ext>
            </a:extLst>
          </p:cNvPr>
          <p:cNvSpPr txBox="1"/>
          <p:nvPr/>
        </p:nvSpPr>
        <p:spPr>
          <a:xfrm>
            <a:off x="4474432" y="3429000"/>
            <a:ext cx="3243132" cy="707886"/>
          </a:xfrm>
          <a:prstGeom prst="rect">
            <a:avLst/>
          </a:prstGeom>
          <a:noFill/>
        </p:spPr>
        <p:txBody>
          <a:bodyPr wrap="none" rtlCol="0">
            <a:spAutoFit/>
          </a:bodyPr>
          <a:lstStyle/>
          <a:p>
            <a:pPr algn="ctr"/>
            <a:r>
              <a:rPr lang="en-US" sz="2200">
                <a:solidFill>
                  <a:schemeClr val="bg2">
                    <a:lumMod val="50000"/>
                  </a:schemeClr>
                </a:solidFill>
                <a:latin typeface="Perpetua" panose="02020502060401020303" pitchFamily="18" charset="77"/>
              </a:rPr>
              <a:t>TBD depending on the venue.</a:t>
            </a:r>
          </a:p>
          <a:p>
            <a:endParaRPr lang="en-AE"/>
          </a:p>
        </p:txBody>
      </p:sp>
    </p:spTree>
    <p:extLst>
      <p:ext uri="{BB962C8B-B14F-4D97-AF65-F5344CB8AC3E}">
        <p14:creationId xmlns:p14="http://schemas.microsoft.com/office/powerpoint/2010/main" val="2318945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74EF543-29F2-E3FD-EF3D-947E87740D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8AC46E-EB18-0433-A724-5CB1D6A14A31}"/>
              </a:ext>
            </a:extLst>
          </p:cNvPr>
          <p:cNvSpPr>
            <a:spLocks noGrp="1"/>
          </p:cNvSpPr>
          <p:nvPr>
            <p:ph type="title"/>
          </p:nvPr>
        </p:nvSpPr>
        <p:spPr>
          <a:xfrm>
            <a:off x="570387" y="502158"/>
            <a:ext cx="4964781" cy="5853684"/>
          </a:xfrm>
        </p:spPr>
        <p:txBody>
          <a:bodyPr vert="horz" lIns="91440" tIns="45720" rIns="91440" bIns="45720" rtlCol="0" anchor="ctr">
            <a:normAutofit/>
          </a:bodyPr>
          <a:lstStyle/>
          <a:p>
            <a:pPr marL="342900" indent="-342900" algn="ctr">
              <a:buFont typeface="Arial" panose="020B0604020202020204" pitchFamily="34" charset="0"/>
              <a:buChar char="•"/>
            </a:pPr>
            <a:r>
              <a:rPr lang="en-US" sz="2200">
                <a:solidFill>
                  <a:schemeClr val="bg2">
                    <a:lumMod val="50000"/>
                  </a:schemeClr>
                </a:solidFill>
                <a:latin typeface="Perpetua" panose="02020502060401020303" pitchFamily="18" charset="77"/>
              </a:rPr>
              <a:t>A wild spring pastel floral arrangement will be placed on each table, displayed in small white vases and complemented by small votive candles, creating a warm, sophisticated, and effortlessly elegant ambiance</a:t>
            </a:r>
            <a:endParaRPr lang="en-US" sz="2200" kern="1200">
              <a:solidFill>
                <a:schemeClr val="bg2">
                  <a:lumMod val="50000"/>
                </a:schemeClr>
              </a:solidFill>
              <a:latin typeface="Perpetua" panose="02020502060401020303" pitchFamily="18" charset="77"/>
            </a:endParaRPr>
          </a:p>
        </p:txBody>
      </p:sp>
      <p:pic>
        <p:nvPicPr>
          <p:cNvPr id="4" name="Picture 3" descr="A table set for a dinner party&#10;&#10;AI-generated content may be incorrect.">
            <a:extLst>
              <a:ext uri="{FF2B5EF4-FFF2-40B4-BE49-F238E27FC236}">
                <a16:creationId xmlns:a16="http://schemas.microsoft.com/office/drawing/2014/main" id="{1806B3F7-5E70-2397-2D64-9B94C818A292}"/>
              </a:ext>
            </a:extLst>
          </p:cNvPr>
          <p:cNvPicPr>
            <a:picLocks noChangeAspect="1"/>
          </p:cNvPicPr>
          <p:nvPr/>
        </p:nvPicPr>
        <p:blipFill>
          <a:blip r:embed="rId3"/>
          <a:stretch>
            <a:fillRect/>
          </a:stretch>
        </p:blipFill>
        <p:spPr>
          <a:xfrm>
            <a:off x="6961251" y="238626"/>
            <a:ext cx="4243197" cy="6380747"/>
          </a:xfrm>
          <a:prstGeom prst="rect">
            <a:avLst/>
          </a:prstGeom>
        </p:spPr>
      </p:pic>
    </p:spTree>
    <p:extLst>
      <p:ext uri="{BB962C8B-B14F-4D97-AF65-F5344CB8AC3E}">
        <p14:creationId xmlns:p14="http://schemas.microsoft.com/office/powerpoint/2010/main" val="1194025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a:solidFill>
                  <a:schemeClr val="bg2">
                    <a:lumMod val="50000"/>
                  </a:schemeClr>
                </a:solidFill>
                <a:effectLst/>
                <a:latin typeface="Perpetua" panose="02020502060401020303" pitchFamily="18" charset="77"/>
                <a:ea typeface="Noto Sans"/>
                <a:cs typeface="Noto Sans"/>
              </a:rPr>
              <a:t>We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can’</a:t>
            </a:r>
            <a:r>
              <a:rPr lang="en-US" sz="4000">
                <a:solidFill>
                  <a:schemeClr val="bg2">
                    <a:lumMod val="50000"/>
                  </a:schemeClr>
                </a:solidFill>
                <a:effectLst/>
                <a:latin typeface="Perpetua" panose="02020502060401020303" pitchFamily="18" charset="77"/>
                <a:ea typeface="Noto Sans"/>
                <a:cs typeface="Noto Sans"/>
              </a:rPr>
              <a:t>t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wai</a:t>
            </a:r>
            <a:r>
              <a:rPr lang="en-US" sz="4000">
                <a:solidFill>
                  <a:schemeClr val="bg2">
                    <a:lumMod val="50000"/>
                  </a:schemeClr>
                </a:solidFill>
                <a:effectLst/>
                <a:latin typeface="Perpetua" panose="02020502060401020303" pitchFamily="18" charset="77"/>
                <a:ea typeface="Noto Sans"/>
                <a:cs typeface="Noto Sans"/>
              </a:rPr>
              <a:t>t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t</a:t>
            </a:r>
            <a:r>
              <a:rPr lang="en-US" sz="4000">
                <a:solidFill>
                  <a:schemeClr val="bg2">
                    <a:lumMod val="50000"/>
                  </a:schemeClr>
                </a:solidFill>
                <a:effectLst/>
                <a:latin typeface="Perpetua" panose="02020502060401020303" pitchFamily="18" charset="77"/>
                <a:ea typeface="Noto Sans"/>
                <a:cs typeface="Noto Sans"/>
              </a:rPr>
              <a:t>o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brin</a:t>
            </a:r>
            <a:r>
              <a:rPr lang="en-US" sz="4000">
                <a:solidFill>
                  <a:schemeClr val="bg2">
                    <a:lumMod val="50000"/>
                  </a:schemeClr>
                </a:solidFill>
                <a:effectLst/>
                <a:latin typeface="Perpetua" panose="02020502060401020303" pitchFamily="18" charset="77"/>
                <a:ea typeface="Noto Sans"/>
                <a:cs typeface="Noto Sans"/>
              </a:rPr>
              <a:t>g </a:t>
            </a:r>
            <a:r>
              <a:rPr lang="en-US" sz="4000" spc="-5">
                <a:solidFill>
                  <a:schemeClr val="bg2">
                    <a:lumMod val="50000"/>
                  </a:schemeClr>
                </a:solidFill>
                <a:effectLst/>
                <a:latin typeface="Perpetua" panose="02020502060401020303" pitchFamily="18" charset="77"/>
                <a:ea typeface="Noto Sans"/>
                <a:cs typeface="Noto Sans"/>
              </a:rPr>
              <a:t>you</a:t>
            </a:r>
            <a:r>
              <a:rPr lang="en-US" sz="4000">
                <a:solidFill>
                  <a:schemeClr val="bg2">
                    <a:lumMod val="50000"/>
                  </a:schemeClr>
                </a:solidFill>
                <a:effectLst/>
                <a:latin typeface="Perpetua" panose="02020502060401020303" pitchFamily="18" charset="77"/>
                <a:ea typeface="Noto Sans"/>
                <a:cs typeface="Noto Sans"/>
              </a:rPr>
              <a:t>r </a:t>
            </a:r>
            <a:r>
              <a:rPr lang="en-US" sz="4000" spc="-5">
                <a:solidFill>
                  <a:schemeClr val="bg2">
                    <a:lumMod val="50000"/>
                  </a:schemeClr>
                </a:solidFill>
                <a:effectLst/>
                <a:latin typeface="Perpetua" panose="02020502060401020303" pitchFamily="18" charset="77"/>
                <a:ea typeface="Noto Sans"/>
                <a:cs typeface="Noto Sans"/>
              </a:rPr>
              <a:t>visio</a:t>
            </a:r>
            <a:r>
              <a:rPr lang="en-US" sz="4000">
                <a:solidFill>
                  <a:schemeClr val="bg2">
                    <a:lumMod val="50000"/>
                  </a:schemeClr>
                </a:solidFill>
                <a:effectLst/>
                <a:latin typeface="Perpetua" panose="02020502060401020303" pitchFamily="18" charset="77"/>
                <a:ea typeface="Noto Sans"/>
                <a:cs typeface="Noto Sans"/>
              </a:rPr>
              <a:t>n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t</a:t>
            </a:r>
            <a:r>
              <a:rPr lang="en-US" sz="4000">
                <a:solidFill>
                  <a:schemeClr val="bg2">
                    <a:lumMod val="50000"/>
                  </a:schemeClr>
                </a:solidFill>
                <a:effectLst/>
                <a:latin typeface="Perpetua" panose="02020502060401020303" pitchFamily="18" charset="77"/>
                <a:ea typeface="Noto Sans"/>
                <a:cs typeface="Noto Sans"/>
              </a:rPr>
              <a:t>o </a:t>
            </a:r>
            <a:r>
              <a:rPr lang="en-US" sz="4000" spc="-970">
                <a:solidFill>
                  <a:schemeClr val="bg2">
                    <a:lumMod val="50000"/>
                  </a:schemeClr>
                </a:solidFill>
                <a:effectLst/>
                <a:latin typeface="Perpetua" panose="02020502060401020303" pitchFamily="18" charset="77"/>
                <a:ea typeface="Noto Sans"/>
                <a:cs typeface="Noto Sans"/>
              </a:rPr>
              <a:t> </a:t>
            </a:r>
            <a:r>
              <a:rPr lang="en-US" sz="4000" spc="-5">
                <a:solidFill>
                  <a:schemeClr val="bg2">
                    <a:lumMod val="50000"/>
                  </a:schemeClr>
                </a:solidFill>
                <a:effectLst/>
                <a:latin typeface="Perpetua" panose="02020502060401020303" pitchFamily="18" charset="77"/>
                <a:ea typeface="Noto Sans"/>
                <a:cs typeface="Noto Sans"/>
              </a:rPr>
              <a:t>life</a:t>
            </a:r>
            <a:r>
              <a:rPr lang="en-US" sz="400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a:solidFill>
                  <a:schemeClr val="bg2">
                    <a:lumMod val="50000"/>
                  </a:schemeClr>
                </a:solidFill>
                <a:effectLst/>
                <a:latin typeface="Perpetua" panose="02020502060401020303" pitchFamily="18" charset="77"/>
                <a:ea typeface="Noto Sans"/>
                <a:cs typeface="Noto Sans"/>
              </a:rPr>
              <a:t> </a:t>
            </a:r>
            <a:endParaRPr lang="en-US" sz="1600" b="1">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a:solidFill>
                  <a:schemeClr val="bg2">
                    <a:lumMod val="50000"/>
                  </a:schemeClr>
                </a:solidFill>
                <a:effectLst/>
                <a:latin typeface="Perpetua" panose="02020502060401020303" pitchFamily="18" charset="77"/>
                <a:ea typeface="Noto Sans"/>
                <a:cs typeface="Noto Sans"/>
              </a:rPr>
              <a:t> </a:t>
            </a:r>
            <a:endParaRPr lang="en-US" sz="1600" b="1">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a:solidFill>
                  <a:schemeClr val="bg2">
                    <a:lumMod val="50000"/>
                  </a:schemeClr>
                </a:solidFill>
                <a:effectLst/>
                <a:latin typeface="Perpetua" panose="02020502060401020303" pitchFamily="18" charset="77"/>
                <a:ea typeface="Noto Sans"/>
                <a:cs typeface="Noto Sans"/>
              </a:rPr>
              <a:t> </a:t>
            </a:r>
            <a:endParaRPr lang="en-US" sz="1600" b="1">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a:solidFill>
                  <a:schemeClr val="bg2">
                    <a:lumMod val="50000"/>
                  </a:schemeClr>
                </a:solidFill>
                <a:effectLst/>
                <a:latin typeface="Perpetua" panose="02020502060401020303" pitchFamily="18" charset="77"/>
                <a:ea typeface="Noto Sans"/>
                <a:cs typeface="Noto Sans"/>
              </a:rPr>
              <a:t>you</a:t>
            </a:r>
            <a:r>
              <a:rPr lang="en-US" sz="240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5489708"/>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Cérémonie</a:t>
            </a:r>
            <a:r>
              <a:rPr lang="en-US" dirty="0">
                <a:solidFill>
                  <a:schemeClr val="bg2">
                    <a:lumMod val="50000"/>
                  </a:schemeClr>
                </a:solidFill>
                <a:latin typeface="Perpetua" panose="02020502060401020303" pitchFamily="18" charset="77"/>
                <a:ea typeface="Noto Sans"/>
                <a:cs typeface="Noto Sans"/>
              </a:rPr>
              <a:t> + décor de </a:t>
            </a:r>
            <a:r>
              <a:rPr lang="en-US" dirty="0" err="1">
                <a:solidFill>
                  <a:schemeClr val="bg2">
                    <a:lumMod val="50000"/>
                  </a:schemeClr>
                </a:solidFill>
                <a:latin typeface="Perpetua" panose="02020502060401020303" pitchFamily="18" charset="77"/>
                <a:ea typeface="Noto Sans"/>
                <a:cs typeface="Noto Sans"/>
              </a:rPr>
              <a:t>l’allee</a:t>
            </a:r>
            <a:r>
              <a:rPr lang="en-US" dirty="0">
                <a:solidFill>
                  <a:schemeClr val="bg2">
                    <a:lumMod val="50000"/>
                  </a:schemeClr>
                </a:solidFill>
                <a:latin typeface="Perpetua" panose="02020502060401020303" pitchFamily="18" charset="77"/>
                <a:ea typeface="Noto Sans"/>
                <a:cs typeface="Noto Sans"/>
              </a:rPr>
              <a:t> 1 Bouquet de </a:t>
            </a:r>
            <a:r>
              <a:rPr lang="en-US" dirty="0" err="1">
                <a:solidFill>
                  <a:schemeClr val="bg2">
                    <a:lumMod val="50000"/>
                  </a:schemeClr>
                </a:solidFill>
                <a:latin typeface="Perpetua" panose="02020502060401020303" pitchFamily="18" charset="77"/>
                <a:ea typeface="Noto Sans"/>
                <a:cs typeface="Noto Sans"/>
              </a:rPr>
              <a:t>mariée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Boutonnière du </a:t>
            </a:r>
            <a:r>
              <a:rPr lang="en-US" dirty="0" err="1">
                <a:solidFill>
                  <a:schemeClr val="bg2">
                    <a:lumMod val="50000"/>
                  </a:schemeClr>
                </a:solidFill>
                <a:latin typeface="Perpetua" panose="02020502060401020303" pitchFamily="18" charset="77"/>
                <a:ea typeface="Noto Sans"/>
                <a:cs typeface="Noto Sans"/>
              </a:rPr>
              <a:t>marié</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a:solidFill>
                  <a:schemeClr val="bg2">
                    <a:lumMod val="50000"/>
                  </a:schemeClr>
                </a:solidFill>
                <a:latin typeface="Perpetua" panose="02020502060401020303" pitchFamily="18" charset="77"/>
                <a:ea typeface="Noto Sans"/>
                <a:cs typeface="Noto Sans"/>
              </a:rPr>
              <a:t>6 </a:t>
            </a:r>
            <a:r>
              <a:rPr lang="en-US" dirty="0">
                <a:solidFill>
                  <a:schemeClr val="bg2">
                    <a:lumMod val="50000"/>
                  </a:schemeClr>
                </a:solidFill>
                <a:latin typeface="Perpetua" panose="02020502060401020303" pitchFamily="18" charset="77"/>
                <a:ea typeface="Noto Sans"/>
                <a:cs typeface="Noto Sans"/>
              </a:rPr>
              <a:t>Bouquet de demoiselles </a:t>
            </a:r>
            <a:r>
              <a:rPr lang="en-US" dirty="0" err="1">
                <a:solidFill>
                  <a:schemeClr val="bg2">
                    <a:lumMod val="50000"/>
                  </a:schemeClr>
                </a:solidFill>
                <a:latin typeface="Perpetua" panose="02020502060401020303" pitchFamily="18" charset="77"/>
                <a:ea typeface="Noto Sans"/>
                <a:cs typeface="Noto Sans"/>
              </a:rPr>
              <a:t>d'honneur</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TBD  Tables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TBD  Table des </a:t>
            </a:r>
            <a:r>
              <a:rPr lang="en-US" dirty="0" err="1">
                <a:solidFill>
                  <a:schemeClr val="bg2">
                    <a:lumMod val="50000"/>
                  </a:schemeClr>
                </a:solidFill>
                <a:latin typeface="Perpetua" panose="02020502060401020303" pitchFamily="18" charset="77"/>
                <a:ea typeface="Noto Sans"/>
                <a:cs typeface="Noto Sans"/>
              </a:rPr>
              <a:t>maries</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6 décor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Décor de Bars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“Welcome” Table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a:t>
            </a:r>
          </a:p>
          <a:p>
            <a:pPr marL="902335" marR="513715" indent="-285750">
              <a:lnSpc>
                <a:spcPct val="98000"/>
              </a:lnSpc>
              <a:spcBef>
                <a:spcPts val="480"/>
              </a:spcBef>
              <a:spcAft>
                <a:spcPts val="0"/>
              </a:spcAft>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REHEARSAL DINNER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TBD</a:t>
            </a:r>
          </a:p>
          <a:p>
            <a:pPr marL="902335" marR="513715" indent="-285750">
              <a:lnSpc>
                <a:spcPct val="98000"/>
              </a:lnSpc>
              <a:spcBef>
                <a:spcPts val="480"/>
              </a:spcBef>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BRUNCH</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TBD</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TotalTime>
  <Words>1440</Words>
  <Application>Microsoft Macintosh PowerPoint</Application>
  <PresentationFormat>Widescreen</PresentationFormat>
  <Paragraphs>151</Paragraphs>
  <Slides>34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Perpetua</vt:lpstr>
      <vt:lpstr>Wingdings</vt:lpstr>
      <vt:lpstr>Office 2013 - 2022 Theme</vt:lpstr>
      <vt:lpstr>VERONICA &amp; COLIN’S WEDDING</vt:lpstr>
      <vt:lpstr>COLOR PALETTE</vt:lpstr>
      <vt:lpstr>CEREMONY DECOR   </vt:lpstr>
      <vt:lpstr>ALTAR DECOR   </vt:lpstr>
      <vt:lpstr>CEREMONY DECOR – AISLE ENTRANCE   </vt:lpstr>
      <vt:lpstr>AISLE DECOR    </vt:lpstr>
      <vt:lpstr>AISLE CHAIRS ARRANGEMENT    </vt:lpstr>
      <vt:lpstr>BRIDAL BOUQUET &amp; BOUTONNIERE</vt:lpstr>
      <vt:lpstr>BRIDEMAIDS BOUQUETS </vt:lpstr>
      <vt:lpstr>COCKTAIL </vt:lpstr>
      <vt:lpstr>COCKTAIL </vt:lpstr>
      <vt:lpstr>BARS RENTAL &amp; DECOR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CAKE TABLE </vt:lpstr>
      <vt:lpstr>UP LITHING </vt:lpstr>
      <vt:lpstr>PowerPoint Presentation</vt:lpstr>
      <vt:lpstr>RECEPTION/DINNER SEATING PLAN   </vt:lpstr>
      <vt:lpstr>WELCOME DINNER</vt:lpstr>
      <vt:lpstr>A pastel floral arrangement will be placed on each table, accompanied by a cluster of small votive candles, creating a light, sophisticated, and effortlessly elegant ambiance</vt:lpstr>
      <vt:lpstr>BRUNCH</vt:lpstr>
      <vt:lpstr>A wild spring pastel floral arrangement will be placed on each table, displayed in small white vases and complemented by small votive candles, creating a warm, sophisticated, and effortlessly elegant ambiance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3</cp:revision>
  <dcterms:created xsi:type="dcterms:W3CDTF">2020-01-16T20:29:49Z</dcterms:created>
  <dcterms:modified xsi:type="dcterms:W3CDTF">2026-02-15T09:21:45Z</dcterms:modified>
</cp:coreProperties>
</file>